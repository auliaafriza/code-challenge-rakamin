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89"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90" r:id="rId40"/>
    <p:sldId id="291" r:id="rId41"/>
    <p:sldId id="292" r:id="rId42"/>
    <p:sldId id="293" r:id="rId43"/>
    <p:sldId id="294" r:id="rId44"/>
    <p:sldId id="295" r:id="rId45"/>
    <p:sldId id="296" r:id="rId46"/>
    <p:sldId id="297" r:id="rId47"/>
    <p:sldId id="298" r:id="rId48"/>
    <p:sldId id="281" r:id="rId29"/>
    <p:sldId id="282" r:id="rId30"/>
    <p:sldId id="283" r:id="rId31"/>
    <p:sldId id="284" r:id="rId32"/>
    <p:sldId id="285" r:id="rId33"/>
    <p:sldId id="286" r:id="rId34"/>
    <p:sldId id="287" r:id="rId35"/>
    <p:sldId id="288" r:id="rId36"/>
  </p:sldIdLst>
  <p:sldSz cx="12192000" cy="6858000"/>
  <p:notesSz cx="6858000" cy="12192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69AB0A4-A050-44F2-8EE5-55170C1F6B93}"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ableStyles" Target="tableStyles.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4" name="Google Shape;4;n"/>
          <p:cNvSpPr txBox="1"/>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5" name="Google Shape;5;n"/>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p:txBody>
      </p:sp>
      <p:sp>
        <p:nvSpPr>
          <p:cNvPr id="7" name="Google Shape;7;n"/>
          <p:cNvSpPr txBox="1"/>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8" name="Google Shape;8;n"/>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 name="Shape 11"/>
        <p:cNvGrpSpPr/>
        <p:nvPr/>
      </p:nvGrpSpPr>
      <p:grpSpPr>
        <a:xfrm>
          <a:off x="0" y="0"/>
          <a:ext cx="0" cy="0"/>
          <a:chOff x="0" y="0"/>
          <a:chExt cx="0" cy="0"/>
        </a:xfrm>
      </p:grpSpPr>
      <p:sp>
        <p:nvSpPr>
          <p:cNvPr id="12" name="Google Shape;12;p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Selamat siang, terima kasih waktunya. Saya Aulia, kandidat Fullstack Product Engineer. Saya ambil kedalaman di frontend. Presentasi ini mengikuti urutan saya mengerjakan case study: memahami produk, menemukan masalah, memutuskan, membangun, dan membuktikan.</a:t>
            </a:r>
            <a:endParaRPr lang="en-US"/>
          </a:p>
        </p:txBody>
      </p:sp>
      <p:sp>
        <p:nvSpPr>
          <p:cNvPr id="14" name="Google Shape;14;p1: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 name="Shape 21"/>
        <p:cNvGrpSpPr/>
        <p:nvPr/>
      </p:nvGrpSpPr>
      <p:grpSpPr>
        <a:xfrm>
          <a:off x="0" y="0"/>
          <a:ext cx="0" cy="0"/>
          <a:chOff x="0" y="0"/>
          <a:chExt cx="0" cy="0"/>
        </a:xfrm>
      </p:grpSpPr>
      <p:sp>
        <p:nvSpPr>
          <p:cNvPr id="22" name="Google Shape;22;p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 name="Google Shape;23;p2: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Sedikit tentang saya. Saya sudah bekerja sebagai frontend engineer sejak 2017, dan setahun terakhir juga mengerjakan fullstack di beberapa project internal. Sehari-hari saya paling banyak memakai React, Next, React Native, dan TypeScript, dan di backend saya memakai Laravel. Karena latar belakang saya kuat di frontend, di case study ini saya juga mengambil kedalaman di frontend.</a:t>
            </a:r>
            <a:endParaRPr lang="en-US"/>
          </a:p>
        </p:txBody>
      </p:sp>
      <p:sp>
        <p:nvSpPr>
          <p:cNvPr id="24" name="Google Shape;24;p2: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41" name="Shape 41"/>
        <p:cNvGrpSpPr/>
        <p:nvPr/>
      </p:nvGrpSpPr>
      <p:grpSpPr>
        <a:xfrm>
          <a:off x="0" y="0"/>
          <a:ext cx="0" cy="0"/>
          <a:chOff x="0" y="0"/>
          <a:chExt cx="0" cy="0"/>
        </a:xfrm>
      </p:grpSpPr>
      <p:sp>
        <p:nvSpPr>
          <p:cNvPr id="42" name="Google Shape;42;p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 name="Google Shape;43;p3: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Ini alurnya. Enam bagian, sesuai urutan kerja saya.</a:t>
            </a:r>
            <a:endParaRPr lang="en-US"/>
          </a:p>
        </p:txBody>
      </p:sp>
      <p:sp>
        <p:nvSpPr>
          <p:cNvPr id="44" name="Google Shape;44;p3: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74" name="Shape 74"/>
        <p:cNvGrpSpPr/>
        <p:nvPr/>
      </p:nvGrpSpPr>
      <p:grpSpPr>
        <a:xfrm>
          <a:off x="0" y="0"/>
          <a:ext cx="0" cy="0"/>
          <a:chOff x="0" y="0"/>
          <a:chExt cx="0" cy="0"/>
        </a:xfrm>
      </p:grpSpPr>
      <p:sp>
        <p:nvSpPr>
          <p:cNvPr id="75" name="Google Shape;75;p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 name="Google Shape;76;p4: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Bagian pertama: memahami produk.</a:t>
            </a:r>
            <a:endParaRPr lang="en-US"/>
          </a:p>
        </p:txBody>
      </p:sp>
      <p:sp>
        <p:nvSpPr>
          <p:cNvPr id="77" name="Google Shape;77;p4: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82" name="Shape 82"/>
        <p:cNvGrpSpPr/>
        <p:nvPr/>
      </p:nvGrpSpPr>
      <p:grpSpPr>
        <a:xfrm>
          <a:off x="0" y="0"/>
          <a:ext cx="0" cy="0"/>
          <a:chOff x="0" y="0"/>
          <a:chExt cx="0" cy="0"/>
        </a:xfrm>
      </p:grpSpPr>
      <p:sp>
        <p:nvSpPr>
          <p:cNvPr id="83" name="Google Shape;83;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 name="Google Shape;84;p5: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Menurut saya produk ini tidak menjual otomasi wawancara, tapi kepercayaan pada penilaian AI. Ada empat orang di rantai keputusan. Yang paling rentan adalah kandidat: tidak memilih produk ini dan tidak pernah melihat hasilnya.</a:t>
            </a:r>
            <a:endParaRPr lang="en-US"/>
          </a:p>
        </p:txBody>
      </p:sp>
      <p:sp>
        <p:nvSpPr>
          <p:cNvPr id="85" name="Google Shape;85;p5: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7" name="Shape 117"/>
        <p:cNvGrpSpPr/>
        <p:nvPr/>
      </p:nvGrpSpPr>
      <p:grpSpPr>
        <a:xfrm>
          <a:off x="0" y="0"/>
          <a:ext cx="0" cy="0"/>
          <a:chOff x="0" y="0"/>
          <a:chExt cx="0" cy="0"/>
        </a:xfrm>
      </p:grpSpPr>
      <p:sp>
        <p:nvSpPr>
          <p:cNvPr id="118" name="Google Shape;118;p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p6: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Karena kandidat tidak punya suara, dua prinsip saya pegang: kesalahan harus condong aman, dan setiap rating harus bisa ditelusuri. Ada empat temuan yang menyangkut UU PDP — tiga saya perbaiki, satu saya catat. Retensi dan hak hapus data sengaja tidak saya sentuh karena itu keputusan produk dan legal.</a:t>
            </a:r>
            <a:endParaRPr lang="en-US"/>
          </a:p>
        </p:txBody>
      </p:sp>
      <p:sp>
        <p:nvSpPr>
          <p:cNvPr id="120" name="Google Shape;120;p6: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2" name="Shape 152"/>
        <p:cNvGrpSpPr/>
        <p:nvPr/>
      </p:nvGrpSpPr>
      <p:grpSpPr>
        <a:xfrm>
          <a:off x="0" y="0"/>
          <a:ext cx="0" cy="0"/>
          <a:chOff x="0" y="0"/>
          <a:chExt cx="0" cy="0"/>
        </a:xfrm>
      </p:grpSpPr>
      <p:sp>
        <p:nvSpPr>
          <p:cNvPr id="153" name="Google Shape;153;p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4" name="Google Shape;154;p7: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Bagian kedua: bagaimana saya menemukan masalah.</a:t>
            </a:r>
            <a:endParaRPr lang="en-US"/>
          </a:p>
        </p:txBody>
      </p:sp>
      <p:sp>
        <p:nvSpPr>
          <p:cNvPr id="155" name="Google Shape;155;p7: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0" name="Shape 160"/>
        <p:cNvGrpSpPr/>
        <p:nvPr/>
      </p:nvGrpSpPr>
      <p:grpSpPr>
        <a:xfrm>
          <a:off x="0" y="0"/>
          <a:ext cx="0" cy="0"/>
          <a:chOff x="0" y="0"/>
          <a:chExt cx="0" cy="0"/>
        </a:xfrm>
      </p:grpSpPr>
      <p:sp>
        <p:nvSpPr>
          <p:cNvPr id="161" name="Google Shape;161;p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8: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Pakai produk dulu, lalu audit, lalu pilih satu slice, tulis test dulu, baru implementasi.</a:t>
            </a:r>
            <a:endParaRPr lang="en-US"/>
          </a:p>
        </p:txBody>
      </p:sp>
      <p:sp>
        <p:nvSpPr>
          <p:cNvPr id="163" name="Google Shape;163;p8: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6" name="Shape 206"/>
        <p:cNvGrpSpPr/>
        <p:nvPr/>
      </p:nvGrpSpPr>
      <p:grpSpPr>
        <a:xfrm>
          <a:off x="0" y="0"/>
          <a:ext cx="0" cy="0"/>
          <a:chOff x="0" y="0"/>
          <a:chExt cx="0" cy="0"/>
        </a:xfrm>
      </p:grpSpPr>
      <p:sp>
        <p:nvSpPr>
          <p:cNvPr id="207" name="Google Shape;207;p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8" name="Google Shape;208;p9: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Sebelum membaca kode, saya pakai produknya sebagai assessor dan mencatat 13 temuan. Skalanya severity UX — seberapa menghambat orang yang memakai layar. Salah satunya ternyata bukan sekadar tampilan: form Edit tidak mengirim bahasa kembali, jadi setiap edit bisa me-reset bahasa ke default. Dua temuan ini saya capai dari layar dan dari kode secara terpisah.</a:t>
            </a:r>
            <a:endParaRPr lang="en-US"/>
          </a:p>
        </p:txBody>
      </p:sp>
      <p:sp>
        <p:nvSpPr>
          <p:cNvPr id="209" name="Google Shape;209;p9: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3" name="Shape 273"/>
        <p:cNvGrpSpPr/>
        <p:nvPr/>
      </p:nvGrpSpPr>
      <p:grpSpPr>
        <a:xfrm>
          <a:off x="0" y="0"/>
          <a:ext cx="0" cy="0"/>
          <a:chOff x="0" y="0"/>
          <a:chExt cx="0" cy="0"/>
        </a:xfrm>
      </p:grpSpPr>
      <p:sp>
        <p:nvSpPr>
          <p:cNvPr id="274" name="Google Shape;274;p1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5" name="Google Shape;275;p10: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Untuk audit kode saya pakai rubrik yang berbeda dari walkthrough. Ukurannya siapa yang menanggung kerusakan, dan apakah dia bisa tahu. Dua tie-breaker: diam menaikkan severity, bisa dipulihkan menurunkannya. Itu sebabnya kolom kosong saya anggap lebih berat dari crash.</a:t>
            </a:r>
            <a:endParaRPr lang="en-US"/>
          </a:p>
        </p:txBody>
      </p:sp>
      <p:sp>
        <p:nvSpPr>
          <p:cNvPr id="276" name="Google Shape;276;p10: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4" name="Shape 304"/>
        <p:cNvGrpSpPr/>
        <p:nvPr/>
      </p:nvGrpSpPr>
      <p:grpSpPr>
        <a:xfrm>
          <a:off x="0" y="0"/>
          <a:ext cx="0" cy="0"/>
          <a:chOff x="0" y="0"/>
          <a:chExt cx="0" cy="0"/>
        </a:xfrm>
      </p:grpSpPr>
      <p:sp>
        <p:nvSpPr>
          <p:cNvPr id="305" name="Google Shape;305;p1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6" name="Google Shape;306;p11: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Setelah dikelompokkan, 77 temuan ini membentuk tiga pola. Yang ketiga paling penting menurut saya: setiap kali sistem tidak tahu, ia memilih jawaban yang merugikan kandidat.</a:t>
            </a:r>
            <a:endParaRPr lang="en-US"/>
          </a:p>
        </p:txBody>
      </p:sp>
      <p:sp>
        <p:nvSpPr>
          <p:cNvPr id="307" name="Google Shape;307;p11: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24" name="Shape 324"/>
        <p:cNvGrpSpPr/>
        <p:nvPr/>
      </p:nvGrpSpPr>
      <p:grpSpPr>
        <a:xfrm>
          <a:off x="0" y="0"/>
          <a:ext cx="0" cy="0"/>
          <a:chOff x="0" y="0"/>
          <a:chExt cx="0" cy="0"/>
        </a:xfrm>
      </p:grpSpPr>
      <p:sp>
        <p:nvSpPr>
          <p:cNvPr id="325" name="Google Shape;325;p1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6" name="Google Shape;326;p12: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Masalah utamanya ada di sambungan. Engine menghitung semua dengan benar. Type frontend ditulis tangan dengan nama field berbeda. TypeScript tidak protes, tidak ada test, tidak ada error. Tiga P0 ini satu akar.</a:t>
            </a:r>
            <a:endParaRPr lang="en-US"/>
          </a:p>
        </p:txBody>
      </p:sp>
      <p:sp>
        <p:nvSpPr>
          <p:cNvPr id="327" name="Google Shape;327;p12: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4" name="Shape 364"/>
        <p:cNvGrpSpPr/>
        <p:nvPr/>
      </p:nvGrpSpPr>
      <p:grpSpPr>
        <a:xfrm>
          <a:off x="0" y="0"/>
          <a:ext cx="0" cy="0"/>
          <a:chOff x="0" y="0"/>
          <a:chExt cx="0" cy="0"/>
        </a:xfrm>
      </p:grpSpPr>
      <p:sp>
        <p:nvSpPr>
          <p:cNvPr id="365" name="Google Shape;365;p1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6" name="Google Shape;366;p13: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Bagian ketiga: keputusan.</a:t>
            </a:r>
            <a:endParaRPr lang="en-US"/>
          </a:p>
        </p:txBody>
      </p:sp>
      <p:sp>
        <p:nvSpPr>
          <p:cNvPr id="367" name="Google Shape;367;p13: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72" name="Shape 372"/>
        <p:cNvGrpSpPr/>
        <p:nvPr/>
      </p:nvGrpSpPr>
      <p:grpSpPr>
        <a:xfrm>
          <a:off x="0" y="0"/>
          <a:ext cx="0" cy="0"/>
          <a:chOff x="0" y="0"/>
          <a:chExt cx="0" cy="0"/>
        </a:xfrm>
      </p:grpSpPr>
      <p:sp>
        <p:nvSpPr>
          <p:cNvPr id="373" name="Google Shape;373;p1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4" name="Google Shape;374;p14: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 hanya menutup gejala. C paling benar tapi API belum punya spec. B memberi sebagian besar manfaat C dengan biaya kecil dan tidak menutup jalan ke C.</a:t>
            </a:r>
            <a:endParaRPr lang="en-US"/>
          </a:p>
        </p:txBody>
      </p:sp>
      <p:sp>
        <p:nvSpPr>
          <p:cNvPr id="375" name="Google Shape;375;p14: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4" name="Shape 384"/>
        <p:cNvGrpSpPr/>
        <p:nvPr/>
      </p:nvGrpSpPr>
      <p:grpSpPr>
        <a:xfrm>
          <a:off x="0" y="0"/>
          <a:ext cx="0" cy="0"/>
          <a:chOff x="0" y="0"/>
          <a:chExt cx="0" cy="0"/>
        </a:xfrm>
      </p:grpSpPr>
      <p:sp>
        <p:nvSpPr>
          <p:cNvPr id="385" name="Google Shape;385;p1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6" name="Google Shape;386;p15: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Brief minta constraint signal. Ini lima hal yang di proyek live akan saya bawa ke Tech Lead dulu. Yang pertama paling konkret: perbaikan IDOR punya dua jalan, dan saya ambil yang tidak menyentuh data produksi.</a:t>
            </a:r>
            <a:endParaRPr lang="en-US"/>
          </a:p>
        </p:txBody>
      </p:sp>
      <p:sp>
        <p:nvSpPr>
          <p:cNvPr id="387" name="Google Shape;387;p15: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418" name="Shape 418"/>
        <p:cNvGrpSpPr/>
        <p:nvPr/>
      </p:nvGrpSpPr>
      <p:grpSpPr>
        <a:xfrm>
          <a:off x="0" y="0"/>
          <a:ext cx="0" cy="0"/>
          <a:chOff x="0" y="0"/>
          <a:chExt cx="0" cy="0"/>
        </a:xfrm>
      </p:grpSpPr>
      <p:sp>
        <p:nvSpPr>
          <p:cNvPr id="419" name="Google Shape;419;p1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0" name="Google Shape;420;p16: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Ini inti klaim saya sebagai kandidat frontend depth. Di produk asesmen, frontend adalah lapisan akuntabilitas. Tiga pilar: kontrak yang jujur, provenance dan ketidakpastian, dan bisa diverifikasi. Saya sempat tergoda menulis ulang generator di backend, tapi generator-nya sudah benar — yang rusak adalah perjalanan data ke manusia.</a:t>
            </a:r>
            <a:endParaRPr lang="en-US"/>
          </a:p>
        </p:txBody>
      </p:sp>
      <p:sp>
        <p:nvSpPr>
          <p:cNvPr id="421" name="Google Shape;421;p16: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446" name="Shape 446"/>
        <p:cNvGrpSpPr/>
        <p:nvPr/>
      </p:nvGrpSpPr>
      <p:grpSpPr>
        <a:xfrm>
          <a:off x="0" y="0"/>
          <a:ext cx="0" cy="0"/>
          <a:chOff x="0" y="0"/>
          <a:chExt cx="0" cy="0"/>
        </a:xfrm>
      </p:grpSpPr>
      <p:sp>
        <p:nvSpPr>
          <p:cNvPr id="447" name="Google Shape;447;p1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8" name="Google Shape;448;p17: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Bagian keempat: apa yang saya bangun.</a:t>
            </a:r>
            <a:endParaRPr lang="en-US"/>
          </a:p>
        </p:txBody>
      </p:sp>
      <p:sp>
        <p:nvSpPr>
          <p:cNvPr id="449" name="Google Shape;449;p17: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454" name="Shape 454"/>
        <p:cNvGrpSpPr/>
        <p:nvPr/>
      </p:nvGrpSpPr>
      <p:grpSpPr>
        <a:xfrm>
          <a:off x="0" y="0"/>
          <a:ext cx="0" cy="0"/>
          <a:chOff x="0" y="0"/>
          <a:chExt cx="0" cy="0"/>
        </a:xfrm>
      </p:grpSpPr>
      <p:sp>
        <p:nvSpPr>
          <p:cNvPr id="455" name="Google Shape;455;p1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6" name="Google Shape;456;p18: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Acceptance criteria saya tulis sebelum kode, tujuh grup, masing-masing terikat ke test. Edge case-nya saya petakan ke kategori yang disebut brief: skill tidak dinilai, rating hilang, model gagal, tipe data, dan teks panjang.</a:t>
            </a:r>
            <a:endParaRPr lang="en-US"/>
          </a:p>
        </p:txBody>
      </p:sp>
      <p:sp>
        <p:nvSpPr>
          <p:cNvPr id="457" name="Google Shape;457;p18: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494" name="Shape 494"/>
        <p:cNvGrpSpPr/>
        <p:nvPr/>
      </p:nvGrpSpPr>
      <p:grpSpPr>
        <a:xfrm>
          <a:off x="0" y="0"/>
          <a:ext cx="0" cy="0"/>
          <a:chOff x="0" y="0"/>
          <a:chExt cx="0" cy="0"/>
        </a:xfrm>
      </p:grpSpPr>
      <p:sp>
        <p:nvSpPr>
          <p:cNvPr id="495" name="Google Shape;495;p1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6" name="Google Shape;496;p19: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Validasi di service layer, bukan di komponen. Detail yang saya jaga: type frontend sekarang di-infer dari schema Zod, jadi type dan runtime check tidak mungkin berbeda lagi — itu persis akar bug awalnya.</a:t>
            </a:r>
            <a:endParaRPr lang="en-US"/>
          </a:p>
        </p:txBody>
      </p:sp>
      <p:sp>
        <p:nvSpPr>
          <p:cNvPr id="497" name="Google Shape;497;p19: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523" name="Shape 523"/>
        <p:cNvGrpSpPr/>
        <p:nvPr/>
      </p:nvGrpSpPr>
      <p:grpSpPr>
        <a:xfrm>
          <a:off x="0" y="0"/>
          <a:ext cx="0" cy="0"/>
          <a:chOff x="0" y="0"/>
          <a:chExt cx="0" cy="0"/>
        </a:xfrm>
      </p:grpSpPr>
      <p:sp>
        <p:nvSpPr>
          <p:cNvPr id="524" name="Google Shape;524;p2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5" name="Google Shape;525;p20: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Hasil dengan data yang sama. Yang paling saya banggakan: peringatan untuk gap yang buktinya tipis. Itu keputusan produk, bukan sekadar perbaikan bug.</a:t>
            </a:r>
            <a:endParaRPr lang="en-US"/>
          </a:p>
        </p:txBody>
      </p:sp>
      <p:sp>
        <p:nvSpPr>
          <p:cNvPr id="526" name="Google Shape;526;p20: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41" name="Shape 541"/>
        <p:cNvGrpSpPr/>
        <p:nvPr/>
      </p:nvGrpSpPr>
      <p:grpSpPr>
        <a:xfrm>
          <a:off x="0" y="0"/>
          <a:ext cx="0" cy="0"/>
          <a:chOff x="0" y="0"/>
          <a:chExt cx="0" cy="0"/>
        </a:xfrm>
      </p:grpSpPr>
      <p:sp>
        <p:nvSpPr>
          <p:cNvPr id="542" name="Google Shape;542;p2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3" name="Google Shape;543;p21: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Koreksi assessor sekarang terlihat lengkap, dan keyakinan ikut bersama verdict. Edge case favorit saya AC-2.3: override tanpa nama tetap keputusan manusia — kalau diturunkan jadi rating AI, jejak intervensi manusia hilang.</a:t>
            </a:r>
            <a:endParaRPr lang="en-US"/>
          </a:p>
        </p:txBody>
      </p:sp>
      <p:sp>
        <p:nvSpPr>
          <p:cNvPr id="544" name="Google Shape;544;p21: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566" name="Shape 566"/>
        <p:cNvGrpSpPr/>
        <p:nvPr/>
      </p:nvGrpSpPr>
      <p:grpSpPr>
        <a:xfrm>
          <a:off x="0" y="0"/>
          <a:ext cx="0" cy="0"/>
          <a:chOff x="0" y="0"/>
          <a:chExt cx="0" cy="0"/>
        </a:xfrm>
      </p:grpSpPr>
      <p:sp>
        <p:nvSpPr>
          <p:cNvPr id="567" name="Google Shape;567;p2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8" name="Google Shape;568;p22: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Satu perubahan kecil di frontend dengan dampak besar. Dulu level kosong dirender sebagai L1, level paling rendah. Itu artinya 'kami tidak punya data' berubah jadi 'orang ini paling lemah'. Sekarang tampil sebagai strip dengan label 'tidak dinilai'.</a:t>
            </a:r>
            <a:endParaRPr lang="en-US"/>
          </a:p>
        </p:txBody>
      </p:sp>
      <p:sp>
        <p:nvSpPr>
          <p:cNvPr id="569" name="Google Shape;569;p22: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584" name="Shape 584"/>
        <p:cNvGrpSpPr/>
        <p:nvPr/>
      </p:nvGrpSpPr>
      <p:grpSpPr>
        <a:xfrm>
          <a:off x="0" y="0"/>
          <a:ext cx="0" cy="0"/>
          <a:chOff x="0" y="0"/>
          <a:chExt cx="0" cy="0"/>
        </a:xfrm>
      </p:grpSpPr>
      <p:sp>
        <p:nvSpPr>
          <p:cNvPr id="585" name="Google Shape;585;p2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6" name="Google Shape;586;p23: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Aksesibilitas bagian dari klaim frontend depth saya. Di simulasi buta warna, emoji lama jadi kotak abu-abu. Sekarang status dibawa teks. Tabel punya caption dan scope, dan di 375px tabel scroll di dalam container, bukan mendorong halaman ke samping.</a:t>
            </a:r>
            <a:endParaRPr lang="en-US"/>
          </a:p>
        </p:txBody>
      </p:sp>
      <p:sp>
        <p:nvSpPr>
          <p:cNvPr id="587" name="Google Shape;587;p23: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604" name="Shape 604"/>
        <p:cNvGrpSpPr/>
        <p:nvPr/>
      </p:nvGrpSpPr>
      <p:grpSpPr>
        <a:xfrm>
          <a:off x="0" y="0"/>
          <a:ext cx="0" cy="0"/>
          <a:chOff x="0" y="0"/>
          <a:chExt cx="0" cy="0"/>
        </a:xfrm>
      </p:grpSpPr>
      <p:sp>
        <p:nvSpPr>
          <p:cNvPr id="605" name="Google Shape;605;p2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6" name="Google Shape;606;p24: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Walau kedalaman saya di frontend, backend tidak absen. Saya kerjakan seperlunya supaya frontend punya data yang benar untuk ditampilkan. IDOR saya perbaiki meski di luar tema, karena menyangkut data pribadi kandidat.</a:t>
            </a:r>
            <a:endParaRPr lang="en-US"/>
          </a:p>
        </p:txBody>
      </p:sp>
      <p:sp>
        <p:nvSpPr>
          <p:cNvPr id="607" name="Google Shape;607;p24: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619" name="Shape 619"/>
        <p:cNvGrpSpPr/>
        <p:nvPr/>
      </p:nvGrpSpPr>
      <p:grpSpPr>
        <a:xfrm>
          <a:off x="0" y="0"/>
          <a:ext cx="0" cy="0"/>
          <a:chOff x="0" y="0"/>
          <a:chExt cx="0" cy="0"/>
        </a:xfrm>
      </p:grpSpPr>
      <p:sp>
        <p:nvSpPr>
          <p:cNvPr id="620" name="Google Shape;620;p2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1" name="Google Shape;621;p25: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Empat jalur gagal yang saya desain eksplisit. Yang paling mungkin ditanya: fail-open di job guard. Kalau fail-closed dan Redis mati, regenerate mati untuk semua orang.</a:t>
            </a:r>
            <a:endParaRPr lang="en-US"/>
          </a:p>
        </p:txBody>
      </p:sp>
      <p:sp>
        <p:nvSpPr>
          <p:cNvPr id="622" name="Google Shape;622;p25: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644" name="Shape 644"/>
        <p:cNvGrpSpPr/>
        <p:nvPr/>
      </p:nvGrpSpPr>
      <p:grpSpPr>
        <a:xfrm>
          <a:off x="0" y="0"/>
          <a:ext cx="0" cy="0"/>
          <a:chOff x="0" y="0"/>
          <a:chExt cx="0" cy="0"/>
        </a:xfrm>
      </p:grpSpPr>
      <p:sp>
        <p:nvSpPr>
          <p:cNvPr id="645" name="Google Shape;645;p2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6" name="Google Shape;646;p26: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Bagian kelima: bagaimana saya membuktikan hasilnya.</a:t>
            </a:r>
            <a:endParaRPr lang="en-US"/>
          </a:p>
        </p:txBody>
      </p:sp>
      <p:sp>
        <p:nvSpPr>
          <p:cNvPr id="647" name="Google Shape;647;p26: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652" name="Shape 652"/>
        <p:cNvGrpSpPr/>
        <p:nvPr/>
      </p:nvGrpSpPr>
      <p:grpSpPr>
        <a:xfrm>
          <a:off x="0" y="0"/>
          <a:ext cx="0" cy="0"/>
          <a:chOff x="0" y="0"/>
          <a:chExt cx="0" cy="0"/>
        </a:xfrm>
      </p:grpSpPr>
      <p:sp>
        <p:nvSpPr>
          <p:cNvPr id="653" name="Google Shape;653;p2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4" name="Google Shape;654;p27: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Buktinya dilampirkan mentah di report. 8 gagal di kode lama, 34 lulus setelah perbaikan. Tiga fault saya suntikkan di tempat yang saya klaim sudah diperbaiki, dan test merah 2, 3, 2. Setelah submit saya lanjutkan ke 49 test, tapi yang dinilai adalah 34 di PDF.</a:t>
            </a:r>
            <a:endParaRPr lang="en-US"/>
          </a:p>
        </p:txBody>
      </p:sp>
      <p:sp>
        <p:nvSpPr>
          <p:cNvPr id="655" name="Google Shape;655;p27: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679" name="Shape 679"/>
        <p:cNvGrpSpPr/>
        <p:nvPr/>
      </p:nvGrpSpPr>
      <p:grpSpPr>
        <a:xfrm>
          <a:off x="0" y="0"/>
          <a:ext cx="0" cy="0"/>
          <a:chOff x="0" y="0"/>
          <a:chExt cx="0" cy="0"/>
        </a:xfrm>
      </p:grpSpPr>
      <p:sp>
        <p:nvSpPr>
          <p:cNvPr id="680" name="Google Shape;680;p2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1" name="Google Shape;681;p28: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Dua momen saya salah, dan dua-duanya ketahuan karena test ditulis dulu. Silakan tunjuk baris mana pun di PR, saya bisa jelaskan.</a:t>
            </a:r>
            <a:endParaRPr lang="en-US"/>
          </a:p>
        </p:txBody>
      </p:sp>
      <p:sp>
        <p:nvSpPr>
          <p:cNvPr id="682" name="Google Shape;682;p28: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701" name="Shape 701"/>
        <p:cNvGrpSpPr/>
        <p:nvPr/>
      </p:nvGrpSpPr>
      <p:grpSpPr>
        <a:xfrm>
          <a:off x="0" y="0"/>
          <a:ext cx="0" cy="0"/>
          <a:chOff x="0" y="0"/>
          <a:chExt cx="0" cy="0"/>
        </a:xfrm>
      </p:grpSpPr>
      <p:sp>
        <p:nvSpPr>
          <p:cNvPr id="702" name="Google Shape;702;p2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3" name="Google Shape;703;p29: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Bagian terakhir: ke depan.</a:t>
            </a:r>
            <a:endParaRPr lang="en-US"/>
          </a:p>
        </p:txBody>
      </p:sp>
      <p:sp>
        <p:nvSpPr>
          <p:cNvPr id="704" name="Google Shape;704;p29: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709" name="Shape 709"/>
        <p:cNvGrpSpPr/>
        <p:nvPr/>
      </p:nvGrpSpPr>
      <p:grpSpPr>
        <a:xfrm>
          <a:off x="0" y="0"/>
          <a:ext cx="0" cy="0"/>
          <a:chOff x="0" y="0"/>
          <a:chExt cx="0" cy="0"/>
        </a:xfrm>
      </p:grpSpPr>
      <p:sp>
        <p:nvSpPr>
          <p:cNvPr id="710" name="Google Shape;710;p3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1" name="Google Shape;711;p30: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Saya mau terbuka soal yang belum selesai. Yang paling berat: tenant ditentukan dari header. Itu lebih luas dari IDOR yang saya perbaiki. Saya tidak memperbaikinya sendiri karena butuh migrasi dan keputusan arsitektur.</a:t>
            </a:r>
            <a:endParaRPr lang="en-US"/>
          </a:p>
        </p:txBody>
      </p:sp>
      <p:sp>
        <p:nvSpPr>
          <p:cNvPr id="712" name="Google Shape;712;p30: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721" name="Shape 721"/>
        <p:cNvGrpSpPr/>
        <p:nvPr/>
      </p:nvGrpSpPr>
      <p:grpSpPr>
        <a:xfrm>
          <a:off x="0" y="0"/>
          <a:ext cx="0" cy="0"/>
          <a:chOff x="0" y="0"/>
          <a:chExt cx="0" cy="0"/>
        </a:xfrm>
      </p:grpSpPr>
      <p:sp>
        <p:nvSpPr>
          <p:cNvPr id="722" name="Google Shape;722;p3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3" name="Google Shape;723;p31: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Kalau dirangkum, empat hal ini yang ingin saya tunjukkan sebagai kandidat.</a:t>
            </a:r>
            <a:endParaRPr lang="en-US"/>
          </a:p>
        </p:txBody>
      </p:sp>
      <p:sp>
        <p:nvSpPr>
          <p:cNvPr id="724" name="Google Shape;724;p31: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749" name="Shape 749"/>
        <p:cNvGrpSpPr/>
        <p:nvPr/>
      </p:nvGrpSpPr>
      <p:grpSpPr>
        <a:xfrm>
          <a:off x="0" y="0"/>
          <a:ext cx="0" cy="0"/>
          <a:chOff x="0" y="0"/>
          <a:chExt cx="0" cy="0"/>
        </a:xfrm>
      </p:grpSpPr>
      <p:sp>
        <p:nvSpPr>
          <p:cNvPr id="750" name="Google Shape;750;p3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1" name="Google Shape;751;p32: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Kalau saya bergabung, ini urutan yang saya usulkan, disesuaikan dengan prioritas tim.</a:t>
            </a:r>
            <a:endParaRPr lang="en-US"/>
          </a:p>
        </p:txBody>
      </p:sp>
      <p:sp>
        <p:nvSpPr>
          <p:cNvPr id="752" name="Google Shape;752;p32: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774" name="Shape 774"/>
        <p:cNvGrpSpPr/>
        <p:nvPr/>
      </p:nvGrpSpPr>
      <p:grpSpPr>
        <a:xfrm>
          <a:off x="0" y="0"/>
          <a:ext cx="0" cy="0"/>
          <a:chOff x="0" y="0"/>
          <a:chExt cx="0" cy="0"/>
        </a:xfrm>
      </p:grpSpPr>
      <p:sp>
        <p:nvSpPr>
          <p:cNvPr id="775" name="Google Shape;775;p3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6" name="Google Shape;776;p33: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Terima kasih. Saya buka untuk pertanyaan.</a:t>
            </a:r>
            <a:endParaRPr lang="en-US"/>
          </a:p>
        </p:txBody>
      </p:sp>
      <p:sp>
        <p:nvSpPr>
          <p:cNvPr id="777" name="Google Shape;777;p33:notes"/>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9"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spc="0">
          <a:solidFill>
            <a:srgbClr val="000000"/>
          </a:solidFill>
          <a:latin typeface="Arial" panose="020B0704020202020204"/>
          <a:ea typeface="Arial" panose="020B0704020202020204"/>
          <a:cs typeface="Arial" panose="020B0704020202020204"/>
          <a:sym typeface="Arial" panose="020B07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C6FF3"/>
        </a:solidFill>
        <a:effectLst/>
      </p:bgPr>
    </p:bg>
    <p:spTree>
      <p:nvGrpSpPr>
        <p:cNvPr id="15" name="Shape 15"/>
        <p:cNvGrpSpPr/>
        <p:nvPr/>
      </p:nvGrpSpPr>
      <p:grpSpPr>
        <a:xfrm>
          <a:off x="0" y="0"/>
          <a:ext cx="0" cy="0"/>
          <a:chOff x="0" y="0"/>
          <a:chExt cx="0" cy="0"/>
        </a:xfrm>
      </p:grpSpPr>
      <p:sp>
        <p:nvSpPr>
          <p:cNvPr id="16" name="Google Shape;16;p3"/>
          <p:cNvSpPr txBox="1"/>
          <p:nvPr/>
        </p:nvSpPr>
        <p:spPr>
          <a:xfrm>
            <a:off x="594360" y="1554480"/>
            <a:ext cx="11002975"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AFCBFF"/>
              </a:buClr>
              <a:buSzPts val="1600"/>
              <a:buFont typeface="Calibri"/>
              <a:buNone/>
            </a:pPr>
            <a:r>
              <a:rPr lang="en-US" sz="1600" b="0" i="0" u="none" strike="noStrike" cap="none">
                <a:solidFill>
                  <a:srgbClr val="AFCBFF"/>
                </a:solidFill>
                <a:latin typeface="Calibri"/>
                <a:ea typeface="Calibri"/>
                <a:cs typeface="Calibri"/>
                <a:sym typeface="Calibri"/>
              </a:rPr>
              <a:t>Hasil case study saya </a:t>
            </a:r>
            <a:endParaRPr sz="1600" b="0" i="0" u="none" strike="noStrike" cap="none">
              <a:solidFill>
                <a:schemeClr val="dk1"/>
              </a:solidFill>
              <a:latin typeface="Calibri"/>
              <a:ea typeface="Calibri"/>
              <a:cs typeface="Calibri"/>
              <a:sym typeface="Calibri"/>
            </a:endParaRPr>
          </a:p>
        </p:txBody>
      </p:sp>
      <p:sp>
        <p:nvSpPr>
          <p:cNvPr id="17" name="Google Shape;17;p3"/>
          <p:cNvSpPr txBox="1"/>
          <p:nvPr/>
        </p:nvSpPr>
        <p:spPr>
          <a:xfrm>
            <a:off x="594360" y="2011680"/>
            <a:ext cx="10058400" cy="1645920"/>
          </a:xfrm>
          <a:prstGeom prst="rect">
            <a:avLst/>
          </a:prstGeom>
          <a:noFill/>
          <a:ln>
            <a:noFill/>
          </a:ln>
        </p:spPr>
        <p:txBody>
          <a:bodyPr spcFirstLastPara="1" wrap="square" lIns="0" tIns="0" rIns="0" bIns="0" anchor="t" anchorCtr="0">
            <a:noAutofit/>
          </a:bodyPr>
          <a:lstStyle/>
          <a:p>
            <a:pPr marL="0" marR="0" lvl="0" indent="0" algn="l" rtl="0">
              <a:lnSpc>
                <a:spcPct val="118000"/>
              </a:lnSpc>
              <a:spcBef>
                <a:spcPts val="0"/>
              </a:spcBef>
              <a:spcAft>
                <a:spcPts val="0"/>
              </a:spcAft>
              <a:buClr>
                <a:srgbClr val="FFFFFF"/>
              </a:buClr>
              <a:buSzPts val="4400"/>
              <a:buFont typeface="Calibri"/>
              <a:buNone/>
            </a:pPr>
            <a:r>
              <a:rPr lang="en-US" sz="4400" b="1" i="0" u="none" strike="noStrike" cap="none">
                <a:solidFill>
                  <a:srgbClr val="FFFFFF"/>
                </a:solidFill>
                <a:latin typeface="Calibri"/>
                <a:ea typeface="Calibri"/>
                <a:cs typeface="Calibri"/>
                <a:sym typeface="Calibri"/>
              </a:rPr>
              <a:t>Membuat penilaian AI</a:t>
            </a:r>
            <a:endParaRPr sz="4400" b="0" i="0" u="none" strike="noStrike" cap="none">
              <a:solidFill>
                <a:schemeClr val="dk1"/>
              </a:solidFill>
              <a:latin typeface="Calibri"/>
              <a:ea typeface="Calibri"/>
              <a:cs typeface="Calibri"/>
              <a:sym typeface="Calibri"/>
            </a:endParaRPr>
          </a:p>
          <a:p>
            <a:pPr marL="0" marR="0" lvl="0" indent="0" algn="l" rtl="0">
              <a:lnSpc>
                <a:spcPct val="118000"/>
              </a:lnSpc>
              <a:spcBef>
                <a:spcPts val="0"/>
              </a:spcBef>
              <a:spcAft>
                <a:spcPts val="0"/>
              </a:spcAft>
              <a:buClr>
                <a:srgbClr val="FFFFFF"/>
              </a:buClr>
              <a:buSzPts val="4400"/>
              <a:buFont typeface="Calibri"/>
              <a:buNone/>
            </a:pPr>
            <a:r>
              <a:rPr lang="en-US" sz="4400" b="1" i="0" u="none" strike="noStrike" cap="none">
                <a:solidFill>
                  <a:srgbClr val="FFFFFF"/>
                </a:solidFill>
                <a:latin typeface="Calibri"/>
                <a:ea typeface="Calibri"/>
                <a:cs typeface="Calibri"/>
                <a:sym typeface="Calibri"/>
              </a:rPr>
              <a:t>bisa dipertanggungjawabkan</a:t>
            </a:r>
            <a:endParaRPr sz="4400" b="0" i="0" u="none" strike="noStrike" cap="none">
              <a:solidFill>
                <a:schemeClr val="dk1"/>
              </a:solidFill>
              <a:latin typeface="Calibri"/>
              <a:ea typeface="Calibri"/>
              <a:cs typeface="Calibri"/>
              <a:sym typeface="Calibri"/>
            </a:endParaRPr>
          </a:p>
        </p:txBody>
      </p:sp>
      <p:sp>
        <p:nvSpPr>
          <p:cNvPr id="18" name="Google Shape;18;p3"/>
          <p:cNvSpPr txBox="1"/>
          <p:nvPr/>
        </p:nvSpPr>
        <p:spPr>
          <a:xfrm>
            <a:off x="594360" y="3794760"/>
            <a:ext cx="11002975" cy="4114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D4E8FF"/>
              </a:buClr>
              <a:buSzPts val="1700"/>
              <a:buFont typeface="Calibri"/>
              <a:buNone/>
            </a:pPr>
            <a:r>
              <a:rPr lang="en-US" sz="1700" b="0" i="0" u="none" strike="noStrike" cap="none">
                <a:solidFill>
                  <a:srgbClr val="D4E8FF"/>
                </a:solidFill>
                <a:latin typeface="Calibri"/>
                <a:ea typeface="Calibri"/>
                <a:cs typeface="Calibri"/>
                <a:sym typeface="Calibri"/>
              </a:rPr>
              <a:t>AI Interview Platform  ·  Fullstack, dengan fokus di frontend</a:t>
            </a:r>
            <a:endParaRPr sz="1700" b="0" i="0" u="none" strike="noStrike" cap="none">
              <a:solidFill>
                <a:schemeClr val="dk1"/>
              </a:solidFill>
              <a:latin typeface="Calibri"/>
              <a:ea typeface="Calibri"/>
              <a:cs typeface="Calibri"/>
              <a:sym typeface="Calibri"/>
            </a:endParaRPr>
          </a:p>
        </p:txBody>
      </p:sp>
      <p:sp>
        <p:nvSpPr>
          <p:cNvPr id="19" name="Google Shape;19;p3"/>
          <p:cNvSpPr txBox="1"/>
          <p:nvPr/>
        </p:nvSpPr>
        <p:spPr>
          <a:xfrm>
            <a:off x="594360" y="4983480"/>
            <a:ext cx="5486400" cy="4114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FFFFFF"/>
              </a:buClr>
              <a:buSzPts val="2200"/>
              <a:buFont typeface="Calibri"/>
              <a:buNone/>
            </a:pPr>
            <a:r>
              <a:rPr lang="en-US" sz="2200" b="1" i="0" u="none" strike="noStrike" cap="none">
                <a:solidFill>
                  <a:srgbClr val="FFFFFF"/>
                </a:solidFill>
                <a:latin typeface="Calibri"/>
                <a:ea typeface="Calibri"/>
                <a:cs typeface="Calibri"/>
                <a:sym typeface="Calibri"/>
              </a:rPr>
              <a:t>Aulia Afriza</a:t>
            </a:r>
            <a:endParaRPr sz="2200" b="0" i="0" u="none" strike="noStrike" cap="none">
              <a:solidFill>
                <a:schemeClr val="dk1"/>
              </a:solidFill>
              <a:latin typeface="Calibri"/>
              <a:ea typeface="Calibri"/>
              <a:cs typeface="Calibri"/>
              <a:sym typeface="Calibri"/>
            </a:endParaRPr>
          </a:p>
        </p:txBody>
      </p:sp>
      <p:sp>
        <p:nvSpPr>
          <p:cNvPr id="20" name="Google Shape;20;p3"/>
          <p:cNvSpPr txBox="1"/>
          <p:nvPr/>
        </p:nvSpPr>
        <p:spPr>
          <a:xfrm>
            <a:off x="594360" y="5394960"/>
            <a:ext cx="11002975"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AFCBFF"/>
              </a:buClr>
              <a:buSzPts val="1400"/>
              <a:buFont typeface="Calibri"/>
              <a:buNone/>
            </a:pPr>
            <a:r>
              <a:rPr lang="en-US" sz="1400" b="0" i="0" u="none" strike="noStrike" cap="none">
                <a:solidFill>
                  <a:srgbClr val="AFCBFF"/>
                </a:solidFill>
                <a:latin typeface="Calibri"/>
                <a:ea typeface="Calibri"/>
                <a:cs typeface="Calibri"/>
                <a:sym typeface="Calibri"/>
              </a:rPr>
              <a:t>Kandidat Fullstack Product Engineer  ·  github.com/auliaafriza/code-challenge-rakamin</a:t>
            </a:r>
            <a:endParaRPr sz="1400" b="0"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25" name="Shape 25"/>
        <p:cNvGrpSpPr/>
        <p:nvPr/>
      </p:nvGrpSpPr>
      <p:grpSpPr>
        <a:xfrm>
          <a:off x="0" y="0"/>
          <a:ext cx="0" cy="0"/>
          <a:chOff x="0" y="0"/>
          <a:chExt cx="0" cy="0"/>
        </a:xfrm>
      </p:grpSpPr>
      <p:sp>
        <p:nvSpPr>
          <p:cNvPr id="26" name="Google Shape;26;p4"/>
          <p:cNvSpPr txBox="1"/>
          <p:nvPr/>
        </p:nvSpPr>
        <p:spPr>
          <a:xfrm>
            <a:off x="11277295" y="6419088"/>
            <a:ext cx="457200"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A94A8"/>
              </a:buClr>
              <a:buSzPts val="1000"/>
              <a:buFont typeface="Calibri"/>
              <a:buNone/>
            </a:pPr>
            <a:r>
              <a:rPr lang="en-US" sz="1000" b="0" i="0" u="none" strike="noStrike" cap="none">
                <a:solidFill>
                  <a:srgbClr val="8A94A8"/>
                </a:solidFill>
                <a:latin typeface="Calibri"/>
                <a:ea typeface="Calibri"/>
                <a:cs typeface="Calibri"/>
                <a:sym typeface="Calibri"/>
              </a:rPr>
              <a:t>2</a:t>
            </a:r>
            <a:endParaRPr sz="1000" b="0" i="0" u="none" strike="noStrike" cap="none">
              <a:solidFill>
                <a:schemeClr val="dk1"/>
              </a:solidFill>
              <a:latin typeface="Calibri"/>
              <a:ea typeface="Calibri"/>
              <a:cs typeface="Calibri"/>
              <a:sym typeface="Calibri"/>
            </a:endParaRPr>
          </a:p>
        </p:txBody>
      </p:sp>
      <p:sp>
        <p:nvSpPr>
          <p:cNvPr id="27" name="Google Shape;27;p4"/>
          <p:cNvSpPr txBox="1"/>
          <p:nvPr/>
        </p:nvSpPr>
        <p:spPr>
          <a:xfrm>
            <a:off x="594360" y="6419088"/>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A94A8"/>
              </a:buClr>
              <a:buSzPts val="1000"/>
              <a:buFont typeface="Calibri"/>
              <a:buNone/>
            </a:pPr>
            <a:r>
              <a:rPr lang="en-US" sz="1000" b="0" i="0" u="none" strike="noStrike" cap="none">
                <a:solidFill>
                  <a:srgbClr val="8A94A8"/>
                </a:solidFill>
                <a:latin typeface="Calibri"/>
                <a:ea typeface="Calibri"/>
                <a:cs typeface="Calibri"/>
                <a:sym typeface="Calibri"/>
              </a:rPr>
              <a:t>Aulia Afriza  ·  Kandidat Fullstack Product Engineer</a:t>
            </a:r>
            <a:endParaRPr sz="1000" b="0" i="0" u="none" strike="noStrike" cap="none">
              <a:solidFill>
                <a:schemeClr val="dk1"/>
              </a:solidFill>
              <a:latin typeface="Calibri"/>
              <a:ea typeface="Calibri"/>
              <a:cs typeface="Calibri"/>
              <a:sym typeface="Calibri"/>
            </a:endParaRPr>
          </a:p>
        </p:txBody>
      </p:sp>
      <p:sp>
        <p:nvSpPr>
          <p:cNvPr id="28" name="Google Shape;28;p4"/>
          <p:cNvSpPr txBox="1"/>
          <p:nvPr/>
        </p:nvSpPr>
        <p:spPr>
          <a:xfrm>
            <a:off x="594360" y="438912"/>
            <a:ext cx="11002975"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2800"/>
              <a:buFont typeface="Calibri"/>
              <a:buNone/>
            </a:pPr>
            <a:r>
              <a:rPr lang="en-US" sz="2800" b="1" i="0" u="none" strike="noStrike" cap="none">
                <a:solidFill>
                  <a:srgbClr val="0F1B33"/>
                </a:solidFill>
                <a:latin typeface="Calibri"/>
                <a:ea typeface="Calibri"/>
                <a:cs typeface="Calibri"/>
                <a:sym typeface="Calibri"/>
              </a:rPr>
              <a:t>Sedikit tentang saya</a:t>
            </a:r>
            <a:endParaRPr sz="2800" b="0" i="0" u="none" strike="noStrike" cap="none">
              <a:solidFill>
                <a:schemeClr val="dk1"/>
              </a:solidFill>
              <a:latin typeface="Calibri"/>
              <a:ea typeface="Calibri"/>
              <a:cs typeface="Calibri"/>
              <a:sym typeface="Calibri"/>
            </a:endParaRPr>
          </a:p>
        </p:txBody>
      </p:sp>
      <p:sp>
        <p:nvSpPr>
          <p:cNvPr id="29" name="Google Shape;29;p4"/>
          <p:cNvSpPr/>
          <p:nvPr/>
        </p:nvSpPr>
        <p:spPr>
          <a:xfrm>
            <a:off x="594360" y="1371600"/>
            <a:ext cx="5318608" cy="1874520"/>
          </a:xfrm>
          <a:prstGeom prst="roundRect">
            <a:avLst>
              <a:gd name="adj" fmla="val 3415"/>
            </a:avLst>
          </a:prstGeom>
          <a:solidFill>
            <a:srgbClr val="F6F9FE"/>
          </a:solidFill>
          <a:ln w="12700" cap="flat" cmpd="sng">
            <a:solidFill>
              <a:srgbClr val="8A94A8"/>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 name="Google Shape;30;p4"/>
          <p:cNvSpPr txBox="1"/>
          <p:nvPr/>
        </p:nvSpPr>
        <p:spPr>
          <a:xfrm>
            <a:off x="868680" y="1572768"/>
            <a:ext cx="4769968" cy="34747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C2E6B"/>
              </a:buClr>
              <a:buSzPts val="1600"/>
              <a:buFont typeface="Calibri"/>
              <a:buNone/>
            </a:pPr>
            <a:r>
              <a:rPr lang="en-US" sz="1600" b="1" i="0" u="none" strike="noStrike" cap="none">
                <a:solidFill>
                  <a:srgbClr val="0C2E6B"/>
                </a:solidFill>
                <a:latin typeface="Calibri"/>
                <a:ea typeface="Calibri"/>
                <a:cs typeface="Calibri"/>
                <a:sym typeface="Calibri"/>
              </a:rPr>
              <a:t>Pengalaman</a:t>
            </a:r>
            <a:endParaRPr sz="1600" b="0" i="0" u="none" strike="noStrike" cap="none">
              <a:solidFill>
                <a:schemeClr val="dk1"/>
              </a:solidFill>
              <a:latin typeface="Calibri"/>
              <a:ea typeface="Calibri"/>
              <a:cs typeface="Calibri"/>
              <a:sym typeface="Calibri"/>
            </a:endParaRPr>
          </a:p>
        </p:txBody>
      </p:sp>
      <p:sp>
        <p:nvSpPr>
          <p:cNvPr id="31" name="Google Shape;31;p4"/>
          <p:cNvSpPr txBox="1"/>
          <p:nvPr/>
        </p:nvSpPr>
        <p:spPr>
          <a:xfrm>
            <a:off x="868680" y="2029968"/>
            <a:ext cx="4769968" cy="1005840"/>
          </a:xfrm>
          <a:prstGeom prst="rect">
            <a:avLst/>
          </a:prstGeom>
          <a:noFill/>
          <a:ln>
            <a:noFill/>
          </a:ln>
        </p:spPr>
        <p:txBody>
          <a:bodyPr spcFirstLastPara="1" wrap="square" lIns="0" tIns="0" rIns="0" bIns="0" anchor="t" anchorCtr="0">
            <a:noAutofit/>
          </a:bodyPr>
          <a:lstStyle/>
          <a:p>
            <a:pPr marL="0" marR="0" lvl="0" indent="0" algn="l" rtl="0">
              <a:lnSpc>
                <a:spcPct val="136000"/>
              </a:lnSpc>
              <a:spcBef>
                <a:spcPts val="0"/>
              </a:spcBef>
              <a:spcAft>
                <a:spcPts val="0"/>
              </a:spcAft>
              <a:buClr>
                <a:srgbClr val="8A94A8"/>
              </a:buClr>
              <a:buSzPts val="1400"/>
              <a:buFont typeface="Calibri"/>
              <a:buNone/>
            </a:pPr>
            <a:r>
              <a:rPr lang="en-US" i="1">
                <a:solidFill>
                  <a:srgbClr val="8A94A8"/>
                </a:solidFill>
                <a:latin typeface="Calibri"/>
                <a:ea typeface="Calibri"/>
                <a:cs typeface="Calibri"/>
                <a:sym typeface="Calibri"/>
              </a:rPr>
              <a:t>Saya memiliki pengalaman dari 2017 hingga sekarang sebagai frontend engineer dan fullstack 1 tahun terakhir dengan berbagai project internal saya.</a:t>
            </a:r>
            <a:endParaRPr sz="1400" b="0" i="0" u="none" strike="noStrike" cap="none">
              <a:solidFill>
                <a:schemeClr val="dk1"/>
              </a:solidFill>
              <a:latin typeface="Calibri"/>
              <a:ea typeface="Calibri"/>
              <a:cs typeface="Calibri"/>
              <a:sym typeface="Calibri"/>
            </a:endParaRPr>
          </a:p>
        </p:txBody>
      </p:sp>
      <p:sp>
        <p:nvSpPr>
          <p:cNvPr id="32" name="Google Shape;32;p4"/>
          <p:cNvSpPr/>
          <p:nvPr/>
        </p:nvSpPr>
        <p:spPr>
          <a:xfrm>
            <a:off x="594365" y="3710200"/>
            <a:ext cx="5318700" cy="1874400"/>
          </a:xfrm>
          <a:prstGeom prst="roundRect">
            <a:avLst>
              <a:gd name="adj" fmla="val 3415"/>
            </a:avLst>
          </a:prstGeom>
          <a:solidFill>
            <a:srgbClr val="F6F9FE"/>
          </a:solidFill>
          <a:ln w="12700" cap="flat" cmpd="sng">
            <a:solidFill>
              <a:srgbClr val="8A94A8"/>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 name="Google Shape;33;p4"/>
          <p:cNvSpPr txBox="1"/>
          <p:nvPr/>
        </p:nvSpPr>
        <p:spPr>
          <a:xfrm>
            <a:off x="799798" y="3915881"/>
            <a:ext cx="4770000" cy="347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C2E6B"/>
              </a:buClr>
              <a:buSzPts val="1600"/>
              <a:buFont typeface="Calibri"/>
              <a:buNone/>
            </a:pPr>
            <a:r>
              <a:rPr lang="en-US" sz="1600" b="1" i="0" u="none" strike="noStrike" cap="none">
                <a:solidFill>
                  <a:srgbClr val="0C2E6B"/>
                </a:solidFill>
                <a:latin typeface="Calibri"/>
                <a:ea typeface="Calibri"/>
                <a:cs typeface="Calibri"/>
                <a:sym typeface="Calibri"/>
              </a:rPr>
              <a:t>Stack yang paling sering saya pakai</a:t>
            </a:r>
            <a:endParaRPr sz="1600" b="0" i="0" u="none" strike="noStrike" cap="none">
              <a:solidFill>
                <a:schemeClr val="dk1"/>
              </a:solidFill>
              <a:latin typeface="Calibri"/>
              <a:ea typeface="Calibri"/>
              <a:cs typeface="Calibri"/>
              <a:sym typeface="Calibri"/>
            </a:endParaRPr>
          </a:p>
        </p:txBody>
      </p:sp>
      <p:sp>
        <p:nvSpPr>
          <p:cNvPr id="34" name="Google Shape;34;p4"/>
          <p:cNvSpPr txBox="1"/>
          <p:nvPr/>
        </p:nvSpPr>
        <p:spPr>
          <a:xfrm>
            <a:off x="799798" y="4373081"/>
            <a:ext cx="4770000" cy="1005900"/>
          </a:xfrm>
          <a:prstGeom prst="rect">
            <a:avLst/>
          </a:prstGeom>
          <a:noFill/>
          <a:ln>
            <a:noFill/>
          </a:ln>
        </p:spPr>
        <p:txBody>
          <a:bodyPr spcFirstLastPara="1" wrap="square" lIns="0" tIns="0" rIns="0" bIns="0" anchor="t" anchorCtr="0">
            <a:noAutofit/>
          </a:bodyPr>
          <a:lstStyle/>
          <a:p>
            <a:pPr marL="0" marR="0" lvl="0" indent="0" algn="l" rtl="0">
              <a:lnSpc>
                <a:spcPct val="136000"/>
              </a:lnSpc>
              <a:spcBef>
                <a:spcPts val="0"/>
              </a:spcBef>
              <a:spcAft>
                <a:spcPts val="0"/>
              </a:spcAft>
              <a:buClr>
                <a:srgbClr val="8A94A8"/>
              </a:buClr>
              <a:buSzPts val="1400"/>
              <a:buFont typeface="Calibri"/>
              <a:buNone/>
            </a:pPr>
            <a:r>
              <a:rPr lang="en-US" i="1">
                <a:solidFill>
                  <a:srgbClr val="8A94A8"/>
                </a:solidFill>
                <a:latin typeface="Calibri"/>
                <a:ea typeface="Calibri"/>
                <a:cs typeface="Calibri"/>
                <a:sym typeface="Calibri"/>
              </a:rPr>
              <a:t>Stack Frontend: React, React Native, Next, Typescript, Javascript, Laravel, HTML, CSS</a:t>
            </a:r>
            <a:endParaRPr i="1">
              <a:solidFill>
                <a:srgbClr val="8A94A8"/>
              </a:solidFill>
              <a:latin typeface="Calibri"/>
              <a:ea typeface="Calibri"/>
              <a:cs typeface="Calibri"/>
              <a:sym typeface="Calibri"/>
            </a:endParaRPr>
          </a:p>
          <a:p>
            <a:pPr marL="0" marR="0" lvl="0" indent="0" algn="l" rtl="0">
              <a:lnSpc>
                <a:spcPct val="136000"/>
              </a:lnSpc>
              <a:spcBef>
                <a:spcPts val="0"/>
              </a:spcBef>
              <a:spcAft>
                <a:spcPts val="0"/>
              </a:spcAft>
              <a:buClr>
                <a:srgbClr val="8A94A8"/>
              </a:buClr>
              <a:buSzPts val="1400"/>
              <a:buFont typeface="Calibri"/>
              <a:buNone/>
            </a:pPr>
            <a:r>
              <a:rPr lang="en-US" i="1">
                <a:solidFill>
                  <a:srgbClr val="8A94A8"/>
                </a:solidFill>
                <a:latin typeface="Calibri"/>
                <a:ea typeface="Calibri"/>
                <a:cs typeface="Calibri"/>
                <a:sym typeface="Calibri"/>
              </a:rPr>
              <a:t>Stack Backend: Laravel, PHP</a:t>
            </a:r>
            <a:endParaRPr i="1">
              <a:solidFill>
                <a:srgbClr val="8A94A8"/>
              </a:solidFill>
              <a:latin typeface="Calibri"/>
              <a:ea typeface="Calibri"/>
              <a:cs typeface="Calibri"/>
              <a:sym typeface="Calibri"/>
            </a:endParaRPr>
          </a:p>
          <a:p>
            <a:pPr marL="0" marR="0" lvl="0" indent="0" algn="l" rtl="0">
              <a:lnSpc>
                <a:spcPct val="136000"/>
              </a:lnSpc>
              <a:spcBef>
                <a:spcPts val="0"/>
              </a:spcBef>
              <a:spcAft>
                <a:spcPts val="0"/>
              </a:spcAft>
              <a:buClr>
                <a:srgbClr val="8A94A8"/>
              </a:buClr>
              <a:buSzPts val="1400"/>
              <a:buFont typeface="Calibri"/>
              <a:buNone/>
            </a:pPr>
            <a:r>
              <a:rPr lang="en-US" i="1">
                <a:solidFill>
                  <a:srgbClr val="8A94A8"/>
                </a:solidFill>
                <a:latin typeface="Calibri"/>
                <a:ea typeface="Calibri"/>
                <a:cs typeface="Calibri"/>
                <a:sym typeface="Calibri"/>
              </a:rPr>
              <a:t>Other : R, Python, C++</a:t>
            </a:r>
            <a:endParaRPr i="1">
              <a:solidFill>
                <a:srgbClr val="8A94A8"/>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45" name="Shape 45"/>
        <p:cNvGrpSpPr/>
        <p:nvPr/>
      </p:nvGrpSpPr>
      <p:grpSpPr>
        <a:xfrm>
          <a:off x="0" y="0"/>
          <a:ext cx="0" cy="0"/>
          <a:chOff x="0" y="0"/>
          <a:chExt cx="0" cy="0"/>
        </a:xfrm>
      </p:grpSpPr>
      <p:sp>
        <p:nvSpPr>
          <p:cNvPr id="46" name="Google Shape;46;p5"/>
          <p:cNvSpPr txBox="1"/>
          <p:nvPr/>
        </p:nvSpPr>
        <p:spPr>
          <a:xfrm>
            <a:off x="11277295" y="6419088"/>
            <a:ext cx="457200"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A94A8"/>
              </a:buClr>
              <a:buSzPts val="1000"/>
              <a:buFont typeface="Calibri"/>
              <a:buNone/>
            </a:pPr>
            <a:r>
              <a:rPr lang="en-US" sz="1000" b="0" i="0" u="none" strike="noStrike" cap="none">
                <a:solidFill>
                  <a:srgbClr val="8A94A8"/>
                </a:solidFill>
                <a:latin typeface="Calibri"/>
                <a:ea typeface="Calibri"/>
                <a:cs typeface="Calibri"/>
                <a:sym typeface="Calibri"/>
              </a:rPr>
              <a:t>3</a:t>
            </a:r>
            <a:endParaRPr sz="1000" b="0" i="0" u="none" strike="noStrike" cap="none">
              <a:solidFill>
                <a:schemeClr val="dk1"/>
              </a:solidFill>
              <a:latin typeface="Calibri"/>
              <a:ea typeface="Calibri"/>
              <a:cs typeface="Calibri"/>
              <a:sym typeface="Calibri"/>
            </a:endParaRPr>
          </a:p>
        </p:txBody>
      </p:sp>
      <p:sp>
        <p:nvSpPr>
          <p:cNvPr id="47" name="Google Shape;47;p5"/>
          <p:cNvSpPr txBox="1"/>
          <p:nvPr/>
        </p:nvSpPr>
        <p:spPr>
          <a:xfrm>
            <a:off x="594360" y="6419088"/>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A94A8"/>
              </a:buClr>
              <a:buSzPts val="1000"/>
              <a:buFont typeface="Calibri"/>
              <a:buNone/>
            </a:pPr>
            <a:r>
              <a:rPr lang="en-US" sz="1000" b="0" i="0" u="none" strike="noStrike" cap="none">
                <a:solidFill>
                  <a:srgbClr val="8A94A8"/>
                </a:solidFill>
                <a:latin typeface="Calibri"/>
                <a:ea typeface="Calibri"/>
                <a:cs typeface="Calibri"/>
                <a:sym typeface="Calibri"/>
              </a:rPr>
              <a:t>Aulia Afriza  ·  Kandidat Fullstack · Frontend depth</a:t>
            </a:r>
            <a:endParaRPr sz="1000" b="0" i="0" u="none" strike="noStrike" cap="none">
              <a:solidFill>
                <a:schemeClr val="dk1"/>
              </a:solidFill>
              <a:latin typeface="Calibri"/>
              <a:ea typeface="Calibri"/>
              <a:cs typeface="Calibri"/>
              <a:sym typeface="Calibri"/>
            </a:endParaRPr>
          </a:p>
        </p:txBody>
      </p:sp>
      <p:sp>
        <p:nvSpPr>
          <p:cNvPr id="48" name="Google Shape;48;p5"/>
          <p:cNvSpPr txBox="1"/>
          <p:nvPr/>
        </p:nvSpPr>
        <p:spPr>
          <a:xfrm>
            <a:off x="594360" y="438912"/>
            <a:ext cx="11002975"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2800"/>
              <a:buFont typeface="Calibri"/>
              <a:buNone/>
            </a:pPr>
            <a:r>
              <a:rPr lang="en-US" sz="2800" b="1" i="0" u="none" strike="noStrike" cap="none">
                <a:solidFill>
                  <a:srgbClr val="0F1B33"/>
                </a:solidFill>
                <a:latin typeface="Calibri"/>
                <a:ea typeface="Calibri"/>
                <a:cs typeface="Calibri"/>
                <a:sym typeface="Calibri"/>
              </a:rPr>
              <a:t>Isi presentasi</a:t>
            </a:r>
            <a:endParaRPr sz="2800" b="0" i="0" u="none" strike="noStrike" cap="none">
              <a:solidFill>
                <a:schemeClr val="dk1"/>
              </a:solidFill>
              <a:latin typeface="Calibri"/>
              <a:ea typeface="Calibri"/>
              <a:cs typeface="Calibri"/>
              <a:sym typeface="Calibri"/>
            </a:endParaRPr>
          </a:p>
        </p:txBody>
      </p:sp>
      <p:sp>
        <p:nvSpPr>
          <p:cNvPr id="49" name="Google Shape;49;p5"/>
          <p:cNvSpPr txBox="1"/>
          <p:nvPr/>
        </p:nvSpPr>
        <p:spPr>
          <a:xfrm>
            <a:off x="594360" y="987552"/>
            <a:ext cx="11002975"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5617A"/>
              </a:buClr>
              <a:buSzPts val="1500"/>
              <a:buFont typeface="Calibri"/>
              <a:buNone/>
            </a:pPr>
            <a:endParaRPr sz="1500" b="0" i="0" u="none" strike="noStrike" cap="none">
              <a:solidFill>
                <a:schemeClr val="dk1"/>
              </a:solidFill>
              <a:latin typeface="Calibri"/>
              <a:ea typeface="Calibri"/>
              <a:cs typeface="Calibri"/>
              <a:sym typeface="Calibri"/>
            </a:endParaRPr>
          </a:p>
        </p:txBody>
      </p:sp>
      <p:sp>
        <p:nvSpPr>
          <p:cNvPr id="50" name="Google Shape;50;p5"/>
          <p:cNvSpPr/>
          <p:nvPr/>
        </p:nvSpPr>
        <p:spPr>
          <a:xfrm>
            <a:off x="594360" y="1508760"/>
            <a:ext cx="402336" cy="402336"/>
          </a:xfrm>
          <a:prstGeom prst="ellipse">
            <a:avLst/>
          </a:prstGeom>
          <a:solidFill>
            <a:srgbClr val="1C6FF3"/>
          </a:solidFill>
          <a:ln w="12700" cap="flat" cmpd="sng">
            <a:solidFill>
              <a:srgbClr val="1C6F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 name="Google Shape;51;p5"/>
          <p:cNvSpPr txBox="1"/>
          <p:nvPr/>
        </p:nvSpPr>
        <p:spPr>
          <a:xfrm>
            <a:off x="594360" y="1508760"/>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1</a:t>
            </a:r>
            <a:endParaRPr sz="1400" b="0" i="0" u="none" strike="noStrike" cap="none">
              <a:solidFill>
                <a:schemeClr val="dk1"/>
              </a:solidFill>
              <a:latin typeface="Calibri"/>
              <a:ea typeface="Calibri"/>
              <a:cs typeface="Calibri"/>
              <a:sym typeface="Calibri"/>
            </a:endParaRPr>
          </a:p>
        </p:txBody>
      </p:sp>
      <p:sp>
        <p:nvSpPr>
          <p:cNvPr id="52" name="Google Shape;52;p5"/>
          <p:cNvSpPr txBox="1"/>
          <p:nvPr/>
        </p:nvSpPr>
        <p:spPr>
          <a:xfrm>
            <a:off x="1234440" y="1481328"/>
            <a:ext cx="4572000" cy="329184"/>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1700"/>
              <a:buFont typeface="Calibri"/>
              <a:buNone/>
            </a:pPr>
            <a:r>
              <a:rPr lang="en-US" sz="1700" b="1" i="0" u="none" strike="noStrike" cap="none">
                <a:solidFill>
                  <a:srgbClr val="0F1B33"/>
                </a:solidFill>
                <a:latin typeface="Calibri"/>
                <a:ea typeface="Calibri"/>
                <a:cs typeface="Calibri"/>
                <a:sym typeface="Calibri"/>
              </a:rPr>
              <a:t>Memahami produk</a:t>
            </a:r>
            <a:endParaRPr sz="1700" b="0" i="0" u="none" strike="noStrike" cap="none">
              <a:solidFill>
                <a:schemeClr val="dk1"/>
              </a:solidFill>
              <a:latin typeface="Calibri"/>
              <a:ea typeface="Calibri"/>
              <a:cs typeface="Calibri"/>
              <a:sym typeface="Calibri"/>
            </a:endParaRPr>
          </a:p>
        </p:txBody>
      </p:sp>
      <p:sp>
        <p:nvSpPr>
          <p:cNvPr id="53" name="Google Shape;53;p5"/>
          <p:cNvSpPr txBox="1"/>
          <p:nvPr/>
        </p:nvSpPr>
        <p:spPr>
          <a:xfrm>
            <a:off x="1234440" y="1810512"/>
            <a:ext cx="9144000" cy="2926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5617A"/>
              </a:buClr>
              <a:buSzPts val="1350"/>
              <a:buFont typeface="Calibri"/>
              <a:buNone/>
            </a:pPr>
            <a:r>
              <a:rPr lang="en-US" sz="1350" b="0" i="0" u="none" strike="noStrike" cap="none">
                <a:solidFill>
                  <a:srgbClr val="55617A"/>
                </a:solidFill>
                <a:latin typeface="Calibri"/>
                <a:ea typeface="Calibri"/>
                <a:cs typeface="Calibri"/>
                <a:sym typeface="Calibri"/>
              </a:rPr>
              <a:t>Siapa yang memakai produk ini, dan siapa yang paling terdampak</a:t>
            </a:r>
            <a:endParaRPr sz="1350" b="0" i="0" u="none" strike="noStrike" cap="none">
              <a:solidFill>
                <a:schemeClr val="dk1"/>
              </a:solidFill>
              <a:latin typeface="Calibri"/>
              <a:ea typeface="Calibri"/>
              <a:cs typeface="Calibri"/>
              <a:sym typeface="Calibri"/>
            </a:endParaRPr>
          </a:p>
        </p:txBody>
      </p:sp>
      <p:sp>
        <p:nvSpPr>
          <p:cNvPr id="54" name="Google Shape;54;p5"/>
          <p:cNvSpPr/>
          <p:nvPr/>
        </p:nvSpPr>
        <p:spPr>
          <a:xfrm>
            <a:off x="594360" y="2276856"/>
            <a:ext cx="402336" cy="402336"/>
          </a:xfrm>
          <a:prstGeom prst="ellipse">
            <a:avLst/>
          </a:prstGeom>
          <a:solidFill>
            <a:srgbClr val="1C6FF3"/>
          </a:solidFill>
          <a:ln w="12700" cap="flat" cmpd="sng">
            <a:solidFill>
              <a:srgbClr val="1C6F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 name="Google Shape;55;p5"/>
          <p:cNvSpPr txBox="1"/>
          <p:nvPr/>
        </p:nvSpPr>
        <p:spPr>
          <a:xfrm>
            <a:off x="594360" y="2276856"/>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2</a:t>
            </a:r>
            <a:endParaRPr sz="1400" b="0" i="0" u="none" strike="noStrike" cap="none">
              <a:solidFill>
                <a:schemeClr val="dk1"/>
              </a:solidFill>
              <a:latin typeface="Calibri"/>
              <a:ea typeface="Calibri"/>
              <a:cs typeface="Calibri"/>
              <a:sym typeface="Calibri"/>
            </a:endParaRPr>
          </a:p>
        </p:txBody>
      </p:sp>
      <p:sp>
        <p:nvSpPr>
          <p:cNvPr id="56" name="Google Shape;56;p5"/>
          <p:cNvSpPr txBox="1"/>
          <p:nvPr/>
        </p:nvSpPr>
        <p:spPr>
          <a:xfrm>
            <a:off x="1234440" y="2249424"/>
            <a:ext cx="4572000" cy="329184"/>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1700"/>
              <a:buFont typeface="Calibri"/>
              <a:buNone/>
            </a:pPr>
            <a:r>
              <a:rPr lang="en-US" sz="1700" b="1" i="0" u="none" strike="noStrike" cap="none">
                <a:solidFill>
                  <a:srgbClr val="0F1B33"/>
                </a:solidFill>
                <a:latin typeface="Calibri"/>
                <a:ea typeface="Calibri"/>
                <a:cs typeface="Calibri"/>
                <a:sym typeface="Calibri"/>
              </a:rPr>
              <a:t>Menemukan masalah</a:t>
            </a:r>
            <a:endParaRPr sz="1700" b="0" i="0" u="none" strike="noStrike" cap="none">
              <a:solidFill>
                <a:schemeClr val="dk1"/>
              </a:solidFill>
              <a:latin typeface="Calibri"/>
              <a:ea typeface="Calibri"/>
              <a:cs typeface="Calibri"/>
              <a:sym typeface="Calibri"/>
            </a:endParaRPr>
          </a:p>
        </p:txBody>
      </p:sp>
      <p:sp>
        <p:nvSpPr>
          <p:cNvPr id="57" name="Google Shape;57;p5"/>
          <p:cNvSpPr txBox="1"/>
          <p:nvPr/>
        </p:nvSpPr>
        <p:spPr>
          <a:xfrm>
            <a:off x="1234440" y="2578608"/>
            <a:ext cx="9144000" cy="2926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5617A"/>
              </a:buClr>
              <a:buSzPts val="1350"/>
              <a:buFont typeface="Calibri"/>
              <a:buNone/>
            </a:pPr>
            <a:r>
              <a:rPr lang="en-US" sz="1350" b="0" i="0" u="none" strike="noStrike" cap="none">
                <a:solidFill>
                  <a:srgbClr val="55617A"/>
                </a:solidFill>
                <a:latin typeface="Calibri"/>
                <a:ea typeface="Calibri"/>
                <a:cs typeface="Calibri"/>
                <a:sym typeface="Calibri"/>
              </a:rPr>
              <a:t>Mencoba aplikasinya, membaca kodenya, lalu mengurutkan prioritas</a:t>
            </a:r>
            <a:endParaRPr sz="1350" b="0" i="0" u="none" strike="noStrike" cap="none">
              <a:solidFill>
                <a:schemeClr val="dk1"/>
              </a:solidFill>
              <a:latin typeface="Calibri"/>
              <a:ea typeface="Calibri"/>
              <a:cs typeface="Calibri"/>
              <a:sym typeface="Calibri"/>
            </a:endParaRPr>
          </a:p>
        </p:txBody>
      </p:sp>
      <p:sp>
        <p:nvSpPr>
          <p:cNvPr id="58" name="Google Shape;58;p5"/>
          <p:cNvSpPr/>
          <p:nvPr/>
        </p:nvSpPr>
        <p:spPr>
          <a:xfrm>
            <a:off x="594360" y="3044952"/>
            <a:ext cx="402336" cy="402336"/>
          </a:xfrm>
          <a:prstGeom prst="ellipse">
            <a:avLst/>
          </a:prstGeom>
          <a:solidFill>
            <a:srgbClr val="1C6FF3"/>
          </a:solidFill>
          <a:ln w="12700" cap="flat" cmpd="sng">
            <a:solidFill>
              <a:srgbClr val="1C6F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 name="Google Shape;59;p5"/>
          <p:cNvSpPr txBox="1"/>
          <p:nvPr/>
        </p:nvSpPr>
        <p:spPr>
          <a:xfrm>
            <a:off x="594360" y="3044952"/>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3</a:t>
            </a:r>
            <a:endParaRPr sz="1400" b="0" i="0" u="none" strike="noStrike" cap="none">
              <a:solidFill>
                <a:schemeClr val="dk1"/>
              </a:solidFill>
              <a:latin typeface="Calibri"/>
              <a:ea typeface="Calibri"/>
              <a:cs typeface="Calibri"/>
              <a:sym typeface="Calibri"/>
            </a:endParaRPr>
          </a:p>
        </p:txBody>
      </p:sp>
      <p:sp>
        <p:nvSpPr>
          <p:cNvPr id="60" name="Google Shape;60;p5"/>
          <p:cNvSpPr txBox="1"/>
          <p:nvPr/>
        </p:nvSpPr>
        <p:spPr>
          <a:xfrm>
            <a:off x="1234440" y="3017520"/>
            <a:ext cx="4572000" cy="329184"/>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1700"/>
              <a:buFont typeface="Calibri"/>
              <a:buNone/>
            </a:pPr>
            <a:r>
              <a:rPr lang="en-US" sz="1700" b="1" i="0" u="none" strike="noStrike" cap="none">
                <a:solidFill>
                  <a:srgbClr val="0F1B33"/>
                </a:solidFill>
                <a:latin typeface="Calibri"/>
                <a:ea typeface="Calibri"/>
                <a:cs typeface="Calibri"/>
                <a:sym typeface="Calibri"/>
              </a:rPr>
              <a:t>Memutuskan</a:t>
            </a:r>
            <a:endParaRPr sz="1700" b="0" i="0" u="none" strike="noStrike" cap="none">
              <a:solidFill>
                <a:schemeClr val="dk1"/>
              </a:solidFill>
              <a:latin typeface="Calibri"/>
              <a:ea typeface="Calibri"/>
              <a:cs typeface="Calibri"/>
              <a:sym typeface="Calibri"/>
            </a:endParaRPr>
          </a:p>
        </p:txBody>
      </p:sp>
      <p:sp>
        <p:nvSpPr>
          <p:cNvPr id="61" name="Google Shape;61;p5"/>
          <p:cNvSpPr txBox="1"/>
          <p:nvPr/>
        </p:nvSpPr>
        <p:spPr>
          <a:xfrm>
            <a:off x="1234440" y="3346704"/>
            <a:ext cx="9144000" cy="2926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5617A"/>
              </a:buClr>
              <a:buSzPts val="1350"/>
              <a:buFont typeface="Calibri"/>
              <a:buNone/>
            </a:pPr>
            <a:r>
              <a:rPr lang="en-US" sz="1350" b="0" i="0" u="none" strike="noStrike" cap="none">
                <a:solidFill>
                  <a:srgbClr val="55617A"/>
                </a:solidFill>
                <a:latin typeface="Calibri"/>
                <a:ea typeface="Calibri"/>
                <a:cs typeface="Calibri"/>
                <a:sym typeface="Calibri"/>
              </a:rPr>
              <a:t>Pilihan solusi, hal yang perlu didiskusikan, dan kenapa saya fokus di frontend</a:t>
            </a:r>
            <a:endParaRPr sz="1350" b="0" i="0" u="none" strike="noStrike" cap="none">
              <a:solidFill>
                <a:schemeClr val="dk1"/>
              </a:solidFill>
              <a:latin typeface="Calibri"/>
              <a:ea typeface="Calibri"/>
              <a:cs typeface="Calibri"/>
              <a:sym typeface="Calibri"/>
            </a:endParaRPr>
          </a:p>
        </p:txBody>
      </p:sp>
      <p:sp>
        <p:nvSpPr>
          <p:cNvPr id="62" name="Google Shape;62;p5"/>
          <p:cNvSpPr/>
          <p:nvPr/>
        </p:nvSpPr>
        <p:spPr>
          <a:xfrm>
            <a:off x="594360" y="3813048"/>
            <a:ext cx="402336" cy="402336"/>
          </a:xfrm>
          <a:prstGeom prst="ellipse">
            <a:avLst/>
          </a:prstGeom>
          <a:solidFill>
            <a:srgbClr val="1C6FF3"/>
          </a:solidFill>
          <a:ln w="12700" cap="flat" cmpd="sng">
            <a:solidFill>
              <a:srgbClr val="1C6F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 name="Google Shape;63;p5"/>
          <p:cNvSpPr txBox="1"/>
          <p:nvPr/>
        </p:nvSpPr>
        <p:spPr>
          <a:xfrm>
            <a:off x="594360" y="3813048"/>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4</a:t>
            </a:r>
            <a:endParaRPr sz="1400" b="0" i="0" u="none" strike="noStrike" cap="none">
              <a:solidFill>
                <a:schemeClr val="dk1"/>
              </a:solidFill>
              <a:latin typeface="Calibri"/>
              <a:ea typeface="Calibri"/>
              <a:cs typeface="Calibri"/>
              <a:sym typeface="Calibri"/>
            </a:endParaRPr>
          </a:p>
        </p:txBody>
      </p:sp>
      <p:sp>
        <p:nvSpPr>
          <p:cNvPr id="64" name="Google Shape;64;p5"/>
          <p:cNvSpPr txBox="1"/>
          <p:nvPr/>
        </p:nvSpPr>
        <p:spPr>
          <a:xfrm>
            <a:off x="1234440" y="3785616"/>
            <a:ext cx="4572000" cy="329184"/>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1700"/>
              <a:buFont typeface="Calibri"/>
              <a:buNone/>
            </a:pPr>
            <a:r>
              <a:rPr lang="en-US" sz="1700" b="1" i="0" u="none" strike="noStrike" cap="none">
                <a:solidFill>
                  <a:srgbClr val="0F1B33"/>
                </a:solidFill>
                <a:latin typeface="Calibri"/>
                <a:ea typeface="Calibri"/>
                <a:cs typeface="Calibri"/>
                <a:sym typeface="Calibri"/>
              </a:rPr>
              <a:t>Membangun</a:t>
            </a:r>
            <a:endParaRPr sz="1700" b="0" i="0" u="none" strike="noStrike" cap="none">
              <a:solidFill>
                <a:schemeClr val="dk1"/>
              </a:solidFill>
              <a:latin typeface="Calibri"/>
              <a:ea typeface="Calibri"/>
              <a:cs typeface="Calibri"/>
              <a:sym typeface="Calibri"/>
            </a:endParaRPr>
          </a:p>
        </p:txBody>
      </p:sp>
      <p:sp>
        <p:nvSpPr>
          <p:cNvPr id="65" name="Google Shape;65;p5"/>
          <p:cNvSpPr txBox="1"/>
          <p:nvPr/>
        </p:nvSpPr>
        <p:spPr>
          <a:xfrm>
            <a:off x="1234440" y="4114800"/>
            <a:ext cx="9144000" cy="2926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5617A"/>
              </a:buClr>
              <a:buSzPts val="1350"/>
              <a:buFont typeface="Calibri"/>
              <a:buNone/>
            </a:pPr>
            <a:r>
              <a:rPr lang="en-US" sz="1350" b="0" i="0" u="none" strike="noStrike" cap="none">
                <a:solidFill>
                  <a:srgbClr val="55617A"/>
                </a:solidFill>
                <a:latin typeface="Calibri"/>
                <a:ea typeface="Calibri"/>
                <a:cs typeface="Calibri"/>
                <a:sym typeface="Calibri"/>
              </a:rPr>
              <a:t>Kriteria selesai, desain, hasil di layar, dan bagian backend</a:t>
            </a:r>
            <a:endParaRPr sz="1350" b="0" i="0" u="none" strike="noStrike" cap="none">
              <a:solidFill>
                <a:schemeClr val="dk1"/>
              </a:solidFill>
              <a:latin typeface="Calibri"/>
              <a:ea typeface="Calibri"/>
              <a:cs typeface="Calibri"/>
              <a:sym typeface="Calibri"/>
            </a:endParaRPr>
          </a:p>
        </p:txBody>
      </p:sp>
      <p:sp>
        <p:nvSpPr>
          <p:cNvPr id="66" name="Google Shape;66;p5"/>
          <p:cNvSpPr/>
          <p:nvPr/>
        </p:nvSpPr>
        <p:spPr>
          <a:xfrm>
            <a:off x="594360" y="4581144"/>
            <a:ext cx="402336" cy="402336"/>
          </a:xfrm>
          <a:prstGeom prst="ellipse">
            <a:avLst/>
          </a:prstGeom>
          <a:solidFill>
            <a:srgbClr val="1C6FF3"/>
          </a:solidFill>
          <a:ln w="12700" cap="flat" cmpd="sng">
            <a:solidFill>
              <a:srgbClr val="1C6F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 name="Google Shape;67;p5"/>
          <p:cNvSpPr txBox="1"/>
          <p:nvPr/>
        </p:nvSpPr>
        <p:spPr>
          <a:xfrm>
            <a:off x="594360" y="4581144"/>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5</a:t>
            </a:r>
            <a:endParaRPr sz="1400" b="0" i="0" u="none" strike="noStrike" cap="none">
              <a:solidFill>
                <a:schemeClr val="dk1"/>
              </a:solidFill>
              <a:latin typeface="Calibri"/>
              <a:ea typeface="Calibri"/>
              <a:cs typeface="Calibri"/>
              <a:sym typeface="Calibri"/>
            </a:endParaRPr>
          </a:p>
        </p:txBody>
      </p:sp>
      <p:sp>
        <p:nvSpPr>
          <p:cNvPr id="68" name="Google Shape;68;p5"/>
          <p:cNvSpPr txBox="1"/>
          <p:nvPr/>
        </p:nvSpPr>
        <p:spPr>
          <a:xfrm>
            <a:off x="1234440" y="4553712"/>
            <a:ext cx="4572000" cy="329184"/>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1700"/>
              <a:buFont typeface="Calibri"/>
              <a:buNone/>
            </a:pPr>
            <a:r>
              <a:rPr lang="en-US" sz="1700" b="1" i="0" u="none" strike="noStrike" cap="none">
                <a:solidFill>
                  <a:srgbClr val="0F1B33"/>
                </a:solidFill>
                <a:latin typeface="Calibri"/>
                <a:ea typeface="Calibri"/>
                <a:cs typeface="Calibri"/>
                <a:sym typeface="Calibri"/>
              </a:rPr>
              <a:t>Pembuktian</a:t>
            </a:r>
            <a:endParaRPr sz="1700" b="0" i="0" u="none" strike="noStrike" cap="none">
              <a:solidFill>
                <a:schemeClr val="dk1"/>
              </a:solidFill>
              <a:latin typeface="Calibri"/>
              <a:ea typeface="Calibri"/>
              <a:cs typeface="Calibri"/>
              <a:sym typeface="Calibri"/>
            </a:endParaRPr>
          </a:p>
        </p:txBody>
      </p:sp>
      <p:sp>
        <p:nvSpPr>
          <p:cNvPr id="69" name="Google Shape;69;p5"/>
          <p:cNvSpPr txBox="1"/>
          <p:nvPr/>
        </p:nvSpPr>
        <p:spPr>
          <a:xfrm>
            <a:off x="1234440" y="4882896"/>
            <a:ext cx="9144000" cy="2926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5617A"/>
              </a:buClr>
              <a:buSzPts val="1350"/>
              <a:buFont typeface="Calibri"/>
              <a:buNone/>
            </a:pPr>
            <a:r>
              <a:rPr lang="en-US" sz="1350" b="0" i="0" u="none" strike="noStrike" cap="none">
                <a:solidFill>
                  <a:srgbClr val="55617A"/>
                </a:solidFill>
                <a:latin typeface="Calibri"/>
                <a:ea typeface="Calibri"/>
                <a:cs typeface="Calibri"/>
                <a:sym typeface="Calibri"/>
              </a:rPr>
              <a:t>Cara saya menguji, termasuk dua kali saya salah</a:t>
            </a:r>
            <a:endParaRPr sz="1350" b="0" i="0" u="none" strike="noStrike" cap="none">
              <a:solidFill>
                <a:schemeClr val="dk1"/>
              </a:solidFill>
              <a:latin typeface="Calibri"/>
              <a:ea typeface="Calibri"/>
              <a:cs typeface="Calibri"/>
              <a:sym typeface="Calibri"/>
            </a:endParaRPr>
          </a:p>
        </p:txBody>
      </p:sp>
      <p:sp>
        <p:nvSpPr>
          <p:cNvPr id="70" name="Google Shape;70;p5"/>
          <p:cNvSpPr/>
          <p:nvPr/>
        </p:nvSpPr>
        <p:spPr>
          <a:xfrm>
            <a:off x="594360" y="5349240"/>
            <a:ext cx="402336" cy="402336"/>
          </a:xfrm>
          <a:prstGeom prst="ellipse">
            <a:avLst/>
          </a:prstGeom>
          <a:solidFill>
            <a:srgbClr val="1C6FF3"/>
          </a:solidFill>
          <a:ln w="12700" cap="flat" cmpd="sng">
            <a:solidFill>
              <a:srgbClr val="1C6F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 name="Google Shape;71;p5"/>
          <p:cNvSpPr txBox="1"/>
          <p:nvPr/>
        </p:nvSpPr>
        <p:spPr>
          <a:xfrm>
            <a:off x="594360" y="5349240"/>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6</a:t>
            </a:r>
            <a:endParaRPr sz="1400" b="0" i="0" u="none" strike="noStrike" cap="none">
              <a:solidFill>
                <a:schemeClr val="dk1"/>
              </a:solidFill>
              <a:latin typeface="Calibri"/>
              <a:ea typeface="Calibri"/>
              <a:cs typeface="Calibri"/>
              <a:sym typeface="Calibri"/>
            </a:endParaRPr>
          </a:p>
        </p:txBody>
      </p:sp>
      <p:sp>
        <p:nvSpPr>
          <p:cNvPr id="72" name="Google Shape;72;p5"/>
          <p:cNvSpPr txBox="1"/>
          <p:nvPr/>
        </p:nvSpPr>
        <p:spPr>
          <a:xfrm>
            <a:off x="1234440" y="5321808"/>
            <a:ext cx="4572000" cy="329184"/>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1700"/>
              <a:buFont typeface="Calibri"/>
              <a:buNone/>
            </a:pPr>
            <a:r>
              <a:rPr lang="en-US" sz="1700" b="1" i="0" u="none" strike="noStrike" cap="none">
                <a:solidFill>
                  <a:srgbClr val="0F1B33"/>
                </a:solidFill>
                <a:latin typeface="Calibri"/>
                <a:ea typeface="Calibri"/>
                <a:cs typeface="Calibri"/>
                <a:sym typeface="Calibri"/>
              </a:rPr>
              <a:t>Ke depan</a:t>
            </a:r>
            <a:endParaRPr sz="1700" b="0" i="0" u="none" strike="noStrike" cap="none">
              <a:solidFill>
                <a:schemeClr val="dk1"/>
              </a:solidFill>
              <a:latin typeface="Calibri"/>
              <a:ea typeface="Calibri"/>
              <a:cs typeface="Calibri"/>
              <a:sym typeface="Calibri"/>
            </a:endParaRPr>
          </a:p>
        </p:txBody>
      </p:sp>
      <p:sp>
        <p:nvSpPr>
          <p:cNvPr id="73" name="Google Shape;73;p5"/>
          <p:cNvSpPr txBox="1"/>
          <p:nvPr/>
        </p:nvSpPr>
        <p:spPr>
          <a:xfrm>
            <a:off x="1234440" y="5650992"/>
            <a:ext cx="9144000" cy="2926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5617A"/>
              </a:buClr>
              <a:buSzPts val="1350"/>
              <a:buFont typeface="Calibri"/>
              <a:buNone/>
            </a:pPr>
            <a:r>
              <a:rPr lang="en-US" sz="1350" b="0" i="0" u="none" strike="noStrike" cap="none">
                <a:solidFill>
                  <a:srgbClr val="55617A"/>
                </a:solidFill>
                <a:latin typeface="Calibri"/>
                <a:ea typeface="Calibri"/>
                <a:cs typeface="Calibri"/>
                <a:sym typeface="Calibri"/>
              </a:rPr>
              <a:t>Yang belum selesai, dan rencana saya kalau bergabung</a:t>
            </a:r>
            <a:endParaRPr sz="135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C2E6B"/>
        </a:solidFill>
        <a:effectLst/>
      </p:bgPr>
    </p:bg>
    <p:spTree>
      <p:nvGrpSpPr>
        <p:cNvPr id="78" name="Shape 78"/>
        <p:cNvGrpSpPr/>
        <p:nvPr/>
      </p:nvGrpSpPr>
      <p:grpSpPr>
        <a:xfrm>
          <a:off x="0" y="0"/>
          <a:ext cx="0" cy="0"/>
          <a:chOff x="0" y="0"/>
          <a:chExt cx="0" cy="0"/>
        </a:xfrm>
      </p:grpSpPr>
      <p:sp>
        <p:nvSpPr>
          <p:cNvPr id="79" name="Google Shape;79;p6"/>
          <p:cNvSpPr txBox="1"/>
          <p:nvPr/>
        </p:nvSpPr>
        <p:spPr>
          <a:xfrm>
            <a:off x="594360" y="2103120"/>
            <a:ext cx="274320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9CC5FF"/>
              </a:buClr>
              <a:buSzPts val="2000"/>
              <a:buFont typeface="Calibri"/>
              <a:buNone/>
            </a:pPr>
            <a:r>
              <a:rPr lang="en-US" sz="2000" b="1" i="0" u="none" strike="noStrike" cap="none">
                <a:solidFill>
                  <a:srgbClr val="9CC5FF"/>
                </a:solidFill>
                <a:latin typeface="Calibri"/>
                <a:ea typeface="Calibri"/>
                <a:cs typeface="Calibri"/>
                <a:sym typeface="Calibri"/>
              </a:rPr>
              <a:t>01</a:t>
            </a:r>
            <a:endParaRPr sz="2000" b="0" i="0" u="none" strike="noStrike" cap="none">
              <a:solidFill>
                <a:schemeClr val="dk1"/>
              </a:solidFill>
              <a:latin typeface="Calibri"/>
              <a:ea typeface="Calibri"/>
              <a:cs typeface="Calibri"/>
              <a:sym typeface="Calibri"/>
            </a:endParaRPr>
          </a:p>
        </p:txBody>
      </p:sp>
      <p:sp>
        <p:nvSpPr>
          <p:cNvPr id="80" name="Google Shape;80;p6"/>
          <p:cNvSpPr txBox="1"/>
          <p:nvPr/>
        </p:nvSpPr>
        <p:spPr>
          <a:xfrm>
            <a:off x="594360" y="2651760"/>
            <a:ext cx="11002975" cy="914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FFFFFF"/>
              </a:buClr>
              <a:buSzPts val="3800"/>
              <a:buFont typeface="Calibri"/>
              <a:buNone/>
            </a:pPr>
            <a:r>
              <a:rPr lang="en-US" sz="3800" b="1" i="0" u="none" strike="noStrike" cap="none">
                <a:solidFill>
                  <a:srgbClr val="FFFFFF"/>
                </a:solidFill>
                <a:latin typeface="Calibri"/>
                <a:ea typeface="Calibri"/>
                <a:cs typeface="Calibri"/>
                <a:sym typeface="Calibri"/>
              </a:rPr>
              <a:t>Memahami produk</a:t>
            </a:r>
            <a:endParaRPr sz="3800" b="0" i="0" u="none" strike="noStrike" cap="none">
              <a:solidFill>
                <a:schemeClr val="dk1"/>
              </a:solidFill>
              <a:latin typeface="Calibri"/>
              <a:ea typeface="Calibri"/>
              <a:cs typeface="Calibri"/>
              <a:sym typeface="Calibri"/>
            </a:endParaRPr>
          </a:p>
        </p:txBody>
      </p:sp>
      <p:sp>
        <p:nvSpPr>
          <p:cNvPr id="81" name="Google Shape;81;p6"/>
          <p:cNvSpPr txBox="1"/>
          <p:nvPr/>
        </p:nvSpPr>
        <p:spPr>
          <a:xfrm>
            <a:off x="594360" y="3611880"/>
            <a:ext cx="9144000" cy="73152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AFCBFF"/>
              </a:buClr>
              <a:buSzPts val="1700"/>
              <a:buFont typeface="Calibri"/>
              <a:buNone/>
            </a:pPr>
            <a:r>
              <a:rPr lang="en-US" sz="1700" b="0" i="0" u="none" strike="noStrike" cap="none">
                <a:solidFill>
                  <a:srgbClr val="AFCBFF"/>
                </a:solidFill>
                <a:latin typeface="Calibri"/>
                <a:ea typeface="Calibri"/>
                <a:cs typeface="Calibri"/>
                <a:sym typeface="Calibri"/>
              </a:rPr>
              <a:t>Sebelum membuka kode, saya coba pahami dulu produk ini untuk apa dan untuk siapa.</a:t>
            </a:r>
            <a:endParaRPr sz="17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86" name="Shape 86"/>
        <p:cNvGrpSpPr/>
        <p:nvPr/>
      </p:nvGrpSpPr>
      <p:grpSpPr>
        <a:xfrm>
          <a:off x="0" y="0"/>
          <a:ext cx="0" cy="0"/>
          <a:chOff x="0" y="0"/>
          <a:chExt cx="0" cy="0"/>
        </a:xfrm>
      </p:grpSpPr>
      <p:sp>
        <p:nvSpPr>
          <p:cNvPr id="87" name="Google Shape;87;p7"/>
          <p:cNvSpPr txBox="1"/>
          <p:nvPr/>
        </p:nvSpPr>
        <p:spPr>
          <a:xfrm>
            <a:off x="11277295" y="6419088"/>
            <a:ext cx="457200"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A94A8"/>
              </a:buClr>
              <a:buSzPts val="1000"/>
              <a:buFont typeface="Calibri"/>
              <a:buNone/>
            </a:pPr>
            <a:r>
              <a:rPr lang="en-US" sz="1000" b="0" i="0" u="none" strike="noStrike" cap="none">
                <a:solidFill>
                  <a:srgbClr val="8A94A8"/>
                </a:solidFill>
                <a:latin typeface="Calibri"/>
                <a:ea typeface="Calibri"/>
                <a:cs typeface="Calibri"/>
                <a:sym typeface="Calibri"/>
              </a:rPr>
              <a:t>5</a:t>
            </a:r>
            <a:endParaRPr sz="1000" b="0" i="0" u="none" strike="noStrike" cap="none">
              <a:solidFill>
                <a:schemeClr val="dk1"/>
              </a:solidFill>
              <a:latin typeface="Calibri"/>
              <a:ea typeface="Calibri"/>
              <a:cs typeface="Calibri"/>
              <a:sym typeface="Calibri"/>
            </a:endParaRPr>
          </a:p>
        </p:txBody>
      </p:sp>
      <p:sp>
        <p:nvSpPr>
          <p:cNvPr id="88" name="Google Shape;88;p7"/>
          <p:cNvSpPr txBox="1"/>
          <p:nvPr/>
        </p:nvSpPr>
        <p:spPr>
          <a:xfrm>
            <a:off x="594360" y="6419088"/>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A94A8"/>
              </a:buClr>
              <a:buSzPts val="1000"/>
              <a:buFont typeface="Calibri"/>
              <a:buNone/>
            </a:pPr>
            <a:r>
              <a:rPr lang="en-US" sz="1000" b="0" i="0" u="none" strike="noStrike" cap="none">
                <a:solidFill>
                  <a:srgbClr val="8A94A8"/>
                </a:solidFill>
                <a:latin typeface="Calibri"/>
                <a:ea typeface="Calibri"/>
                <a:cs typeface="Calibri"/>
                <a:sym typeface="Calibri"/>
              </a:rPr>
              <a:t>Aulia Afriza  ·  Kandidat Fullstack · Frontend depth</a:t>
            </a:r>
            <a:endParaRPr sz="1000" b="0" i="0" u="none" strike="noStrike" cap="none">
              <a:solidFill>
                <a:schemeClr val="dk1"/>
              </a:solidFill>
              <a:latin typeface="Calibri"/>
              <a:ea typeface="Calibri"/>
              <a:cs typeface="Calibri"/>
              <a:sym typeface="Calibri"/>
            </a:endParaRPr>
          </a:p>
        </p:txBody>
      </p:sp>
      <p:sp>
        <p:nvSpPr>
          <p:cNvPr id="89" name="Google Shape;89;p7"/>
          <p:cNvSpPr txBox="1"/>
          <p:nvPr/>
        </p:nvSpPr>
        <p:spPr>
          <a:xfrm>
            <a:off x="594360" y="438912"/>
            <a:ext cx="11002975"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2800"/>
              <a:buFont typeface="Calibri"/>
              <a:buNone/>
            </a:pPr>
            <a:r>
              <a:rPr lang="en-US" sz="2800" b="1" i="0" u="none" strike="noStrike" cap="none">
                <a:solidFill>
                  <a:srgbClr val="0F1B33"/>
                </a:solidFill>
                <a:latin typeface="Calibri"/>
                <a:ea typeface="Calibri"/>
                <a:cs typeface="Calibri"/>
                <a:sym typeface="Calibri"/>
              </a:rPr>
              <a:t>Menurut saya, inti produk ini</a:t>
            </a:r>
            <a:endParaRPr sz="2800" b="0" i="0" u="none" strike="noStrike" cap="none">
              <a:solidFill>
                <a:schemeClr val="dk1"/>
              </a:solidFill>
              <a:latin typeface="Calibri"/>
              <a:ea typeface="Calibri"/>
              <a:cs typeface="Calibri"/>
              <a:sym typeface="Calibri"/>
            </a:endParaRPr>
          </a:p>
        </p:txBody>
      </p:sp>
      <p:sp>
        <p:nvSpPr>
          <p:cNvPr id="90" name="Google Shape;90;p7"/>
          <p:cNvSpPr txBox="1"/>
          <p:nvPr/>
        </p:nvSpPr>
        <p:spPr>
          <a:xfrm>
            <a:off x="594360" y="987552"/>
            <a:ext cx="11002975"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5617A"/>
              </a:buClr>
              <a:buSzPts val="1500"/>
              <a:buFont typeface="Calibri"/>
              <a:buNone/>
            </a:pPr>
            <a:r>
              <a:rPr lang="en-US" sz="1500" b="0" i="0" u="none" strike="noStrike" cap="none">
                <a:solidFill>
                  <a:srgbClr val="55617A"/>
                </a:solidFill>
                <a:latin typeface="Calibri"/>
                <a:ea typeface="Calibri"/>
                <a:cs typeface="Calibri"/>
                <a:sym typeface="Calibri"/>
              </a:rPr>
              <a:t>§2.1 · Konteks produk</a:t>
            </a:r>
            <a:endParaRPr sz="1500" b="0" i="0" u="none" strike="noStrike" cap="none">
              <a:solidFill>
                <a:schemeClr val="dk1"/>
              </a:solidFill>
              <a:latin typeface="Calibri"/>
              <a:ea typeface="Calibri"/>
              <a:cs typeface="Calibri"/>
              <a:sym typeface="Calibri"/>
            </a:endParaRPr>
          </a:p>
        </p:txBody>
      </p:sp>
      <p:sp>
        <p:nvSpPr>
          <p:cNvPr id="91" name="Google Shape;91;p7"/>
          <p:cNvSpPr/>
          <p:nvPr/>
        </p:nvSpPr>
        <p:spPr>
          <a:xfrm>
            <a:off x="594360" y="1481328"/>
            <a:ext cx="11002975" cy="1097280"/>
          </a:xfrm>
          <a:prstGeom prst="roundRect">
            <a:avLst>
              <a:gd name="adj" fmla="val 5833"/>
            </a:avLst>
          </a:prstGeom>
          <a:solidFill>
            <a:srgbClr val="E7F1FF"/>
          </a:solidFill>
          <a:ln w="9525" cap="flat" cmpd="sng">
            <a:solidFill>
              <a:srgbClr val="E7F1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2" name="Google Shape;92;p7"/>
          <p:cNvSpPr txBox="1"/>
          <p:nvPr/>
        </p:nvSpPr>
        <p:spPr>
          <a:xfrm>
            <a:off x="914400" y="1481328"/>
            <a:ext cx="10362895" cy="1097280"/>
          </a:xfrm>
          <a:prstGeom prst="rect">
            <a:avLst/>
          </a:prstGeom>
          <a:noFill/>
          <a:ln>
            <a:noFill/>
          </a:ln>
        </p:spPr>
        <p:txBody>
          <a:bodyPr spcFirstLastPara="1" wrap="square" lIns="0" tIns="0" rIns="0" bIns="0" anchor="ctr" anchorCtr="0">
            <a:noAutofit/>
          </a:bodyPr>
          <a:lstStyle/>
          <a:p>
            <a:pPr marL="0" marR="0" lvl="0" indent="0" algn="l" rtl="0">
              <a:lnSpc>
                <a:spcPct val="143000"/>
              </a:lnSpc>
              <a:spcBef>
                <a:spcPts val="0"/>
              </a:spcBef>
              <a:spcAft>
                <a:spcPts val="0"/>
              </a:spcAft>
              <a:buClr>
                <a:srgbClr val="0C2E6B"/>
              </a:buClr>
              <a:buSzPts val="1400"/>
              <a:buFont typeface="Calibri"/>
              <a:buNone/>
            </a:pPr>
            <a:r>
              <a:rPr lang="en-US" sz="1400" b="1" i="0" u="none" strike="noStrike" cap="none">
                <a:solidFill>
                  <a:srgbClr val="0C2E6B"/>
                </a:solidFill>
                <a:latin typeface="Calibri"/>
                <a:ea typeface="Calibri"/>
                <a:cs typeface="Calibri"/>
                <a:sym typeface="Calibri"/>
              </a:rPr>
              <a:t>Bukan sekadar wawancara otomatis. </a:t>
            </a:r>
            <a:r>
              <a:rPr lang="en-US" sz="1400" b="0" i="0" u="none" strike="noStrike" cap="none">
                <a:solidFill>
                  <a:srgbClr val="0F1B33"/>
                </a:solidFill>
                <a:latin typeface="Calibri"/>
                <a:ea typeface="Calibri"/>
                <a:cs typeface="Calibri"/>
                <a:sym typeface="Calibri"/>
              </a:rPr>
              <a:t>Intinya membuat penilaian AI cukup bisa dipercaya, sampai assessor berani menyetujui atau mengoreksinya. </a:t>
            </a:r>
            <a:endParaRPr sz="1400" b="0" i="0" u="none" strike="noStrike" cap="none">
              <a:solidFill>
                <a:schemeClr val="dk1"/>
              </a:solidFill>
              <a:latin typeface="Calibri"/>
              <a:ea typeface="Calibri"/>
              <a:cs typeface="Calibri"/>
              <a:sym typeface="Calibri"/>
            </a:endParaRPr>
          </a:p>
        </p:txBody>
      </p:sp>
      <p:sp>
        <p:nvSpPr>
          <p:cNvPr id="93" name="Google Shape;93;p7"/>
          <p:cNvSpPr/>
          <p:nvPr/>
        </p:nvSpPr>
        <p:spPr>
          <a:xfrm>
            <a:off x="594360" y="2788920"/>
            <a:ext cx="2613584" cy="3154680"/>
          </a:xfrm>
          <a:prstGeom prst="roundRect">
            <a:avLst>
              <a:gd name="adj" fmla="val 2449"/>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 name="Google Shape;94;p7"/>
          <p:cNvSpPr txBox="1"/>
          <p:nvPr/>
        </p:nvSpPr>
        <p:spPr>
          <a:xfrm>
            <a:off x="822960" y="2944368"/>
            <a:ext cx="2156384"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1500"/>
              <a:buFont typeface="Calibri"/>
              <a:buNone/>
            </a:pPr>
            <a:r>
              <a:rPr lang="en-US" sz="1500" b="1" i="0" u="none" strike="noStrike" cap="none">
                <a:solidFill>
                  <a:srgbClr val="0F1B33"/>
                </a:solidFill>
                <a:latin typeface="Calibri"/>
                <a:ea typeface="Calibri"/>
                <a:cs typeface="Calibri"/>
                <a:sym typeface="Calibri"/>
              </a:rPr>
              <a:t>Assessor</a:t>
            </a:r>
            <a:endParaRPr sz="1500" b="0" i="0" u="none" strike="noStrike" cap="none">
              <a:solidFill>
                <a:schemeClr val="dk1"/>
              </a:solidFill>
              <a:latin typeface="Calibri"/>
              <a:ea typeface="Calibri"/>
              <a:cs typeface="Calibri"/>
              <a:sym typeface="Calibri"/>
            </a:endParaRPr>
          </a:p>
        </p:txBody>
      </p:sp>
      <p:sp>
        <p:nvSpPr>
          <p:cNvPr id="95" name="Google Shape;95;p7"/>
          <p:cNvSpPr txBox="1"/>
          <p:nvPr/>
        </p:nvSpPr>
        <p:spPr>
          <a:xfrm>
            <a:off x="822960" y="3337560"/>
            <a:ext cx="2156384"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8A94A8"/>
              </a:buClr>
              <a:buSzPts val="1050"/>
              <a:buFont typeface="Calibri"/>
              <a:buNone/>
            </a:pPr>
            <a:r>
              <a:rPr lang="en-US" sz="1050" b="1" i="0" u="none" strike="noStrike" cap="none">
                <a:solidFill>
                  <a:srgbClr val="8A94A8"/>
                </a:solidFill>
                <a:latin typeface="Calibri"/>
                <a:ea typeface="Calibri"/>
                <a:cs typeface="Calibri"/>
                <a:sym typeface="Calibri"/>
              </a:rPr>
              <a:t>Ingin</a:t>
            </a:r>
            <a:endParaRPr sz="1050" b="0" i="0" u="none" strike="noStrike" cap="none">
              <a:solidFill>
                <a:schemeClr val="dk1"/>
              </a:solidFill>
              <a:latin typeface="Calibri"/>
              <a:ea typeface="Calibri"/>
              <a:cs typeface="Calibri"/>
              <a:sym typeface="Calibri"/>
            </a:endParaRPr>
          </a:p>
        </p:txBody>
      </p:sp>
      <p:sp>
        <p:nvSpPr>
          <p:cNvPr id="96" name="Google Shape;96;p7"/>
          <p:cNvSpPr txBox="1"/>
          <p:nvPr/>
        </p:nvSpPr>
        <p:spPr>
          <a:xfrm>
            <a:off x="822960" y="3566160"/>
            <a:ext cx="2156384" cy="100584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0F1B33"/>
              </a:buClr>
              <a:buSzPts val="1200"/>
              <a:buFont typeface="Calibri"/>
              <a:buNone/>
            </a:pPr>
            <a:r>
              <a:rPr lang="en-US" sz="1200" b="0" i="0" u="none" strike="noStrike" cap="none">
                <a:solidFill>
                  <a:srgbClr val="0F1B33"/>
                </a:solidFill>
                <a:latin typeface="Calibri"/>
                <a:ea typeface="Calibri"/>
                <a:cs typeface="Calibri"/>
                <a:sym typeface="Calibri"/>
              </a:rPr>
              <a:t>Mau mengecek dulu penilaian AI sebelum ikut bertanggung jawab.</a:t>
            </a:r>
            <a:endParaRPr sz="1200" b="0" i="0" u="none" strike="noStrike" cap="none">
              <a:solidFill>
                <a:schemeClr val="dk1"/>
              </a:solidFill>
              <a:latin typeface="Calibri"/>
              <a:ea typeface="Calibri"/>
              <a:cs typeface="Calibri"/>
              <a:sym typeface="Calibri"/>
            </a:endParaRPr>
          </a:p>
        </p:txBody>
      </p:sp>
      <p:sp>
        <p:nvSpPr>
          <p:cNvPr id="97" name="Google Shape;97;p7"/>
          <p:cNvSpPr txBox="1"/>
          <p:nvPr/>
        </p:nvSpPr>
        <p:spPr>
          <a:xfrm>
            <a:off x="822960" y="4617720"/>
            <a:ext cx="2156384"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8A94A8"/>
              </a:buClr>
              <a:buSzPts val="1050"/>
              <a:buFont typeface="Calibri"/>
              <a:buNone/>
            </a:pPr>
            <a:r>
              <a:rPr lang="en-US" sz="1050" b="1" i="0" u="none" strike="noStrike" cap="none">
                <a:solidFill>
                  <a:srgbClr val="8A94A8"/>
                </a:solidFill>
                <a:latin typeface="Calibri"/>
                <a:ea typeface="Calibri"/>
                <a:cs typeface="Calibri"/>
                <a:sym typeface="Calibri"/>
              </a:rPr>
              <a:t>Yang didapat </a:t>
            </a:r>
            <a:endParaRPr sz="1050" b="0" i="0" u="none" strike="noStrike" cap="none">
              <a:solidFill>
                <a:schemeClr val="dk1"/>
              </a:solidFill>
              <a:latin typeface="Calibri"/>
              <a:ea typeface="Calibri"/>
              <a:cs typeface="Calibri"/>
              <a:sym typeface="Calibri"/>
            </a:endParaRPr>
          </a:p>
        </p:txBody>
      </p:sp>
      <p:sp>
        <p:nvSpPr>
          <p:cNvPr id="98" name="Google Shape;98;p7"/>
          <p:cNvSpPr txBox="1"/>
          <p:nvPr/>
        </p:nvSpPr>
        <p:spPr>
          <a:xfrm>
            <a:off x="822960" y="4846320"/>
            <a:ext cx="2156384" cy="100584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0F1B33"/>
              </a:buClr>
              <a:buSzPts val="1200"/>
              <a:buFont typeface="Calibri"/>
              <a:buNone/>
            </a:pPr>
            <a:r>
              <a:rPr lang="en-US" sz="1200" b="0" i="0" u="none" strike="noStrike" cap="none">
                <a:solidFill>
                  <a:srgbClr val="0F1B33"/>
                </a:solidFill>
                <a:latin typeface="Calibri"/>
                <a:ea typeface="Calibri"/>
                <a:cs typeface="Calibri"/>
                <a:sym typeface="Calibri"/>
              </a:rPr>
              <a:t>Kutipan tidak bisa dicek sumbernya, dan koreksinya tidak muncul di laporan.</a:t>
            </a:r>
            <a:endParaRPr sz="1200" b="0" i="0" u="none" strike="noStrike" cap="none">
              <a:solidFill>
                <a:schemeClr val="dk1"/>
              </a:solidFill>
              <a:latin typeface="Calibri"/>
              <a:ea typeface="Calibri"/>
              <a:cs typeface="Calibri"/>
              <a:sym typeface="Calibri"/>
            </a:endParaRPr>
          </a:p>
        </p:txBody>
      </p:sp>
      <p:sp>
        <p:nvSpPr>
          <p:cNvPr id="99" name="Google Shape;99;p7"/>
          <p:cNvSpPr/>
          <p:nvPr/>
        </p:nvSpPr>
        <p:spPr>
          <a:xfrm>
            <a:off x="3390824" y="2788920"/>
            <a:ext cx="2613584" cy="3154680"/>
          </a:xfrm>
          <a:prstGeom prst="roundRect">
            <a:avLst>
              <a:gd name="adj" fmla="val 2449"/>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 name="Google Shape;100;p7"/>
          <p:cNvSpPr txBox="1"/>
          <p:nvPr/>
        </p:nvSpPr>
        <p:spPr>
          <a:xfrm>
            <a:off x="3619424" y="2944368"/>
            <a:ext cx="2156384"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1500"/>
              <a:buFont typeface="Calibri"/>
              <a:buNone/>
            </a:pPr>
            <a:r>
              <a:rPr lang="en-US" sz="1500" b="1" i="0" u="none" strike="noStrike" cap="none">
                <a:solidFill>
                  <a:srgbClr val="0F1B33"/>
                </a:solidFill>
                <a:latin typeface="Calibri"/>
                <a:ea typeface="Calibri"/>
                <a:cs typeface="Calibri"/>
                <a:sym typeface="Calibri"/>
              </a:rPr>
              <a:t>Recruiter</a:t>
            </a:r>
            <a:endParaRPr sz="1500" b="0" i="0" u="none" strike="noStrike" cap="none">
              <a:solidFill>
                <a:schemeClr val="dk1"/>
              </a:solidFill>
              <a:latin typeface="Calibri"/>
              <a:ea typeface="Calibri"/>
              <a:cs typeface="Calibri"/>
              <a:sym typeface="Calibri"/>
            </a:endParaRPr>
          </a:p>
        </p:txBody>
      </p:sp>
      <p:sp>
        <p:nvSpPr>
          <p:cNvPr id="101" name="Google Shape;101;p7"/>
          <p:cNvSpPr txBox="1"/>
          <p:nvPr/>
        </p:nvSpPr>
        <p:spPr>
          <a:xfrm>
            <a:off x="3619424" y="3337560"/>
            <a:ext cx="2156384"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8A94A8"/>
              </a:buClr>
              <a:buSzPts val="1050"/>
              <a:buFont typeface="Calibri"/>
              <a:buNone/>
            </a:pPr>
            <a:r>
              <a:rPr lang="en-US" sz="1050" b="1" i="0" u="none" strike="noStrike" cap="none">
                <a:solidFill>
                  <a:srgbClr val="8A94A8"/>
                </a:solidFill>
                <a:latin typeface="Calibri"/>
                <a:ea typeface="Calibri"/>
                <a:cs typeface="Calibri"/>
                <a:sym typeface="Calibri"/>
              </a:rPr>
              <a:t>Ingin</a:t>
            </a:r>
            <a:endParaRPr sz="1050" b="0" i="0" u="none" strike="noStrike" cap="none">
              <a:solidFill>
                <a:schemeClr val="dk1"/>
              </a:solidFill>
              <a:latin typeface="Calibri"/>
              <a:ea typeface="Calibri"/>
              <a:cs typeface="Calibri"/>
              <a:sym typeface="Calibri"/>
            </a:endParaRPr>
          </a:p>
        </p:txBody>
      </p:sp>
      <p:sp>
        <p:nvSpPr>
          <p:cNvPr id="102" name="Google Shape;102;p7"/>
          <p:cNvSpPr txBox="1"/>
          <p:nvPr/>
        </p:nvSpPr>
        <p:spPr>
          <a:xfrm>
            <a:off x="3619424" y="3566160"/>
            <a:ext cx="2156384" cy="100584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0F1B33"/>
              </a:buClr>
              <a:buSzPts val="1200"/>
              <a:buFont typeface="Calibri"/>
              <a:buNone/>
            </a:pPr>
            <a:r>
              <a:rPr lang="en-US" sz="1200" b="0" i="0" u="none" strike="noStrike" cap="none">
                <a:solidFill>
                  <a:srgbClr val="0F1B33"/>
                </a:solidFill>
                <a:latin typeface="Calibri"/>
                <a:ea typeface="Calibri"/>
                <a:cs typeface="Calibri"/>
                <a:sym typeface="Calibri"/>
              </a:rPr>
              <a:t>Mau menyaring kandidat dengan cepat dan tahu siapa yang perlu wawancara ulang.</a:t>
            </a:r>
            <a:endParaRPr sz="1200" b="0" i="0" u="none" strike="noStrike" cap="none">
              <a:solidFill>
                <a:schemeClr val="dk1"/>
              </a:solidFill>
              <a:latin typeface="Calibri"/>
              <a:ea typeface="Calibri"/>
              <a:cs typeface="Calibri"/>
              <a:sym typeface="Calibri"/>
            </a:endParaRPr>
          </a:p>
        </p:txBody>
      </p:sp>
      <p:sp>
        <p:nvSpPr>
          <p:cNvPr id="103" name="Google Shape;103;p7"/>
          <p:cNvSpPr txBox="1"/>
          <p:nvPr/>
        </p:nvSpPr>
        <p:spPr>
          <a:xfrm>
            <a:off x="3619424" y="4617720"/>
            <a:ext cx="2156384"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8A94A8"/>
              </a:buClr>
              <a:buSzPts val="1050"/>
              <a:buFont typeface="Calibri"/>
              <a:buNone/>
            </a:pPr>
            <a:r>
              <a:rPr lang="en-US" sz="1050" b="1" i="0" u="none" strike="noStrike" cap="none">
                <a:solidFill>
                  <a:srgbClr val="8A94A8"/>
                </a:solidFill>
                <a:latin typeface="Calibri"/>
                <a:ea typeface="Calibri"/>
                <a:cs typeface="Calibri"/>
                <a:sym typeface="Calibri"/>
              </a:rPr>
              <a:t>Yang didapat </a:t>
            </a:r>
            <a:endParaRPr sz="1050" b="0" i="0" u="none" strike="noStrike" cap="none">
              <a:solidFill>
                <a:schemeClr val="dk1"/>
              </a:solidFill>
              <a:latin typeface="Calibri"/>
              <a:ea typeface="Calibri"/>
              <a:cs typeface="Calibri"/>
              <a:sym typeface="Calibri"/>
            </a:endParaRPr>
          </a:p>
        </p:txBody>
      </p:sp>
      <p:sp>
        <p:nvSpPr>
          <p:cNvPr id="104" name="Google Shape;104;p7"/>
          <p:cNvSpPr txBox="1"/>
          <p:nvPr/>
        </p:nvSpPr>
        <p:spPr>
          <a:xfrm>
            <a:off x="3619424" y="4846320"/>
            <a:ext cx="2156384" cy="100584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0F1B33"/>
              </a:buClr>
              <a:buSzPts val="1200"/>
              <a:buFont typeface="Calibri"/>
              <a:buNone/>
            </a:pPr>
            <a:r>
              <a:rPr lang="en-US" sz="1200" b="0" i="0" u="none" strike="noStrike" cap="none">
                <a:solidFill>
                  <a:srgbClr val="0F1B33"/>
                </a:solidFill>
                <a:latin typeface="Calibri"/>
                <a:ea typeface="Calibri"/>
                <a:cs typeface="Calibri"/>
                <a:sym typeface="Calibri"/>
              </a:rPr>
              <a:t>Skill yang kuat dan yang belum pernah ditanyakan terlihat sama.</a:t>
            </a:r>
            <a:endParaRPr sz="1200" b="0" i="0" u="none" strike="noStrike" cap="none">
              <a:solidFill>
                <a:schemeClr val="dk1"/>
              </a:solidFill>
              <a:latin typeface="Calibri"/>
              <a:ea typeface="Calibri"/>
              <a:cs typeface="Calibri"/>
              <a:sym typeface="Calibri"/>
            </a:endParaRPr>
          </a:p>
        </p:txBody>
      </p:sp>
      <p:sp>
        <p:nvSpPr>
          <p:cNvPr id="105" name="Google Shape;105;p7"/>
          <p:cNvSpPr/>
          <p:nvPr/>
        </p:nvSpPr>
        <p:spPr>
          <a:xfrm>
            <a:off x="6187288" y="2788920"/>
            <a:ext cx="2613584" cy="3154680"/>
          </a:xfrm>
          <a:prstGeom prst="roundRect">
            <a:avLst>
              <a:gd name="adj" fmla="val 2449"/>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6" name="Google Shape;106;p7"/>
          <p:cNvSpPr txBox="1"/>
          <p:nvPr/>
        </p:nvSpPr>
        <p:spPr>
          <a:xfrm>
            <a:off x="6415888" y="2944368"/>
            <a:ext cx="2156384"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1500"/>
              <a:buFont typeface="Calibri"/>
              <a:buNone/>
            </a:pPr>
            <a:r>
              <a:rPr lang="en-US" sz="1500" b="1" i="0" u="none" strike="noStrike" cap="none">
                <a:solidFill>
                  <a:srgbClr val="0F1B33"/>
                </a:solidFill>
                <a:latin typeface="Calibri"/>
                <a:ea typeface="Calibri"/>
                <a:cs typeface="Calibri"/>
                <a:sym typeface="Calibri"/>
              </a:rPr>
              <a:t>Hiring manager</a:t>
            </a:r>
            <a:endParaRPr sz="1500" b="0" i="0" u="none" strike="noStrike" cap="none">
              <a:solidFill>
                <a:schemeClr val="dk1"/>
              </a:solidFill>
              <a:latin typeface="Calibri"/>
              <a:ea typeface="Calibri"/>
              <a:cs typeface="Calibri"/>
              <a:sym typeface="Calibri"/>
            </a:endParaRPr>
          </a:p>
        </p:txBody>
      </p:sp>
      <p:sp>
        <p:nvSpPr>
          <p:cNvPr id="107" name="Google Shape;107;p7"/>
          <p:cNvSpPr txBox="1"/>
          <p:nvPr/>
        </p:nvSpPr>
        <p:spPr>
          <a:xfrm>
            <a:off x="6415888" y="3337560"/>
            <a:ext cx="2156384"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8A94A8"/>
              </a:buClr>
              <a:buSzPts val="1050"/>
              <a:buFont typeface="Calibri"/>
              <a:buNone/>
            </a:pPr>
            <a:r>
              <a:rPr lang="en-US" sz="1050" b="1" i="0" u="none" strike="noStrike" cap="none">
                <a:solidFill>
                  <a:srgbClr val="8A94A8"/>
                </a:solidFill>
                <a:latin typeface="Calibri"/>
                <a:ea typeface="Calibri"/>
                <a:cs typeface="Calibri"/>
                <a:sym typeface="Calibri"/>
              </a:rPr>
              <a:t>Ingin</a:t>
            </a:r>
            <a:endParaRPr sz="1050" b="0" i="0" u="none" strike="noStrike" cap="none">
              <a:solidFill>
                <a:schemeClr val="dk1"/>
              </a:solidFill>
              <a:latin typeface="Calibri"/>
              <a:ea typeface="Calibri"/>
              <a:cs typeface="Calibri"/>
              <a:sym typeface="Calibri"/>
            </a:endParaRPr>
          </a:p>
        </p:txBody>
      </p:sp>
      <p:sp>
        <p:nvSpPr>
          <p:cNvPr id="108" name="Google Shape;108;p7"/>
          <p:cNvSpPr txBox="1"/>
          <p:nvPr/>
        </p:nvSpPr>
        <p:spPr>
          <a:xfrm>
            <a:off x="6415888" y="3566160"/>
            <a:ext cx="2156384" cy="100584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0F1B33"/>
              </a:buClr>
              <a:buSzPts val="1200"/>
              <a:buFont typeface="Calibri"/>
              <a:buNone/>
            </a:pPr>
            <a:r>
              <a:rPr lang="en-US" sz="1200" b="0" i="0" u="none" strike="noStrike" cap="none">
                <a:solidFill>
                  <a:srgbClr val="0F1B33"/>
                </a:solidFill>
                <a:latin typeface="Calibri"/>
                <a:ea typeface="Calibri"/>
                <a:cs typeface="Calibri"/>
                <a:sym typeface="Calibri"/>
              </a:rPr>
              <a:t>Mau mengambil keputusan dan bisa menjelaskan alasannya.</a:t>
            </a:r>
            <a:endParaRPr sz="1200" b="0" i="0" u="none" strike="noStrike" cap="none">
              <a:solidFill>
                <a:schemeClr val="dk1"/>
              </a:solidFill>
              <a:latin typeface="Calibri"/>
              <a:ea typeface="Calibri"/>
              <a:cs typeface="Calibri"/>
              <a:sym typeface="Calibri"/>
            </a:endParaRPr>
          </a:p>
        </p:txBody>
      </p:sp>
      <p:sp>
        <p:nvSpPr>
          <p:cNvPr id="109" name="Google Shape;109;p7"/>
          <p:cNvSpPr txBox="1"/>
          <p:nvPr/>
        </p:nvSpPr>
        <p:spPr>
          <a:xfrm>
            <a:off x="6415888" y="4617720"/>
            <a:ext cx="2156384"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8A94A8"/>
              </a:buClr>
              <a:buSzPts val="1050"/>
              <a:buFont typeface="Calibri"/>
              <a:buNone/>
            </a:pPr>
            <a:r>
              <a:rPr lang="en-US" sz="1050" b="1" i="0" u="none" strike="noStrike" cap="none">
                <a:solidFill>
                  <a:srgbClr val="8A94A8"/>
                </a:solidFill>
                <a:latin typeface="Calibri"/>
                <a:ea typeface="Calibri"/>
                <a:cs typeface="Calibri"/>
                <a:sym typeface="Calibri"/>
              </a:rPr>
              <a:t>Yang didapat</a:t>
            </a:r>
            <a:endParaRPr sz="1050" b="0" i="0" u="none" strike="noStrike" cap="none">
              <a:solidFill>
                <a:schemeClr val="dk1"/>
              </a:solidFill>
              <a:latin typeface="Calibri"/>
              <a:ea typeface="Calibri"/>
              <a:cs typeface="Calibri"/>
              <a:sym typeface="Calibri"/>
            </a:endParaRPr>
          </a:p>
        </p:txBody>
      </p:sp>
      <p:sp>
        <p:nvSpPr>
          <p:cNvPr id="110" name="Google Shape;110;p7"/>
          <p:cNvSpPr txBox="1"/>
          <p:nvPr/>
        </p:nvSpPr>
        <p:spPr>
          <a:xfrm>
            <a:off x="6415888" y="4846320"/>
            <a:ext cx="2156384" cy="100584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0F1B33"/>
              </a:buClr>
              <a:buSzPts val="1200"/>
              <a:buFont typeface="Calibri"/>
              <a:buNone/>
            </a:pPr>
            <a:r>
              <a:rPr lang="en-US" sz="1200" b="0" i="0" u="none" strike="noStrike" cap="none">
                <a:solidFill>
                  <a:srgbClr val="0F1B33"/>
                </a:solidFill>
                <a:latin typeface="Calibri"/>
                <a:ea typeface="Calibri"/>
                <a:cs typeface="Calibri"/>
                <a:sym typeface="Calibri"/>
              </a:rPr>
              <a:t>Kolom Required kosong, jadi tidak ada pembandingnya.</a:t>
            </a:r>
            <a:endParaRPr sz="1200" b="0" i="0" u="none" strike="noStrike" cap="none">
              <a:solidFill>
                <a:schemeClr val="dk1"/>
              </a:solidFill>
              <a:latin typeface="Calibri"/>
              <a:ea typeface="Calibri"/>
              <a:cs typeface="Calibri"/>
              <a:sym typeface="Calibri"/>
            </a:endParaRPr>
          </a:p>
        </p:txBody>
      </p:sp>
      <p:sp>
        <p:nvSpPr>
          <p:cNvPr id="111" name="Google Shape;111;p7"/>
          <p:cNvSpPr/>
          <p:nvPr/>
        </p:nvSpPr>
        <p:spPr>
          <a:xfrm>
            <a:off x="8983751" y="2788920"/>
            <a:ext cx="2613584" cy="3154680"/>
          </a:xfrm>
          <a:prstGeom prst="roundRect">
            <a:avLst>
              <a:gd name="adj" fmla="val 2449"/>
            </a:avLst>
          </a:prstGeom>
          <a:solidFill>
            <a:srgbClr val="FDECEC"/>
          </a:solidFill>
          <a:ln w="9525" cap="flat" cmpd="sng">
            <a:solidFill>
              <a:srgbClr val="FDECE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2" name="Google Shape;112;p7"/>
          <p:cNvSpPr txBox="1"/>
          <p:nvPr/>
        </p:nvSpPr>
        <p:spPr>
          <a:xfrm>
            <a:off x="9212351" y="2944368"/>
            <a:ext cx="2156384"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D14343"/>
              </a:buClr>
              <a:buSzPts val="1500"/>
              <a:buFont typeface="Calibri"/>
              <a:buNone/>
            </a:pPr>
            <a:r>
              <a:rPr lang="en-US" sz="1500" b="1" i="0" u="none" strike="noStrike" cap="none">
                <a:solidFill>
                  <a:srgbClr val="D14343"/>
                </a:solidFill>
                <a:latin typeface="Calibri"/>
                <a:ea typeface="Calibri"/>
                <a:cs typeface="Calibri"/>
                <a:sym typeface="Calibri"/>
              </a:rPr>
              <a:t>Kandidat</a:t>
            </a:r>
            <a:endParaRPr sz="1500" b="0" i="0" u="none" strike="noStrike" cap="none">
              <a:solidFill>
                <a:schemeClr val="dk1"/>
              </a:solidFill>
              <a:latin typeface="Calibri"/>
              <a:ea typeface="Calibri"/>
              <a:cs typeface="Calibri"/>
              <a:sym typeface="Calibri"/>
            </a:endParaRPr>
          </a:p>
        </p:txBody>
      </p:sp>
      <p:sp>
        <p:nvSpPr>
          <p:cNvPr id="113" name="Google Shape;113;p7"/>
          <p:cNvSpPr txBox="1"/>
          <p:nvPr/>
        </p:nvSpPr>
        <p:spPr>
          <a:xfrm>
            <a:off x="9212351" y="3337560"/>
            <a:ext cx="2156384"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8A94A8"/>
              </a:buClr>
              <a:buSzPts val="1050"/>
              <a:buFont typeface="Calibri"/>
              <a:buNone/>
            </a:pPr>
            <a:r>
              <a:rPr lang="en-US" sz="1050" b="1" i="0" u="none" strike="noStrike" cap="none">
                <a:solidFill>
                  <a:srgbClr val="8A94A8"/>
                </a:solidFill>
                <a:latin typeface="Calibri"/>
                <a:ea typeface="Calibri"/>
                <a:cs typeface="Calibri"/>
                <a:sym typeface="Calibri"/>
              </a:rPr>
              <a:t>Ingin</a:t>
            </a:r>
            <a:endParaRPr sz="1050" b="0" i="0" u="none" strike="noStrike" cap="none">
              <a:solidFill>
                <a:schemeClr val="dk1"/>
              </a:solidFill>
              <a:latin typeface="Calibri"/>
              <a:ea typeface="Calibri"/>
              <a:cs typeface="Calibri"/>
              <a:sym typeface="Calibri"/>
            </a:endParaRPr>
          </a:p>
        </p:txBody>
      </p:sp>
      <p:sp>
        <p:nvSpPr>
          <p:cNvPr id="114" name="Google Shape;114;p7"/>
          <p:cNvSpPr txBox="1"/>
          <p:nvPr/>
        </p:nvSpPr>
        <p:spPr>
          <a:xfrm>
            <a:off x="9212351" y="3566160"/>
            <a:ext cx="2156384" cy="100584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0F1B33"/>
              </a:buClr>
              <a:buSzPts val="1200"/>
              <a:buFont typeface="Calibri"/>
              <a:buNone/>
            </a:pPr>
            <a:r>
              <a:rPr lang="en-US" sz="1200" b="0" i="0" u="none" strike="noStrike" cap="none">
                <a:solidFill>
                  <a:srgbClr val="0F1B33"/>
                </a:solidFill>
                <a:latin typeface="Calibri"/>
                <a:ea typeface="Calibri"/>
                <a:cs typeface="Calibri"/>
                <a:sym typeface="Calibri"/>
              </a:rPr>
              <a:t>Tidak memilih produk ini, tidak bisa menolak, dan tidak pernah melihat hasilnya.</a:t>
            </a:r>
            <a:endParaRPr sz="1200" b="0" i="0" u="none" strike="noStrike" cap="none">
              <a:solidFill>
                <a:schemeClr val="dk1"/>
              </a:solidFill>
              <a:latin typeface="Calibri"/>
              <a:ea typeface="Calibri"/>
              <a:cs typeface="Calibri"/>
              <a:sym typeface="Calibri"/>
            </a:endParaRPr>
          </a:p>
        </p:txBody>
      </p:sp>
      <p:sp>
        <p:nvSpPr>
          <p:cNvPr id="115" name="Google Shape;115;p7"/>
          <p:cNvSpPr txBox="1"/>
          <p:nvPr/>
        </p:nvSpPr>
        <p:spPr>
          <a:xfrm>
            <a:off x="9212351" y="4617720"/>
            <a:ext cx="2156384"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8A94A8"/>
              </a:buClr>
              <a:buSzPts val="1050"/>
              <a:buFont typeface="Calibri"/>
              <a:buNone/>
            </a:pPr>
            <a:r>
              <a:rPr lang="en-US" sz="1050" b="1" i="0" u="none" strike="noStrike" cap="none">
                <a:solidFill>
                  <a:srgbClr val="8A94A8"/>
                </a:solidFill>
                <a:latin typeface="Calibri"/>
                <a:ea typeface="Calibri"/>
                <a:cs typeface="Calibri"/>
                <a:sym typeface="Calibri"/>
              </a:rPr>
              <a:t>Yang didapat</a:t>
            </a:r>
            <a:endParaRPr sz="1050" b="0" i="0" u="none" strike="noStrike" cap="none">
              <a:solidFill>
                <a:schemeClr val="dk1"/>
              </a:solidFill>
              <a:latin typeface="Calibri"/>
              <a:ea typeface="Calibri"/>
              <a:cs typeface="Calibri"/>
              <a:sym typeface="Calibri"/>
            </a:endParaRPr>
          </a:p>
        </p:txBody>
      </p:sp>
      <p:sp>
        <p:nvSpPr>
          <p:cNvPr id="116" name="Google Shape;116;p7"/>
          <p:cNvSpPr txBox="1"/>
          <p:nvPr/>
        </p:nvSpPr>
        <p:spPr>
          <a:xfrm>
            <a:off x="9212351" y="4846320"/>
            <a:ext cx="2156384" cy="100584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D14343"/>
              </a:buClr>
              <a:buSzPts val="1200"/>
              <a:buFont typeface="Calibri"/>
              <a:buNone/>
            </a:pPr>
            <a:r>
              <a:rPr lang="en-US" sz="1200" b="0" i="0" u="none" strike="noStrike" cap="none">
                <a:solidFill>
                  <a:srgbClr val="D14343"/>
                </a:solidFill>
                <a:latin typeface="Calibri"/>
                <a:ea typeface="Calibri"/>
                <a:cs typeface="Calibri"/>
                <a:sym typeface="Calibri"/>
              </a:rPr>
              <a:t>Paling dirugikan kalau penilaiannya salah.</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21" name="Shape 121"/>
        <p:cNvGrpSpPr/>
        <p:nvPr/>
      </p:nvGrpSpPr>
      <p:grpSpPr>
        <a:xfrm>
          <a:off x="0" y="0"/>
          <a:ext cx="0" cy="0"/>
          <a:chOff x="0" y="0"/>
          <a:chExt cx="0" cy="0"/>
        </a:xfrm>
      </p:grpSpPr>
      <p:sp>
        <p:nvSpPr>
          <p:cNvPr id="122" name="Google Shape;122;p8"/>
          <p:cNvSpPr txBox="1"/>
          <p:nvPr/>
        </p:nvSpPr>
        <p:spPr>
          <a:xfrm>
            <a:off x="11277295" y="6419088"/>
            <a:ext cx="457200"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A94A8"/>
              </a:buClr>
              <a:buSzPts val="1000"/>
              <a:buFont typeface="Calibri"/>
              <a:buNone/>
            </a:pPr>
            <a:r>
              <a:rPr lang="en-US" sz="1000" b="0" i="0" u="none" strike="noStrike" cap="none">
                <a:solidFill>
                  <a:srgbClr val="8A94A8"/>
                </a:solidFill>
                <a:latin typeface="Calibri"/>
                <a:ea typeface="Calibri"/>
                <a:cs typeface="Calibri"/>
                <a:sym typeface="Calibri"/>
              </a:rPr>
              <a:t>6</a:t>
            </a:r>
            <a:endParaRPr sz="1000" b="0" i="0" u="none" strike="noStrike" cap="none">
              <a:solidFill>
                <a:schemeClr val="dk1"/>
              </a:solidFill>
              <a:latin typeface="Calibri"/>
              <a:ea typeface="Calibri"/>
              <a:cs typeface="Calibri"/>
              <a:sym typeface="Calibri"/>
            </a:endParaRPr>
          </a:p>
        </p:txBody>
      </p:sp>
      <p:sp>
        <p:nvSpPr>
          <p:cNvPr id="123" name="Google Shape;123;p8"/>
          <p:cNvSpPr txBox="1"/>
          <p:nvPr/>
        </p:nvSpPr>
        <p:spPr>
          <a:xfrm>
            <a:off x="594360" y="6419088"/>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A94A8"/>
              </a:buClr>
              <a:buSzPts val="1000"/>
              <a:buFont typeface="Calibri"/>
              <a:buNone/>
            </a:pPr>
            <a:r>
              <a:rPr lang="en-US" sz="1000" b="0" i="0" u="none" strike="noStrike" cap="none">
                <a:solidFill>
                  <a:srgbClr val="8A94A8"/>
                </a:solidFill>
                <a:latin typeface="Calibri"/>
                <a:ea typeface="Calibri"/>
                <a:cs typeface="Calibri"/>
                <a:sym typeface="Calibri"/>
              </a:rPr>
              <a:t>Aulia Afriza  ·  Kandidat Fullstack · Frontend depth</a:t>
            </a:r>
            <a:endParaRPr sz="1000" b="0" i="0" u="none" strike="noStrike" cap="none">
              <a:solidFill>
                <a:schemeClr val="dk1"/>
              </a:solidFill>
              <a:latin typeface="Calibri"/>
              <a:ea typeface="Calibri"/>
              <a:cs typeface="Calibri"/>
              <a:sym typeface="Calibri"/>
            </a:endParaRPr>
          </a:p>
        </p:txBody>
      </p:sp>
      <p:sp>
        <p:nvSpPr>
          <p:cNvPr id="124" name="Google Shape;124;p8"/>
          <p:cNvSpPr txBox="1"/>
          <p:nvPr/>
        </p:nvSpPr>
        <p:spPr>
          <a:xfrm>
            <a:off x="594360" y="438912"/>
            <a:ext cx="11002975"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2800"/>
              <a:buFont typeface="Calibri"/>
              <a:buNone/>
            </a:pPr>
            <a:r>
              <a:rPr lang="en-US" sz="2800" b="1" i="0" u="none" strike="noStrike" cap="none">
                <a:solidFill>
                  <a:srgbClr val="0F1B33"/>
                </a:solidFill>
                <a:latin typeface="Calibri"/>
                <a:ea typeface="Calibri"/>
                <a:cs typeface="Calibri"/>
                <a:sym typeface="Calibri"/>
              </a:rPr>
              <a:t>Kandidat dan UU PDP</a:t>
            </a:r>
            <a:endParaRPr sz="2800" b="0" i="0" u="none" strike="noStrike" cap="none">
              <a:solidFill>
                <a:schemeClr val="dk1"/>
              </a:solidFill>
              <a:latin typeface="Calibri"/>
              <a:ea typeface="Calibri"/>
              <a:cs typeface="Calibri"/>
              <a:sym typeface="Calibri"/>
            </a:endParaRPr>
          </a:p>
        </p:txBody>
      </p:sp>
      <p:sp>
        <p:nvSpPr>
          <p:cNvPr id="125" name="Google Shape;125;p8"/>
          <p:cNvSpPr txBox="1"/>
          <p:nvPr/>
        </p:nvSpPr>
        <p:spPr>
          <a:xfrm>
            <a:off x="594360" y="987552"/>
            <a:ext cx="11002975"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5617A"/>
              </a:buClr>
              <a:buSzPts val="1500"/>
              <a:buFont typeface="Calibri"/>
              <a:buNone/>
            </a:pPr>
            <a:r>
              <a:rPr lang="en-US" sz="1500" b="0" i="0" u="none" strike="noStrike" cap="none">
                <a:solidFill>
                  <a:srgbClr val="55617A"/>
                </a:solidFill>
                <a:latin typeface="Calibri"/>
                <a:ea typeface="Calibri"/>
                <a:cs typeface="Calibri"/>
                <a:sym typeface="Calibri"/>
              </a:rPr>
              <a:t>§2.1 · Dua prinsip yang saya pegang, dan empat temuan soal data pribadi.</a:t>
            </a:r>
            <a:endParaRPr sz="1500" b="0" i="0" u="none" strike="noStrike" cap="none">
              <a:solidFill>
                <a:schemeClr val="dk1"/>
              </a:solidFill>
              <a:latin typeface="Calibri"/>
              <a:ea typeface="Calibri"/>
              <a:cs typeface="Calibri"/>
              <a:sym typeface="Calibri"/>
            </a:endParaRPr>
          </a:p>
        </p:txBody>
      </p:sp>
      <p:sp>
        <p:nvSpPr>
          <p:cNvPr id="126" name="Google Shape;126;p8"/>
          <p:cNvSpPr/>
          <p:nvPr/>
        </p:nvSpPr>
        <p:spPr>
          <a:xfrm>
            <a:off x="594360" y="1481328"/>
            <a:ext cx="5364328" cy="2011680"/>
          </a:xfrm>
          <a:prstGeom prst="roundRect">
            <a:avLst>
              <a:gd name="adj" fmla="val 3182"/>
            </a:avLst>
          </a:prstGeom>
          <a:solidFill>
            <a:srgbClr val="FDECEC"/>
          </a:solidFill>
          <a:ln w="9525" cap="flat" cmpd="sng">
            <a:solidFill>
              <a:srgbClr val="FDECE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7" name="Google Shape;127;p8"/>
          <p:cNvSpPr txBox="1"/>
          <p:nvPr/>
        </p:nvSpPr>
        <p:spPr>
          <a:xfrm>
            <a:off x="868680" y="1645920"/>
            <a:ext cx="4815688"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D14343"/>
              </a:buClr>
              <a:buSzPts val="1500"/>
              <a:buFont typeface="Calibri"/>
              <a:buNone/>
            </a:pPr>
            <a:r>
              <a:rPr lang="en-US" sz="1500" b="1" i="0" u="none" strike="noStrike" cap="none">
                <a:solidFill>
                  <a:srgbClr val="D14343"/>
                </a:solidFill>
                <a:latin typeface="Calibri"/>
                <a:ea typeface="Calibri"/>
                <a:cs typeface="Calibri"/>
                <a:sym typeface="Calibri"/>
              </a:rPr>
              <a:t>Kalau ragu, jangan merugikan kandidat</a:t>
            </a:r>
            <a:endParaRPr sz="1500" b="0" i="0" u="none" strike="noStrike" cap="none">
              <a:solidFill>
                <a:schemeClr val="dk1"/>
              </a:solidFill>
              <a:latin typeface="Calibri"/>
              <a:ea typeface="Calibri"/>
              <a:cs typeface="Calibri"/>
              <a:sym typeface="Calibri"/>
            </a:endParaRPr>
          </a:p>
        </p:txBody>
      </p:sp>
      <p:sp>
        <p:nvSpPr>
          <p:cNvPr id="128" name="Google Shape;128;p8"/>
          <p:cNvSpPr txBox="1"/>
          <p:nvPr/>
        </p:nvSpPr>
        <p:spPr>
          <a:xfrm>
            <a:off x="868680" y="2011680"/>
            <a:ext cx="4815688" cy="1371600"/>
          </a:xfrm>
          <a:prstGeom prst="rect">
            <a:avLst/>
          </a:prstGeom>
          <a:noFill/>
          <a:ln>
            <a:noFill/>
          </a:ln>
        </p:spPr>
        <p:txBody>
          <a:bodyPr spcFirstLastPara="1" wrap="square" lIns="0" tIns="0" rIns="0" bIns="0" anchor="t" anchorCtr="0">
            <a:noAutofit/>
          </a:bodyPr>
          <a:lstStyle/>
          <a:p>
            <a:pPr marL="0" marR="0" lvl="0" indent="0" algn="l" rtl="0">
              <a:lnSpc>
                <a:spcPct val="136000"/>
              </a:lnSpc>
              <a:spcBef>
                <a:spcPts val="0"/>
              </a:spcBef>
              <a:spcAft>
                <a:spcPts val="0"/>
              </a:spcAft>
              <a:buClr>
                <a:srgbClr val="0F1B33"/>
              </a:buClr>
              <a:buSzPts val="1250"/>
              <a:buFont typeface="Calibri"/>
              <a:buNone/>
            </a:pPr>
            <a:r>
              <a:rPr lang="en-US" sz="1250" b="0" i="0" u="none" strike="noStrike" cap="none">
                <a:solidFill>
                  <a:srgbClr val="0F1B33"/>
                </a:solidFill>
                <a:latin typeface="Calibri"/>
                <a:ea typeface="Calibri"/>
                <a:cs typeface="Calibri"/>
                <a:sym typeface="Calibri"/>
              </a:rPr>
              <a:t>Di kode lama, level yang kosong tampil sebagai L1, nilai paling rendah. Skill yang belum pernah diukur tampil LOW berwarna merah. Dua-duanya merugikan kandidat, padahal datanya memang tidak ada.</a:t>
            </a:r>
            <a:endParaRPr sz="1250" b="0" i="0" u="none" strike="noStrike" cap="none">
              <a:solidFill>
                <a:schemeClr val="dk1"/>
              </a:solidFill>
              <a:latin typeface="Calibri"/>
              <a:ea typeface="Calibri"/>
              <a:cs typeface="Calibri"/>
              <a:sym typeface="Calibri"/>
            </a:endParaRPr>
          </a:p>
        </p:txBody>
      </p:sp>
      <p:sp>
        <p:nvSpPr>
          <p:cNvPr id="129" name="Google Shape;129;p8"/>
          <p:cNvSpPr/>
          <p:nvPr/>
        </p:nvSpPr>
        <p:spPr>
          <a:xfrm>
            <a:off x="6233008" y="1481328"/>
            <a:ext cx="5364328" cy="2011680"/>
          </a:xfrm>
          <a:prstGeom prst="roundRect">
            <a:avLst>
              <a:gd name="adj" fmla="val 3182"/>
            </a:avLst>
          </a:prstGeom>
          <a:solidFill>
            <a:srgbClr val="E7F1FF"/>
          </a:solidFill>
          <a:ln w="9525" cap="flat" cmpd="sng">
            <a:solidFill>
              <a:srgbClr val="E7F1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0" name="Google Shape;130;p8"/>
          <p:cNvSpPr txBox="1"/>
          <p:nvPr/>
        </p:nvSpPr>
        <p:spPr>
          <a:xfrm>
            <a:off x="6507328" y="1645920"/>
            <a:ext cx="4815688"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C2E6B"/>
              </a:buClr>
              <a:buSzPts val="1500"/>
              <a:buFont typeface="Calibri"/>
              <a:buNone/>
            </a:pPr>
            <a:r>
              <a:rPr lang="en-US" sz="1500" b="1" i="0" u="none" strike="noStrike" cap="none">
                <a:solidFill>
                  <a:srgbClr val="0C2E6B"/>
                </a:solidFill>
                <a:latin typeface="Calibri"/>
                <a:ea typeface="Calibri"/>
                <a:cs typeface="Calibri"/>
                <a:sym typeface="Calibri"/>
              </a:rPr>
              <a:t>Setiap nilai harus bisa dijelaskan</a:t>
            </a:r>
            <a:endParaRPr sz="1500" b="0" i="0" u="none" strike="noStrike" cap="none">
              <a:solidFill>
                <a:schemeClr val="dk1"/>
              </a:solidFill>
              <a:latin typeface="Calibri"/>
              <a:ea typeface="Calibri"/>
              <a:cs typeface="Calibri"/>
              <a:sym typeface="Calibri"/>
            </a:endParaRPr>
          </a:p>
        </p:txBody>
      </p:sp>
      <p:sp>
        <p:nvSpPr>
          <p:cNvPr id="131" name="Google Shape;131;p8"/>
          <p:cNvSpPr txBox="1"/>
          <p:nvPr/>
        </p:nvSpPr>
        <p:spPr>
          <a:xfrm>
            <a:off x="6507328" y="2011680"/>
            <a:ext cx="4815688" cy="1371600"/>
          </a:xfrm>
          <a:prstGeom prst="rect">
            <a:avLst/>
          </a:prstGeom>
          <a:noFill/>
          <a:ln>
            <a:noFill/>
          </a:ln>
        </p:spPr>
        <p:txBody>
          <a:bodyPr spcFirstLastPara="1" wrap="square" lIns="0" tIns="0" rIns="0" bIns="0" anchor="t" anchorCtr="0">
            <a:noAutofit/>
          </a:bodyPr>
          <a:lstStyle/>
          <a:p>
            <a:pPr marL="0" marR="0" lvl="0" indent="0" algn="l" rtl="0">
              <a:lnSpc>
                <a:spcPct val="136000"/>
              </a:lnSpc>
              <a:spcBef>
                <a:spcPts val="0"/>
              </a:spcBef>
              <a:spcAft>
                <a:spcPts val="0"/>
              </a:spcAft>
              <a:buClr>
                <a:srgbClr val="0F1B33"/>
              </a:buClr>
              <a:buSzPts val="1250"/>
              <a:buFont typeface="Calibri"/>
              <a:buNone/>
            </a:pPr>
            <a:r>
              <a:rPr lang="en-US" sz="1250" b="0" i="0" u="none" strike="noStrike" cap="none">
                <a:solidFill>
                  <a:srgbClr val="0F1B33"/>
                </a:solidFill>
                <a:latin typeface="Calibri"/>
                <a:ea typeface="Calibri"/>
                <a:cs typeface="Calibri"/>
                <a:sym typeface="Calibri"/>
              </a:rPr>
              <a:t>Kalau kandidat bertanya “kenapa saya L2?”, kita harus bisa menunjukkan kutipannya, berapa kali ditanyakan, dan apakah sudah dicek manusia.</a:t>
            </a:r>
            <a:endParaRPr sz="1250" b="0" i="0" u="none" strike="noStrike" cap="none">
              <a:solidFill>
                <a:schemeClr val="dk1"/>
              </a:solidFill>
              <a:latin typeface="Calibri"/>
              <a:ea typeface="Calibri"/>
              <a:cs typeface="Calibri"/>
              <a:sym typeface="Calibri"/>
            </a:endParaRPr>
          </a:p>
        </p:txBody>
      </p:sp>
      <p:sp>
        <p:nvSpPr>
          <p:cNvPr id="132" name="Google Shape;132;p8"/>
          <p:cNvSpPr/>
          <p:nvPr/>
        </p:nvSpPr>
        <p:spPr>
          <a:xfrm>
            <a:off x="594360" y="3703320"/>
            <a:ext cx="11002975" cy="512064"/>
          </a:xfrm>
          <a:prstGeom prst="roundRect">
            <a:avLst>
              <a:gd name="adj" fmla="val 12500"/>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3" name="Google Shape;133;p8"/>
          <p:cNvSpPr txBox="1"/>
          <p:nvPr/>
        </p:nvSpPr>
        <p:spPr>
          <a:xfrm>
            <a:off x="822960" y="3703320"/>
            <a:ext cx="329184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1B33"/>
              </a:buClr>
              <a:buSzPts val="1300"/>
              <a:buFont typeface="Calibri"/>
              <a:buNone/>
            </a:pPr>
            <a:r>
              <a:rPr lang="en-US" sz="1300" b="1" i="0" u="none" strike="noStrike" cap="none">
                <a:solidFill>
                  <a:srgbClr val="0F1B33"/>
                </a:solidFill>
                <a:latin typeface="Calibri"/>
                <a:ea typeface="Calibri"/>
                <a:cs typeface="Calibri"/>
                <a:sym typeface="Calibri"/>
              </a:rPr>
              <a:t>IDOR lintas tenant</a:t>
            </a:r>
            <a:endParaRPr sz="1300" b="0" i="0" u="none" strike="noStrike" cap="none">
              <a:solidFill>
                <a:schemeClr val="dk1"/>
              </a:solidFill>
              <a:latin typeface="Calibri"/>
              <a:ea typeface="Calibri"/>
              <a:cs typeface="Calibri"/>
              <a:sym typeface="Calibri"/>
            </a:endParaRPr>
          </a:p>
        </p:txBody>
      </p:sp>
      <p:sp>
        <p:nvSpPr>
          <p:cNvPr id="134" name="Google Shape;134;p8"/>
          <p:cNvSpPr txBox="1"/>
          <p:nvPr/>
        </p:nvSpPr>
        <p:spPr>
          <a:xfrm>
            <a:off x="4206240" y="3703320"/>
            <a:ext cx="576072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5617A"/>
              </a:buClr>
              <a:buSzPts val="1200"/>
              <a:buFont typeface="Calibri"/>
              <a:buNone/>
            </a:pPr>
            <a:r>
              <a:rPr lang="en-US" sz="1200" b="0" i="0" u="none" strike="noStrike" cap="none">
                <a:solidFill>
                  <a:srgbClr val="55617A"/>
                </a:solidFill>
                <a:latin typeface="Calibri"/>
                <a:ea typeface="Calibri"/>
                <a:cs typeface="Calibri"/>
                <a:sym typeface="Calibri"/>
              </a:rPr>
              <a:t>Kutipan wawancara bisa dibaca perusahaan lain.</a:t>
            </a:r>
            <a:endParaRPr sz="1200" b="0" i="0" u="none" strike="noStrike" cap="none">
              <a:solidFill>
                <a:schemeClr val="dk1"/>
              </a:solidFill>
              <a:latin typeface="Calibri"/>
              <a:ea typeface="Calibri"/>
              <a:cs typeface="Calibri"/>
              <a:sym typeface="Calibri"/>
            </a:endParaRPr>
          </a:p>
        </p:txBody>
      </p:sp>
      <p:sp>
        <p:nvSpPr>
          <p:cNvPr id="135" name="Google Shape;135;p8"/>
          <p:cNvSpPr/>
          <p:nvPr/>
        </p:nvSpPr>
        <p:spPr>
          <a:xfrm>
            <a:off x="10271455" y="3822192"/>
            <a:ext cx="1097280" cy="274320"/>
          </a:xfrm>
          <a:prstGeom prst="roundRect">
            <a:avLst>
              <a:gd name="adj" fmla="val 20000"/>
            </a:avLst>
          </a:prstGeom>
          <a:solidFill>
            <a:srgbClr val="1C6FF3"/>
          </a:solidFill>
          <a:ln w="12700" cap="flat" cmpd="sng">
            <a:solidFill>
              <a:srgbClr val="1C6F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 name="Google Shape;136;p8"/>
          <p:cNvSpPr txBox="1"/>
          <p:nvPr/>
        </p:nvSpPr>
        <p:spPr>
          <a:xfrm>
            <a:off x="10271455" y="3822192"/>
            <a:ext cx="109728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Diperbaiki</a:t>
            </a:r>
            <a:endParaRPr sz="1100" b="0" i="0" u="none" strike="noStrike" cap="none">
              <a:solidFill>
                <a:schemeClr val="dk1"/>
              </a:solidFill>
              <a:latin typeface="Calibri"/>
              <a:ea typeface="Calibri"/>
              <a:cs typeface="Calibri"/>
              <a:sym typeface="Calibri"/>
            </a:endParaRPr>
          </a:p>
        </p:txBody>
      </p:sp>
      <p:sp>
        <p:nvSpPr>
          <p:cNvPr id="137" name="Google Shape;137;p8"/>
          <p:cNvSpPr/>
          <p:nvPr/>
        </p:nvSpPr>
        <p:spPr>
          <a:xfrm>
            <a:off x="594360" y="4279392"/>
            <a:ext cx="11002975" cy="512064"/>
          </a:xfrm>
          <a:prstGeom prst="roundRect">
            <a:avLst>
              <a:gd name="adj" fmla="val 12500"/>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 name="Google Shape;138;p8"/>
          <p:cNvSpPr txBox="1"/>
          <p:nvPr/>
        </p:nvSpPr>
        <p:spPr>
          <a:xfrm>
            <a:off x="822960" y="4279392"/>
            <a:ext cx="329184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1B33"/>
              </a:buClr>
              <a:buSzPts val="1300"/>
              <a:buFont typeface="Calibri"/>
              <a:buNone/>
            </a:pPr>
            <a:r>
              <a:rPr lang="en-US" sz="1300" b="1" i="0" u="none" strike="noStrike" cap="none">
                <a:solidFill>
                  <a:srgbClr val="0F1B33"/>
                </a:solidFill>
                <a:latin typeface="Calibri"/>
                <a:ea typeface="Calibri"/>
                <a:cs typeface="Calibri"/>
                <a:sym typeface="Calibri"/>
              </a:rPr>
              <a:t>Tidak ada jejak akses export</a:t>
            </a:r>
            <a:endParaRPr sz="1300" b="0" i="0" u="none" strike="noStrike" cap="none">
              <a:solidFill>
                <a:schemeClr val="dk1"/>
              </a:solidFill>
              <a:latin typeface="Calibri"/>
              <a:ea typeface="Calibri"/>
              <a:cs typeface="Calibri"/>
              <a:sym typeface="Calibri"/>
            </a:endParaRPr>
          </a:p>
        </p:txBody>
      </p:sp>
      <p:sp>
        <p:nvSpPr>
          <p:cNvPr id="139" name="Google Shape;139;p8"/>
          <p:cNvSpPr txBox="1"/>
          <p:nvPr/>
        </p:nvSpPr>
        <p:spPr>
          <a:xfrm>
            <a:off x="4206240" y="4279392"/>
            <a:ext cx="576072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5617A"/>
              </a:buClr>
              <a:buSzPts val="1200"/>
              <a:buFont typeface="Calibri"/>
              <a:buNone/>
            </a:pPr>
            <a:r>
              <a:rPr lang="en-US" sz="1200" b="0" i="0" u="none" strike="noStrike" cap="none">
                <a:solidFill>
                  <a:srgbClr val="55617A"/>
                </a:solidFill>
                <a:latin typeface="Calibri"/>
                <a:ea typeface="Calibri"/>
                <a:cs typeface="Calibri"/>
                <a:sym typeface="Calibri"/>
              </a:rPr>
              <a:t>Tidak ada catatan siapa mengunduh data siapa.</a:t>
            </a:r>
            <a:endParaRPr sz="1200" b="0" i="0" u="none" strike="noStrike" cap="none">
              <a:solidFill>
                <a:schemeClr val="dk1"/>
              </a:solidFill>
              <a:latin typeface="Calibri"/>
              <a:ea typeface="Calibri"/>
              <a:cs typeface="Calibri"/>
              <a:sym typeface="Calibri"/>
            </a:endParaRPr>
          </a:p>
        </p:txBody>
      </p:sp>
      <p:sp>
        <p:nvSpPr>
          <p:cNvPr id="140" name="Google Shape;140;p8"/>
          <p:cNvSpPr/>
          <p:nvPr/>
        </p:nvSpPr>
        <p:spPr>
          <a:xfrm>
            <a:off x="10271455" y="4398264"/>
            <a:ext cx="1097280" cy="274320"/>
          </a:xfrm>
          <a:prstGeom prst="roundRect">
            <a:avLst>
              <a:gd name="adj" fmla="val 20000"/>
            </a:avLst>
          </a:prstGeom>
          <a:solidFill>
            <a:srgbClr val="1C6FF3"/>
          </a:solidFill>
          <a:ln w="12700" cap="flat" cmpd="sng">
            <a:solidFill>
              <a:srgbClr val="1C6F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1" name="Google Shape;141;p8"/>
          <p:cNvSpPr txBox="1"/>
          <p:nvPr/>
        </p:nvSpPr>
        <p:spPr>
          <a:xfrm>
            <a:off x="10271455" y="4398264"/>
            <a:ext cx="109728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Diperbaiki</a:t>
            </a:r>
            <a:endParaRPr sz="1100" b="0" i="0" u="none" strike="noStrike" cap="none">
              <a:solidFill>
                <a:schemeClr val="dk1"/>
              </a:solidFill>
              <a:latin typeface="Calibri"/>
              <a:ea typeface="Calibri"/>
              <a:cs typeface="Calibri"/>
              <a:sym typeface="Calibri"/>
            </a:endParaRPr>
          </a:p>
        </p:txBody>
      </p:sp>
      <p:sp>
        <p:nvSpPr>
          <p:cNvPr id="142" name="Google Shape;142;p8"/>
          <p:cNvSpPr/>
          <p:nvPr/>
        </p:nvSpPr>
        <p:spPr>
          <a:xfrm>
            <a:off x="594360" y="4855464"/>
            <a:ext cx="11002975" cy="512064"/>
          </a:xfrm>
          <a:prstGeom prst="roundRect">
            <a:avLst>
              <a:gd name="adj" fmla="val 12500"/>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 name="Google Shape;143;p8"/>
          <p:cNvSpPr txBox="1"/>
          <p:nvPr/>
        </p:nvSpPr>
        <p:spPr>
          <a:xfrm>
            <a:off x="822960" y="4855464"/>
            <a:ext cx="329184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1B33"/>
              </a:buClr>
              <a:buSzPts val="1300"/>
              <a:buFont typeface="Calibri"/>
              <a:buNone/>
            </a:pPr>
            <a:r>
              <a:rPr lang="en-US" sz="1300" b="1" i="0" u="none" strike="noStrike" cap="none">
                <a:solidFill>
                  <a:srgbClr val="0F1B33"/>
                </a:solidFill>
                <a:latin typeface="Calibri"/>
                <a:ea typeface="Calibri"/>
                <a:cs typeface="Calibri"/>
                <a:sym typeface="Calibri"/>
              </a:rPr>
              <a:t>Pesan error membawa isi prompt</a:t>
            </a:r>
            <a:endParaRPr sz="1300" b="0" i="0" u="none" strike="noStrike" cap="none">
              <a:solidFill>
                <a:schemeClr val="dk1"/>
              </a:solidFill>
              <a:latin typeface="Calibri"/>
              <a:ea typeface="Calibri"/>
              <a:cs typeface="Calibri"/>
              <a:sym typeface="Calibri"/>
            </a:endParaRPr>
          </a:p>
        </p:txBody>
      </p:sp>
      <p:sp>
        <p:nvSpPr>
          <p:cNvPr id="144" name="Google Shape;144;p8"/>
          <p:cNvSpPr txBox="1"/>
          <p:nvPr/>
        </p:nvSpPr>
        <p:spPr>
          <a:xfrm>
            <a:off x="4206240" y="4855464"/>
            <a:ext cx="576072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5617A"/>
              </a:buClr>
              <a:buSzPts val="1200"/>
              <a:buFont typeface="Calibri"/>
              <a:buNone/>
            </a:pPr>
            <a:r>
              <a:rPr lang="en-US" sz="1200" b="0" i="0" u="none" strike="noStrike" cap="none">
                <a:solidFill>
                  <a:srgbClr val="55617A"/>
                </a:solidFill>
                <a:latin typeface="Calibri"/>
                <a:ea typeface="Calibri"/>
                <a:cs typeface="Calibri"/>
                <a:sym typeface="Calibri"/>
              </a:rPr>
              <a:t>Error dari Gemini yang berisi transkrip ikut terkirim ke browser.</a:t>
            </a:r>
            <a:endParaRPr sz="1200" b="0" i="0" u="none" strike="noStrike" cap="none">
              <a:solidFill>
                <a:schemeClr val="dk1"/>
              </a:solidFill>
              <a:latin typeface="Calibri"/>
              <a:ea typeface="Calibri"/>
              <a:cs typeface="Calibri"/>
              <a:sym typeface="Calibri"/>
            </a:endParaRPr>
          </a:p>
        </p:txBody>
      </p:sp>
      <p:sp>
        <p:nvSpPr>
          <p:cNvPr id="145" name="Google Shape;145;p8"/>
          <p:cNvSpPr/>
          <p:nvPr/>
        </p:nvSpPr>
        <p:spPr>
          <a:xfrm>
            <a:off x="10271455" y="4974336"/>
            <a:ext cx="1097280" cy="274320"/>
          </a:xfrm>
          <a:prstGeom prst="roundRect">
            <a:avLst>
              <a:gd name="adj" fmla="val 20000"/>
            </a:avLst>
          </a:prstGeom>
          <a:solidFill>
            <a:srgbClr val="1C6FF3"/>
          </a:solidFill>
          <a:ln w="12700" cap="flat" cmpd="sng">
            <a:solidFill>
              <a:srgbClr val="1C6F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6" name="Google Shape;146;p8"/>
          <p:cNvSpPr txBox="1"/>
          <p:nvPr/>
        </p:nvSpPr>
        <p:spPr>
          <a:xfrm>
            <a:off x="10271455" y="4974336"/>
            <a:ext cx="109728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Diperbaiki</a:t>
            </a:r>
            <a:endParaRPr sz="1100" b="0" i="0" u="none" strike="noStrike" cap="none">
              <a:solidFill>
                <a:schemeClr val="dk1"/>
              </a:solidFill>
              <a:latin typeface="Calibri"/>
              <a:ea typeface="Calibri"/>
              <a:cs typeface="Calibri"/>
              <a:sym typeface="Calibri"/>
            </a:endParaRPr>
          </a:p>
        </p:txBody>
      </p:sp>
      <p:sp>
        <p:nvSpPr>
          <p:cNvPr id="147" name="Google Shape;147;p8"/>
          <p:cNvSpPr/>
          <p:nvPr/>
        </p:nvSpPr>
        <p:spPr>
          <a:xfrm>
            <a:off x="594360" y="5431536"/>
            <a:ext cx="11002975" cy="512064"/>
          </a:xfrm>
          <a:prstGeom prst="roundRect">
            <a:avLst>
              <a:gd name="adj" fmla="val 12500"/>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 name="Google Shape;148;p8"/>
          <p:cNvSpPr txBox="1"/>
          <p:nvPr/>
        </p:nvSpPr>
        <p:spPr>
          <a:xfrm>
            <a:off x="822960" y="5431536"/>
            <a:ext cx="329184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1B33"/>
              </a:buClr>
              <a:buSzPts val="1300"/>
              <a:buFont typeface="Calibri"/>
              <a:buNone/>
            </a:pPr>
            <a:r>
              <a:rPr lang="en-US" sz="1300" b="1" i="0" u="none" strike="noStrike" cap="none">
                <a:solidFill>
                  <a:srgbClr val="0F1B33"/>
                </a:solidFill>
                <a:latin typeface="Calibri"/>
                <a:ea typeface="Calibri"/>
                <a:cs typeface="Calibri"/>
                <a:sym typeface="Calibri"/>
              </a:rPr>
              <a:t>Isi wawancara masuk log</a:t>
            </a:r>
            <a:endParaRPr sz="1300" b="0" i="0" u="none" strike="noStrike" cap="none">
              <a:solidFill>
                <a:schemeClr val="dk1"/>
              </a:solidFill>
              <a:latin typeface="Calibri"/>
              <a:ea typeface="Calibri"/>
              <a:cs typeface="Calibri"/>
              <a:sym typeface="Calibri"/>
            </a:endParaRPr>
          </a:p>
        </p:txBody>
      </p:sp>
      <p:sp>
        <p:nvSpPr>
          <p:cNvPr id="149" name="Google Shape;149;p8"/>
          <p:cNvSpPr txBox="1"/>
          <p:nvPr/>
        </p:nvSpPr>
        <p:spPr>
          <a:xfrm>
            <a:off x="4206240" y="5431536"/>
            <a:ext cx="576072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5617A"/>
              </a:buClr>
              <a:buSzPts val="1200"/>
              <a:buFont typeface="Calibri"/>
              <a:buNone/>
            </a:pPr>
            <a:r>
              <a:rPr lang="en-US" sz="1200" b="0" i="0" u="none" strike="noStrike" cap="none">
                <a:solidFill>
                  <a:srgbClr val="55617A"/>
                </a:solidFill>
                <a:latin typeface="Calibri"/>
                <a:ea typeface="Calibri"/>
                <a:cs typeface="Calibri"/>
                <a:sym typeface="Calibri"/>
              </a:rPr>
              <a:t>Ucapan kandidat tertulis di log aplikasi (live_client.rb:286-293).</a:t>
            </a:r>
            <a:endParaRPr sz="1200" b="0" i="0" u="none" strike="noStrike" cap="none">
              <a:solidFill>
                <a:schemeClr val="dk1"/>
              </a:solidFill>
              <a:latin typeface="Calibri"/>
              <a:ea typeface="Calibri"/>
              <a:cs typeface="Calibri"/>
              <a:sym typeface="Calibri"/>
            </a:endParaRPr>
          </a:p>
        </p:txBody>
      </p:sp>
      <p:sp>
        <p:nvSpPr>
          <p:cNvPr id="150" name="Google Shape;150;p8"/>
          <p:cNvSpPr/>
          <p:nvPr/>
        </p:nvSpPr>
        <p:spPr>
          <a:xfrm>
            <a:off x="10271455" y="5550408"/>
            <a:ext cx="1097280" cy="274320"/>
          </a:xfrm>
          <a:prstGeom prst="roundRect">
            <a:avLst>
              <a:gd name="adj" fmla="val 20000"/>
            </a:avLst>
          </a:prstGeom>
          <a:solidFill>
            <a:srgbClr val="B26A00"/>
          </a:solidFill>
          <a:ln w="12700" cap="flat" cmpd="sng">
            <a:solidFill>
              <a:srgbClr val="B26A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 name="Google Shape;151;p8"/>
          <p:cNvSpPr txBox="1"/>
          <p:nvPr/>
        </p:nvSpPr>
        <p:spPr>
          <a:xfrm>
            <a:off x="10271455" y="5550408"/>
            <a:ext cx="109728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Dicatat</a:t>
            </a:r>
            <a:endParaRPr sz="110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C2E6B"/>
        </a:solidFill>
        <a:effectLst/>
      </p:bgPr>
    </p:bg>
    <p:spTree>
      <p:nvGrpSpPr>
        <p:cNvPr id="156" name="Shape 156"/>
        <p:cNvGrpSpPr/>
        <p:nvPr/>
      </p:nvGrpSpPr>
      <p:grpSpPr>
        <a:xfrm>
          <a:off x="0" y="0"/>
          <a:ext cx="0" cy="0"/>
          <a:chOff x="0" y="0"/>
          <a:chExt cx="0" cy="0"/>
        </a:xfrm>
      </p:grpSpPr>
      <p:sp>
        <p:nvSpPr>
          <p:cNvPr id="157" name="Google Shape;157;p9"/>
          <p:cNvSpPr txBox="1"/>
          <p:nvPr/>
        </p:nvSpPr>
        <p:spPr>
          <a:xfrm>
            <a:off x="594360" y="2103120"/>
            <a:ext cx="274320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9CC5FF"/>
              </a:buClr>
              <a:buSzPts val="2000"/>
              <a:buFont typeface="Calibri"/>
              <a:buNone/>
            </a:pPr>
            <a:r>
              <a:rPr lang="en-US" sz="2000" b="1" i="0" u="none" strike="noStrike" cap="none">
                <a:solidFill>
                  <a:srgbClr val="9CC5FF"/>
                </a:solidFill>
                <a:latin typeface="Calibri"/>
                <a:ea typeface="Calibri"/>
                <a:cs typeface="Calibri"/>
                <a:sym typeface="Calibri"/>
              </a:rPr>
              <a:t>02</a:t>
            </a:r>
            <a:endParaRPr sz="2000" b="0" i="0" u="none" strike="noStrike" cap="none">
              <a:solidFill>
                <a:schemeClr val="dk1"/>
              </a:solidFill>
              <a:latin typeface="Calibri"/>
              <a:ea typeface="Calibri"/>
              <a:cs typeface="Calibri"/>
              <a:sym typeface="Calibri"/>
            </a:endParaRPr>
          </a:p>
        </p:txBody>
      </p:sp>
      <p:sp>
        <p:nvSpPr>
          <p:cNvPr id="158" name="Google Shape;158;p9"/>
          <p:cNvSpPr txBox="1"/>
          <p:nvPr/>
        </p:nvSpPr>
        <p:spPr>
          <a:xfrm>
            <a:off x="594360" y="2651760"/>
            <a:ext cx="11002975" cy="914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FFFFFF"/>
              </a:buClr>
              <a:buSzPts val="3800"/>
              <a:buFont typeface="Calibri"/>
              <a:buNone/>
            </a:pPr>
            <a:r>
              <a:rPr lang="en-US" sz="3800" b="1" i="0" u="none" strike="noStrike" cap="none">
                <a:solidFill>
                  <a:srgbClr val="FFFFFF"/>
                </a:solidFill>
                <a:latin typeface="Calibri"/>
                <a:ea typeface="Calibri"/>
                <a:cs typeface="Calibri"/>
                <a:sym typeface="Calibri"/>
              </a:rPr>
              <a:t>Menemukan masalah</a:t>
            </a:r>
            <a:endParaRPr sz="3800" b="0" i="0" u="none" strike="noStrike" cap="none">
              <a:solidFill>
                <a:schemeClr val="dk1"/>
              </a:solidFill>
              <a:latin typeface="Calibri"/>
              <a:ea typeface="Calibri"/>
              <a:cs typeface="Calibri"/>
              <a:sym typeface="Calibri"/>
            </a:endParaRPr>
          </a:p>
        </p:txBody>
      </p:sp>
      <p:sp>
        <p:nvSpPr>
          <p:cNvPr id="159" name="Google Shape;159;p9"/>
          <p:cNvSpPr txBox="1"/>
          <p:nvPr/>
        </p:nvSpPr>
        <p:spPr>
          <a:xfrm>
            <a:off x="594360" y="3611880"/>
            <a:ext cx="9144000" cy="73152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AFCBFF"/>
              </a:buClr>
              <a:buSzPts val="1700"/>
              <a:buFont typeface="Calibri"/>
              <a:buNone/>
            </a:pPr>
            <a:r>
              <a:rPr lang="en-US" sz="1700" b="0" i="0" u="none" strike="noStrike" cap="none">
                <a:solidFill>
                  <a:srgbClr val="AFCBFF"/>
                </a:solidFill>
                <a:latin typeface="Calibri"/>
                <a:ea typeface="Calibri"/>
                <a:cs typeface="Calibri"/>
                <a:sym typeface="Calibri"/>
              </a:rPr>
              <a:t>Saya coba aplikasinya dulu, baru membaca kodenya.</a:t>
            </a:r>
            <a:endParaRPr sz="170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64" name="Shape 164"/>
        <p:cNvGrpSpPr/>
        <p:nvPr/>
      </p:nvGrpSpPr>
      <p:grpSpPr>
        <a:xfrm>
          <a:off x="0" y="0"/>
          <a:ext cx="0" cy="0"/>
          <a:chOff x="0" y="0"/>
          <a:chExt cx="0" cy="0"/>
        </a:xfrm>
      </p:grpSpPr>
      <p:sp>
        <p:nvSpPr>
          <p:cNvPr id="165" name="Google Shape;165;p10"/>
          <p:cNvSpPr txBox="1"/>
          <p:nvPr/>
        </p:nvSpPr>
        <p:spPr>
          <a:xfrm>
            <a:off x="11277295" y="6419088"/>
            <a:ext cx="457200"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A94A8"/>
              </a:buClr>
              <a:buSzPts val="1000"/>
              <a:buFont typeface="Calibri"/>
              <a:buNone/>
            </a:pPr>
            <a:r>
              <a:rPr lang="en-US" sz="1000" b="0" i="0" u="none" strike="noStrike" cap="none">
                <a:solidFill>
                  <a:srgbClr val="8A94A8"/>
                </a:solidFill>
                <a:latin typeface="Calibri"/>
                <a:ea typeface="Calibri"/>
                <a:cs typeface="Calibri"/>
                <a:sym typeface="Calibri"/>
              </a:rPr>
              <a:t>8</a:t>
            </a:r>
            <a:endParaRPr sz="1000" b="0" i="0" u="none" strike="noStrike" cap="none">
              <a:solidFill>
                <a:schemeClr val="dk1"/>
              </a:solidFill>
              <a:latin typeface="Calibri"/>
              <a:ea typeface="Calibri"/>
              <a:cs typeface="Calibri"/>
              <a:sym typeface="Calibri"/>
            </a:endParaRPr>
          </a:p>
        </p:txBody>
      </p:sp>
      <p:sp>
        <p:nvSpPr>
          <p:cNvPr id="166" name="Google Shape;166;p10"/>
          <p:cNvSpPr txBox="1"/>
          <p:nvPr/>
        </p:nvSpPr>
        <p:spPr>
          <a:xfrm>
            <a:off x="594360" y="6419088"/>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A94A8"/>
              </a:buClr>
              <a:buSzPts val="1000"/>
              <a:buFont typeface="Calibri"/>
              <a:buNone/>
            </a:pPr>
            <a:r>
              <a:rPr lang="en-US" sz="1000" b="0" i="0" u="none" strike="noStrike" cap="none">
                <a:solidFill>
                  <a:srgbClr val="8A94A8"/>
                </a:solidFill>
                <a:latin typeface="Calibri"/>
                <a:ea typeface="Calibri"/>
                <a:cs typeface="Calibri"/>
                <a:sym typeface="Calibri"/>
              </a:rPr>
              <a:t>Aulia Afriza  ·  Kandidat Fullstack · Frontend depth</a:t>
            </a:r>
            <a:endParaRPr sz="1000" b="0" i="0" u="none" strike="noStrike" cap="none">
              <a:solidFill>
                <a:schemeClr val="dk1"/>
              </a:solidFill>
              <a:latin typeface="Calibri"/>
              <a:ea typeface="Calibri"/>
              <a:cs typeface="Calibri"/>
              <a:sym typeface="Calibri"/>
            </a:endParaRPr>
          </a:p>
        </p:txBody>
      </p:sp>
      <p:sp>
        <p:nvSpPr>
          <p:cNvPr id="167" name="Google Shape;167;p10"/>
          <p:cNvSpPr txBox="1"/>
          <p:nvPr/>
        </p:nvSpPr>
        <p:spPr>
          <a:xfrm>
            <a:off x="594360" y="438912"/>
            <a:ext cx="11002975"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2800"/>
              <a:buFont typeface="Calibri"/>
              <a:buNone/>
            </a:pPr>
            <a:r>
              <a:rPr lang="en-US" sz="2800" b="1" i="0" u="none" strike="noStrike" cap="none">
                <a:solidFill>
                  <a:srgbClr val="0F1B33"/>
                </a:solidFill>
                <a:latin typeface="Calibri"/>
                <a:ea typeface="Calibri"/>
                <a:cs typeface="Calibri"/>
                <a:sym typeface="Calibri"/>
              </a:rPr>
              <a:t>Cara saya mengerjakannya</a:t>
            </a:r>
            <a:endParaRPr sz="2800" b="0" i="0" u="none" strike="noStrike" cap="none">
              <a:solidFill>
                <a:schemeClr val="dk1"/>
              </a:solidFill>
              <a:latin typeface="Calibri"/>
              <a:ea typeface="Calibri"/>
              <a:cs typeface="Calibri"/>
              <a:sym typeface="Calibri"/>
            </a:endParaRPr>
          </a:p>
        </p:txBody>
      </p:sp>
      <p:sp>
        <p:nvSpPr>
          <p:cNvPr id="168" name="Google Shape;168;p10"/>
          <p:cNvSpPr txBox="1"/>
          <p:nvPr/>
        </p:nvSpPr>
        <p:spPr>
          <a:xfrm>
            <a:off x="594360" y="987552"/>
            <a:ext cx="11002975"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5617A"/>
              </a:buClr>
              <a:buSzPts val="1500"/>
              <a:buFont typeface="Calibri"/>
              <a:buNone/>
            </a:pPr>
            <a:r>
              <a:rPr lang="en-US" sz="1500" b="0" i="0" u="none" strike="noStrike" cap="none">
                <a:solidFill>
                  <a:srgbClr val="55617A"/>
                </a:solidFill>
                <a:latin typeface="Calibri"/>
                <a:ea typeface="Calibri"/>
                <a:cs typeface="Calibri"/>
                <a:sym typeface="Calibri"/>
              </a:rPr>
              <a:t>Coba aplikasinya dulu, baca kodenya, baru memutuskan apa yang dikerjakan.</a:t>
            </a:r>
            <a:endParaRPr sz="1500" b="0" i="0" u="none" strike="noStrike" cap="none">
              <a:solidFill>
                <a:schemeClr val="dk1"/>
              </a:solidFill>
              <a:latin typeface="Calibri"/>
              <a:ea typeface="Calibri"/>
              <a:cs typeface="Calibri"/>
              <a:sym typeface="Calibri"/>
            </a:endParaRPr>
          </a:p>
        </p:txBody>
      </p:sp>
      <p:sp>
        <p:nvSpPr>
          <p:cNvPr id="169" name="Google Shape;169;p10"/>
          <p:cNvSpPr/>
          <p:nvPr/>
        </p:nvSpPr>
        <p:spPr>
          <a:xfrm>
            <a:off x="594360" y="1691640"/>
            <a:ext cx="2011680" cy="2331720"/>
          </a:xfrm>
          <a:prstGeom prst="roundRect">
            <a:avLst>
              <a:gd name="adj" fmla="val 3182"/>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0" name="Google Shape;170;p10"/>
          <p:cNvSpPr/>
          <p:nvPr/>
        </p:nvSpPr>
        <p:spPr>
          <a:xfrm>
            <a:off x="795528" y="1856232"/>
            <a:ext cx="402336" cy="402336"/>
          </a:xfrm>
          <a:prstGeom prst="ellipse">
            <a:avLst/>
          </a:prstGeom>
          <a:solidFill>
            <a:srgbClr val="1C6FF3"/>
          </a:solidFill>
          <a:ln w="12700" cap="flat" cmpd="sng">
            <a:solidFill>
              <a:srgbClr val="1C6F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1" name="Google Shape;171;p10"/>
          <p:cNvSpPr txBox="1"/>
          <p:nvPr/>
        </p:nvSpPr>
        <p:spPr>
          <a:xfrm>
            <a:off x="795528" y="1856232"/>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1</a:t>
            </a:r>
            <a:endParaRPr sz="1400" b="0" i="0" u="none" strike="noStrike" cap="none">
              <a:solidFill>
                <a:schemeClr val="dk1"/>
              </a:solidFill>
              <a:latin typeface="Calibri"/>
              <a:ea typeface="Calibri"/>
              <a:cs typeface="Calibri"/>
              <a:sym typeface="Calibri"/>
            </a:endParaRPr>
          </a:p>
        </p:txBody>
      </p:sp>
      <p:sp>
        <p:nvSpPr>
          <p:cNvPr id="172" name="Google Shape;172;p10"/>
          <p:cNvSpPr txBox="1"/>
          <p:nvPr/>
        </p:nvSpPr>
        <p:spPr>
          <a:xfrm>
            <a:off x="795528" y="2377440"/>
            <a:ext cx="164592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1450"/>
              <a:buFont typeface="Calibri"/>
              <a:buNone/>
            </a:pPr>
            <a:r>
              <a:rPr lang="en-US" sz="1450" b="1" i="0" u="none" strike="noStrike" cap="none">
                <a:solidFill>
                  <a:srgbClr val="0F1B33"/>
                </a:solidFill>
                <a:latin typeface="Calibri"/>
                <a:ea typeface="Calibri"/>
                <a:cs typeface="Calibri"/>
                <a:sym typeface="Calibri"/>
              </a:rPr>
              <a:t>Pakai produknya</a:t>
            </a:r>
            <a:endParaRPr sz="1450" b="0" i="0" u="none" strike="noStrike" cap="none">
              <a:solidFill>
                <a:schemeClr val="dk1"/>
              </a:solidFill>
              <a:latin typeface="Calibri"/>
              <a:ea typeface="Calibri"/>
              <a:cs typeface="Calibri"/>
              <a:sym typeface="Calibri"/>
            </a:endParaRPr>
          </a:p>
        </p:txBody>
      </p:sp>
      <p:sp>
        <p:nvSpPr>
          <p:cNvPr id="173" name="Google Shape;173;p10"/>
          <p:cNvSpPr txBox="1"/>
          <p:nvPr/>
        </p:nvSpPr>
        <p:spPr>
          <a:xfrm>
            <a:off x="795528" y="2743200"/>
            <a:ext cx="1645920" cy="73152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55617A"/>
              </a:buClr>
              <a:buSzPts val="1200"/>
              <a:buFont typeface="Calibri"/>
              <a:buNone/>
            </a:pPr>
            <a:r>
              <a:rPr lang="en-US" sz="1200" b="0" i="0" u="none" strike="noStrike" cap="none">
                <a:solidFill>
                  <a:srgbClr val="55617A"/>
                </a:solidFill>
                <a:latin typeface="Calibri"/>
                <a:ea typeface="Calibri"/>
                <a:cs typeface="Calibri"/>
                <a:sym typeface="Calibri"/>
              </a:rPr>
              <a:t>Saya pakai sebagai assessor dari awal sampai akhir</a:t>
            </a:r>
            <a:endParaRPr sz="1200" b="0" i="0" u="none" strike="noStrike" cap="none">
              <a:solidFill>
                <a:schemeClr val="dk1"/>
              </a:solidFill>
              <a:latin typeface="Calibri"/>
              <a:ea typeface="Calibri"/>
              <a:cs typeface="Calibri"/>
              <a:sym typeface="Calibri"/>
            </a:endParaRPr>
          </a:p>
        </p:txBody>
      </p:sp>
      <p:sp>
        <p:nvSpPr>
          <p:cNvPr id="174" name="Google Shape;174;p10"/>
          <p:cNvSpPr txBox="1"/>
          <p:nvPr/>
        </p:nvSpPr>
        <p:spPr>
          <a:xfrm>
            <a:off x="795528" y="3538728"/>
            <a:ext cx="164592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C2E6B"/>
              </a:buClr>
              <a:buSzPts val="1250"/>
              <a:buFont typeface="Calibri"/>
              <a:buNone/>
            </a:pPr>
            <a:r>
              <a:rPr lang="en-US" sz="1250" b="1" i="0" u="none" strike="noStrike" cap="none">
                <a:solidFill>
                  <a:srgbClr val="0C2E6B"/>
                </a:solidFill>
                <a:latin typeface="Calibri"/>
                <a:ea typeface="Calibri"/>
                <a:cs typeface="Calibri"/>
                <a:sym typeface="Calibri"/>
              </a:rPr>
              <a:t>13 temuan UX</a:t>
            </a:r>
            <a:endParaRPr sz="1250" b="0" i="0" u="none" strike="noStrike" cap="none">
              <a:solidFill>
                <a:schemeClr val="dk1"/>
              </a:solidFill>
              <a:latin typeface="Calibri"/>
              <a:ea typeface="Calibri"/>
              <a:cs typeface="Calibri"/>
              <a:sym typeface="Calibri"/>
            </a:endParaRPr>
          </a:p>
        </p:txBody>
      </p:sp>
      <p:cxnSp>
        <p:nvCxnSpPr>
          <p:cNvPr id="175" name="Google Shape;175;p10"/>
          <p:cNvCxnSpPr/>
          <p:nvPr/>
        </p:nvCxnSpPr>
        <p:spPr>
          <a:xfrm>
            <a:off x="2633472" y="2852928"/>
            <a:ext cx="181280" cy="0"/>
          </a:xfrm>
          <a:prstGeom prst="straightConnector1">
            <a:avLst/>
          </a:prstGeom>
          <a:noFill/>
          <a:ln w="19050" cap="flat" cmpd="sng">
            <a:solidFill>
              <a:srgbClr val="8A94A8"/>
            </a:solidFill>
            <a:prstDash val="solid"/>
            <a:round/>
            <a:headEnd type="none" w="sm" len="sm"/>
            <a:tailEnd type="triangle" w="med" len="med"/>
          </a:ln>
        </p:spPr>
      </p:cxnSp>
      <p:sp>
        <p:nvSpPr>
          <p:cNvPr id="176" name="Google Shape;176;p10"/>
          <p:cNvSpPr/>
          <p:nvPr/>
        </p:nvSpPr>
        <p:spPr>
          <a:xfrm>
            <a:off x="2842184" y="1691640"/>
            <a:ext cx="2011680" cy="2331720"/>
          </a:xfrm>
          <a:prstGeom prst="roundRect">
            <a:avLst>
              <a:gd name="adj" fmla="val 3182"/>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7" name="Google Shape;177;p10"/>
          <p:cNvSpPr/>
          <p:nvPr/>
        </p:nvSpPr>
        <p:spPr>
          <a:xfrm>
            <a:off x="3043352" y="1856232"/>
            <a:ext cx="402336" cy="402336"/>
          </a:xfrm>
          <a:prstGeom prst="ellipse">
            <a:avLst/>
          </a:prstGeom>
          <a:solidFill>
            <a:srgbClr val="1C6FF3"/>
          </a:solidFill>
          <a:ln w="12700" cap="flat" cmpd="sng">
            <a:solidFill>
              <a:srgbClr val="1C6F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8" name="Google Shape;178;p10"/>
          <p:cNvSpPr txBox="1"/>
          <p:nvPr/>
        </p:nvSpPr>
        <p:spPr>
          <a:xfrm>
            <a:off x="3043352" y="1856232"/>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2</a:t>
            </a:r>
            <a:endParaRPr sz="1400" b="0" i="0" u="none" strike="noStrike" cap="none">
              <a:solidFill>
                <a:schemeClr val="dk1"/>
              </a:solidFill>
              <a:latin typeface="Calibri"/>
              <a:ea typeface="Calibri"/>
              <a:cs typeface="Calibri"/>
              <a:sym typeface="Calibri"/>
            </a:endParaRPr>
          </a:p>
        </p:txBody>
      </p:sp>
      <p:sp>
        <p:nvSpPr>
          <p:cNvPr id="179" name="Google Shape;179;p10"/>
          <p:cNvSpPr txBox="1"/>
          <p:nvPr/>
        </p:nvSpPr>
        <p:spPr>
          <a:xfrm>
            <a:off x="3043352" y="2377440"/>
            <a:ext cx="164592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1450"/>
              <a:buFont typeface="Calibri"/>
              <a:buNone/>
            </a:pPr>
            <a:r>
              <a:rPr lang="en-US" sz="1450" b="1" i="0" u="none" strike="noStrike" cap="none">
                <a:solidFill>
                  <a:srgbClr val="0F1B33"/>
                </a:solidFill>
                <a:latin typeface="Calibri"/>
                <a:ea typeface="Calibri"/>
                <a:cs typeface="Calibri"/>
                <a:sym typeface="Calibri"/>
              </a:rPr>
              <a:t>Audit dua service</a:t>
            </a:r>
            <a:endParaRPr sz="1450" b="0" i="0" u="none" strike="noStrike" cap="none">
              <a:solidFill>
                <a:schemeClr val="dk1"/>
              </a:solidFill>
              <a:latin typeface="Calibri"/>
              <a:ea typeface="Calibri"/>
              <a:cs typeface="Calibri"/>
              <a:sym typeface="Calibri"/>
            </a:endParaRPr>
          </a:p>
        </p:txBody>
      </p:sp>
      <p:sp>
        <p:nvSpPr>
          <p:cNvPr id="180" name="Google Shape;180;p10"/>
          <p:cNvSpPr txBox="1"/>
          <p:nvPr/>
        </p:nvSpPr>
        <p:spPr>
          <a:xfrm>
            <a:off x="3043352" y="2743200"/>
            <a:ext cx="1645920" cy="73152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55617A"/>
              </a:buClr>
              <a:buSzPts val="1200"/>
              <a:buFont typeface="Calibri"/>
              <a:buNone/>
            </a:pPr>
            <a:r>
              <a:rPr lang="en-US" sz="1200" b="0" i="0" u="none" strike="noStrike" cap="none">
                <a:solidFill>
                  <a:srgbClr val="55617A"/>
                </a:solidFill>
                <a:latin typeface="Calibri"/>
                <a:ea typeface="Calibri"/>
                <a:cs typeface="Calibri"/>
                <a:sym typeface="Calibri"/>
              </a:rPr>
              <a:t>Backend dan frontend, tiap temuan dicatat file dan barisnya</a:t>
            </a:r>
            <a:endParaRPr sz="1200" b="0" i="0" u="none" strike="noStrike" cap="none">
              <a:solidFill>
                <a:schemeClr val="dk1"/>
              </a:solidFill>
              <a:latin typeface="Calibri"/>
              <a:ea typeface="Calibri"/>
              <a:cs typeface="Calibri"/>
              <a:sym typeface="Calibri"/>
            </a:endParaRPr>
          </a:p>
        </p:txBody>
      </p:sp>
      <p:sp>
        <p:nvSpPr>
          <p:cNvPr id="181" name="Google Shape;181;p10"/>
          <p:cNvSpPr txBox="1"/>
          <p:nvPr/>
        </p:nvSpPr>
        <p:spPr>
          <a:xfrm>
            <a:off x="3043352" y="3538728"/>
            <a:ext cx="164592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C2E6B"/>
              </a:buClr>
              <a:buSzPts val="1250"/>
              <a:buFont typeface="Calibri"/>
              <a:buNone/>
            </a:pPr>
            <a:r>
              <a:rPr lang="en-US" sz="1250" b="1" i="0" u="none" strike="noStrike" cap="none">
                <a:solidFill>
                  <a:srgbClr val="0C2E6B"/>
                </a:solidFill>
                <a:latin typeface="Calibri"/>
                <a:ea typeface="Calibri"/>
                <a:cs typeface="Calibri"/>
                <a:sym typeface="Calibri"/>
              </a:rPr>
              <a:t>77 temuan</a:t>
            </a:r>
            <a:endParaRPr sz="1250" b="0" i="0" u="none" strike="noStrike" cap="none">
              <a:solidFill>
                <a:schemeClr val="dk1"/>
              </a:solidFill>
              <a:latin typeface="Calibri"/>
              <a:ea typeface="Calibri"/>
              <a:cs typeface="Calibri"/>
              <a:sym typeface="Calibri"/>
            </a:endParaRPr>
          </a:p>
        </p:txBody>
      </p:sp>
      <p:cxnSp>
        <p:nvCxnSpPr>
          <p:cNvPr id="182" name="Google Shape;182;p10"/>
          <p:cNvCxnSpPr/>
          <p:nvPr/>
        </p:nvCxnSpPr>
        <p:spPr>
          <a:xfrm>
            <a:off x="4881296" y="2852928"/>
            <a:ext cx="181280" cy="0"/>
          </a:xfrm>
          <a:prstGeom prst="straightConnector1">
            <a:avLst/>
          </a:prstGeom>
          <a:noFill/>
          <a:ln w="19050" cap="flat" cmpd="sng">
            <a:solidFill>
              <a:srgbClr val="8A94A8"/>
            </a:solidFill>
            <a:prstDash val="solid"/>
            <a:round/>
            <a:headEnd type="none" w="sm" len="sm"/>
            <a:tailEnd type="triangle" w="med" len="med"/>
          </a:ln>
        </p:spPr>
      </p:cxnSp>
      <p:sp>
        <p:nvSpPr>
          <p:cNvPr id="183" name="Google Shape;183;p10"/>
          <p:cNvSpPr/>
          <p:nvPr/>
        </p:nvSpPr>
        <p:spPr>
          <a:xfrm>
            <a:off x="5090008" y="1691640"/>
            <a:ext cx="2011680" cy="2331720"/>
          </a:xfrm>
          <a:prstGeom prst="roundRect">
            <a:avLst>
              <a:gd name="adj" fmla="val 3182"/>
            </a:avLst>
          </a:prstGeom>
          <a:solidFill>
            <a:srgbClr val="E7F1FF"/>
          </a:solidFill>
          <a:ln w="9525" cap="flat" cmpd="sng">
            <a:solidFill>
              <a:srgbClr val="1C6F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4" name="Google Shape;184;p10"/>
          <p:cNvSpPr/>
          <p:nvPr/>
        </p:nvSpPr>
        <p:spPr>
          <a:xfrm>
            <a:off x="5291176" y="1856232"/>
            <a:ext cx="402336" cy="402336"/>
          </a:xfrm>
          <a:prstGeom prst="ellipse">
            <a:avLst/>
          </a:prstGeom>
          <a:solidFill>
            <a:srgbClr val="1C6FF3"/>
          </a:solidFill>
          <a:ln w="12700" cap="flat" cmpd="sng">
            <a:solidFill>
              <a:srgbClr val="1C6F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5" name="Google Shape;185;p10"/>
          <p:cNvSpPr txBox="1"/>
          <p:nvPr/>
        </p:nvSpPr>
        <p:spPr>
          <a:xfrm>
            <a:off x="5291176" y="1856232"/>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3</a:t>
            </a:r>
            <a:endParaRPr sz="1400" b="0" i="0" u="none" strike="noStrike" cap="none">
              <a:solidFill>
                <a:schemeClr val="dk1"/>
              </a:solidFill>
              <a:latin typeface="Calibri"/>
              <a:ea typeface="Calibri"/>
              <a:cs typeface="Calibri"/>
              <a:sym typeface="Calibri"/>
            </a:endParaRPr>
          </a:p>
        </p:txBody>
      </p:sp>
      <p:sp>
        <p:nvSpPr>
          <p:cNvPr id="186" name="Google Shape;186;p10"/>
          <p:cNvSpPr txBox="1"/>
          <p:nvPr/>
        </p:nvSpPr>
        <p:spPr>
          <a:xfrm>
            <a:off x="5291176" y="2377440"/>
            <a:ext cx="164592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1450"/>
              <a:buFont typeface="Calibri"/>
              <a:buNone/>
            </a:pPr>
            <a:r>
              <a:rPr lang="en-US" sz="1450" b="1" i="0" u="none" strike="noStrike" cap="none">
                <a:solidFill>
                  <a:srgbClr val="0F1B33"/>
                </a:solidFill>
                <a:latin typeface="Calibri"/>
                <a:ea typeface="Calibri"/>
                <a:cs typeface="Calibri"/>
                <a:sym typeface="Calibri"/>
              </a:rPr>
              <a:t>Pilih satu alur</a:t>
            </a:r>
            <a:endParaRPr sz="1450" b="0" i="0" u="none" strike="noStrike" cap="none">
              <a:solidFill>
                <a:schemeClr val="dk1"/>
              </a:solidFill>
              <a:latin typeface="Calibri"/>
              <a:ea typeface="Calibri"/>
              <a:cs typeface="Calibri"/>
              <a:sym typeface="Calibri"/>
            </a:endParaRPr>
          </a:p>
        </p:txBody>
      </p:sp>
      <p:sp>
        <p:nvSpPr>
          <p:cNvPr id="187" name="Google Shape;187;p10"/>
          <p:cNvSpPr txBox="1"/>
          <p:nvPr/>
        </p:nvSpPr>
        <p:spPr>
          <a:xfrm>
            <a:off x="5291176" y="2743200"/>
            <a:ext cx="1645920" cy="73152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55617A"/>
              </a:buClr>
              <a:buSzPts val="1200"/>
              <a:buFont typeface="Calibri"/>
              <a:buNone/>
            </a:pPr>
            <a:r>
              <a:rPr lang="en-US" sz="1200" b="0" i="0" u="none" strike="noStrike" cap="none">
                <a:solidFill>
                  <a:srgbClr val="55617A"/>
                </a:solidFill>
                <a:latin typeface="Calibri"/>
                <a:ea typeface="Calibri"/>
                <a:cs typeface="Calibri"/>
                <a:sym typeface="Calibri"/>
              </a:rPr>
              <a:t>Satu alur dikerjakan sampai tuntas</a:t>
            </a:r>
            <a:endParaRPr sz="1200" b="0" i="0" u="none" strike="noStrike" cap="none">
              <a:solidFill>
                <a:schemeClr val="dk1"/>
              </a:solidFill>
              <a:latin typeface="Calibri"/>
              <a:ea typeface="Calibri"/>
              <a:cs typeface="Calibri"/>
              <a:sym typeface="Calibri"/>
            </a:endParaRPr>
          </a:p>
        </p:txBody>
      </p:sp>
      <p:sp>
        <p:nvSpPr>
          <p:cNvPr id="188" name="Google Shape;188;p10"/>
          <p:cNvSpPr txBox="1"/>
          <p:nvPr/>
        </p:nvSpPr>
        <p:spPr>
          <a:xfrm>
            <a:off x="5291176" y="3538728"/>
            <a:ext cx="164592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C2E6B"/>
              </a:buClr>
              <a:buSzPts val="1250"/>
              <a:buFont typeface="Calibri"/>
              <a:buNone/>
            </a:pPr>
            <a:r>
              <a:rPr lang="en-US" sz="1250" b="1" i="0" u="none" strike="noStrike" cap="none">
                <a:solidFill>
                  <a:srgbClr val="0C2E6B"/>
                </a:solidFill>
                <a:latin typeface="Calibri"/>
                <a:ea typeface="Calibri"/>
                <a:cs typeface="Calibri"/>
                <a:sym typeface="Calibri"/>
              </a:rPr>
              <a:t>Portfolio → Fit/Gap</a:t>
            </a:r>
            <a:endParaRPr sz="1250" b="0" i="0" u="none" strike="noStrike" cap="none">
              <a:solidFill>
                <a:schemeClr val="dk1"/>
              </a:solidFill>
              <a:latin typeface="Calibri"/>
              <a:ea typeface="Calibri"/>
              <a:cs typeface="Calibri"/>
              <a:sym typeface="Calibri"/>
            </a:endParaRPr>
          </a:p>
        </p:txBody>
      </p:sp>
      <p:cxnSp>
        <p:nvCxnSpPr>
          <p:cNvPr id="189" name="Google Shape;189;p10"/>
          <p:cNvCxnSpPr/>
          <p:nvPr/>
        </p:nvCxnSpPr>
        <p:spPr>
          <a:xfrm>
            <a:off x="7129120" y="2852928"/>
            <a:ext cx="181280" cy="0"/>
          </a:xfrm>
          <a:prstGeom prst="straightConnector1">
            <a:avLst/>
          </a:prstGeom>
          <a:noFill/>
          <a:ln w="19050" cap="flat" cmpd="sng">
            <a:solidFill>
              <a:srgbClr val="8A94A8"/>
            </a:solidFill>
            <a:prstDash val="solid"/>
            <a:round/>
            <a:headEnd type="none" w="sm" len="sm"/>
            <a:tailEnd type="triangle" w="med" len="med"/>
          </a:ln>
        </p:spPr>
      </p:cxnSp>
      <p:sp>
        <p:nvSpPr>
          <p:cNvPr id="190" name="Google Shape;190;p10"/>
          <p:cNvSpPr/>
          <p:nvPr/>
        </p:nvSpPr>
        <p:spPr>
          <a:xfrm>
            <a:off x="7337831" y="1691640"/>
            <a:ext cx="2011680" cy="2331720"/>
          </a:xfrm>
          <a:prstGeom prst="roundRect">
            <a:avLst>
              <a:gd name="adj" fmla="val 3182"/>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1" name="Google Shape;191;p10"/>
          <p:cNvSpPr/>
          <p:nvPr/>
        </p:nvSpPr>
        <p:spPr>
          <a:xfrm>
            <a:off x="7538999" y="1856232"/>
            <a:ext cx="402336" cy="402336"/>
          </a:xfrm>
          <a:prstGeom prst="ellipse">
            <a:avLst/>
          </a:prstGeom>
          <a:solidFill>
            <a:srgbClr val="1C6FF3"/>
          </a:solidFill>
          <a:ln w="12700" cap="flat" cmpd="sng">
            <a:solidFill>
              <a:srgbClr val="1C6F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2" name="Google Shape;192;p10"/>
          <p:cNvSpPr txBox="1"/>
          <p:nvPr/>
        </p:nvSpPr>
        <p:spPr>
          <a:xfrm>
            <a:off x="7538999" y="1856232"/>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4</a:t>
            </a:r>
            <a:endParaRPr sz="1400" b="0" i="0" u="none" strike="noStrike" cap="none">
              <a:solidFill>
                <a:schemeClr val="dk1"/>
              </a:solidFill>
              <a:latin typeface="Calibri"/>
              <a:ea typeface="Calibri"/>
              <a:cs typeface="Calibri"/>
              <a:sym typeface="Calibri"/>
            </a:endParaRPr>
          </a:p>
        </p:txBody>
      </p:sp>
      <p:sp>
        <p:nvSpPr>
          <p:cNvPr id="193" name="Google Shape;193;p10"/>
          <p:cNvSpPr txBox="1"/>
          <p:nvPr/>
        </p:nvSpPr>
        <p:spPr>
          <a:xfrm>
            <a:off x="7538999" y="2377440"/>
            <a:ext cx="164592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1450"/>
              <a:buFont typeface="Calibri"/>
              <a:buNone/>
            </a:pPr>
            <a:r>
              <a:rPr lang="en-US" sz="1450" b="1" i="0" u="none" strike="noStrike" cap="none">
                <a:solidFill>
                  <a:srgbClr val="0F1B33"/>
                </a:solidFill>
                <a:latin typeface="Calibri"/>
                <a:ea typeface="Calibri"/>
                <a:cs typeface="Calibri"/>
                <a:sym typeface="Calibri"/>
              </a:rPr>
              <a:t>Tulis test dulu</a:t>
            </a:r>
            <a:endParaRPr sz="1450" b="0" i="0" u="none" strike="noStrike" cap="none">
              <a:solidFill>
                <a:schemeClr val="dk1"/>
              </a:solidFill>
              <a:latin typeface="Calibri"/>
              <a:ea typeface="Calibri"/>
              <a:cs typeface="Calibri"/>
              <a:sym typeface="Calibri"/>
            </a:endParaRPr>
          </a:p>
        </p:txBody>
      </p:sp>
      <p:sp>
        <p:nvSpPr>
          <p:cNvPr id="194" name="Google Shape;194;p10"/>
          <p:cNvSpPr txBox="1"/>
          <p:nvPr/>
        </p:nvSpPr>
        <p:spPr>
          <a:xfrm>
            <a:off x="7538999" y="2743200"/>
            <a:ext cx="1645920" cy="73152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55617A"/>
              </a:buClr>
              <a:buSzPts val="1200"/>
              <a:buFont typeface="Calibri"/>
              <a:buNone/>
            </a:pPr>
            <a:r>
              <a:rPr lang="en-US" sz="1200" b="0" i="0" u="none" strike="noStrike" cap="none">
                <a:solidFill>
                  <a:srgbClr val="55617A"/>
                </a:solidFill>
                <a:latin typeface="Calibri"/>
                <a:ea typeface="Calibri"/>
                <a:cs typeface="Calibri"/>
                <a:sym typeface="Calibri"/>
              </a:rPr>
              <a:t>Dijalankan ke kode lama, dan memang gagal</a:t>
            </a:r>
            <a:endParaRPr sz="1200" b="0" i="0" u="none" strike="noStrike" cap="none">
              <a:solidFill>
                <a:schemeClr val="dk1"/>
              </a:solidFill>
              <a:latin typeface="Calibri"/>
              <a:ea typeface="Calibri"/>
              <a:cs typeface="Calibri"/>
              <a:sym typeface="Calibri"/>
            </a:endParaRPr>
          </a:p>
        </p:txBody>
      </p:sp>
      <p:sp>
        <p:nvSpPr>
          <p:cNvPr id="195" name="Google Shape;195;p10"/>
          <p:cNvSpPr txBox="1"/>
          <p:nvPr/>
        </p:nvSpPr>
        <p:spPr>
          <a:xfrm>
            <a:off x="7538999" y="3538728"/>
            <a:ext cx="164592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C2E6B"/>
              </a:buClr>
              <a:buSzPts val="1250"/>
              <a:buFont typeface="Calibri"/>
              <a:buNone/>
            </a:pPr>
            <a:r>
              <a:rPr lang="en-US" sz="1250" b="1" i="0" u="none" strike="noStrike" cap="none">
                <a:solidFill>
                  <a:srgbClr val="0C2E6B"/>
                </a:solidFill>
                <a:latin typeface="Calibri"/>
                <a:ea typeface="Calibri"/>
                <a:cs typeface="Calibri"/>
                <a:sym typeface="Calibri"/>
              </a:rPr>
              <a:t>8 gagal / 1 lulus</a:t>
            </a:r>
            <a:endParaRPr sz="1250" b="0" i="0" u="none" strike="noStrike" cap="none">
              <a:solidFill>
                <a:schemeClr val="dk1"/>
              </a:solidFill>
              <a:latin typeface="Calibri"/>
              <a:ea typeface="Calibri"/>
              <a:cs typeface="Calibri"/>
              <a:sym typeface="Calibri"/>
            </a:endParaRPr>
          </a:p>
        </p:txBody>
      </p:sp>
      <p:cxnSp>
        <p:nvCxnSpPr>
          <p:cNvPr id="196" name="Google Shape;196;p10"/>
          <p:cNvCxnSpPr/>
          <p:nvPr/>
        </p:nvCxnSpPr>
        <p:spPr>
          <a:xfrm>
            <a:off x="9376943" y="2852928"/>
            <a:ext cx="181280" cy="0"/>
          </a:xfrm>
          <a:prstGeom prst="straightConnector1">
            <a:avLst/>
          </a:prstGeom>
          <a:noFill/>
          <a:ln w="19050" cap="flat" cmpd="sng">
            <a:solidFill>
              <a:srgbClr val="8A94A8"/>
            </a:solidFill>
            <a:prstDash val="solid"/>
            <a:round/>
            <a:headEnd type="none" w="sm" len="sm"/>
            <a:tailEnd type="triangle" w="med" len="med"/>
          </a:ln>
        </p:spPr>
      </p:cxnSp>
      <p:sp>
        <p:nvSpPr>
          <p:cNvPr id="197" name="Google Shape;197;p10"/>
          <p:cNvSpPr/>
          <p:nvPr/>
        </p:nvSpPr>
        <p:spPr>
          <a:xfrm>
            <a:off x="9585655" y="1691640"/>
            <a:ext cx="2011680" cy="2331720"/>
          </a:xfrm>
          <a:prstGeom prst="roundRect">
            <a:avLst>
              <a:gd name="adj" fmla="val 3182"/>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8" name="Google Shape;198;p10"/>
          <p:cNvSpPr/>
          <p:nvPr/>
        </p:nvSpPr>
        <p:spPr>
          <a:xfrm>
            <a:off x="9786823" y="1856232"/>
            <a:ext cx="402336" cy="402336"/>
          </a:xfrm>
          <a:prstGeom prst="ellipse">
            <a:avLst/>
          </a:prstGeom>
          <a:solidFill>
            <a:srgbClr val="1C6FF3"/>
          </a:solidFill>
          <a:ln w="12700" cap="flat" cmpd="sng">
            <a:solidFill>
              <a:srgbClr val="1C6F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9" name="Google Shape;199;p10"/>
          <p:cNvSpPr txBox="1"/>
          <p:nvPr/>
        </p:nvSpPr>
        <p:spPr>
          <a:xfrm>
            <a:off x="9786823" y="1856232"/>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5</a:t>
            </a:r>
            <a:endParaRPr sz="1400" b="0" i="0" u="none" strike="noStrike" cap="none">
              <a:solidFill>
                <a:schemeClr val="dk1"/>
              </a:solidFill>
              <a:latin typeface="Calibri"/>
              <a:ea typeface="Calibri"/>
              <a:cs typeface="Calibri"/>
              <a:sym typeface="Calibri"/>
            </a:endParaRPr>
          </a:p>
        </p:txBody>
      </p:sp>
      <p:sp>
        <p:nvSpPr>
          <p:cNvPr id="200" name="Google Shape;200;p10"/>
          <p:cNvSpPr txBox="1"/>
          <p:nvPr/>
        </p:nvSpPr>
        <p:spPr>
          <a:xfrm>
            <a:off x="9786823" y="2377440"/>
            <a:ext cx="164592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1450"/>
              <a:buFont typeface="Calibri"/>
              <a:buNone/>
            </a:pPr>
            <a:r>
              <a:rPr lang="en-US" sz="1450" b="1" i="0" u="none" strike="noStrike" cap="none">
                <a:solidFill>
                  <a:srgbClr val="0F1B33"/>
                </a:solidFill>
                <a:latin typeface="Calibri"/>
                <a:ea typeface="Calibri"/>
                <a:cs typeface="Calibri"/>
                <a:sym typeface="Calibri"/>
              </a:rPr>
              <a:t>Implementasi</a:t>
            </a:r>
            <a:endParaRPr sz="1450" b="0" i="0" u="none" strike="noStrike" cap="none">
              <a:solidFill>
                <a:schemeClr val="dk1"/>
              </a:solidFill>
              <a:latin typeface="Calibri"/>
              <a:ea typeface="Calibri"/>
              <a:cs typeface="Calibri"/>
              <a:sym typeface="Calibri"/>
            </a:endParaRPr>
          </a:p>
        </p:txBody>
      </p:sp>
      <p:sp>
        <p:nvSpPr>
          <p:cNvPr id="201" name="Google Shape;201;p10"/>
          <p:cNvSpPr txBox="1"/>
          <p:nvPr/>
        </p:nvSpPr>
        <p:spPr>
          <a:xfrm>
            <a:off x="9786823" y="2743200"/>
            <a:ext cx="1645920" cy="731520"/>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55617A"/>
              </a:buClr>
              <a:buSzPts val="1200"/>
              <a:buFont typeface="Calibri"/>
              <a:buNone/>
            </a:pPr>
            <a:r>
              <a:rPr lang="en-US" sz="1200" b="0" i="0" u="none" strike="noStrike" cap="none">
                <a:solidFill>
                  <a:srgbClr val="55617A"/>
                </a:solidFill>
                <a:latin typeface="Calibri"/>
                <a:ea typeface="Calibri"/>
                <a:cs typeface="Calibri"/>
                <a:sym typeface="Calibri"/>
              </a:rPr>
              <a:t>Lalu kodenya sengaja dirusak untuk menguji test</a:t>
            </a:r>
            <a:endParaRPr sz="1200" b="0" i="0" u="none" strike="noStrike" cap="none">
              <a:solidFill>
                <a:schemeClr val="dk1"/>
              </a:solidFill>
              <a:latin typeface="Calibri"/>
              <a:ea typeface="Calibri"/>
              <a:cs typeface="Calibri"/>
              <a:sym typeface="Calibri"/>
            </a:endParaRPr>
          </a:p>
        </p:txBody>
      </p:sp>
      <p:sp>
        <p:nvSpPr>
          <p:cNvPr id="202" name="Google Shape;202;p10"/>
          <p:cNvSpPr txBox="1"/>
          <p:nvPr/>
        </p:nvSpPr>
        <p:spPr>
          <a:xfrm>
            <a:off x="9786823" y="3538728"/>
            <a:ext cx="164592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C2E6B"/>
              </a:buClr>
              <a:buSzPts val="1250"/>
              <a:buFont typeface="Calibri"/>
              <a:buNone/>
            </a:pPr>
            <a:r>
              <a:rPr lang="en-US" sz="1250" b="1" i="0" u="none" strike="noStrike" cap="none">
                <a:solidFill>
                  <a:srgbClr val="0C2E6B"/>
                </a:solidFill>
                <a:latin typeface="Calibri"/>
                <a:ea typeface="Calibri"/>
                <a:cs typeface="Calibri"/>
                <a:sym typeface="Calibri"/>
              </a:rPr>
              <a:t>3 kali sengaja dirusak</a:t>
            </a:r>
            <a:endParaRPr sz="1250" b="0" i="0" u="none" strike="noStrike" cap="none">
              <a:solidFill>
                <a:schemeClr val="dk1"/>
              </a:solidFill>
              <a:latin typeface="Calibri"/>
              <a:ea typeface="Calibri"/>
              <a:cs typeface="Calibri"/>
              <a:sym typeface="Calibri"/>
            </a:endParaRPr>
          </a:p>
        </p:txBody>
      </p:sp>
      <p:sp>
        <p:nvSpPr>
          <p:cNvPr id="203" name="Google Shape;203;p10"/>
          <p:cNvSpPr/>
          <p:nvPr/>
        </p:nvSpPr>
        <p:spPr>
          <a:xfrm>
            <a:off x="594360" y="4343400"/>
            <a:ext cx="11002975" cy="1554480"/>
          </a:xfrm>
          <a:prstGeom prst="roundRect">
            <a:avLst>
              <a:gd name="adj" fmla="val 4118"/>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4" name="Google Shape;204;p10"/>
          <p:cNvSpPr txBox="1"/>
          <p:nvPr/>
        </p:nvSpPr>
        <p:spPr>
          <a:xfrm>
            <a:off x="868680" y="4507992"/>
            <a:ext cx="10454335"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1450"/>
              <a:buFont typeface="Calibri"/>
              <a:buNone/>
            </a:pPr>
            <a:r>
              <a:rPr lang="en-US" sz="1450" b="1" i="0" u="none" strike="noStrike" cap="none">
                <a:solidFill>
                  <a:srgbClr val="0F1B33"/>
                </a:solidFill>
                <a:latin typeface="Calibri"/>
                <a:ea typeface="Calibri"/>
                <a:cs typeface="Calibri"/>
                <a:sym typeface="Calibri"/>
              </a:rPr>
              <a:t>Kenapa hanya satu alur</a:t>
            </a:r>
            <a:endParaRPr sz="1450" b="0" i="0" u="none" strike="noStrike" cap="none">
              <a:solidFill>
                <a:schemeClr val="dk1"/>
              </a:solidFill>
              <a:latin typeface="Calibri"/>
              <a:ea typeface="Calibri"/>
              <a:cs typeface="Calibri"/>
              <a:sym typeface="Calibri"/>
            </a:endParaRPr>
          </a:p>
        </p:txBody>
      </p:sp>
      <p:sp>
        <p:nvSpPr>
          <p:cNvPr id="205" name="Google Shape;205;p10"/>
          <p:cNvSpPr txBox="1"/>
          <p:nvPr/>
        </p:nvSpPr>
        <p:spPr>
          <a:xfrm>
            <a:off x="868680" y="4846320"/>
            <a:ext cx="10454335" cy="960120"/>
          </a:xfrm>
          <a:prstGeom prst="rect">
            <a:avLst/>
          </a:prstGeom>
          <a:noFill/>
          <a:ln>
            <a:noFill/>
          </a:ln>
        </p:spPr>
        <p:txBody>
          <a:bodyPr spcFirstLastPara="1" wrap="square" lIns="0" tIns="0" rIns="0" bIns="0" anchor="t" anchorCtr="0">
            <a:noAutofit/>
          </a:bodyPr>
          <a:lstStyle/>
          <a:p>
            <a:pPr marL="0" marR="0" lvl="0" indent="0" algn="l" rtl="0">
              <a:lnSpc>
                <a:spcPct val="138000"/>
              </a:lnSpc>
              <a:spcBef>
                <a:spcPts val="0"/>
              </a:spcBef>
              <a:spcAft>
                <a:spcPts val="0"/>
              </a:spcAft>
              <a:buClr>
                <a:srgbClr val="55617A"/>
              </a:buClr>
              <a:buSzPts val="1300"/>
              <a:buFont typeface="Calibri"/>
              <a:buNone/>
            </a:pPr>
            <a:r>
              <a:rPr lang="en-US" sz="1300" b="0" i="0" u="none" strike="noStrike" cap="none">
                <a:solidFill>
                  <a:srgbClr val="55617A"/>
                </a:solidFill>
                <a:latin typeface="Calibri"/>
                <a:ea typeface="Calibri"/>
                <a:cs typeface="Calibri"/>
                <a:sym typeface="Calibri"/>
              </a:rPr>
              <a:t>77 temuan tidak mungkin selesai semua dalam satu case study. Kalau saya tambal sedikit-sedikit di banyak tempat, tidak ada satu alur pun yang benar-benar beres. Jadi saya pilih alur yang paling dekat dengan keputusan hiring, lalu saya kerjakan sampai ada test dan migrasi yang aman. Temuan lainnya saya catat supaya bisa dikerjakan nanti.</a:t>
            </a:r>
            <a:endParaRPr sz="13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210" name="Shape 210"/>
        <p:cNvGrpSpPr/>
        <p:nvPr/>
      </p:nvGrpSpPr>
      <p:grpSpPr>
        <a:xfrm>
          <a:off x="0" y="0"/>
          <a:ext cx="0" cy="0"/>
          <a:chOff x="0" y="0"/>
          <a:chExt cx="0" cy="0"/>
        </a:xfrm>
      </p:grpSpPr>
      <p:sp>
        <p:nvSpPr>
          <p:cNvPr id="211" name="Google Shape;211;p11"/>
          <p:cNvSpPr txBox="1"/>
          <p:nvPr/>
        </p:nvSpPr>
        <p:spPr>
          <a:xfrm>
            <a:off x="11277295" y="6419088"/>
            <a:ext cx="457200"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A94A8"/>
              </a:buClr>
              <a:buSzPts val="1000"/>
              <a:buFont typeface="Calibri"/>
              <a:buNone/>
            </a:pPr>
            <a:r>
              <a:rPr lang="en-US" sz="1000" b="0" i="0" u="none" strike="noStrike" cap="none">
                <a:solidFill>
                  <a:srgbClr val="8A94A8"/>
                </a:solidFill>
                <a:latin typeface="Calibri"/>
                <a:ea typeface="Calibri"/>
                <a:cs typeface="Calibri"/>
                <a:sym typeface="Calibri"/>
              </a:rPr>
              <a:t>9</a:t>
            </a:r>
            <a:endParaRPr sz="1000" b="0" i="0" u="none" strike="noStrike" cap="none">
              <a:solidFill>
                <a:schemeClr val="dk1"/>
              </a:solidFill>
              <a:latin typeface="Calibri"/>
              <a:ea typeface="Calibri"/>
              <a:cs typeface="Calibri"/>
              <a:sym typeface="Calibri"/>
            </a:endParaRPr>
          </a:p>
        </p:txBody>
      </p:sp>
      <p:sp>
        <p:nvSpPr>
          <p:cNvPr id="212" name="Google Shape;212;p11"/>
          <p:cNvSpPr txBox="1"/>
          <p:nvPr/>
        </p:nvSpPr>
        <p:spPr>
          <a:xfrm>
            <a:off x="594360" y="6419088"/>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A94A8"/>
              </a:buClr>
              <a:buSzPts val="1000"/>
              <a:buFont typeface="Calibri"/>
              <a:buNone/>
            </a:pPr>
            <a:r>
              <a:rPr lang="en-US" sz="1000" b="0" i="0" u="none" strike="noStrike" cap="none">
                <a:solidFill>
                  <a:srgbClr val="8A94A8"/>
                </a:solidFill>
                <a:latin typeface="Calibri"/>
                <a:ea typeface="Calibri"/>
                <a:cs typeface="Calibri"/>
                <a:sym typeface="Calibri"/>
              </a:rPr>
              <a:t>Aulia Afriza  ·  Kandidat Fullstack · Frontend depth</a:t>
            </a:r>
            <a:endParaRPr sz="1000" b="0" i="0" u="none" strike="noStrike" cap="none">
              <a:solidFill>
                <a:schemeClr val="dk1"/>
              </a:solidFill>
              <a:latin typeface="Calibri"/>
              <a:ea typeface="Calibri"/>
              <a:cs typeface="Calibri"/>
              <a:sym typeface="Calibri"/>
            </a:endParaRPr>
          </a:p>
        </p:txBody>
      </p:sp>
      <p:sp>
        <p:nvSpPr>
          <p:cNvPr id="213" name="Google Shape;213;p11"/>
          <p:cNvSpPr txBox="1"/>
          <p:nvPr/>
        </p:nvSpPr>
        <p:spPr>
          <a:xfrm>
            <a:off x="594360" y="438912"/>
            <a:ext cx="11002975"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2800"/>
              <a:buFont typeface="Calibri"/>
              <a:buNone/>
            </a:pPr>
            <a:r>
              <a:rPr lang="en-US" sz="2800" b="1" i="0" u="none" strike="noStrike" cap="none">
                <a:solidFill>
                  <a:srgbClr val="0F1B33"/>
                </a:solidFill>
                <a:latin typeface="Calibri"/>
                <a:ea typeface="Calibri"/>
                <a:cs typeface="Calibri"/>
                <a:sym typeface="Calibri"/>
              </a:rPr>
              <a:t>13 hal yang saya temukan saat mencoba aplikasinya</a:t>
            </a:r>
            <a:endParaRPr sz="2800" b="0" i="0" u="none" strike="noStrike" cap="none">
              <a:solidFill>
                <a:schemeClr val="dk1"/>
              </a:solidFill>
              <a:latin typeface="Calibri"/>
              <a:ea typeface="Calibri"/>
              <a:cs typeface="Calibri"/>
              <a:sym typeface="Calibri"/>
            </a:endParaRPr>
          </a:p>
        </p:txBody>
      </p:sp>
      <p:sp>
        <p:nvSpPr>
          <p:cNvPr id="214" name="Google Shape;214;p11"/>
          <p:cNvSpPr txBox="1"/>
          <p:nvPr/>
        </p:nvSpPr>
        <p:spPr>
          <a:xfrm>
            <a:off x="594360" y="987552"/>
            <a:ext cx="11002975"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5617A"/>
              </a:buClr>
              <a:buSzPts val="1500"/>
              <a:buFont typeface="Calibri"/>
              <a:buNone/>
            </a:pPr>
            <a:r>
              <a:rPr lang="en-US" sz="1500" b="0" i="0" u="none" strike="noStrike" cap="none">
                <a:solidFill>
                  <a:srgbClr val="55617A"/>
                </a:solidFill>
                <a:latin typeface="Calibri"/>
                <a:ea typeface="Calibri"/>
                <a:cs typeface="Calibri"/>
                <a:sym typeface="Calibri"/>
              </a:rPr>
              <a:t>§2.7 · Prioritas di sini diukur dari seberapa mengganggu untuk orang yang memakai aplikasinya.</a:t>
            </a:r>
            <a:endParaRPr sz="1500" b="0" i="0" u="none" strike="noStrike" cap="none">
              <a:solidFill>
                <a:schemeClr val="dk1"/>
              </a:solidFill>
              <a:latin typeface="Calibri"/>
              <a:ea typeface="Calibri"/>
              <a:cs typeface="Calibri"/>
              <a:sym typeface="Calibri"/>
            </a:endParaRPr>
          </a:p>
        </p:txBody>
      </p:sp>
      <p:sp>
        <p:nvSpPr>
          <p:cNvPr id="215" name="Google Shape;215;p11"/>
          <p:cNvSpPr/>
          <p:nvPr/>
        </p:nvSpPr>
        <p:spPr>
          <a:xfrm>
            <a:off x="594360" y="1508760"/>
            <a:ext cx="3611880" cy="512064"/>
          </a:xfrm>
          <a:prstGeom prst="roundRect">
            <a:avLst>
              <a:gd name="adj" fmla="val 12500"/>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6" name="Google Shape;216;p11"/>
          <p:cNvSpPr/>
          <p:nvPr/>
        </p:nvSpPr>
        <p:spPr>
          <a:xfrm>
            <a:off x="731520" y="1627632"/>
            <a:ext cx="457200" cy="274320"/>
          </a:xfrm>
          <a:prstGeom prst="roundRect">
            <a:avLst>
              <a:gd name="adj" fmla="val 20000"/>
            </a:avLst>
          </a:prstGeom>
          <a:solidFill>
            <a:srgbClr val="D14343"/>
          </a:solidFill>
          <a:ln w="12700" cap="flat" cmpd="sng">
            <a:solidFill>
              <a:srgbClr val="D1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7" name="Google Shape;217;p11"/>
          <p:cNvSpPr txBox="1"/>
          <p:nvPr/>
        </p:nvSpPr>
        <p:spPr>
          <a:xfrm>
            <a:off x="731520" y="1627632"/>
            <a:ext cx="45720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P0</a:t>
            </a:r>
            <a:endParaRPr sz="1100" b="0" i="0" u="none" strike="noStrike" cap="none">
              <a:solidFill>
                <a:schemeClr val="dk1"/>
              </a:solidFill>
              <a:latin typeface="Calibri"/>
              <a:ea typeface="Calibri"/>
              <a:cs typeface="Calibri"/>
              <a:sym typeface="Calibri"/>
            </a:endParaRPr>
          </a:p>
        </p:txBody>
      </p:sp>
      <p:sp>
        <p:nvSpPr>
          <p:cNvPr id="218" name="Google Shape;218;p11"/>
          <p:cNvSpPr txBox="1"/>
          <p:nvPr/>
        </p:nvSpPr>
        <p:spPr>
          <a:xfrm>
            <a:off x="1307592" y="1508760"/>
            <a:ext cx="278892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1B33"/>
              </a:buClr>
              <a:buSzPts val="1150"/>
              <a:buFont typeface="Calibri"/>
              <a:buNone/>
            </a:pPr>
            <a:r>
              <a:rPr lang="en-US" sz="1150" b="0" i="0" u="none" strike="noStrike" cap="none">
                <a:solidFill>
                  <a:srgbClr val="0F1B33"/>
                </a:solidFill>
                <a:latin typeface="Calibri"/>
                <a:ea typeface="Calibri"/>
                <a:cs typeface="Calibri"/>
                <a:sym typeface="Calibri"/>
              </a:rPr>
              <a:t>Tidak ada tanda wajib di “Skills to assess”</a:t>
            </a:r>
            <a:endParaRPr sz="1150" b="0" i="0" u="none" strike="noStrike" cap="none">
              <a:solidFill>
                <a:schemeClr val="dk1"/>
              </a:solidFill>
              <a:latin typeface="Calibri"/>
              <a:ea typeface="Calibri"/>
              <a:cs typeface="Calibri"/>
              <a:sym typeface="Calibri"/>
            </a:endParaRPr>
          </a:p>
        </p:txBody>
      </p:sp>
      <p:sp>
        <p:nvSpPr>
          <p:cNvPr id="219" name="Google Shape;219;p11"/>
          <p:cNvSpPr/>
          <p:nvPr/>
        </p:nvSpPr>
        <p:spPr>
          <a:xfrm>
            <a:off x="594360" y="2112264"/>
            <a:ext cx="3611880" cy="512064"/>
          </a:xfrm>
          <a:prstGeom prst="roundRect">
            <a:avLst>
              <a:gd name="adj" fmla="val 12500"/>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0" name="Google Shape;220;p11"/>
          <p:cNvSpPr/>
          <p:nvPr/>
        </p:nvSpPr>
        <p:spPr>
          <a:xfrm>
            <a:off x="731520" y="2231136"/>
            <a:ext cx="457200" cy="274320"/>
          </a:xfrm>
          <a:prstGeom prst="roundRect">
            <a:avLst>
              <a:gd name="adj" fmla="val 20000"/>
            </a:avLst>
          </a:prstGeom>
          <a:solidFill>
            <a:srgbClr val="D14343"/>
          </a:solidFill>
          <a:ln w="12700" cap="flat" cmpd="sng">
            <a:solidFill>
              <a:srgbClr val="D1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1" name="Google Shape;221;p11"/>
          <p:cNvSpPr txBox="1"/>
          <p:nvPr/>
        </p:nvSpPr>
        <p:spPr>
          <a:xfrm>
            <a:off x="731520" y="2231136"/>
            <a:ext cx="45720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P0</a:t>
            </a:r>
            <a:endParaRPr sz="1100" b="0" i="0" u="none" strike="noStrike" cap="none">
              <a:solidFill>
                <a:schemeClr val="dk1"/>
              </a:solidFill>
              <a:latin typeface="Calibri"/>
              <a:ea typeface="Calibri"/>
              <a:cs typeface="Calibri"/>
              <a:sym typeface="Calibri"/>
            </a:endParaRPr>
          </a:p>
        </p:txBody>
      </p:sp>
      <p:sp>
        <p:nvSpPr>
          <p:cNvPr id="222" name="Google Shape;222;p11"/>
          <p:cNvSpPr txBox="1"/>
          <p:nvPr/>
        </p:nvSpPr>
        <p:spPr>
          <a:xfrm>
            <a:off x="1307592" y="2112264"/>
            <a:ext cx="278892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1B33"/>
              </a:buClr>
              <a:buSzPts val="1150"/>
              <a:buFont typeface="Calibri"/>
              <a:buNone/>
            </a:pPr>
            <a:r>
              <a:rPr lang="en-US" sz="1150" b="0" i="0" u="none" strike="noStrike" cap="none">
                <a:solidFill>
                  <a:srgbClr val="0F1B33"/>
                </a:solidFill>
                <a:latin typeface="Calibri"/>
                <a:ea typeface="Calibri"/>
                <a:cs typeface="Calibri"/>
                <a:sym typeface="Calibri"/>
              </a:rPr>
              <a:t>Tombol Add Skill menempel ke label saat kosong</a:t>
            </a:r>
            <a:endParaRPr sz="1150" b="0" i="0" u="none" strike="noStrike" cap="none">
              <a:solidFill>
                <a:schemeClr val="dk1"/>
              </a:solidFill>
              <a:latin typeface="Calibri"/>
              <a:ea typeface="Calibri"/>
              <a:cs typeface="Calibri"/>
              <a:sym typeface="Calibri"/>
            </a:endParaRPr>
          </a:p>
        </p:txBody>
      </p:sp>
      <p:sp>
        <p:nvSpPr>
          <p:cNvPr id="223" name="Google Shape;223;p11"/>
          <p:cNvSpPr/>
          <p:nvPr/>
        </p:nvSpPr>
        <p:spPr>
          <a:xfrm>
            <a:off x="594360" y="2715768"/>
            <a:ext cx="3611880" cy="512064"/>
          </a:xfrm>
          <a:prstGeom prst="roundRect">
            <a:avLst>
              <a:gd name="adj" fmla="val 12500"/>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4" name="Google Shape;224;p11"/>
          <p:cNvSpPr/>
          <p:nvPr/>
        </p:nvSpPr>
        <p:spPr>
          <a:xfrm>
            <a:off x="731520" y="2834640"/>
            <a:ext cx="457200" cy="274320"/>
          </a:xfrm>
          <a:prstGeom prst="roundRect">
            <a:avLst>
              <a:gd name="adj" fmla="val 20000"/>
            </a:avLst>
          </a:prstGeom>
          <a:solidFill>
            <a:srgbClr val="D14343"/>
          </a:solidFill>
          <a:ln w="12700" cap="flat" cmpd="sng">
            <a:solidFill>
              <a:srgbClr val="D1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5" name="Google Shape;225;p11"/>
          <p:cNvSpPr txBox="1"/>
          <p:nvPr/>
        </p:nvSpPr>
        <p:spPr>
          <a:xfrm>
            <a:off x="731520" y="2834640"/>
            <a:ext cx="45720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P0</a:t>
            </a:r>
            <a:endParaRPr sz="1100" b="0" i="0" u="none" strike="noStrike" cap="none">
              <a:solidFill>
                <a:schemeClr val="dk1"/>
              </a:solidFill>
              <a:latin typeface="Calibri"/>
              <a:ea typeface="Calibri"/>
              <a:cs typeface="Calibri"/>
              <a:sym typeface="Calibri"/>
            </a:endParaRPr>
          </a:p>
        </p:txBody>
      </p:sp>
      <p:sp>
        <p:nvSpPr>
          <p:cNvPr id="226" name="Google Shape;226;p11"/>
          <p:cNvSpPr txBox="1"/>
          <p:nvPr/>
        </p:nvSpPr>
        <p:spPr>
          <a:xfrm>
            <a:off x="1307592" y="2715768"/>
            <a:ext cx="278892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1B33"/>
              </a:buClr>
              <a:buSzPts val="1150"/>
              <a:buFont typeface="Calibri"/>
              <a:buNone/>
            </a:pPr>
            <a:r>
              <a:rPr lang="en-US" sz="1150" b="0" i="0" u="none" strike="noStrike" cap="none">
                <a:solidFill>
                  <a:srgbClr val="0F1B33"/>
                </a:solidFill>
                <a:latin typeface="Calibri"/>
                <a:ea typeface="Calibri"/>
                <a:cs typeface="Calibri"/>
                <a:sym typeface="Calibri"/>
              </a:rPr>
              <a:t>Breadcrumb berbeda antar halaman</a:t>
            </a:r>
            <a:endParaRPr sz="1150" b="0" i="0" u="none" strike="noStrike" cap="none">
              <a:solidFill>
                <a:schemeClr val="dk1"/>
              </a:solidFill>
              <a:latin typeface="Calibri"/>
              <a:ea typeface="Calibri"/>
              <a:cs typeface="Calibri"/>
              <a:sym typeface="Calibri"/>
            </a:endParaRPr>
          </a:p>
        </p:txBody>
      </p:sp>
      <p:sp>
        <p:nvSpPr>
          <p:cNvPr id="227" name="Google Shape;227;p11"/>
          <p:cNvSpPr/>
          <p:nvPr/>
        </p:nvSpPr>
        <p:spPr>
          <a:xfrm>
            <a:off x="594360" y="3319272"/>
            <a:ext cx="3611880" cy="512064"/>
          </a:xfrm>
          <a:prstGeom prst="roundRect">
            <a:avLst>
              <a:gd name="adj" fmla="val 12500"/>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8" name="Google Shape;228;p11"/>
          <p:cNvSpPr/>
          <p:nvPr/>
        </p:nvSpPr>
        <p:spPr>
          <a:xfrm>
            <a:off x="731520" y="3438144"/>
            <a:ext cx="457200" cy="274320"/>
          </a:xfrm>
          <a:prstGeom prst="roundRect">
            <a:avLst>
              <a:gd name="adj" fmla="val 20000"/>
            </a:avLst>
          </a:prstGeom>
          <a:solidFill>
            <a:srgbClr val="B26A00"/>
          </a:solidFill>
          <a:ln w="12700" cap="flat" cmpd="sng">
            <a:solidFill>
              <a:srgbClr val="B26A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9" name="Google Shape;229;p11"/>
          <p:cNvSpPr txBox="1"/>
          <p:nvPr/>
        </p:nvSpPr>
        <p:spPr>
          <a:xfrm>
            <a:off x="731520" y="3438144"/>
            <a:ext cx="45720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P1</a:t>
            </a:r>
            <a:endParaRPr sz="1100" b="0" i="0" u="none" strike="noStrike" cap="none">
              <a:solidFill>
                <a:schemeClr val="dk1"/>
              </a:solidFill>
              <a:latin typeface="Calibri"/>
              <a:ea typeface="Calibri"/>
              <a:cs typeface="Calibri"/>
              <a:sym typeface="Calibri"/>
            </a:endParaRPr>
          </a:p>
        </p:txBody>
      </p:sp>
      <p:sp>
        <p:nvSpPr>
          <p:cNvPr id="230" name="Google Shape;230;p11"/>
          <p:cNvSpPr txBox="1"/>
          <p:nvPr/>
        </p:nvSpPr>
        <p:spPr>
          <a:xfrm>
            <a:off x="1307592" y="3319272"/>
            <a:ext cx="278892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1B33"/>
              </a:buClr>
              <a:buSzPts val="1150"/>
              <a:buFont typeface="Calibri"/>
              <a:buNone/>
            </a:pPr>
            <a:r>
              <a:rPr lang="en-US" sz="1150" b="0" i="0" u="none" strike="noStrike" cap="none">
                <a:solidFill>
                  <a:srgbClr val="0F1B33"/>
                </a:solidFill>
                <a:latin typeface="Calibri"/>
                <a:ea typeface="Calibri"/>
                <a:cs typeface="Calibri"/>
                <a:sym typeface="Calibri"/>
              </a:rPr>
              <a:t>Bahasa wawancara hilang di halaman Edit</a:t>
            </a:r>
            <a:endParaRPr sz="1150" b="0" i="0" u="none" strike="noStrike" cap="none">
              <a:solidFill>
                <a:schemeClr val="dk1"/>
              </a:solidFill>
              <a:latin typeface="Calibri"/>
              <a:ea typeface="Calibri"/>
              <a:cs typeface="Calibri"/>
              <a:sym typeface="Calibri"/>
            </a:endParaRPr>
          </a:p>
        </p:txBody>
      </p:sp>
      <p:sp>
        <p:nvSpPr>
          <p:cNvPr id="231" name="Google Shape;231;p11"/>
          <p:cNvSpPr/>
          <p:nvPr/>
        </p:nvSpPr>
        <p:spPr>
          <a:xfrm>
            <a:off x="594360" y="3922776"/>
            <a:ext cx="3611880" cy="512064"/>
          </a:xfrm>
          <a:prstGeom prst="roundRect">
            <a:avLst>
              <a:gd name="adj" fmla="val 12500"/>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2" name="Google Shape;232;p11"/>
          <p:cNvSpPr/>
          <p:nvPr/>
        </p:nvSpPr>
        <p:spPr>
          <a:xfrm>
            <a:off x="731520" y="4041648"/>
            <a:ext cx="457200" cy="274320"/>
          </a:xfrm>
          <a:prstGeom prst="roundRect">
            <a:avLst>
              <a:gd name="adj" fmla="val 20000"/>
            </a:avLst>
          </a:prstGeom>
          <a:solidFill>
            <a:srgbClr val="B26A00"/>
          </a:solidFill>
          <a:ln w="12700" cap="flat" cmpd="sng">
            <a:solidFill>
              <a:srgbClr val="B26A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3" name="Google Shape;233;p11"/>
          <p:cNvSpPr txBox="1"/>
          <p:nvPr/>
        </p:nvSpPr>
        <p:spPr>
          <a:xfrm>
            <a:off x="731520" y="4041648"/>
            <a:ext cx="45720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P1</a:t>
            </a:r>
            <a:endParaRPr sz="1100" b="0" i="0" u="none" strike="noStrike" cap="none">
              <a:solidFill>
                <a:schemeClr val="dk1"/>
              </a:solidFill>
              <a:latin typeface="Calibri"/>
              <a:ea typeface="Calibri"/>
              <a:cs typeface="Calibri"/>
              <a:sym typeface="Calibri"/>
            </a:endParaRPr>
          </a:p>
        </p:txBody>
      </p:sp>
      <p:sp>
        <p:nvSpPr>
          <p:cNvPr id="234" name="Google Shape;234;p11"/>
          <p:cNvSpPr txBox="1"/>
          <p:nvPr/>
        </p:nvSpPr>
        <p:spPr>
          <a:xfrm>
            <a:off x="1307592" y="3922776"/>
            <a:ext cx="278892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1B33"/>
              </a:buClr>
              <a:buSzPts val="1150"/>
              <a:buFont typeface="Calibri"/>
              <a:buNone/>
            </a:pPr>
            <a:r>
              <a:rPr lang="en-US" sz="1150" b="0" i="0" u="none" strike="noStrike" cap="none">
                <a:solidFill>
                  <a:srgbClr val="0F1B33"/>
                </a:solidFill>
                <a:latin typeface="Calibri"/>
                <a:ea typeface="Calibri"/>
                <a:cs typeface="Calibri"/>
                <a:sym typeface="Calibri"/>
              </a:rPr>
              <a:t>Bahasa wawancara tidak tampil di Detail</a:t>
            </a:r>
            <a:endParaRPr sz="1150" b="0" i="0" u="none" strike="noStrike" cap="none">
              <a:solidFill>
                <a:schemeClr val="dk1"/>
              </a:solidFill>
              <a:latin typeface="Calibri"/>
              <a:ea typeface="Calibri"/>
              <a:cs typeface="Calibri"/>
              <a:sym typeface="Calibri"/>
            </a:endParaRPr>
          </a:p>
        </p:txBody>
      </p:sp>
      <p:sp>
        <p:nvSpPr>
          <p:cNvPr id="235" name="Google Shape;235;p11"/>
          <p:cNvSpPr/>
          <p:nvPr/>
        </p:nvSpPr>
        <p:spPr>
          <a:xfrm>
            <a:off x="594360" y="4526280"/>
            <a:ext cx="3611880" cy="512064"/>
          </a:xfrm>
          <a:prstGeom prst="roundRect">
            <a:avLst>
              <a:gd name="adj" fmla="val 12500"/>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6" name="Google Shape;236;p11"/>
          <p:cNvSpPr/>
          <p:nvPr/>
        </p:nvSpPr>
        <p:spPr>
          <a:xfrm>
            <a:off x="731520" y="4645152"/>
            <a:ext cx="457200" cy="274320"/>
          </a:xfrm>
          <a:prstGeom prst="roundRect">
            <a:avLst>
              <a:gd name="adj" fmla="val 20000"/>
            </a:avLst>
          </a:prstGeom>
          <a:solidFill>
            <a:srgbClr val="B26A00"/>
          </a:solidFill>
          <a:ln w="12700" cap="flat" cmpd="sng">
            <a:solidFill>
              <a:srgbClr val="B26A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7" name="Google Shape;237;p11"/>
          <p:cNvSpPr txBox="1"/>
          <p:nvPr/>
        </p:nvSpPr>
        <p:spPr>
          <a:xfrm>
            <a:off x="731520" y="4645152"/>
            <a:ext cx="45720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P1</a:t>
            </a:r>
            <a:endParaRPr sz="1100" b="0" i="0" u="none" strike="noStrike" cap="none">
              <a:solidFill>
                <a:schemeClr val="dk1"/>
              </a:solidFill>
              <a:latin typeface="Calibri"/>
              <a:ea typeface="Calibri"/>
              <a:cs typeface="Calibri"/>
              <a:sym typeface="Calibri"/>
            </a:endParaRPr>
          </a:p>
        </p:txBody>
      </p:sp>
      <p:sp>
        <p:nvSpPr>
          <p:cNvPr id="238" name="Google Shape;238;p11"/>
          <p:cNvSpPr txBox="1"/>
          <p:nvPr/>
        </p:nvSpPr>
        <p:spPr>
          <a:xfrm>
            <a:off x="1307592" y="4526280"/>
            <a:ext cx="278892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1B33"/>
              </a:buClr>
              <a:buSzPts val="1150"/>
              <a:buFont typeface="Calibri"/>
              <a:buNone/>
            </a:pPr>
            <a:r>
              <a:rPr lang="en-US" sz="1150" b="0" i="0" u="none" strike="noStrike" cap="none">
                <a:solidFill>
                  <a:srgbClr val="0F1B33"/>
                </a:solidFill>
                <a:latin typeface="Calibri"/>
                <a:ea typeface="Calibri"/>
                <a:cs typeface="Calibri"/>
                <a:sym typeface="Calibri"/>
              </a:rPr>
              <a:t>Tombol back hanya ikon, tanpa label</a:t>
            </a:r>
            <a:endParaRPr sz="1150" b="0" i="0" u="none" strike="noStrike" cap="none">
              <a:solidFill>
                <a:schemeClr val="dk1"/>
              </a:solidFill>
              <a:latin typeface="Calibri"/>
              <a:ea typeface="Calibri"/>
              <a:cs typeface="Calibri"/>
              <a:sym typeface="Calibri"/>
            </a:endParaRPr>
          </a:p>
        </p:txBody>
      </p:sp>
      <p:sp>
        <p:nvSpPr>
          <p:cNvPr id="239" name="Google Shape;239;p11"/>
          <p:cNvSpPr/>
          <p:nvPr/>
        </p:nvSpPr>
        <p:spPr>
          <a:xfrm>
            <a:off x="594360" y="5129784"/>
            <a:ext cx="3611880" cy="512064"/>
          </a:xfrm>
          <a:prstGeom prst="roundRect">
            <a:avLst>
              <a:gd name="adj" fmla="val 12500"/>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0" name="Google Shape;240;p11"/>
          <p:cNvSpPr/>
          <p:nvPr/>
        </p:nvSpPr>
        <p:spPr>
          <a:xfrm>
            <a:off x="731520" y="5248656"/>
            <a:ext cx="457200" cy="274320"/>
          </a:xfrm>
          <a:prstGeom prst="roundRect">
            <a:avLst>
              <a:gd name="adj" fmla="val 20000"/>
            </a:avLst>
          </a:prstGeom>
          <a:solidFill>
            <a:srgbClr val="B26A00"/>
          </a:solidFill>
          <a:ln w="12700" cap="flat" cmpd="sng">
            <a:solidFill>
              <a:srgbClr val="B26A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1" name="Google Shape;241;p11"/>
          <p:cNvSpPr txBox="1"/>
          <p:nvPr/>
        </p:nvSpPr>
        <p:spPr>
          <a:xfrm>
            <a:off x="731520" y="5248656"/>
            <a:ext cx="45720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P1</a:t>
            </a:r>
            <a:endParaRPr sz="1100" b="0" i="0" u="none" strike="noStrike" cap="none">
              <a:solidFill>
                <a:schemeClr val="dk1"/>
              </a:solidFill>
              <a:latin typeface="Calibri"/>
              <a:ea typeface="Calibri"/>
              <a:cs typeface="Calibri"/>
              <a:sym typeface="Calibri"/>
            </a:endParaRPr>
          </a:p>
        </p:txBody>
      </p:sp>
      <p:sp>
        <p:nvSpPr>
          <p:cNvPr id="242" name="Google Shape;242;p11"/>
          <p:cNvSpPr txBox="1"/>
          <p:nvPr/>
        </p:nvSpPr>
        <p:spPr>
          <a:xfrm>
            <a:off x="1307592" y="5129784"/>
            <a:ext cx="278892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1B33"/>
              </a:buClr>
              <a:buSzPts val="1150"/>
              <a:buFont typeface="Calibri"/>
              <a:buNone/>
            </a:pPr>
            <a:r>
              <a:rPr lang="en-US" sz="1150" b="0" i="0" u="none" strike="noStrike" cap="none">
                <a:solidFill>
                  <a:srgbClr val="0F1B33"/>
                </a:solidFill>
                <a:latin typeface="Calibri"/>
                <a:ea typeface="Calibri"/>
                <a:cs typeface="Calibri"/>
                <a:sym typeface="Calibri"/>
              </a:rPr>
              <a:t>Tidak ada toast setelah simpan assessment</a:t>
            </a:r>
            <a:endParaRPr sz="1150" b="0" i="0" u="none" strike="noStrike" cap="none">
              <a:solidFill>
                <a:schemeClr val="dk1"/>
              </a:solidFill>
              <a:latin typeface="Calibri"/>
              <a:ea typeface="Calibri"/>
              <a:cs typeface="Calibri"/>
              <a:sym typeface="Calibri"/>
            </a:endParaRPr>
          </a:p>
        </p:txBody>
      </p:sp>
      <p:sp>
        <p:nvSpPr>
          <p:cNvPr id="243" name="Google Shape;243;p11"/>
          <p:cNvSpPr/>
          <p:nvPr/>
        </p:nvSpPr>
        <p:spPr>
          <a:xfrm>
            <a:off x="4434840" y="1508760"/>
            <a:ext cx="3611880" cy="512064"/>
          </a:xfrm>
          <a:prstGeom prst="roundRect">
            <a:avLst>
              <a:gd name="adj" fmla="val 12500"/>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4" name="Google Shape;244;p11"/>
          <p:cNvSpPr/>
          <p:nvPr/>
        </p:nvSpPr>
        <p:spPr>
          <a:xfrm>
            <a:off x="4572000" y="1627632"/>
            <a:ext cx="457200" cy="274320"/>
          </a:xfrm>
          <a:prstGeom prst="roundRect">
            <a:avLst>
              <a:gd name="adj" fmla="val 20000"/>
            </a:avLst>
          </a:prstGeom>
          <a:solidFill>
            <a:srgbClr val="B26A00"/>
          </a:solidFill>
          <a:ln w="12700" cap="flat" cmpd="sng">
            <a:solidFill>
              <a:srgbClr val="B26A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5" name="Google Shape;245;p11"/>
          <p:cNvSpPr txBox="1"/>
          <p:nvPr/>
        </p:nvSpPr>
        <p:spPr>
          <a:xfrm>
            <a:off x="4572000" y="1627632"/>
            <a:ext cx="45720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P1</a:t>
            </a:r>
            <a:endParaRPr sz="1100" b="0" i="0" u="none" strike="noStrike" cap="none">
              <a:solidFill>
                <a:schemeClr val="dk1"/>
              </a:solidFill>
              <a:latin typeface="Calibri"/>
              <a:ea typeface="Calibri"/>
              <a:cs typeface="Calibri"/>
              <a:sym typeface="Calibri"/>
            </a:endParaRPr>
          </a:p>
        </p:txBody>
      </p:sp>
      <p:sp>
        <p:nvSpPr>
          <p:cNvPr id="246" name="Google Shape;246;p11"/>
          <p:cNvSpPr txBox="1"/>
          <p:nvPr/>
        </p:nvSpPr>
        <p:spPr>
          <a:xfrm>
            <a:off x="5148072" y="1508760"/>
            <a:ext cx="278892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1B33"/>
              </a:buClr>
              <a:buSzPts val="1150"/>
              <a:buFont typeface="Calibri"/>
              <a:buNone/>
            </a:pPr>
            <a:r>
              <a:rPr lang="en-US" sz="1150" b="0" i="0" u="none" strike="noStrike" cap="none">
                <a:solidFill>
                  <a:srgbClr val="0F1B33"/>
                </a:solidFill>
                <a:latin typeface="Calibri"/>
                <a:ea typeface="Calibri"/>
                <a:cs typeface="Calibri"/>
                <a:sym typeface="Calibri"/>
              </a:rPr>
              <a:t>Tidak ada toast setelah simpan vacancy</a:t>
            </a:r>
            <a:endParaRPr sz="1150" b="0" i="0" u="none" strike="noStrike" cap="none">
              <a:solidFill>
                <a:schemeClr val="dk1"/>
              </a:solidFill>
              <a:latin typeface="Calibri"/>
              <a:ea typeface="Calibri"/>
              <a:cs typeface="Calibri"/>
              <a:sym typeface="Calibri"/>
            </a:endParaRPr>
          </a:p>
        </p:txBody>
      </p:sp>
      <p:sp>
        <p:nvSpPr>
          <p:cNvPr id="247" name="Google Shape;247;p11"/>
          <p:cNvSpPr/>
          <p:nvPr/>
        </p:nvSpPr>
        <p:spPr>
          <a:xfrm>
            <a:off x="4434840" y="2112264"/>
            <a:ext cx="3611880" cy="512064"/>
          </a:xfrm>
          <a:prstGeom prst="roundRect">
            <a:avLst>
              <a:gd name="adj" fmla="val 12500"/>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8" name="Google Shape;248;p11"/>
          <p:cNvSpPr/>
          <p:nvPr/>
        </p:nvSpPr>
        <p:spPr>
          <a:xfrm>
            <a:off x="4572000" y="2231136"/>
            <a:ext cx="457200" cy="274320"/>
          </a:xfrm>
          <a:prstGeom prst="roundRect">
            <a:avLst>
              <a:gd name="adj" fmla="val 20000"/>
            </a:avLst>
          </a:prstGeom>
          <a:solidFill>
            <a:srgbClr val="55617A"/>
          </a:solidFill>
          <a:ln w="12700" cap="flat" cmpd="sng">
            <a:solidFill>
              <a:srgbClr val="55617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9" name="Google Shape;249;p11"/>
          <p:cNvSpPr txBox="1"/>
          <p:nvPr/>
        </p:nvSpPr>
        <p:spPr>
          <a:xfrm>
            <a:off x="4572000" y="2231136"/>
            <a:ext cx="45720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P2</a:t>
            </a:r>
            <a:endParaRPr sz="1100" b="0" i="0" u="none" strike="noStrike" cap="none">
              <a:solidFill>
                <a:schemeClr val="dk1"/>
              </a:solidFill>
              <a:latin typeface="Calibri"/>
              <a:ea typeface="Calibri"/>
              <a:cs typeface="Calibri"/>
              <a:sym typeface="Calibri"/>
            </a:endParaRPr>
          </a:p>
        </p:txBody>
      </p:sp>
      <p:sp>
        <p:nvSpPr>
          <p:cNvPr id="250" name="Google Shape;250;p11"/>
          <p:cNvSpPr txBox="1"/>
          <p:nvPr/>
        </p:nvSpPr>
        <p:spPr>
          <a:xfrm>
            <a:off x="5148072" y="2112264"/>
            <a:ext cx="278892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1B33"/>
              </a:buClr>
              <a:buSzPts val="1150"/>
              <a:buFont typeface="Calibri"/>
              <a:buNone/>
            </a:pPr>
            <a:r>
              <a:rPr lang="en-US" sz="1150" b="0" i="0" u="none" strike="noStrike" cap="none">
                <a:solidFill>
                  <a:srgbClr val="0F1B33"/>
                </a:solidFill>
                <a:latin typeface="Calibri"/>
                <a:ea typeface="Calibri"/>
                <a:cs typeface="Calibri"/>
                <a:sym typeface="Calibri"/>
              </a:rPr>
              <a:t>Nama kandidat opsional, tidak bisa diedit/dihapus</a:t>
            </a:r>
            <a:endParaRPr sz="1150" b="0" i="0" u="none" strike="noStrike" cap="none">
              <a:solidFill>
                <a:schemeClr val="dk1"/>
              </a:solidFill>
              <a:latin typeface="Calibri"/>
              <a:ea typeface="Calibri"/>
              <a:cs typeface="Calibri"/>
              <a:sym typeface="Calibri"/>
            </a:endParaRPr>
          </a:p>
        </p:txBody>
      </p:sp>
      <p:sp>
        <p:nvSpPr>
          <p:cNvPr id="251" name="Google Shape;251;p11"/>
          <p:cNvSpPr/>
          <p:nvPr/>
        </p:nvSpPr>
        <p:spPr>
          <a:xfrm>
            <a:off x="4434840" y="2715768"/>
            <a:ext cx="3611880" cy="512064"/>
          </a:xfrm>
          <a:prstGeom prst="roundRect">
            <a:avLst>
              <a:gd name="adj" fmla="val 12500"/>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2" name="Google Shape;252;p11"/>
          <p:cNvSpPr/>
          <p:nvPr/>
        </p:nvSpPr>
        <p:spPr>
          <a:xfrm>
            <a:off x="4572000" y="2834640"/>
            <a:ext cx="457200" cy="274320"/>
          </a:xfrm>
          <a:prstGeom prst="roundRect">
            <a:avLst>
              <a:gd name="adj" fmla="val 20000"/>
            </a:avLst>
          </a:prstGeom>
          <a:solidFill>
            <a:srgbClr val="55617A"/>
          </a:solidFill>
          <a:ln w="12700" cap="flat" cmpd="sng">
            <a:solidFill>
              <a:srgbClr val="55617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3" name="Google Shape;253;p11"/>
          <p:cNvSpPr txBox="1"/>
          <p:nvPr/>
        </p:nvSpPr>
        <p:spPr>
          <a:xfrm>
            <a:off x="4572000" y="2834640"/>
            <a:ext cx="45720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P2</a:t>
            </a:r>
            <a:endParaRPr sz="1100" b="0" i="0" u="none" strike="noStrike" cap="none">
              <a:solidFill>
                <a:schemeClr val="dk1"/>
              </a:solidFill>
              <a:latin typeface="Calibri"/>
              <a:ea typeface="Calibri"/>
              <a:cs typeface="Calibri"/>
              <a:sym typeface="Calibri"/>
            </a:endParaRPr>
          </a:p>
        </p:txBody>
      </p:sp>
      <p:sp>
        <p:nvSpPr>
          <p:cNvPr id="254" name="Google Shape;254;p11"/>
          <p:cNvSpPr txBox="1"/>
          <p:nvPr/>
        </p:nvSpPr>
        <p:spPr>
          <a:xfrm>
            <a:off x="5148072" y="2715768"/>
            <a:ext cx="278892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1B33"/>
              </a:buClr>
              <a:buSzPts val="1150"/>
              <a:buFont typeface="Calibri"/>
              <a:buNone/>
            </a:pPr>
            <a:r>
              <a:rPr lang="en-US" sz="1150" b="0" i="0" u="none" strike="noStrike" cap="none">
                <a:solidFill>
                  <a:srgbClr val="0F1B33"/>
                </a:solidFill>
                <a:latin typeface="Calibri"/>
                <a:ea typeface="Calibri"/>
                <a:cs typeface="Calibri"/>
                <a:sym typeface="Calibri"/>
              </a:rPr>
              <a:t>Assessment &amp; vacancy tanpa due date</a:t>
            </a:r>
            <a:endParaRPr sz="1150" b="0" i="0" u="none" strike="noStrike" cap="none">
              <a:solidFill>
                <a:schemeClr val="dk1"/>
              </a:solidFill>
              <a:latin typeface="Calibri"/>
              <a:ea typeface="Calibri"/>
              <a:cs typeface="Calibri"/>
              <a:sym typeface="Calibri"/>
            </a:endParaRPr>
          </a:p>
        </p:txBody>
      </p:sp>
      <p:sp>
        <p:nvSpPr>
          <p:cNvPr id="255" name="Google Shape;255;p11"/>
          <p:cNvSpPr/>
          <p:nvPr/>
        </p:nvSpPr>
        <p:spPr>
          <a:xfrm>
            <a:off x="4434840" y="3319272"/>
            <a:ext cx="3611880" cy="512064"/>
          </a:xfrm>
          <a:prstGeom prst="roundRect">
            <a:avLst>
              <a:gd name="adj" fmla="val 12500"/>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6" name="Google Shape;256;p11"/>
          <p:cNvSpPr/>
          <p:nvPr/>
        </p:nvSpPr>
        <p:spPr>
          <a:xfrm>
            <a:off x="4572000" y="3438144"/>
            <a:ext cx="457200" cy="274320"/>
          </a:xfrm>
          <a:prstGeom prst="roundRect">
            <a:avLst>
              <a:gd name="adj" fmla="val 20000"/>
            </a:avLst>
          </a:prstGeom>
          <a:solidFill>
            <a:srgbClr val="8A94A8"/>
          </a:solidFill>
          <a:ln w="12700" cap="flat" cmpd="sng">
            <a:solidFill>
              <a:srgbClr val="8A94A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7" name="Google Shape;257;p11"/>
          <p:cNvSpPr txBox="1"/>
          <p:nvPr/>
        </p:nvSpPr>
        <p:spPr>
          <a:xfrm>
            <a:off x="4572000" y="3438144"/>
            <a:ext cx="45720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P3</a:t>
            </a:r>
            <a:endParaRPr sz="1100" b="0" i="0" u="none" strike="noStrike" cap="none">
              <a:solidFill>
                <a:schemeClr val="dk1"/>
              </a:solidFill>
              <a:latin typeface="Calibri"/>
              <a:ea typeface="Calibri"/>
              <a:cs typeface="Calibri"/>
              <a:sym typeface="Calibri"/>
            </a:endParaRPr>
          </a:p>
        </p:txBody>
      </p:sp>
      <p:sp>
        <p:nvSpPr>
          <p:cNvPr id="258" name="Google Shape;258;p11"/>
          <p:cNvSpPr txBox="1"/>
          <p:nvPr/>
        </p:nvSpPr>
        <p:spPr>
          <a:xfrm>
            <a:off x="5148072" y="3319272"/>
            <a:ext cx="278892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1B33"/>
              </a:buClr>
              <a:buSzPts val="1150"/>
              <a:buFont typeface="Calibri"/>
              <a:buNone/>
            </a:pPr>
            <a:r>
              <a:rPr lang="en-US" sz="1150" b="0" i="0" u="none" strike="noStrike" cap="none">
                <a:solidFill>
                  <a:srgbClr val="0F1B33"/>
                </a:solidFill>
                <a:latin typeface="Calibri"/>
                <a:ea typeface="Calibri"/>
                <a:cs typeface="Calibri"/>
                <a:sym typeface="Calibri"/>
              </a:rPr>
              <a:t>Form custom skill tanpa Save/Cancel/Edit</a:t>
            </a:r>
            <a:endParaRPr sz="1150" b="0" i="0" u="none" strike="noStrike" cap="none">
              <a:solidFill>
                <a:schemeClr val="dk1"/>
              </a:solidFill>
              <a:latin typeface="Calibri"/>
              <a:ea typeface="Calibri"/>
              <a:cs typeface="Calibri"/>
              <a:sym typeface="Calibri"/>
            </a:endParaRPr>
          </a:p>
        </p:txBody>
      </p:sp>
      <p:sp>
        <p:nvSpPr>
          <p:cNvPr id="259" name="Google Shape;259;p11"/>
          <p:cNvSpPr/>
          <p:nvPr/>
        </p:nvSpPr>
        <p:spPr>
          <a:xfrm>
            <a:off x="4434840" y="3922776"/>
            <a:ext cx="3611880" cy="512064"/>
          </a:xfrm>
          <a:prstGeom prst="roundRect">
            <a:avLst>
              <a:gd name="adj" fmla="val 12500"/>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0" name="Google Shape;260;p11"/>
          <p:cNvSpPr/>
          <p:nvPr/>
        </p:nvSpPr>
        <p:spPr>
          <a:xfrm>
            <a:off x="4572000" y="4041648"/>
            <a:ext cx="457200" cy="274320"/>
          </a:xfrm>
          <a:prstGeom prst="roundRect">
            <a:avLst>
              <a:gd name="adj" fmla="val 20000"/>
            </a:avLst>
          </a:prstGeom>
          <a:solidFill>
            <a:srgbClr val="8A94A8"/>
          </a:solidFill>
          <a:ln w="12700" cap="flat" cmpd="sng">
            <a:solidFill>
              <a:srgbClr val="8A94A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1" name="Google Shape;261;p11"/>
          <p:cNvSpPr txBox="1"/>
          <p:nvPr/>
        </p:nvSpPr>
        <p:spPr>
          <a:xfrm>
            <a:off x="4572000" y="4041648"/>
            <a:ext cx="45720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P3</a:t>
            </a:r>
            <a:endParaRPr sz="1100" b="0" i="0" u="none" strike="noStrike" cap="none">
              <a:solidFill>
                <a:schemeClr val="dk1"/>
              </a:solidFill>
              <a:latin typeface="Calibri"/>
              <a:ea typeface="Calibri"/>
              <a:cs typeface="Calibri"/>
              <a:sym typeface="Calibri"/>
            </a:endParaRPr>
          </a:p>
        </p:txBody>
      </p:sp>
      <p:sp>
        <p:nvSpPr>
          <p:cNvPr id="262" name="Google Shape;262;p11"/>
          <p:cNvSpPr txBox="1"/>
          <p:nvPr/>
        </p:nvSpPr>
        <p:spPr>
          <a:xfrm>
            <a:off x="5148072" y="3922776"/>
            <a:ext cx="278892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1B33"/>
              </a:buClr>
              <a:buSzPts val="1150"/>
              <a:buFont typeface="Calibri"/>
              <a:buNone/>
            </a:pPr>
            <a:r>
              <a:rPr lang="en-US" sz="1150" b="0" i="0" u="none" strike="noStrike" cap="none">
                <a:solidFill>
                  <a:srgbClr val="0F1B33"/>
                </a:solidFill>
                <a:latin typeface="Calibri"/>
                <a:ea typeface="Calibri"/>
                <a:cs typeface="Calibri"/>
                <a:sym typeface="Calibri"/>
              </a:rPr>
              <a:t>Assessment tidak bisa dihapus</a:t>
            </a:r>
            <a:endParaRPr sz="1150" b="0" i="0" u="none" strike="noStrike" cap="none">
              <a:solidFill>
                <a:schemeClr val="dk1"/>
              </a:solidFill>
              <a:latin typeface="Calibri"/>
              <a:ea typeface="Calibri"/>
              <a:cs typeface="Calibri"/>
              <a:sym typeface="Calibri"/>
            </a:endParaRPr>
          </a:p>
        </p:txBody>
      </p:sp>
      <p:sp>
        <p:nvSpPr>
          <p:cNvPr id="263" name="Google Shape;263;p11"/>
          <p:cNvSpPr/>
          <p:nvPr/>
        </p:nvSpPr>
        <p:spPr>
          <a:xfrm>
            <a:off x="4434840" y="4526280"/>
            <a:ext cx="3611880" cy="512064"/>
          </a:xfrm>
          <a:prstGeom prst="roundRect">
            <a:avLst>
              <a:gd name="adj" fmla="val 12500"/>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4" name="Google Shape;264;p11"/>
          <p:cNvSpPr/>
          <p:nvPr/>
        </p:nvSpPr>
        <p:spPr>
          <a:xfrm>
            <a:off x="4572000" y="4645152"/>
            <a:ext cx="457200" cy="274320"/>
          </a:xfrm>
          <a:prstGeom prst="roundRect">
            <a:avLst>
              <a:gd name="adj" fmla="val 20000"/>
            </a:avLst>
          </a:prstGeom>
          <a:solidFill>
            <a:srgbClr val="8A94A8"/>
          </a:solidFill>
          <a:ln w="12700" cap="flat" cmpd="sng">
            <a:solidFill>
              <a:srgbClr val="8A94A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5" name="Google Shape;265;p11"/>
          <p:cNvSpPr txBox="1"/>
          <p:nvPr/>
        </p:nvSpPr>
        <p:spPr>
          <a:xfrm>
            <a:off x="4572000" y="4645152"/>
            <a:ext cx="45720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P3</a:t>
            </a:r>
            <a:endParaRPr sz="1100" b="0" i="0" u="none" strike="noStrike" cap="none">
              <a:solidFill>
                <a:schemeClr val="dk1"/>
              </a:solidFill>
              <a:latin typeface="Calibri"/>
              <a:ea typeface="Calibri"/>
              <a:cs typeface="Calibri"/>
              <a:sym typeface="Calibri"/>
            </a:endParaRPr>
          </a:p>
        </p:txBody>
      </p:sp>
      <p:sp>
        <p:nvSpPr>
          <p:cNvPr id="266" name="Google Shape;266;p11"/>
          <p:cNvSpPr txBox="1"/>
          <p:nvPr/>
        </p:nvSpPr>
        <p:spPr>
          <a:xfrm>
            <a:off x="5148072" y="4526280"/>
            <a:ext cx="278892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1B33"/>
              </a:buClr>
              <a:buSzPts val="1150"/>
              <a:buFont typeface="Calibri"/>
              <a:buNone/>
            </a:pPr>
            <a:r>
              <a:rPr lang="en-US" sz="1150" b="0" i="0" u="none" strike="noStrike" cap="none">
                <a:solidFill>
                  <a:srgbClr val="0F1B33"/>
                </a:solidFill>
                <a:latin typeface="Calibri"/>
                <a:ea typeface="Calibri"/>
                <a:cs typeface="Calibri"/>
                <a:sym typeface="Calibri"/>
              </a:rPr>
              <a:t>Vacancy tidak bisa dihapus</a:t>
            </a:r>
            <a:endParaRPr sz="1150" b="0" i="0" u="none" strike="noStrike" cap="none">
              <a:solidFill>
                <a:schemeClr val="dk1"/>
              </a:solidFill>
              <a:latin typeface="Calibri"/>
              <a:ea typeface="Calibri"/>
              <a:cs typeface="Calibri"/>
              <a:sym typeface="Calibri"/>
            </a:endParaRPr>
          </a:p>
        </p:txBody>
      </p:sp>
      <p:pic>
        <p:nvPicPr>
          <p:cNvPr id="267" name="Google Shape;267;p11" descr="img/qa_detail.png"/>
          <p:cNvPicPr preferRelativeResize="0"/>
          <p:nvPr/>
        </p:nvPicPr>
        <p:blipFill rotWithShape="1">
          <a:blip r:embed="rId1"/>
          <a:srcRect/>
          <a:stretch>
            <a:fillRect/>
          </a:stretch>
        </p:blipFill>
        <p:spPr>
          <a:xfrm>
            <a:off x="8275320" y="1508760"/>
            <a:ext cx="3322015" cy="1581912"/>
          </a:xfrm>
          <a:prstGeom prst="rect">
            <a:avLst/>
          </a:prstGeom>
          <a:noFill/>
          <a:ln>
            <a:noFill/>
          </a:ln>
        </p:spPr>
      </p:pic>
      <p:sp>
        <p:nvSpPr>
          <p:cNvPr id="268" name="Google Shape;268;p11"/>
          <p:cNvSpPr/>
          <p:nvPr/>
        </p:nvSpPr>
        <p:spPr>
          <a:xfrm>
            <a:off x="8275320" y="1508760"/>
            <a:ext cx="3322015" cy="1581912"/>
          </a:xfrm>
          <a:prstGeom prst="rect">
            <a:avLst/>
          </a:prstGeom>
          <a:no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9" name="Google Shape;269;p11"/>
          <p:cNvSpPr txBox="1"/>
          <p:nvPr/>
        </p:nvSpPr>
        <p:spPr>
          <a:xfrm>
            <a:off x="8275320" y="3163824"/>
            <a:ext cx="3322015"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8A94A8"/>
              </a:buClr>
              <a:buSzPts val="1050"/>
              <a:buFont typeface="Calibri"/>
              <a:buNone/>
            </a:pPr>
            <a:r>
              <a:rPr lang="en-US" sz="1050" b="0" i="1" u="none" strike="noStrike" cap="none">
                <a:solidFill>
                  <a:srgbClr val="8A94A8"/>
                </a:solidFill>
                <a:latin typeface="Calibri"/>
                <a:ea typeface="Calibri"/>
                <a:cs typeface="Calibri"/>
                <a:sym typeface="Calibri"/>
              </a:rPr>
              <a:t>Halaman Detail — bahasa wawancara tidak ditampilkan</a:t>
            </a:r>
            <a:endParaRPr sz="1050" b="0" i="0" u="none" strike="noStrike" cap="none">
              <a:solidFill>
                <a:schemeClr val="dk1"/>
              </a:solidFill>
              <a:latin typeface="Calibri"/>
              <a:ea typeface="Calibri"/>
              <a:cs typeface="Calibri"/>
              <a:sym typeface="Calibri"/>
            </a:endParaRPr>
          </a:p>
        </p:txBody>
      </p:sp>
      <p:sp>
        <p:nvSpPr>
          <p:cNvPr id="270" name="Google Shape;270;p11"/>
          <p:cNvSpPr/>
          <p:nvPr/>
        </p:nvSpPr>
        <p:spPr>
          <a:xfrm>
            <a:off x="8275320" y="4023360"/>
            <a:ext cx="3322015" cy="2011680"/>
          </a:xfrm>
          <a:prstGeom prst="roundRect">
            <a:avLst>
              <a:gd name="adj" fmla="val 3182"/>
            </a:avLst>
          </a:prstGeom>
          <a:solidFill>
            <a:srgbClr val="FDECEC"/>
          </a:solidFill>
          <a:ln w="9525" cap="flat" cmpd="sng">
            <a:solidFill>
              <a:srgbClr val="FDECE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1" name="Google Shape;271;p11"/>
          <p:cNvSpPr txBox="1"/>
          <p:nvPr/>
        </p:nvSpPr>
        <p:spPr>
          <a:xfrm>
            <a:off x="8503920" y="4160520"/>
            <a:ext cx="2864815"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D14343"/>
              </a:buClr>
              <a:buSzPts val="1300"/>
              <a:buFont typeface="Calibri"/>
              <a:buNone/>
            </a:pPr>
            <a:r>
              <a:rPr lang="en-US" sz="1300" b="1" i="0" u="none" strike="noStrike" cap="none">
                <a:solidFill>
                  <a:srgbClr val="D14343"/>
                </a:solidFill>
                <a:latin typeface="Calibri"/>
                <a:ea typeface="Calibri"/>
                <a:cs typeface="Calibri"/>
                <a:sym typeface="Calibri"/>
              </a:rPr>
              <a:t>Contohnya </a:t>
            </a:r>
            <a:endParaRPr sz="1300" b="0" i="0" u="none" strike="noStrike" cap="none">
              <a:solidFill>
                <a:schemeClr val="dk1"/>
              </a:solidFill>
              <a:latin typeface="Calibri"/>
              <a:ea typeface="Calibri"/>
              <a:cs typeface="Calibri"/>
              <a:sym typeface="Calibri"/>
            </a:endParaRPr>
          </a:p>
        </p:txBody>
      </p:sp>
      <p:sp>
        <p:nvSpPr>
          <p:cNvPr id="272" name="Google Shape;272;p11"/>
          <p:cNvSpPr txBox="1"/>
          <p:nvPr/>
        </p:nvSpPr>
        <p:spPr>
          <a:xfrm>
            <a:off x="8503920" y="4480560"/>
            <a:ext cx="2864815" cy="1463040"/>
          </a:xfrm>
          <a:prstGeom prst="rect">
            <a:avLst/>
          </a:prstGeom>
          <a:noFill/>
          <a:ln>
            <a:noFill/>
          </a:ln>
        </p:spPr>
        <p:txBody>
          <a:bodyPr spcFirstLastPara="1" wrap="square" lIns="0" tIns="0" rIns="0" bIns="0" anchor="t" anchorCtr="0">
            <a:noAutofit/>
          </a:bodyPr>
          <a:lstStyle/>
          <a:p>
            <a:pPr marL="0" marR="0" lvl="0" indent="0" algn="l" rtl="0">
              <a:lnSpc>
                <a:spcPct val="139000"/>
              </a:lnSpc>
              <a:spcBef>
                <a:spcPts val="0"/>
              </a:spcBef>
              <a:spcAft>
                <a:spcPts val="0"/>
              </a:spcAft>
              <a:buClr>
                <a:srgbClr val="0F1B33"/>
              </a:buClr>
              <a:buSzPts val="1150"/>
              <a:buFont typeface="Calibri"/>
              <a:buNone/>
            </a:pPr>
            <a:r>
              <a:rPr lang="en-US" sz="1150" b="0" i="0" u="none" strike="noStrike" cap="none">
                <a:solidFill>
                  <a:srgbClr val="0F1B33"/>
                </a:solidFill>
                <a:latin typeface="Calibri"/>
                <a:ea typeface="Calibri"/>
                <a:cs typeface="Calibri"/>
                <a:sym typeface="Calibri"/>
              </a:rPr>
              <a:t>Halaman Edit tidak memuat dan tidak menyimpan bahasa wawancara (AssessmentEditPage.tsx:44-52). Jadi setiap kali diedit, bahasanya bisa kembali ke default.</a:t>
            </a:r>
            <a:endParaRPr sz="115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277" name="Shape 277"/>
        <p:cNvGrpSpPr/>
        <p:nvPr/>
      </p:nvGrpSpPr>
      <p:grpSpPr>
        <a:xfrm>
          <a:off x="0" y="0"/>
          <a:ext cx="0" cy="0"/>
          <a:chOff x="0" y="0"/>
          <a:chExt cx="0" cy="0"/>
        </a:xfrm>
      </p:grpSpPr>
      <p:sp>
        <p:nvSpPr>
          <p:cNvPr id="278" name="Google Shape;278;p12"/>
          <p:cNvSpPr txBox="1"/>
          <p:nvPr/>
        </p:nvSpPr>
        <p:spPr>
          <a:xfrm>
            <a:off x="11277295" y="6419088"/>
            <a:ext cx="457200"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A94A8"/>
              </a:buClr>
              <a:buSzPts val="1000"/>
              <a:buFont typeface="Calibri"/>
              <a:buNone/>
            </a:pPr>
            <a:r>
              <a:rPr lang="en-US" sz="1000" b="0" i="0" u="none" strike="noStrike" cap="none">
                <a:solidFill>
                  <a:srgbClr val="8A94A8"/>
                </a:solidFill>
                <a:latin typeface="Calibri"/>
                <a:ea typeface="Calibri"/>
                <a:cs typeface="Calibri"/>
                <a:sym typeface="Calibri"/>
              </a:rPr>
              <a:t>10</a:t>
            </a:r>
            <a:endParaRPr sz="1000" b="0" i="0" u="none" strike="noStrike" cap="none">
              <a:solidFill>
                <a:schemeClr val="dk1"/>
              </a:solidFill>
              <a:latin typeface="Calibri"/>
              <a:ea typeface="Calibri"/>
              <a:cs typeface="Calibri"/>
              <a:sym typeface="Calibri"/>
            </a:endParaRPr>
          </a:p>
        </p:txBody>
      </p:sp>
      <p:sp>
        <p:nvSpPr>
          <p:cNvPr id="279" name="Google Shape;279;p12"/>
          <p:cNvSpPr txBox="1"/>
          <p:nvPr/>
        </p:nvSpPr>
        <p:spPr>
          <a:xfrm>
            <a:off x="594360" y="6419088"/>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A94A8"/>
              </a:buClr>
              <a:buSzPts val="1000"/>
              <a:buFont typeface="Calibri"/>
              <a:buNone/>
            </a:pPr>
            <a:r>
              <a:rPr lang="en-US" sz="1000" b="0" i="0" u="none" strike="noStrike" cap="none">
                <a:solidFill>
                  <a:srgbClr val="8A94A8"/>
                </a:solidFill>
                <a:latin typeface="Calibri"/>
                <a:ea typeface="Calibri"/>
                <a:cs typeface="Calibri"/>
                <a:sym typeface="Calibri"/>
              </a:rPr>
              <a:t>Aulia Afriza  ·  Kandidat Fullstack · Frontend depth</a:t>
            </a:r>
            <a:endParaRPr sz="1000" b="0" i="0" u="none" strike="noStrike" cap="none">
              <a:solidFill>
                <a:schemeClr val="dk1"/>
              </a:solidFill>
              <a:latin typeface="Calibri"/>
              <a:ea typeface="Calibri"/>
              <a:cs typeface="Calibri"/>
              <a:sym typeface="Calibri"/>
            </a:endParaRPr>
          </a:p>
        </p:txBody>
      </p:sp>
      <p:sp>
        <p:nvSpPr>
          <p:cNvPr id="280" name="Google Shape;280;p12"/>
          <p:cNvSpPr txBox="1"/>
          <p:nvPr/>
        </p:nvSpPr>
        <p:spPr>
          <a:xfrm>
            <a:off x="594360" y="438912"/>
            <a:ext cx="11002975"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2800"/>
              <a:buFont typeface="Calibri"/>
              <a:buNone/>
            </a:pPr>
            <a:r>
              <a:rPr lang="en-US" sz="2800" b="1" i="0" u="none" strike="noStrike" cap="none">
                <a:solidFill>
                  <a:srgbClr val="0F1B33"/>
                </a:solidFill>
                <a:latin typeface="Calibri"/>
                <a:ea typeface="Calibri"/>
                <a:cs typeface="Calibri"/>
                <a:sym typeface="Calibri"/>
              </a:rPr>
              <a:t>Cara saya mengurutkan prioritas</a:t>
            </a:r>
            <a:endParaRPr sz="2800" b="0" i="0" u="none" strike="noStrike" cap="none">
              <a:solidFill>
                <a:schemeClr val="dk1"/>
              </a:solidFill>
              <a:latin typeface="Calibri"/>
              <a:ea typeface="Calibri"/>
              <a:cs typeface="Calibri"/>
              <a:sym typeface="Calibri"/>
            </a:endParaRPr>
          </a:p>
        </p:txBody>
      </p:sp>
      <p:sp>
        <p:nvSpPr>
          <p:cNvPr id="281" name="Google Shape;281;p12"/>
          <p:cNvSpPr txBox="1"/>
          <p:nvPr/>
        </p:nvSpPr>
        <p:spPr>
          <a:xfrm>
            <a:off x="594360" y="987552"/>
            <a:ext cx="11002975"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5617A"/>
              </a:buClr>
              <a:buSzPts val="1500"/>
              <a:buFont typeface="Calibri"/>
              <a:buNone/>
            </a:pPr>
            <a:r>
              <a:rPr lang="en-US" sz="1500" b="0" i="0" u="none" strike="noStrike" cap="none">
                <a:solidFill>
                  <a:srgbClr val="55617A"/>
                </a:solidFill>
                <a:latin typeface="Calibri"/>
                <a:ea typeface="Calibri"/>
                <a:cs typeface="Calibri"/>
                <a:sym typeface="Calibri"/>
              </a:rPr>
              <a:t>§2.2 · Ukurannya: siapa yang dirugikan, dan apakah dia bisa tahu ada yang salah.</a:t>
            </a:r>
            <a:endParaRPr sz="1500" b="0" i="0" u="none" strike="noStrike" cap="none">
              <a:solidFill>
                <a:schemeClr val="dk1"/>
              </a:solidFill>
              <a:latin typeface="Calibri"/>
              <a:ea typeface="Calibri"/>
              <a:cs typeface="Calibri"/>
              <a:sym typeface="Calibri"/>
            </a:endParaRPr>
          </a:p>
        </p:txBody>
      </p:sp>
      <p:sp>
        <p:nvSpPr>
          <p:cNvPr id="282" name="Google Shape;282;p12"/>
          <p:cNvSpPr/>
          <p:nvPr/>
        </p:nvSpPr>
        <p:spPr>
          <a:xfrm>
            <a:off x="594360" y="1664208"/>
            <a:ext cx="640080" cy="274320"/>
          </a:xfrm>
          <a:prstGeom prst="roundRect">
            <a:avLst>
              <a:gd name="adj" fmla="val 20000"/>
            </a:avLst>
          </a:prstGeom>
          <a:solidFill>
            <a:srgbClr val="D14343"/>
          </a:solidFill>
          <a:ln w="12700" cap="flat" cmpd="sng">
            <a:solidFill>
              <a:srgbClr val="D1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3" name="Google Shape;283;p12"/>
          <p:cNvSpPr txBox="1"/>
          <p:nvPr/>
        </p:nvSpPr>
        <p:spPr>
          <a:xfrm>
            <a:off x="594360" y="1664208"/>
            <a:ext cx="64008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P0</a:t>
            </a:r>
            <a:endParaRPr sz="1100" b="0" i="0" u="none" strike="noStrike" cap="none">
              <a:solidFill>
                <a:schemeClr val="dk1"/>
              </a:solidFill>
              <a:latin typeface="Calibri"/>
              <a:ea typeface="Calibri"/>
              <a:cs typeface="Calibri"/>
              <a:sym typeface="Calibri"/>
            </a:endParaRPr>
          </a:p>
        </p:txBody>
      </p:sp>
      <p:sp>
        <p:nvSpPr>
          <p:cNvPr id="284" name="Google Shape;284;p12"/>
          <p:cNvSpPr txBox="1"/>
          <p:nvPr/>
        </p:nvSpPr>
        <p:spPr>
          <a:xfrm>
            <a:off x="1463040" y="1536192"/>
            <a:ext cx="6309360" cy="566928"/>
          </a:xfrm>
          <a:prstGeom prst="rect">
            <a:avLst/>
          </a:prstGeom>
          <a:noFill/>
          <a:ln>
            <a:noFill/>
          </a:ln>
        </p:spPr>
        <p:txBody>
          <a:bodyPr spcFirstLastPara="1" wrap="square" lIns="0" tIns="0" rIns="0" bIns="0" anchor="ctr" anchorCtr="0">
            <a:noAutofit/>
          </a:bodyPr>
          <a:lstStyle/>
          <a:p>
            <a:pPr marL="0" marR="0" lvl="0" indent="0" algn="l" rtl="0">
              <a:lnSpc>
                <a:spcPct val="131000"/>
              </a:lnSpc>
              <a:spcBef>
                <a:spcPts val="0"/>
              </a:spcBef>
              <a:spcAft>
                <a:spcPts val="0"/>
              </a:spcAft>
              <a:buClr>
                <a:srgbClr val="0F1B33"/>
              </a:buClr>
              <a:buSzPts val="1300"/>
              <a:buFont typeface="Calibri"/>
              <a:buNone/>
            </a:pPr>
            <a:r>
              <a:rPr lang="en-US" sz="1300" b="0" i="0" u="none" strike="noStrike" cap="none">
                <a:solidFill>
                  <a:srgbClr val="0F1B33"/>
                </a:solidFill>
                <a:latin typeface="Calibri"/>
                <a:ea typeface="Calibri"/>
                <a:cs typeface="Calibri"/>
                <a:sym typeface="Calibri"/>
              </a:rPr>
              <a:t>Menampilkan info salah tentang seseorang, membocorkan datanya, atau menghapus nilai tanpa jejak</a:t>
            </a:r>
            <a:endParaRPr sz="1300" b="0" i="0" u="none" strike="noStrike" cap="none">
              <a:solidFill>
                <a:schemeClr val="dk1"/>
              </a:solidFill>
              <a:latin typeface="Calibri"/>
              <a:ea typeface="Calibri"/>
              <a:cs typeface="Calibri"/>
              <a:sym typeface="Calibri"/>
            </a:endParaRPr>
          </a:p>
        </p:txBody>
      </p:sp>
      <p:sp>
        <p:nvSpPr>
          <p:cNvPr id="285" name="Google Shape;285;p12"/>
          <p:cNvSpPr txBox="1"/>
          <p:nvPr/>
        </p:nvSpPr>
        <p:spPr>
          <a:xfrm>
            <a:off x="7909560" y="1536192"/>
            <a:ext cx="3687775"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5617A"/>
              </a:buClr>
              <a:buSzPts val="1250"/>
              <a:buFont typeface="Calibri"/>
              <a:buNone/>
            </a:pPr>
            <a:r>
              <a:rPr lang="en-US" sz="1250" b="0" i="1" u="none" strike="noStrike" cap="none">
                <a:solidFill>
                  <a:srgbClr val="55617A"/>
                </a:solidFill>
                <a:latin typeface="Calibri"/>
                <a:ea typeface="Calibri"/>
                <a:cs typeface="Calibri"/>
                <a:sym typeface="Calibri"/>
              </a:rPr>
              <a:t>Tidak ada yang sadar</a:t>
            </a:r>
            <a:endParaRPr sz="1250" b="0" i="0" u="none" strike="noStrike" cap="none">
              <a:solidFill>
                <a:schemeClr val="dk1"/>
              </a:solidFill>
              <a:latin typeface="Calibri"/>
              <a:ea typeface="Calibri"/>
              <a:cs typeface="Calibri"/>
              <a:sym typeface="Calibri"/>
            </a:endParaRPr>
          </a:p>
        </p:txBody>
      </p:sp>
      <p:sp>
        <p:nvSpPr>
          <p:cNvPr id="286" name="Google Shape;286;p12"/>
          <p:cNvSpPr/>
          <p:nvPr/>
        </p:nvSpPr>
        <p:spPr>
          <a:xfrm>
            <a:off x="594360" y="2359152"/>
            <a:ext cx="640080" cy="274320"/>
          </a:xfrm>
          <a:prstGeom prst="roundRect">
            <a:avLst>
              <a:gd name="adj" fmla="val 20000"/>
            </a:avLst>
          </a:prstGeom>
          <a:solidFill>
            <a:srgbClr val="B26A00"/>
          </a:solidFill>
          <a:ln w="12700" cap="flat" cmpd="sng">
            <a:solidFill>
              <a:srgbClr val="B26A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7" name="Google Shape;287;p12"/>
          <p:cNvSpPr txBox="1"/>
          <p:nvPr/>
        </p:nvSpPr>
        <p:spPr>
          <a:xfrm>
            <a:off x="594360" y="2359152"/>
            <a:ext cx="64008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P1</a:t>
            </a:r>
            <a:endParaRPr sz="1100" b="0" i="0" u="none" strike="noStrike" cap="none">
              <a:solidFill>
                <a:schemeClr val="dk1"/>
              </a:solidFill>
              <a:latin typeface="Calibri"/>
              <a:ea typeface="Calibri"/>
              <a:cs typeface="Calibri"/>
              <a:sym typeface="Calibri"/>
            </a:endParaRPr>
          </a:p>
        </p:txBody>
      </p:sp>
      <p:sp>
        <p:nvSpPr>
          <p:cNvPr id="288" name="Google Shape;288;p12"/>
          <p:cNvSpPr txBox="1"/>
          <p:nvPr/>
        </p:nvSpPr>
        <p:spPr>
          <a:xfrm>
            <a:off x="1463040" y="2231136"/>
            <a:ext cx="6309360" cy="566928"/>
          </a:xfrm>
          <a:prstGeom prst="rect">
            <a:avLst/>
          </a:prstGeom>
          <a:noFill/>
          <a:ln>
            <a:noFill/>
          </a:ln>
        </p:spPr>
        <p:txBody>
          <a:bodyPr spcFirstLastPara="1" wrap="square" lIns="0" tIns="0" rIns="0" bIns="0" anchor="ctr" anchorCtr="0">
            <a:noAutofit/>
          </a:bodyPr>
          <a:lstStyle/>
          <a:p>
            <a:pPr marL="0" marR="0" lvl="0" indent="0" algn="l" rtl="0">
              <a:lnSpc>
                <a:spcPct val="131000"/>
              </a:lnSpc>
              <a:spcBef>
                <a:spcPts val="0"/>
              </a:spcBef>
              <a:spcAft>
                <a:spcPts val="0"/>
              </a:spcAft>
              <a:buClr>
                <a:srgbClr val="0F1B33"/>
              </a:buClr>
              <a:buSzPts val="1300"/>
              <a:buFont typeface="Calibri"/>
              <a:buNone/>
            </a:pPr>
            <a:r>
              <a:rPr lang="en-US" sz="1300" b="0" i="0" u="none" strike="noStrike" cap="none">
                <a:solidFill>
                  <a:srgbClr val="0F1B33"/>
                </a:solidFill>
                <a:latin typeface="Calibri"/>
                <a:ea typeface="Calibri"/>
                <a:cs typeface="Calibri"/>
                <a:sym typeface="Calibri"/>
              </a:rPr>
              <a:t>User tidak bisa lanjut, atau jejak keputusan jadi kurang jelas, tapi tidak ada info yang salah</a:t>
            </a:r>
            <a:endParaRPr sz="1300" b="0" i="0" u="none" strike="noStrike" cap="none">
              <a:solidFill>
                <a:schemeClr val="dk1"/>
              </a:solidFill>
              <a:latin typeface="Calibri"/>
              <a:ea typeface="Calibri"/>
              <a:cs typeface="Calibri"/>
              <a:sym typeface="Calibri"/>
            </a:endParaRPr>
          </a:p>
        </p:txBody>
      </p:sp>
      <p:sp>
        <p:nvSpPr>
          <p:cNvPr id="289" name="Google Shape;289;p12"/>
          <p:cNvSpPr txBox="1"/>
          <p:nvPr/>
        </p:nvSpPr>
        <p:spPr>
          <a:xfrm>
            <a:off x="7909560" y="2231136"/>
            <a:ext cx="3687775"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5617A"/>
              </a:buClr>
              <a:buSzPts val="1250"/>
              <a:buFont typeface="Calibri"/>
              <a:buNone/>
            </a:pPr>
            <a:r>
              <a:rPr lang="en-US" sz="1250" b="0" i="1" u="none" strike="noStrike" cap="none">
                <a:solidFill>
                  <a:srgbClr val="55617A"/>
                </a:solidFill>
                <a:latin typeface="Calibri"/>
                <a:ea typeface="Calibri"/>
                <a:cs typeface="Calibri"/>
                <a:sym typeface="Calibri"/>
              </a:rPr>
              <a:t>Kelihatan, dan bisa diulang</a:t>
            </a:r>
            <a:endParaRPr sz="1250" b="0" i="0" u="none" strike="noStrike" cap="none">
              <a:solidFill>
                <a:schemeClr val="dk1"/>
              </a:solidFill>
              <a:latin typeface="Calibri"/>
              <a:ea typeface="Calibri"/>
              <a:cs typeface="Calibri"/>
              <a:sym typeface="Calibri"/>
            </a:endParaRPr>
          </a:p>
        </p:txBody>
      </p:sp>
      <p:sp>
        <p:nvSpPr>
          <p:cNvPr id="290" name="Google Shape;290;p12"/>
          <p:cNvSpPr/>
          <p:nvPr/>
        </p:nvSpPr>
        <p:spPr>
          <a:xfrm>
            <a:off x="594360" y="3054096"/>
            <a:ext cx="640080" cy="274320"/>
          </a:xfrm>
          <a:prstGeom prst="roundRect">
            <a:avLst>
              <a:gd name="adj" fmla="val 20000"/>
            </a:avLst>
          </a:prstGeom>
          <a:solidFill>
            <a:srgbClr val="55617A"/>
          </a:solidFill>
          <a:ln w="12700" cap="flat" cmpd="sng">
            <a:solidFill>
              <a:srgbClr val="55617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1" name="Google Shape;291;p12"/>
          <p:cNvSpPr txBox="1"/>
          <p:nvPr/>
        </p:nvSpPr>
        <p:spPr>
          <a:xfrm>
            <a:off x="594360" y="3054096"/>
            <a:ext cx="64008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P2</a:t>
            </a:r>
            <a:endParaRPr sz="1100" b="0" i="0" u="none" strike="noStrike" cap="none">
              <a:solidFill>
                <a:schemeClr val="dk1"/>
              </a:solidFill>
              <a:latin typeface="Calibri"/>
              <a:ea typeface="Calibri"/>
              <a:cs typeface="Calibri"/>
              <a:sym typeface="Calibri"/>
            </a:endParaRPr>
          </a:p>
        </p:txBody>
      </p:sp>
      <p:sp>
        <p:nvSpPr>
          <p:cNvPr id="292" name="Google Shape;292;p12"/>
          <p:cNvSpPr txBox="1"/>
          <p:nvPr/>
        </p:nvSpPr>
        <p:spPr>
          <a:xfrm>
            <a:off x="1463040" y="2926080"/>
            <a:ext cx="6309360" cy="566928"/>
          </a:xfrm>
          <a:prstGeom prst="rect">
            <a:avLst/>
          </a:prstGeom>
          <a:noFill/>
          <a:ln>
            <a:noFill/>
          </a:ln>
        </p:spPr>
        <p:txBody>
          <a:bodyPr spcFirstLastPara="1" wrap="square" lIns="0" tIns="0" rIns="0" bIns="0" anchor="ctr" anchorCtr="0">
            <a:noAutofit/>
          </a:bodyPr>
          <a:lstStyle/>
          <a:p>
            <a:pPr marL="0" marR="0" lvl="0" indent="0" algn="l" rtl="0">
              <a:lnSpc>
                <a:spcPct val="131000"/>
              </a:lnSpc>
              <a:spcBef>
                <a:spcPts val="0"/>
              </a:spcBef>
              <a:spcAft>
                <a:spcPts val="0"/>
              </a:spcAft>
              <a:buClr>
                <a:srgbClr val="0F1B33"/>
              </a:buClr>
              <a:buSzPts val="1300"/>
              <a:buFont typeface="Calibri"/>
              <a:buNone/>
            </a:pPr>
            <a:r>
              <a:rPr lang="en-US" sz="1300" b="0" i="0" u="none" strike="noStrike" cap="none">
                <a:solidFill>
                  <a:srgbClr val="0F1B33"/>
                </a:solidFill>
                <a:latin typeface="Calibri"/>
                <a:ea typeface="Calibri"/>
                <a:cs typeface="Calibri"/>
                <a:sym typeface="Calibri"/>
              </a:rPr>
              <a:t>Berjalan benar sekarang, tapi mudah rusak kalau ada perubahan</a:t>
            </a:r>
            <a:endParaRPr sz="1300" b="0" i="0" u="none" strike="noStrike" cap="none">
              <a:solidFill>
                <a:schemeClr val="dk1"/>
              </a:solidFill>
              <a:latin typeface="Calibri"/>
              <a:ea typeface="Calibri"/>
              <a:cs typeface="Calibri"/>
              <a:sym typeface="Calibri"/>
            </a:endParaRPr>
          </a:p>
        </p:txBody>
      </p:sp>
      <p:sp>
        <p:nvSpPr>
          <p:cNvPr id="293" name="Google Shape;293;p12"/>
          <p:cNvSpPr txBox="1"/>
          <p:nvPr/>
        </p:nvSpPr>
        <p:spPr>
          <a:xfrm>
            <a:off x="7909560" y="2926080"/>
            <a:ext cx="3687775"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5617A"/>
              </a:buClr>
              <a:buSzPts val="1250"/>
              <a:buFont typeface="Calibri"/>
              <a:buNone/>
            </a:pPr>
            <a:r>
              <a:rPr lang="en-US" sz="1250" b="0" i="1" u="none" strike="noStrike" cap="none">
                <a:solidFill>
                  <a:srgbClr val="55617A"/>
                </a:solidFill>
                <a:latin typeface="Calibri"/>
                <a:ea typeface="Calibri"/>
                <a:cs typeface="Calibri"/>
                <a:sym typeface="Calibri"/>
              </a:rPr>
              <a:t>Bergantung pada aturan yang tidak tertulis</a:t>
            </a:r>
            <a:endParaRPr sz="1250" b="0" i="0" u="none" strike="noStrike" cap="none">
              <a:solidFill>
                <a:schemeClr val="dk1"/>
              </a:solidFill>
              <a:latin typeface="Calibri"/>
              <a:ea typeface="Calibri"/>
              <a:cs typeface="Calibri"/>
              <a:sym typeface="Calibri"/>
            </a:endParaRPr>
          </a:p>
        </p:txBody>
      </p:sp>
      <p:sp>
        <p:nvSpPr>
          <p:cNvPr id="294" name="Google Shape;294;p12"/>
          <p:cNvSpPr/>
          <p:nvPr/>
        </p:nvSpPr>
        <p:spPr>
          <a:xfrm>
            <a:off x="594360" y="3749040"/>
            <a:ext cx="640080" cy="274320"/>
          </a:xfrm>
          <a:prstGeom prst="roundRect">
            <a:avLst>
              <a:gd name="adj" fmla="val 20000"/>
            </a:avLst>
          </a:prstGeom>
          <a:solidFill>
            <a:srgbClr val="8A94A8"/>
          </a:solidFill>
          <a:ln w="12700" cap="flat" cmpd="sng">
            <a:solidFill>
              <a:srgbClr val="8A94A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5" name="Google Shape;295;p12"/>
          <p:cNvSpPr txBox="1"/>
          <p:nvPr/>
        </p:nvSpPr>
        <p:spPr>
          <a:xfrm>
            <a:off x="594360" y="3749040"/>
            <a:ext cx="64008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P3</a:t>
            </a:r>
            <a:endParaRPr sz="1100" b="0" i="0" u="none" strike="noStrike" cap="none">
              <a:solidFill>
                <a:schemeClr val="dk1"/>
              </a:solidFill>
              <a:latin typeface="Calibri"/>
              <a:ea typeface="Calibri"/>
              <a:cs typeface="Calibri"/>
              <a:sym typeface="Calibri"/>
            </a:endParaRPr>
          </a:p>
        </p:txBody>
      </p:sp>
      <p:sp>
        <p:nvSpPr>
          <p:cNvPr id="296" name="Google Shape;296;p12"/>
          <p:cNvSpPr txBox="1"/>
          <p:nvPr/>
        </p:nvSpPr>
        <p:spPr>
          <a:xfrm>
            <a:off x="1463040" y="3621024"/>
            <a:ext cx="6309360" cy="566928"/>
          </a:xfrm>
          <a:prstGeom prst="rect">
            <a:avLst/>
          </a:prstGeom>
          <a:noFill/>
          <a:ln>
            <a:noFill/>
          </a:ln>
        </p:spPr>
        <p:txBody>
          <a:bodyPr spcFirstLastPara="1" wrap="square" lIns="0" tIns="0" rIns="0" bIns="0" anchor="ctr" anchorCtr="0">
            <a:noAutofit/>
          </a:bodyPr>
          <a:lstStyle/>
          <a:p>
            <a:pPr marL="0" marR="0" lvl="0" indent="0" algn="l" rtl="0">
              <a:lnSpc>
                <a:spcPct val="131000"/>
              </a:lnSpc>
              <a:spcBef>
                <a:spcPts val="0"/>
              </a:spcBef>
              <a:spcAft>
                <a:spcPts val="0"/>
              </a:spcAft>
              <a:buClr>
                <a:srgbClr val="0F1B33"/>
              </a:buClr>
              <a:buSzPts val="1300"/>
              <a:buFont typeface="Calibri"/>
              <a:buNone/>
            </a:pPr>
            <a:r>
              <a:rPr lang="en-US" sz="1300" b="0" i="0" u="none" strike="noStrike" cap="none">
                <a:solidFill>
                  <a:srgbClr val="0F1B33"/>
                </a:solidFill>
                <a:latin typeface="Calibri"/>
                <a:ea typeface="Calibri"/>
                <a:cs typeface="Calibri"/>
                <a:sym typeface="Calibri"/>
              </a:rPr>
              <a:t>Soal kerapian kode, belum merugikan siapa pun</a:t>
            </a:r>
            <a:endParaRPr sz="1300" b="0" i="0" u="none" strike="noStrike" cap="none">
              <a:solidFill>
                <a:schemeClr val="dk1"/>
              </a:solidFill>
              <a:latin typeface="Calibri"/>
              <a:ea typeface="Calibri"/>
              <a:cs typeface="Calibri"/>
              <a:sym typeface="Calibri"/>
            </a:endParaRPr>
          </a:p>
        </p:txBody>
      </p:sp>
      <p:sp>
        <p:nvSpPr>
          <p:cNvPr id="297" name="Google Shape;297;p12"/>
          <p:cNvSpPr txBox="1"/>
          <p:nvPr/>
        </p:nvSpPr>
        <p:spPr>
          <a:xfrm>
            <a:off x="7909560" y="3621024"/>
            <a:ext cx="3687775"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5617A"/>
              </a:buClr>
              <a:buSzPts val="1250"/>
              <a:buFont typeface="Calibri"/>
              <a:buNone/>
            </a:pPr>
            <a:r>
              <a:rPr lang="en-US" sz="1250" b="0" i="1" u="none" strike="noStrike" cap="none">
                <a:solidFill>
                  <a:srgbClr val="55617A"/>
                </a:solidFill>
                <a:latin typeface="Calibri"/>
                <a:ea typeface="Calibri"/>
                <a:cs typeface="Calibri"/>
                <a:sym typeface="Calibri"/>
              </a:rPr>
              <a:t>Bisa menjebak developer berikutnya</a:t>
            </a:r>
            <a:endParaRPr sz="1250" b="0" i="0" u="none" strike="noStrike" cap="none">
              <a:solidFill>
                <a:schemeClr val="dk1"/>
              </a:solidFill>
              <a:latin typeface="Calibri"/>
              <a:ea typeface="Calibri"/>
              <a:cs typeface="Calibri"/>
              <a:sym typeface="Calibri"/>
            </a:endParaRPr>
          </a:p>
        </p:txBody>
      </p:sp>
      <p:sp>
        <p:nvSpPr>
          <p:cNvPr id="298" name="Google Shape;298;p12"/>
          <p:cNvSpPr/>
          <p:nvPr/>
        </p:nvSpPr>
        <p:spPr>
          <a:xfrm>
            <a:off x="594360" y="4480560"/>
            <a:ext cx="5364328" cy="1508760"/>
          </a:xfrm>
          <a:prstGeom prst="roundRect">
            <a:avLst>
              <a:gd name="adj" fmla="val 4242"/>
            </a:avLst>
          </a:prstGeom>
          <a:solidFill>
            <a:srgbClr val="E7F1FF"/>
          </a:solidFill>
          <a:ln w="9525" cap="flat" cmpd="sng">
            <a:solidFill>
              <a:srgbClr val="E7F1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9" name="Google Shape;299;p12"/>
          <p:cNvSpPr txBox="1"/>
          <p:nvPr/>
        </p:nvSpPr>
        <p:spPr>
          <a:xfrm>
            <a:off x="868680" y="4617720"/>
            <a:ext cx="4815688"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C2E6B"/>
              </a:buClr>
              <a:buSzPts val="1500"/>
              <a:buFont typeface="Calibri"/>
              <a:buNone/>
            </a:pPr>
            <a:r>
              <a:rPr lang="en-US" sz="1500" b="1" i="0" u="none" strike="noStrike" cap="none">
                <a:solidFill>
                  <a:srgbClr val="0C2E6B"/>
                </a:solidFill>
                <a:latin typeface="Calibri"/>
                <a:ea typeface="Calibri"/>
                <a:cs typeface="Calibri"/>
                <a:sym typeface="Calibri"/>
              </a:rPr>
              <a:t>Kalau terjadi diam-diam, naik</a:t>
            </a:r>
            <a:endParaRPr sz="1500" b="0" i="0" u="none" strike="noStrike" cap="none">
              <a:solidFill>
                <a:schemeClr val="dk1"/>
              </a:solidFill>
              <a:latin typeface="Calibri"/>
              <a:ea typeface="Calibri"/>
              <a:cs typeface="Calibri"/>
              <a:sym typeface="Calibri"/>
            </a:endParaRPr>
          </a:p>
        </p:txBody>
      </p:sp>
      <p:sp>
        <p:nvSpPr>
          <p:cNvPr id="300" name="Google Shape;300;p12"/>
          <p:cNvSpPr txBox="1"/>
          <p:nvPr/>
        </p:nvSpPr>
        <p:spPr>
          <a:xfrm>
            <a:off x="868680" y="4983480"/>
            <a:ext cx="4815688" cy="914400"/>
          </a:xfrm>
          <a:prstGeom prst="rect">
            <a:avLst/>
          </a:prstGeom>
          <a:noFill/>
          <a:ln>
            <a:noFill/>
          </a:ln>
        </p:spPr>
        <p:txBody>
          <a:bodyPr spcFirstLastPara="1" wrap="square" lIns="0" tIns="0" rIns="0" bIns="0" anchor="t" anchorCtr="0">
            <a:noAutofit/>
          </a:bodyPr>
          <a:lstStyle/>
          <a:p>
            <a:pPr marL="0" marR="0" lvl="0" indent="0" algn="l" rtl="0">
              <a:lnSpc>
                <a:spcPct val="136000"/>
              </a:lnSpc>
              <a:spcBef>
                <a:spcPts val="0"/>
              </a:spcBef>
              <a:spcAft>
                <a:spcPts val="0"/>
              </a:spcAft>
              <a:buClr>
                <a:srgbClr val="0F1B33"/>
              </a:buClr>
              <a:buSzPts val="1250"/>
              <a:buFont typeface="Calibri"/>
              <a:buNone/>
            </a:pPr>
            <a:r>
              <a:rPr lang="en-US" sz="1250" b="0" i="0" u="none" strike="noStrike" cap="none">
                <a:solidFill>
                  <a:srgbClr val="0F1B33"/>
                </a:solidFill>
                <a:latin typeface="Calibri"/>
                <a:ea typeface="Calibri"/>
                <a:cs typeface="Calibri"/>
                <a:sym typeface="Calibri"/>
              </a:rPr>
              <a:t>Angka salah yang diberi peringatan saya golongkan P1. Kalau angka yang sama tampil seolah benar, jadi P0. Makanya kolom kosong saya anggap lebih berat dari crash, karena crash langsung kelihatan.</a:t>
            </a:r>
            <a:endParaRPr sz="1250" b="0" i="0" u="none" strike="noStrike" cap="none">
              <a:solidFill>
                <a:schemeClr val="dk1"/>
              </a:solidFill>
              <a:latin typeface="Calibri"/>
              <a:ea typeface="Calibri"/>
              <a:cs typeface="Calibri"/>
              <a:sym typeface="Calibri"/>
            </a:endParaRPr>
          </a:p>
        </p:txBody>
      </p:sp>
      <p:sp>
        <p:nvSpPr>
          <p:cNvPr id="301" name="Google Shape;301;p12"/>
          <p:cNvSpPr/>
          <p:nvPr/>
        </p:nvSpPr>
        <p:spPr>
          <a:xfrm>
            <a:off x="6233008" y="4480560"/>
            <a:ext cx="5364328" cy="1508760"/>
          </a:xfrm>
          <a:prstGeom prst="roundRect">
            <a:avLst>
              <a:gd name="adj" fmla="val 4242"/>
            </a:avLst>
          </a:prstGeom>
          <a:solidFill>
            <a:srgbClr val="E7F1FF"/>
          </a:solidFill>
          <a:ln w="9525" cap="flat" cmpd="sng">
            <a:solidFill>
              <a:srgbClr val="E7F1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2" name="Google Shape;302;p12"/>
          <p:cNvSpPr txBox="1"/>
          <p:nvPr/>
        </p:nvSpPr>
        <p:spPr>
          <a:xfrm>
            <a:off x="6507328" y="4617720"/>
            <a:ext cx="4815688"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C2E6B"/>
              </a:buClr>
              <a:buSzPts val="1500"/>
              <a:buFont typeface="Calibri"/>
              <a:buNone/>
            </a:pPr>
            <a:r>
              <a:rPr lang="en-US" sz="1500" b="1" i="0" u="none" strike="noStrike" cap="none">
                <a:solidFill>
                  <a:srgbClr val="0C2E6B"/>
                </a:solidFill>
                <a:latin typeface="Calibri"/>
                <a:ea typeface="Calibri"/>
                <a:cs typeface="Calibri"/>
                <a:sym typeface="Calibri"/>
              </a:rPr>
              <a:t>Kalau bisa diulang, turun</a:t>
            </a:r>
            <a:endParaRPr sz="1500" b="0" i="0" u="none" strike="noStrike" cap="none">
              <a:solidFill>
                <a:schemeClr val="dk1"/>
              </a:solidFill>
              <a:latin typeface="Calibri"/>
              <a:ea typeface="Calibri"/>
              <a:cs typeface="Calibri"/>
              <a:sym typeface="Calibri"/>
            </a:endParaRPr>
          </a:p>
        </p:txBody>
      </p:sp>
      <p:sp>
        <p:nvSpPr>
          <p:cNvPr id="303" name="Google Shape;303;p12"/>
          <p:cNvSpPr txBox="1"/>
          <p:nvPr/>
        </p:nvSpPr>
        <p:spPr>
          <a:xfrm>
            <a:off x="6507328" y="4983480"/>
            <a:ext cx="4815688" cy="914400"/>
          </a:xfrm>
          <a:prstGeom prst="rect">
            <a:avLst/>
          </a:prstGeom>
          <a:noFill/>
          <a:ln>
            <a:noFill/>
          </a:ln>
        </p:spPr>
        <p:txBody>
          <a:bodyPr spcFirstLastPara="1" wrap="square" lIns="0" tIns="0" rIns="0" bIns="0" anchor="t" anchorCtr="0">
            <a:noAutofit/>
          </a:bodyPr>
          <a:lstStyle/>
          <a:p>
            <a:pPr marL="0" marR="0" lvl="0" indent="0" algn="l" rtl="0">
              <a:lnSpc>
                <a:spcPct val="136000"/>
              </a:lnSpc>
              <a:spcBef>
                <a:spcPts val="0"/>
              </a:spcBef>
              <a:spcAft>
                <a:spcPts val="0"/>
              </a:spcAft>
              <a:buClr>
                <a:srgbClr val="0F1B33"/>
              </a:buClr>
              <a:buSzPts val="1250"/>
              <a:buFont typeface="Calibri"/>
              <a:buNone/>
            </a:pPr>
            <a:r>
              <a:rPr lang="en-US" sz="1250" b="0" i="0" u="none" strike="noStrike" cap="none">
                <a:solidFill>
                  <a:srgbClr val="0F1B33"/>
                </a:solidFill>
                <a:latin typeface="Calibri"/>
                <a:ea typeface="Calibri"/>
                <a:cs typeface="Calibri"/>
                <a:sym typeface="Calibri"/>
              </a:rPr>
              <a:t>Kalau user bisa mencoba lagi, turun satu tingkat. Kalau harus diperbaiki lewat rails console, naik satu tingkat.</a:t>
            </a:r>
            <a:endParaRPr sz="1250" b="0" i="0" u="none" strike="noStrike" cap="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308" name="Shape 308"/>
        <p:cNvGrpSpPr/>
        <p:nvPr/>
      </p:nvGrpSpPr>
      <p:grpSpPr>
        <a:xfrm>
          <a:off x="0" y="0"/>
          <a:ext cx="0" cy="0"/>
          <a:chOff x="0" y="0"/>
          <a:chExt cx="0" cy="0"/>
        </a:xfrm>
      </p:grpSpPr>
      <p:sp>
        <p:nvSpPr>
          <p:cNvPr id="309" name="Google Shape;309;p13"/>
          <p:cNvSpPr txBox="1"/>
          <p:nvPr/>
        </p:nvSpPr>
        <p:spPr>
          <a:xfrm>
            <a:off x="11277295" y="6419088"/>
            <a:ext cx="457200"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A94A8"/>
              </a:buClr>
              <a:buSzPts val="1000"/>
              <a:buFont typeface="Calibri"/>
              <a:buNone/>
            </a:pPr>
            <a:r>
              <a:rPr lang="en-US" sz="1000" b="0" i="0" u="none" strike="noStrike" cap="none">
                <a:solidFill>
                  <a:srgbClr val="8A94A8"/>
                </a:solidFill>
                <a:latin typeface="Calibri"/>
                <a:ea typeface="Calibri"/>
                <a:cs typeface="Calibri"/>
                <a:sym typeface="Calibri"/>
              </a:rPr>
              <a:t>11</a:t>
            </a:r>
            <a:endParaRPr sz="1000" b="0" i="0" u="none" strike="noStrike" cap="none">
              <a:solidFill>
                <a:schemeClr val="dk1"/>
              </a:solidFill>
              <a:latin typeface="Calibri"/>
              <a:ea typeface="Calibri"/>
              <a:cs typeface="Calibri"/>
              <a:sym typeface="Calibri"/>
            </a:endParaRPr>
          </a:p>
        </p:txBody>
      </p:sp>
      <p:sp>
        <p:nvSpPr>
          <p:cNvPr id="310" name="Google Shape;310;p13"/>
          <p:cNvSpPr txBox="1"/>
          <p:nvPr/>
        </p:nvSpPr>
        <p:spPr>
          <a:xfrm>
            <a:off x="594360" y="6419088"/>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A94A8"/>
              </a:buClr>
              <a:buSzPts val="1000"/>
              <a:buFont typeface="Calibri"/>
              <a:buNone/>
            </a:pPr>
            <a:r>
              <a:rPr lang="en-US" sz="1000" b="0" i="0" u="none" strike="noStrike" cap="none">
                <a:solidFill>
                  <a:srgbClr val="8A94A8"/>
                </a:solidFill>
                <a:latin typeface="Calibri"/>
                <a:ea typeface="Calibri"/>
                <a:cs typeface="Calibri"/>
                <a:sym typeface="Calibri"/>
              </a:rPr>
              <a:t>Aulia Afriza  ·  Kandidat Fullstack · Frontend depth</a:t>
            </a:r>
            <a:endParaRPr sz="1000" b="0" i="0" u="none" strike="noStrike" cap="none">
              <a:solidFill>
                <a:schemeClr val="dk1"/>
              </a:solidFill>
              <a:latin typeface="Calibri"/>
              <a:ea typeface="Calibri"/>
              <a:cs typeface="Calibri"/>
              <a:sym typeface="Calibri"/>
            </a:endParaRPr>
          </a:p>
        </p:txBody>
      </p:sp>
      <p:sp>
        <p:nvSpPr>
          <p:cNvPr id="311" name="Google Shape;311;p13"/>
          <p:cNvSpPr txBox="1"/>
          <p:nvPr/>
        </p:nvSpPr>
        <p:spPr>
          <a:xfrm>
            <a:off x="594360" y="438912"/>
            <a:ext cx="11002975"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2800"/>
              <a:buFont typeface="Calibri"/>
              <a:buNone/>
            </a:pPr>
            <a:r>
              <a:rPr lang="en-US" sz="2800" b="1" i="0" u="none" strike="noStrike" cap="none">
                <a:solidFill>
                  <a:srgbClr val="0F1B33"/>
                </a:solidFill>
                <a:latin typeface="Calibri"/>
                <a:ea typeface="Calibri"/>
                <a:cs typeface="Calibri"/>
                <a:sym typeface="Calibri"/>
              </a:rPr>
              <a:t>Dari 77 temuan, polanya ternyata mirip</a:t>
            </a:r>
            <a:endParaRPr sz="2800" b="0" i="0" u="none" strike="noStrike" cap="none">
              <a:solidFill>
                <a:schemeClr val="dk1"/>
              </a:solidFill>
              <a:latin typeface="Calibri"/>
              <a:ea typeface="Calibri"/>
              <a:cs typeface="Calibri"/>
              <a:sym typeface="Calibri"/>
            </a:endParaRPr>
          </a:p>
        </p:txBody>
      </p:sp>
      <p:sp>
        <p:nvSpPr>
          <p:cNvPr id="312" name="Google Shape;312;p13"/>
          <p:cNvSpPr txBox="1"/>
          <p:nvPr/>
        </p:nvSpPr>
        <p:spPr>
          <a:xfrm>
            <a:off x="594360" y="987552"/>
            <a:ext cx="11002975"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5617A"/>
              </a:buClr>
              <a:buSzPts val="1500"/>
              <a:buFont typeface="Calibri"/>
              <a:buNone/>
            </a:pPr>
            <a:r>
              <a:rPr lang="en-US" sz="1500" b="0" i="0" u="none" strike="noStrike" cap="none">
                <a:solidFill>
                  <a:srgbClr val="55617A"/>
                </a:solidFill>
                <a:latin typeface="Calibri"/>
                <a:ea typeface="Calibri"/>
                <a:cs typeface="Calibri"/>
                <a:sym typeface="Calibri"/>
              </a:rPr>
              <a:t>§2.2 · 44 di backend, 33 di frontend. Setelah dikelompokkan, kebanyakan masuk ke tiga pola ini.</a:t>
            </a:r>
            <a:endParaRPr sz="1500" b="0" i="0" u="none" strike="noStrike" cap="none">
              <a:solidFill>
                <a:schemeClr val="dk1"/>
              </a:solidFill>
              <a:latin typeface="Calibri"/>
              <a:ea typeface="Calibri"/>
              <a:cs typeface="Calibri"/>
              <a:sym typeface="Calibri"/>
            </a:endParaRPr>
          </a:p>
        </p:txBody>
      </p:sp>
      <p:sp>
        <p:nvSpPr>
          <p:cNvPr id="313" name="Google Shape;313;p13"/>
          <p:cNvSpPr/>
          <p:nvPr/>
        </p:nvSpPr>
        <p:spPr>
          <a:xfrm>
            <a:off x="594360" y="1554480"/>
            <a:ext cx="3484778" cy="3017520"/>
          </a:xfrm>
          <a:prstGeom prst="roundRect">
            <a:avLst>
              <a:gd name="adj" fmla="val 2121"/>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4" name="Google Shape;314;p13"/>
          <p:cNvSpPr txBox="1"/>
          <p:nvPr/>
        </p:nvSpPr>
        <p:spPr>
          <a:xfrm>
            <a:off x="868680" y="1737360"/>
            <a:ext cx="2936138"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1600"/>
              <a:buFont typeface="Calibri"/>
              <a:buNone/>
            </a:pPr>
            <a:r>
              <a:rPr lang="en-US" sz="1600" b="1" i="0" u="none" strike="noStrike" cap="none">
                <a:solidFill>
                  <a:srgbClr val="0F1B33"/>
                </a:solidFill>
                <a:latin typeface="Calibri"/>
                <a:ea typeface="Calibri"/>
                <a:cs typeface="Calibri"/>
                <a:sym typeface="Calibri"/>
              </a:rPr>
              <a:t>Gagal diam-diam</a:t>
            </a:r>
            <a:endParaRPr sz="1600" b="0" i="0" u="none" strike="noStrike" cap="none">
              <a:solidFill>
                <a:schemeClr val="dk1"/>
              </a:solidFill>
              <a:latin typeface="Calibri"/>
              <a:ea typeface="Calibri"/>
              <a:cs typeface="Calibri"/>
              <a:sym typeface="Calibri"/>
            </a:endParaRPr>
          </a:p>
        </p:txBody>
      </p:sp>
      <p:sp>
        <p:nvSpPr>
          <p:cNvPr id="315" name="Google Shape;315;p13"/>
          <p:cNvSpPr txBox="1"/>
          <p:nvPr/>
        </p:nvSpPr>
        <p:spPr>
          <a:xfrm>
            <a:off x="868680" y="2240280"/>
            <a:ext cx="2936138" cy="2194560"/>
          </a:xfrm>
          <a:prstGeom prst="rect">
            <a:avLst/>
          </a:prstGeom>
          <a:noFill/>
          <a:ln>
            <a:noFill/>
          </a:ln>
        </p:spPr>
        <p:txBody>
          <a:bodyPr spcFirstLastPara="1" wrap="square" lIns="0" tIns="0" rIns="0" bIns="0" anchor="t" anchorCtr="0">
            <a:noAutofit/>
          </a:bodyPr>
          <a:lstStyle/>
          <a:p>
            <a:pPr marL="342900" marR="0" lvl="0" indent="-342900" algn="l" rtl="0">
              <a:lnSpc>
                <a:spcPct val="138000"/>
              </a:lnSpc>
              <a:spcBef>
                <a:spcPts val="0"/>
              </a:spcBef>
              <a:spcAft>
                <a:spcPts val="0"/>
              </a:spcAft>
              <a:buClr>
                <a:srgbClr val="55617A"/>
              </a:buClr>
              <a:buSzPts val="1300"/>
              <a:buFont typeface="Calibri"/>
              <a:buChar char="•"/>
            </a:pPr>
            <a:r>
              <a:rPr lang="en-US" sz="1300" b="0" i="0" u="none" strike="noStrike" cap="none">
                <a:solidFill>
                  <a:srgbClr val="55617A"/>
                </a:solidFill>
                <a:latin typeface="Calibri"/>
                <a:ea typeface="Calibri"/>
                <a:cs typeface="Calibri"/>
                <a:sym typeface="Calibri"/>
              </a:rPr>
              <a:t>Audio yang putus tidak disimpan sementara</a:t>
            </a:r>
            <a:endParaRPr sz="1300" b="0" i="0" u="none" strike="noStrike" cap="none">
              <a:solidFill>
                <a:schemeClr val="dk1"/>
              </a:solidFill>
              <a:latin typeface="Calibri"/>
              <a:ea typeface="Calibri"/>
              <a:cs typeface="Calibri"/>
              <a:sym typeface="Calibri"/>
            </a:endParaRPr>
          </a:p>
          <a:p>
            <a:pPr marL="342900" marR="0" lvl="0" indent="-342900" algn="l" rtl="0">
              <a:lnSpc>
                <a:spcPct val="138000"/>
              </a:lnSpc>
              <a:spcBef>
                <a:spcPts val="900"/>
              </a:spcBef>
              <a:spcAft>
                <a:spcPts val="0"/>
              </a:spcAft>
              <a:buClr>
                <a:srgbClr val="55617A"/>
              </a:buClr>
              <a:buSzPts val="1300"/>
              <a:buFont typeface="Calibri"/>
              <a:buChar char="•"/>
            </a:pPr>
            <a:r>
              <a:rPr lang="en-US" sz="1300" b="0" i="0" u="none" strike="noStrike" cap="none">
                <a:solidFill>
                  <a:srgbClr val="55617A"/>
                </a:solidFill>
                <a:latin typeface="Calibri"/>
                <a:ea typeface="Calibri"/>
                <a:cs typeface="Calibri"/>
                <a:sym typeface="Calibri"/>
              </a:rPr>
              <a:t>Error saat polling diabaikan begitu saja</a:t>
            </a:r>
            <a:endParaRPr sz="1300" b="0" i="0" u="none" strike="noStrike" cap="none">
              <a:solidFill>
                <a:schemeClr val="dk1"/>
              </a:solidFill>
              <a:latin typeface="Calibri"/>
              <a:ea typeface="Calibri"/>
              <a:cs typeface="Calibri"/>
              <a:sym typeface="Calibri"/>
            </a:endParaRPr>
          </a:p>
          <a:p>
            <a:pPr marL="342900" marR="0" lvl="0" indent="-342900" algn="l" rtl="0">
              <a:lnSpc>
                <a:spcPct val="138000"/>
              </a:lnSpc>
              <a:spcBef>
                <a:spcPts val="900"/>
              </a:spcBef>
              <a:spcAft>
                <a:spcPts val="0"/>
              </a:spcAft>
              <a:buClr>
                <a:srgbClr val="55617A"/>
              </a:buClr>
              <a:buSzPts val="1300"/>
              <a:buFont typeface="Calibri"/>
              <a:buChar char="•"/>
            </a:pPr>
            <a:r>
              <a:rPr lang="en-US" sz="1300" b="0" i="0" u="none" strike="noStrike" cap="none">
                <a:solidFill>
                  <a:srgbClr val="55617A"/>
                </a:solidFill>
                <a:latin typeface="Calibri"/>
                <a:ea typeface="Calibri"/>
                <a:cs typeface="Calibri"/>
                <a:sym typeface="Calibri"/>
              </a:rPr>
              <a:t>Hapus skill tidak benar-benar menghapus</a:t>
            </a:r>
            <a:endParaRPr sz="1300" b="0" i="0" u="none" strike="noStrike" cap="none">
              <a:solidFill>
                <a:schemeClr val="dk1"/>
              </a:solidFill>
              <a:latin typeface="Calibri"/>
              <a:ea typeface="Calibri"/>
              <a:cs typeface="Calibri"/>
              <a:sym typeface="Calibri"/>
            </a:endParaRPr>
          </a:p>
        </p:txBody>
      </p:sp>
      <p:sp>
        <p:nvSpPr>
          <p:cNvPr id="316" name="Google Shape;316;p13"/>
          <p:cNvSpPr/>
          <p:nvPr/>
        </p:nvSpPr>
        <p:spPr>
          <a:xfrm>
            <a:off x="4353458" y="1554480"/>
            <a:ext cx="3484778" cy="3017520"/>
          </a:xfrm>
          <a:prstGeom prst="roundRect">
            <a:avLst>
              <a:gd name="adj" fmla="val 2121"/>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7" name="Google Shape;317;p13"/>
          <p:cNvSpPr txBox="1"/>
          <p:nvPr/>
        </p:nvSpPr>
        <p:spPr>
          <a:xfrm>
            <a:off x="4627778" y="1737360"/>
            <a:ext cx="2936138"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1600"/>
              <a:buFont typeface="Calibri"/>
              <a:buNone/>
            </a:pPr>
            <a:r>
              <a:rPr lang="en-US" sz="1600" b="1" i="0" u="none" strike="noStrike" cap="none">
                <a:solidFill>
                  <a:srgbClr val="0F1B33"/>
                </a:solidFill>
                <a:latin typeface="Calibri"/>
                <a:ea typeface="Calibri"/>
                <a:cs typeface="Calibri"/>
                <a:sym typeface="Calibri"/>
              </a:rPr>
              <a:t>Sudah dibuat, tapi belum dipakai</a:t>
            </a:r>
            <a:endParaRPr sz="1600" b="0" i="0" u="none" strike="noStrike" cap="none">
              <a:solidFill>
                <a:schemeClr val="dk1"/>
              </a:solidFill>
              <a:latin typeface="Calibri"/>
              <a:ea typeface="Calibri"/>
              <a:cs typeface="Calibri"/>
              <a:sym typeface="Calibri"/>
            </a:endParaRPr>
          </a:p>
        </p:txBody>
      </p:sp>
      <p:sp>
        <p:nvSpPr>
          <p:cNvPr id="318" name="Google Shape;318;p13"/>
          <p:cNvSpPr txBox="1"/>
          <p:nvPr/>
        </p:nvSpPr>
        <p:spPr>
          <a:xfrm>
            <a:off x="4627778" y="2240280"/>
            <a:ext cx="2936138" cy="2194560"/>
          </a:xfrm>
          <a:prstGeom prst="rect">
            <a:avLst/>
          </a:prstGeom>
          <a:noFill/>
          <a:ln>
            <a:noFill/>
          </a:ln>
        </p:spPr>
        <p:txBody>
          <a:bodyPr spcFirstLastPara="1" wrap="square" lIns="0" tIns="0" rIns="0" bIns="0" anchor="t" anchorCtr="0">
            <a:noAutofit/>
          </a:bodyPr>
          <a:lstStyle/>
          <a:p>
            <a:pPr marL="342900" marR="0" lvl="0" indent="-342900" algn="l" rtl="0">
              <a:lnSpc>
                <a:spcPct val="138000"/>
              </a:lnSpc>
              <a:spcBef>
                <a:spcPts val="0"/>
              </a:spcBef>
              <a:spcAft>
                <a:spcPts val="0"/>
              </a:spcAft>
              <a:buClr>
                <a:srgbClr val="55617A"/>
              </a:buClr>
              <a:buSzPts val="1300"/>
              <a:buFont typeface="Calibri"/>
              <a:buChar char="•"/>
            </a:pPr>
            <a:r>
              <a:rPr lang="en-US" sz="1300" b="0" i="0" u="none" strike="noStrike" cap="none">
                <a:solidFill>
                  <a:srgbClr val="55617A"/>
                </a:solidFill>
                <a:latin typeface="Calibri"/>
                <a:ea typeface="Calibri"/>
                <a:cs typeface="Calibri"/>
                <a:sym typeface="Calibri"/>
              </a:rPr>
              <a:t>AudioRingBuffer sudah lengkap, tapi tidak dipakai</a:t>
            </a:r>
            <a:endParaRPr sz="1300" b="0" i="0" u="none" strike="noStrike" cap="none">
              <a:solidFill>
                <a:schemeClr val="dk1"/>
              </a:solidFill>
              <a:latin typeface="Calibri"/>
              <a:ea typeface="Calibri"/>
              <a:cs typeface="Calibri"/>
              <a:sym typeface="Calibri"/>
            </a:endParaRPr>
          </a:p>
          <a:p>
            <a:pPr marL="342900" marR="0" lvl="0" indent="-342900" algn="l" rtl="0">
              <a:lnSpc>
                <a:spcPct val="138000"/>
              </a:lnSpc>
              <a:spcBef>
                <a:spcPts val="900"/>
              </a:spcBef>
              <a:spcAft>
                <a:spcPts val="0"/>
              </a:spcAft>
              <a:buClr>
                <a:srgbClr val="55617A"/>
              </a:buClr>
              <a:buSzPts val="1300"/>
              <a:buFont typeface="Calibri"/>
              <a:buChar char="•"/>
            </a:pPr>
            <a:r>
              <a:rPr lang="en-US" sz="1300" b="0" i="0" u="none" strike="noStrike" cap="none">
                <a:solidFill>
                  <a:srgbClr val="55617A"/>
                </a:solidFill>
                <a:latin typeface="Calibri"/>
                <a:ea typeface="Calibri"/>
                <a:cs typeface="Calibri"/>
                <a:sym typeface="Calibri"/>
              </a:rPr>
              <a:t>Zod sudah terpasang, tapi belum digunakan</a:t>
            </a:r>
            <a:endParaRPr sz="1300" b="0" i="0" u="none" strike="noStrike" cap="none">
              <a:solidFill>
                <a:schemeClr val="dk1"/>
              </a:solidFill>
              <a:latin typeface="Calibri"/>
              <a:ea typeface="Calibri"/>
              <a:cs typeface="Calibri"/>
              <a:sym typeface="Calibri"/>
            </a:endParaRPr>
          </a:p>
          <a:p>
            <a:pPr marL="342900" marR="0" lvl="0" indent="-342900" algn="l" rtl="0">
              <a:lnSpc>
                <a:spcPct val="138000"/>
              </a:lnSpc>
              <a:spcBef>
                <a:spcPts val="900"/>
              </a:spcBef>
              <a:spcAft>
                <a:spcPts val="0"/>
              </a:spcAft>
              <a:buClr>
                <a:srgbClr val="55617A"/>
              </a:buClr>
              <a:buSzPts val="1300"/>
              <a:buFont typeface="Calibri"/>
              <a:buChar char="•"/>
            </a:pPr>
            <a:r>
              <a:rPr lang="en-US" sz="1300" b="0" i="0" u="none" strike="noStrike" cap="none">
                <a:solidFill>
                  <a:srgbClr val="55617A"/>
                </a:solidFill>
                <a:latin typeface="Calibri"/>
                <a:ea typeface="Calibri"/>
                <a:cs typeface="Calibri"/>
                <a:sym typeface="Calibri"/>
              </a:rPr>
              <a:t>Halaman Signup sudah jadi, tapi tidak bisa dibuka</a:t>
            </a:r>
            <a:endParaRPr sz="1300" b="0" i="0" u="none" strike="noStrike" cap="none">
              <a:solidFill>
                <a:schemeClr val="dk1"/>
              </a:solidFill>
              <a:latin typeface="Calibri"/>
              <a:ea typeface="Calibri"/>
              <a:cs typeface="Calibri"/>
              <a:sym typeface="Calibri"/>
            </a:endParaRPr>
          </a:p>
        </p:txBody>
      </p:sp>
      <p:sp>
        <p:nvSpPr>
          <p:cNvPr id="319" name="Google Shape;319;p13"/>
          <p:cNvSpPr/>
          <p:nvPr/>
        </p:nvSpPr>
        <p:spPr>
          <a:xfrm>
            <a:off x="8112557" y="1554480"/>
            <a:ext cx="3484778" cy="3017520"/>
          </a:xfrm>
          <a:prstGeom prst="roundRect">
            <a:avLst>
              <a:gd name="adj" fmla="val 2121"/>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0" name="Google Shape;320;p13"/>
          <p:cNvSpPr txBox="1"/>
          <p:nvPr/>
        </p:nvSpPr>
        <p:spPr>
          <a:xfrm>
            <a:off x="8386877" y="1737360"/>
            <a:ext cx="2936138"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1600"/>
              <a:buFont typeface="Calibri"/>
              <a:buNone/>
            </a:pPr>
            <a:r>
              <a:rPr lang="en-US" sz="1600" b="1" i="0" u="none" strike="noStrike" cap="none">
                <a:solidFill>
                  <a:srgbClr val="0F1B33"/>
                </a:solidFill>
                <a:latin typeface="Calibri"/>
                <a:ea typeface="Calibri"/>
                <a:cs typeface="Calibri"/>
                <a:sym typeface="Calibri"/>
              </a:rPr>
              <a:t>Nilai default yang merugikan</a:t>
            </a:r>
            <a:endParaRPr sz="1600" b="0" i="0" u="none" strike="noStrike" cap="none">
              <a:solidFill>
                <a:schemeClr val="dk1"/>
              </a:solidFill>
              <a:latin typeface="Calibri"/>
              <a:ea typeface="Calibri"/>
              <a:cs typeface="Calibri"/>
              <a:sym typeface="Calibri"/>
            </a:endParaRPr>
          </a:p>
        </p:txBody>
      </p:sp>
      <p:sp>
        <p:nvSpPr>
          <p:cNvPr id="321" name="Google Shape;321;p13"/>
          <p:cNvSpPr txBox="1"/>
          <p:nvPr/>
        </p:nvSpPr>
        <p:spPr>
          <a:xfrm>
            <a:off x="8386877" y="2240280"/>
            <a:ext cx="2936138" cy="2194560"/>
          </a:xfrm>
          <a:prstGeom prst="rect">
            <a:avLst/>
          </a:prstGeom>
          <a:noFill/>
          <a:ln>
            <a:noFill/>
          </a:ln>
        </p:spPr>
        <p:txBody>
          <a:bodyPr spcFirstLastPara="1" wrap="square" lIns="0" tIns="0" rIns="0" bIns="0" anchor="t" anchorCtr="0">
            <a:noAutofit/>
          </a:bodyPr>
          <a:lstStyle/>
          <a:p>
            <a:pPr marL="342900" marR="0" lvl="0" indent="-342900" algn="l" rtl="0">
              <a:lnSpc>
                <a:spcPct val="138000"/>
              </a:lnSpc>
              <a:spcBef>
                <a:spcPts val="0"/>
              </a:spcBef>
              <a:spcAft>
                <a:spcPts val="0"/>
              </a:spcAft>
              <a:buClr>
                <a:srgbClr val="55617A"/>
              </a:buClr>
              <a:buSzPts val="1300"/>
              <a:buFont typeface="Calibri"/>
              <a:buChar char="•"/>
            </a:pPr>
            <a:r>
              <a:rPr lang="en-US" sz="1300" b="0" i="0" u="none" strike="noStrike" cap="none">
                <a:solidFill>
                  <a:srgbClr val="55617A"/>
                </a:solidFill>
                <a:latin typeface="Calibri"/>
                <a:ea typeface="Calibri"/>
                <a:cs typeface="Calibri"/>
                <a:sym typeface="Calibri"/>
              </a:rPr>
              <a:t>Level kosong → L1 Foundational</a:t>
            </a:r>
            <a:endParaRPr sz="1300" b="0" i="0" u="none" strike="noStrike" cap="none">
              <a:solidFill>
                <a:schemeClr val="dk1"/>
              </a:solidFill>
              <a:latin typeface="Calibri"/>
              <a:ea typeface="Calibri"/>
              <a:cs typeface="Calibri"/>
              <a:sym typeface="Calibri"/>
            </a:endParaRPr>
          </a:p>
          <a:p>
            <a:pPr marL="342900" marR="0" lvl="0" indent="-342900" algn="l" rtl="0">
              <a:lnSpc>
                <a:spcPct val="138000"/>
              </a:lnSpc>
              <a:spcBef>
                <a:spcPts val="900"/>
              </a:spcBef>
              <a:spcAft>
                <a:spcPts val="0"/>
              </a:spcAft>
              <a:buClr>
                <a:srgbClr val="55617A"/>
              </a:buClr>
              <a:buSzPts val="1300"/>
              <a:buFont typeface="Calibri"/>
              <a:buChar char="•"/>
            </a:pPr>
            <a:r>
              <a:rPr lang="en-US" sz="1300" b="0" i="0" u="none" strike="noStrike" cap="none">
                <a:solidFill>
                  <a:srgbClr val="55617A"/>
                </a:solidFill>
                <a:latin typeface="Calibri"/>
                <a:ea typeface="Calibri"/>
                <a:cs typeface="Calibri"/>
                <a:sym typeface="Calibri"/>
              </a:rPr>
              <a:t>Confidence tak terbaca → LOW</a:t>
            </a:r>
            <a:endParaRPr sz="1300" b="0" i="0" u="none" strike="noStrike" cap="none">
              <a:solidFill>
                <a:schemeClr val="dk1"/>
              </a:solidFill>
              <a:latin typeface="Calibri"/>
              <a:ea typeface="Calibri"/>
              <a:cs typeface="Calibri"/>
              <a:sym typeface="Calibri"/>
            </a:endParaRPr>
          </a:p>
          <a:p>
            <a:pPr marL="342900" marR="0" lvl="0" indent="-342900" algn="l" rtl="0">
              <a:lnSpc>
                <a:spcPct val="138000"/>
              </a:lnSpc>
              <a:spcBef>
                <a:spcPts val="900"/>
              </a:spcBef>
              <a:spcAft>
                <a:spcPts val="0"/>
              </a:spcAft>
              <a:buClr>
                <a:srgbClr val="55617A"/>
              </a:buClr>
              <a:buSzPts val="1300"/>
              <a:buFont typeface="Calibri"/>
              <a:buChar char="•"/>
            </a:pPr>
            <a:r>
              <a:rPr lang="en-US" sz="1300" b="0" i="0" u="none" strike="noStrike" cap="none">
                <a:solidFill>
                  <a:srgbClr val="55617A"/>
                </a:solidFill>
                <a:latin typeface="Calibri"/>
                <a:ea typeface="Calibri"/>
                <a:cs typeface="Calibri"/>
                <a:sym typeface="Calibri"/>
              </a:rPr>
              <a:t>Reconnect gagal → “Interview Complete”</a:t>
            </a:r>
            <a:endParaRPr sz="1300" b="0" i="0" u="none" strike="noStrike" cap="none">
              <a:solidFill>
                <a:schemeClr val="dk1"/>
              </a:solidFill>
              <a:latin typeface="Calibri"/>
              <a:ea typeface="Calibri"/>
              <a:cs typeface="Calibri"/>
              <a:sym typeface="Calibri"/>
            </a:endParaRPr>
          </a:p>
        </p:txBody>
      </p:sp>
      <p:sp>
        <p:nvSpPr>
          <p:cNvPr id="322" name="Google Shape;322;p13"/>
          <p:cNvSpPr/>
          <p:nvPr/>
        </p:nvSpPr>
        <p:spPr>
          <a:xfrm>
            <a:off x="594360" y="4800600"/>
            <a:ext cx="11002975" cy="1188720"/>
          </a:xfrm>
          <a:prstGeom prst="roundRect">
            <a:avLst>
              <a:gd name="adj" fmla="val 5385"/>
            </a:avLst>
          </a:prstGeom>
          <a:solidFill>
            <a:srgbClr val="FDECEC"/>
          </a:solidFill>
          <a:ln w="9525" cap="flat" cmpd="sng">
            <a:solidFill>
              <a:srgbClr val="FDECE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3" name="Google Shape;323;p13"/>
          <p:cNvSpPr txBox="1"/>
          <p:nvPr/>
        </p:nvSpPr>
        <p:spPr>
          <a:xfrm>
            <a:off x="868680" y="4800600"/>
            <a:ext cx="10454335" cy="1188720"/>
          </a:xfrm>
          <a:prstGeom prst="rect">
            <a:avLst/>
          </a:prstGeom>
          <a:noFill/>
          <a:ln>
            <a:noFill/>
          </a:ln>
        </p:spPr>
        <p:txBody>
          <a:bodyPr spcFirstLastPara="1" wrap="square" lIns="0" tIns="0" rIns="0" bIns="0" anchor="ctr" anchorCtr="0">
            <a:noAutofit/>
          </a:bodyPr>
          <a:lstStyle/>
          <a:p>
            <a:pPr marL="0" marR="0" lvl="0" indent="0" algn="l" rtl="0">
              <a:lnSpc>
                <a:spcPct val="138000"/>
              </a:lnSpc>
              <a:spcBef>
                <a:spcPts val="0"/>
              </a:spcBef>
              <a:spcAft>
                <a:spcPts val="0"/>
              </a:spcAft>
              <a:buClr>
                <a:srgbClr val="0F1B33"/>
              </a:buClr>
              <a:buSzPts val="1450"/>
              <a:buFont typeface="Calibri"/>
              <a:buNone/>
            </a:pPr>
            <a:r>
              <a:rPr lang="en-US" sz="1450" b="0" i="0" u="none" strike="noStrike" cap="none">
                <a:solidFill>
                  <a:srgbClr val="0F1B33"/>
                </a:solidFill>
                <a:latin typeface="Calibri"/>
                <a:ea typeface="Calibri"/>
                <a:cs typeface="Calibri"/>
                <a:sym typeface="Calibri"/>
              </a:rPr>
              <a:t>Waktu datanya tidak ada, sistem justru memilih nilai yang paling merugikan kandidat. Tiga P0 di tabel Fit/Gap masuk pola kedua: datanya sudah dihitung, tapi tidak pernah sampai ke layar.</a:t>
            </a:r>
            <a:endParaRPr sz="145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328" name="Shape 328"/>
        <p:cNvGrpSpPr/>
        <p:nvPr/>
      </p:nvGrpSpPr>
      <p:grpSpPr>
        <a:xfrm>
          <a:off x="0" y="0"/>
          <a:ext cx="0" cy="0"/>
          <a:chOff x="0" y="0"/>
          <a:chExt cx="0" cy="0"/>
        </a:xfrm>
      </p:grpSpPr>
      <p:sp>
        <p:nvSpPr>
          <p:cNvPr id="329" name="Google Shape;329;p14"/>
          <p:cNvSpPr txBox="1"/>
          <p:nvPr/>
        </p:nvSpPr>
        <p:spPr>
          <a:xfrm>
            <a:off x="11277295" y="6419088"/>
            <a:ext cx="457200"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A94A8"/>
              </a:buClr>
              <a:buSzPts val="1000"/>
              <a:buFont typeface="Calibri"/>
              <a:buNone/>
            </a:pPr>
            <a:r>
              <a:rPr lang="en-US" sz="1000" b="0" i="0" u="none" strike="noStrike" cap="none">
                <a:solidFill>
                  <a:srgbClr val="8A94A8"/>
                </a:solidFill>
                <a:latin typeface="Calibri"/>
                <a:ea typeface="Calibri"/>
                <a:cs typeface="Calibri"/>
                <a:sym typeface="Calibri"/>
              </a:rPr>
              <a:t>12</a:t>
            </a:r>
            <a:endParaRPr sz="1000" b="0" i="0" u="none" strike="noStrike" cap="none">
              <a:solidFill>
                <a:schemeClr val="dk1"/>
              </a:solidFill>
              <a:latin typeface="Calibri"/>
              <a:ea typeface="Calibri"/>
              <a:cs typeface="Calibri"/>
              <a:sym typeface="Calibri"/>
            </a:endParaRPr>
          </a:p>
        </p:txBody>
      </p:sp>
      <p:sp>
        <p:nvSpPr>
          <p:cNvPr id="330" name="Google Shape;330;p14"/>
          <p:cNvSpPr txBox="1"/>
          <p:nvPr/>
        </p:nvSpPr>
        <p:spPr>
          <a:xfrm>
            <a:off x="594360" y="6419088"/>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A94A8"/>
              </a:buClr>
              <a:buSzPts val="1000"/>
              <a:buFont typeface="Calibri"/>
              <a:buNone/>
            </a:pPr>
            <a:r>
              <a:rPr lang="en-US" sz="1000" b="0" i="0" u="none" strike="noStrike" cap="none">
                <a:solidFill>
                  <a:srgbClr val="8A94A8"/>
                </a:solidFill>
                <a:latin typeface="Calibri"/>
                <a:ea typeface="Calibri"/>
                <a:cs typeface="Calibri"/>
                <a:sym typeface="Calibri"/>
              </a:rPr>
              <a:t>Aulia Afriza  ·  Kandidat Fullstack · Frontend depth</a:t>
            </a:r>
            <a:endParaRPr sz="1000" b="0" i="0" u="none" strike="noStrike" cap="none">
              <a:solidFill>
                <a:schemeClr val="dk1"/>
              </a:solidFill>
              <a:latin typeface="Calibri"/>
              <a:ea typeface="Calibri"/>
              <a:cs typeface="Calibri"/>
              <a:sym typeface="Calibri"/>
            </a:endParaRPr>
          </a:p>
        </p:txBody>
      </p:sp>
      <p:sp>
        <p:nvSpPr>
          <p:cNvPr id="331" name="Google Shape;331;p14"/>
          <p:cNvSpPr txBox="1"/>
          <p:nvPr/>
        </p:nvSpPr>
        <p:spPr>
          <a:xfrm>
            <a:off x="594360" y="438912"/>
            <a:ext cx="11002975"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2800"/>
              <a:buFont typeface="Calibri"/>
              <a:buNone/>
            </a:pPr>
            <a:r>
              <a:rPr lang="en-US" sz="2800" b="1" i="0" u="none" strike="noStrike" cap="none">
                <a:solidFill>
                  <a:srgbClr val="0F1B33"/>
                </a:solidFill>
                <a:latin typeface="Calibri"/>
                <a:ea typeface="Calibri"/>
                <a:cs typeface="Calibri"/>
                <a:sym typeface="Calibri"/>
              </a:rPr>
              <a:t>Masalah utama: data hilang di tengah jalan</a:t>
            </a:r>
            <a:endParaRPr sz="2800" b="0" i="0" u="none" strike="noStrike" cap="none">
              <a:solidFill>
                <a:schemeClr val="dk1"/>
              </a:solidFill>
              <a:latin typeface="Calibri"/>
              <a:ea typeface="Calibri"/>
              <a:cs typeface="Calibri"/>
              <a:sym typeface="Calibri"/>
            </a:endParaRPr>
          </a:p>
        </p:txBody>
      </p:sp>
      <p:sp>
        <p:nvSpPr>
          <p:cNvPr id="332" name="Google Shape;332;p14"/>
          <p:cNvSpPr txBox="1"/>
          <p:nvPr/>
        </p:nvSpPr>
        <p:spPr>
          <a:xfrm>
            <a:off x="594360" y="987552"/>
            <a:ext cx="11002975"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5617A"/>
              </a:buClr>
              <a:buSzPts val="1500"/>
              <a:buFont typeface="Calibri"/>
              <a:buNone/>
            </a:pPr>
            <a:r>
              <a:rPr lang="en-US" sz="1500" b="0" i="0" u="none" strike="noStrike" cap="none">
                <a:solidFill>
                  <a:srgbClr val="55617A"/>
                </a:solidFill>
                <a:latin typeface="Calibri"/>
                <a:ea typeface="Calibri"/>
                <a:cs typeface="Calibri"/>
                <a:sym typeface="Calibri"/>
              </a:rPr>
              <a:t>§2.2 · Tiga masalah P0 ini penyebabnya sama.</a:t>
            </a:r>
            <a:endParaRPr sz="1500" b="0" i="0" u="none" strike="noStrike" cap="none">
              <a:solidFill>
                <a:schemeClr val="dk1"/>
              </a:solidFill>
              <a:latin typeface="Calibri"/>
              <a:ea typeface="Calibri"/>
              <a:cs typeface="Calibri"/>
              <a:sym typeface="Calibri"/>
            </a:endParaRPr>
          </a:p>
        </p:txBody>
      </p:sp>
      <p:sp>
        <p:nvSpPr>
          <p:cNvPr id="333" name="Google Shape;333;p14"/>
          <p:cNvSpPr/>
          <p:nvPr/>
        </p:nvSpPr>
        <p:spPr>
          <a:xfrm>
            <a:off x="594360" y="1554480"/>
            <a:ext cx="2487168" cy="2103120"/>
          </a:xfrm>
          <a:prstGeom prst="roundRect">
            <a:avLst>
              <a:gd name="adj" fmla="val 3043"/>
            </a:avLst>
          </a:prstGeom>
          <a:solidFill>
            <a:srgbClr val="E7F1FF"/>
          </a:solidFill>
          <a:ln w="9525" cap="flat" cmpd="sng">
            <a:solidFill>
              <a:srgbClr val="1C6F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4" name="Google Shape;334;p14"/>
          <p:cNvSpPr txBox="1"/>
          <p:nvPr/>
        </p:nvSpPr>
        <p:spPr>
          <a:xfrm>
            <a:off x="795528" y="1719072"/>
            <a:ext cx="2084832"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C6FF3"/>
              </a:buClr>
              <a:buSzPts val="1000"/>
              <a:buFont typeface="Calibri"/>
              <a:buNone/>
            </a:pPr>
            <a:r>
              <a:rPr lang="en-US" sz="1000" b="1" i="0" u="none" strike="noStrike" cap="none">
                <a:solidFill>
                  <a:srgbClr val="1C6FF3"/>
                </a:solidFill>
                <a:latin typeface="Calibri"/>
                <a:ea typeface="Calibri"/>
                <a:cs typeface="Calibri"/>
                <a:sym typeface="Calibri"/>
              </a:rPr>
              <a:t>RUBY</a:t>
            </a:r>
            <a:endParaRPr sz="1000" b="0" i="0" u="none" strike="noStrike" cap="none">
              <a:solidFill>
                <a:schemeClr val="dk1"/>
              </a:solidFill>
              <a:latin typeface="Calibri"/>
              <a:ea typeface="Calibri"/>
              <a:cs typeface="Calibri"/>
              <a:sym typeface="Calibri"/>
            </a:endParaRPr>
          </a:p>
        </p:txBody>
      </p:sp>
      <p:sp>
        <p:nvSpPr>
          <p:cNvPr id="335" name="Google Shape;335;p14"/>
          <p:cNvSpPr txBox="1"/>
          <p:nvPr/>
        </p:nvSpPr>
        <p:spPr>
          <a:xfrm>
            <a:off x="795528" y="1965960"/>
            <a:ext cx="2084832" cy="34747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1500"/>
              <a:buFont typeface="Courier New" panose="02070609020205020404"/>
              <a:buNone/>
            </a:pPr>
            <a:r>
              <a:rPr lang="en-US" sz="1500" b="1" i="0" u="none" strike="noStrike" cap="none">
                <a:solidFill>
                  <a:srgbClr val="0F1B33"/>
                </a:solidFill>
                <a:latin typeface="Courier New" panose="02070609020205020404"/>
                <a:ea typeface="Courier New" panose="02070609020205020404"/>
                <a:cs typeface="Courier New" panose="02070609020205020404"/>
                <a:sym typeface="Courier New" panose="02070609020205020404"/>
              </a:rPr>
              <a:t>FitGap::Engine</a:t>
            </a:r>
            <a:endParaRPr sz="1500" b="0" i="0" u="none" strike="noStrike" cap="none">
              <a:solidFill>
                <a:schemeClr val="dk1"/>
              </a:solidFill>
              <a:latin typeface="Calibri"/>
              <a:ea typeface="Calibri"/>
              <a:cs typeface="Calibri"/>
              <a:sym typeface="Calibri"/>
            </a:endParaRPr>
          </a:p>
        </p:txBody>
      </p:sp>
      <p:sp>
        <p:nvSpPr>
          <p:cNvPr id="336" name="Google Shape;336;p14"/>
          <p:cNvSpPr txBox="1"/>
          <p:nvPr/>
        </p:nvSpPr>
        <p:spPr>
          <a:xfrm>
            <a:off x="795528" y="2395728"/>
            <a:ext cx="2084832" cy="114300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0F1B33"/>
              </a:buClr>
              <a:buSzPts val="1200"/>
              <a:buFont typeface="Calibri"/>
              <a:buNone/>
            </a:pPr>
            <a:r>
              <a:rPr lang="en-US" sz="1200" b="0" i="0" u="none" strike="noStrike" cap="none">
                <a:solidFill>
                  <a:srgbClr val="0F1B33"/>
                </a:solidFill>
                <a:latin typeface="Calibri"/>
                <a:ea typeface="Calibri"/>
                <a:cs typeface="Calibri"/>
                <a:sym typeface="Calibri"/>
              </a:rPr>
              <a:t>Sudah menghitung expected_level, is_override, confidence, dan probe_count</a:t>
            </a:r>
            <a:endParaRPr sz="1200" b="0" i="0" u="none" strike="noStrike" cap="none">
              <a:solidFill>
                <a:schemeClr val="dk1"/>
              </a:solidFill>
              <a:latin typeface="Calibri"/>
              <a:ea typeface="Calibri"/>
              <a:cs typeface="Calibri"/>
              <a:sym typeface="Calibri"/>
            </a:endParaRPr>
          </a:p>
        </p:txBody>
      </p:sp>
      <p:cxnSp>
        <p:nvCxnSpPr>
          <p:cNvPr id="337" name="Google Shape;337;p14"/>
          <p:cNvCxnSpPr/>
          <p:nvPr/>
        </p:nvCxnSpPr>
        <p:spPr>
          <a:xfrm>
            <a:off x="3118104" y="2606040"/>
            <a:ext cx="278282" cy="0"/>
          </a:xfrm>
          <a:prstGeom prst="straightConnector1">
            <a:avLst/>
          </a:prstGeom>
          <a:noFill/>
          <a:ln w="19050" cap="flat" cmpd="sng">
            <a:solidFill>
              <a:srgbClr val="8A94A8"/>
            </a:solidFill>
            <a:prstDash val="solid"/>
            <a:round/>
            <a:headEnd type="none" w="sm" len="sm"/>
            <a:tailEnd type="triangle" w="med" len="med"/>
          </a:ln>
        </p:spPr>
      </p:cxnSp>
      <p:sp>
        <p:nvSpPr>
          <p:cNvPr id="338" name="Google Shape;338;p14"/>
          <p:cNvSpPr/>
          <p:nvPr/>
        </p:nvSpPr>
        <p:spPr>
          <a:xfrm>
            <a:off x="3432962" y="1554480"/>
            <a:ext cx="2487168" cy="2103120"/>
          </a:xfrm>
          <a:prstGeom prst="roundRect">
            <a:avLst>
              <a:gd name="adj" fmla="val 3043"/>
            </a:avLst>
          </a:prstGeom>
          <a:solidFill>
            <a:srgbClr val="E7F1FF"/>
          </a:solidFill>
          <a:ln w="9525" cap="flat" cmpd="sng">
            <a:solidFill>
              <a:srgbClr val="1C6F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9" name="Google Shape;339;p14"/>
          <p:cNvSpPr txBox="1"/>
          <p:nvPr/>
        </p:nvSpPr>
        <p:spPr>
          <a:xfrm>
            <a:off x="3634130" y="1719072"/>
            <a:ext cx="2084832"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C6FF3"/>
              </a:buClr>
              <a:buSzPts val="1000"/>
              <a:buFont typeface="Calibri"/>
              <a:buNone/>
            </a:pPr>
            <a:r>
              <a:rPr lang="en-US" sz="1000" b="1" i="0" u="none" strike="noStrike" cap="none">
                <a:solidFill>
                  <a:srgbClr val="1C6FF3"/>
                </a:solidFill>
                <a:latin typeface="Calibri"/>
                <a:ea typeface="Calibri"/>
                <a:cs typeface="Calibri"/>
                <a:sym typeface="Calibri"/>
              </a:rPr>
              <a:t>API</a:t>
            </a:r>
            <a:endParaRPr sz="1000" b="0" i="0" u="none" strike="noStrike" cap="none">
              <a:solidFill>
                <a:schemeClr val="dk1"/>
              </a:solidFill>
              <a:latin typeface="Calibri"/>
              <a:ea typeface="Calibri"/>
              <a:cs typeface="Calibri"/>
              <a:sym typeface="Calibri"/>
            </a:endParaRPr>
          </a:p>
        </p:txBody>
      </p:sp>
      <p:sp>
        <p:nvSpPr>
          <p:cNvPr id="340" name="Google Shape;340;p14"/>
          <p:cNvSpPr txBox="1"/>
          <p:nvPr/>
        </p:nvSpPr>
        <p:spPr>
          <a:xfrm>
            <a:off x="3634130" y="1965960"/>
            <a:ext cx="2084832" cy="34747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1500"/>
              <a:buFont typeface="Courier New" panose="02070609020205020404"/>
              <a:buNone/>
            </a:pPr>
            <a:r>
              <a:rPr lang="en-US" sz="1500" b="1" i="0" u="none" strike="noStrike" cap="none">
                <a:solidFill>
                  <a:srgbClr val="0F1B33"/>
                </a:solidFill>
                <a:latin typeface="Courier New" panose="02070609020205020404"/>
                <a:ea typeface="Courier New" panose="02070609020205020404"/>
                <a:cs typeface="Courier New" panose="02070609020205020404"/>
                <a:sym typeface="Courier New" panose="02070609020205020404"/>
              </a:rPr>
              <a:t>Response JSON</a:t>
            </a:r>
            <a:endParaRPr sz="1500" b="0" i="0" u="none" strike="noStrike" cap="none">
              <a:solidFill>
                <a:schemeClr val="dk1"/>
              </a:solidFill>
              <a:latin typeface="Calibri"/>
              <a:ea typeface="Calibri"/>
              <a:cs typeface="Calibri"/>
              <a:sym typeface="Calibri"/>
            </a:endParaRPr>
          </a:p>
        </p:txBody>
      </p:sp>
      <p:sp>
        <p:nvSpPr>
          <p:cNvPr id="341" name="Google Shape;341;p14"/>
          <p:cNvSpPr txBox="1"/>
          <p:nvPr/>
        </p:nvSpPr>
        <p:spPr>
          <a:xfrm>
            <a:off x="3634130" y="2395728"/>
            <a:ext cx="2084832" cy="114300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0F1B33"/>
              </a:buClr>
              <a:buSzPts val="1200"/>
              <a:buFont typeface="Courier New" panose="02070609020205020404"/>
              <a:buNone/>
            </a:pPr>
            <a:r>
              <a:rPr lang="en-US" sz="1200" b="0" i="0" u="none" strike="noStrike" cap="none">
                <a:solidFill>
                  <a:srgbClr val="0F1B33"/>
                </a:solidFill>
                <a:latin typeface="Courier New" panose="02070609020205020404"/>
                <a:ea typeface="Courier New" panose="02070609020205020404"/>
                <a:cs typeface="Courier New" panose="02070609020205020404"/>
                <a:sym typeface="Courier New" panose="02070609020205020404"/>
              </a:rPr>
              <a:t>{ expected_level: 4,</a:t>
            </a:r>
            <a:endParaRPr sz="1200" b="0" i="0" u="none" strike="noStrike" cap="none">
              <a:solidFill>
                <a:schemeClr val="dk1"/>
              </a:solidFill>
              <a:latin typeface="Calibri"/>
              <a:ea typeface="Calibri"/>
              <a:cs typeface="Calibri"/>
              <a:sym typeface="Calibri"/>
            </a:endParaRPr>
          </a:p>
          <a:p>
            <a:pPr marL="0" marR="0" lvl="0" indent="0" algn="l" rtl="0">
              <a:lnSpc>
                <a:spcPct val="133000"/>
              </a:lnSpc>
              <a:spcBef>
                <a:spcPts val="0"/>
              </a:spcBef>
              <a:spcAft>
                <a:spcPts val="0"/>
              </a:spcAft>
              <a:buClr>
                <a:srgbClr val="0F1B33"/>
              </a:buClr>
              <a:buSzPts val="1200"/>
              <a:buFont typeface="Courier New" panose="02070609020205020404"/>
              <a:buNone/>
            </a:pPr>
            <a:r>
              <a:rPr lang="en-US" sz="1200" b="0" i="0" u="none" strike="noStrike" cap="none">
                <a:solidFill>
                  <a:srgbClr val="0F1B33"/>
                </a:solidFill>
                <a:latin typeface="Courier New" panose="02070609020205020404"/>
                <a:ea typeface="Courier New" panose="02070609020205020404"/>
                <a:cs typeface="Courier New" panose="02070609020205020404"/>
                <a:sym typeface="Courier New" panose="02070609020205020404"/>
              </a:rPr>
              <a:t>  confidence: "low" }</a:t>
            </a:r>
            <a:endParaRPr sz="1200" b="0" i="0" u="none" strike="noStrike" cap="none">
              <a:solidFill>
                <a:schemeClr val="dk1"/>
              </a:solidFill>
              <a:latin typeface="Calibri"/>
              <a:ea typeface="Calibri"/>
              <a:cs typeface="Calibri"/>
              <a:sym typeface="Calibri"/>
            </a:endParaRPr>
          </a:p>
        </p:txBody>
      </p:sp>
      <p:cxnSp>
        <p:nvCxnSpPr>
          <p:cNvPr id="342" name="Google Shape;342;p14"/>
          <p:cNvCxnSpPr/>
          <p:nvPr/>
        </p:nvCxnSpPr>
        <p:spPr>
          <a:xfrm>
            <a:off x="5956706" y="2606040"/>
            <a:ext cx="278282" cy="0"/>
          </a:xfrm>
          <a:prstGeom prst="straightConnector1">
            <a:avLst/>
          </a:prstGeom>
          <a:noFill/>
          <a:ln w="19050" cap="flat" cmpd="sng">
            <a:solidFill>
              <a:srgbClr val="D14343"/>
            </a:solidFill>
            <a:prstDash val="solid"/>
            <a:round/>
            <a:headEnd type="none" w="sm" len="sm"/>
            <a:tailEnd type="triangle" w="med" len="med"/>
          </a:ln>
        </p:spPr>
      </p:cxnSp>
      <p:sp>
        <p:nvSpPr>
          <p:cNvPr id="343" name="Google Shape;343;p14"/>
          <p:cNvSpPr/>
          <p:nvPr/>
        </p:nvSpPr>
        <p:spPr>
          <a:xfrm>
            <a:off x="6271565" y="1554480"/>
            <a:ext cx="2487168" cy="2103120"/>
          </a:xfrm>
          <a:prstGeom prst="roundRect">
            <a:avLst>
              <a:gd name="adj" fmla="val 3043"/>
            </a:avLst>
          </a:prstGeom>
          <a:solidFill>
            <a:srgbClr val="FDECEC"/>
          </a:solidFill>
          <a:ln w="9525" cap="flat" cmpd="sng">
            <a:solidFill>
              <a:srgbClr val="D1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4" name="Google Shape;344;p14"/>
          <p:cNvSpPr txBox="1"/>
          <p:nvPr/>
        </p:nvSpPr>
        <p:spPr>
          <a:xfrm>
            <a:off x="6472733" y="1719072"/>
            <a:ext cx="2084832"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D14343"/>
              </a:buClr>
              <a:buSzPts val="1000"/>
              <a:buFont typeface="Calibri"/>
              <a:buNone/>
            </a:pPr>
            <a:r>
              <a:rPr lang="en-US" sz="1000" b="1" i="0" u="none" strike="noStrike" cap="none">
                <a:solidFill>
                  <a:srgbClr val="D14343"/>
                </a:solidFill>
                <a:latin typeface="Calibri"/>
                <a:ea typeface="Calibri"/>
                <a:cs typeface="Calibri"/>
                <a:sym typeface="Calibri"/>
              </a:rPr>
              <a:t>DITULIS TANGAN</a:t>
            </a:r>
            <a:endParaRPr sz="1000" b="0" i="0" u="none" strike="noStrike" cap="none">
              <a:solidFill>
                <a:schemeClr val="dk1"/>
              </a:solidFill>
              <a:latin typeface="Calibri"/>
              <a:ea typeface="Calibri"/>
              <a:cs typeface="Calibri"/>
              <a:sym typeface="Calibri"/>
            </a:endParaRPr>
          </a:p>
        </p:txBody>
      </p:sp>
      <p:sp>
        <p:nvSpPr>
          <p:cNvPr id="345" name="Google Shape;345;p14"/>
          <p:cNvSpPr txBox="1"/>
          <p:nvPr/>
        </p:nvSpPr>
        <p:spPr>
          <a:xfrm>
            <a:off x="6472733" y="1965960"/>
            <a:ext cx="2084832" cy="34747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1500"/>
              <a:buFont typeface="Courier New" panose="02070609020205020404"/>
              <a:buNone/>
            </a:pPr>
            <a:r>
              <a:rPr lang="en-US" sz="1500" b="1" i="0" u="none" strike="noStrike" cap="none">
                <a:solidFill>
                  <a:srgbClr val="0F1B33"/>
                </a:solidFill>
                <a:latin typeface="Courier New" panose="02070609020205020404"/>
                <a:ea typeface="Courier New" panose="02070609020205020404"/>
                <a:cs typeface="Courier New" panose="02070609020205020404"/>
                <a:sym typeface="Courier New" panose="02070609020205020404"/>
              </a:rPr>
              <a:t>types/index.ts</a:t>
            </a:r>
            <a:endParaRPr sz="1500" b="0" i="0" u="none" strike="noStrike" cap="none">
              <a:solidFill>
                <a:schemeClr val="dk1"/>
              </a:solidFill>
              <a:latin typeface="Calibri"/>
              <a:ea typeface="Calibri"/>
              <a:cs typeface="Calibri"/>
              <a:sym typeface="Calibri"/>
            </a:endParaRPr>
          </a:p>
        </p:txBody>
      </p:sp>
      <p:sp>
        <p:nvSpPr>
          <p:cNvPr id="346" name="Google Shape;346;p14"/>
          <p:cNvSpPr txBox="1"/>
          <p:nvPr/>
        </p:nvSpPr>
        <p:spPr>
          <a:xfrm>
            <a:off x="6472733" y="2395728"/>
            <a:ext cx="2084832" cy="114300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0F1B33"/>
              </a:buClr>
              <a:buSzPts val="1200"/>
              <a:buFont typeface="Calibri"/>
              <a:buNone/>
            </a:pPr>
            <a:r>
              <a:rPr lang="en-US" sz="1200" b="0" i="0" u="none" strike="noStrike" cap="none">
                <a:solidFill>
                  <a:srgbClr val="0F1B33"/>
                </a:solidFill>
                <a:latin typeface="Calibri"/>
                <a:ea typeface="Calibri"/>
                <a:cs typeface="Calibri"/>
                <a:sym typeface="Calibri"/>
              </a:rPr>
              <a:t>Ditulis manual dan mencari required_level. Tidak pernah dicek dengan response aslinya.</a:t>
            </a:r>
            <a:endParaRPr sz="1200" b="0" i="0" u="none" strike="noStrike" cap="none">
              <a:solidFill>
                <a:schemeClr val="dk1"/>
              </a:solidFill>
              <a:latin typeface="Calibri"/>
              <a:ea typeface="Calibri"/>
              <a:cs typeface="Calibri"/>
              <a:sym typeface="Calibri"/>
            </a:endParaRPr>
          </a:p>
        </p:txBody>
      </p:sp>
      <p:cxnSp>
        <p:nvCxnSpPr>
          <p:cNvPr id="347" name="Google Shape;347;p14"/>
          <p:cNvCxnSpPr/>
          <p:nvPr/>
        </p:nvCxnSpPr>
        <p:spPr>
          <a:xfrm>
            <a:off x="8795309" y="2606040"/>
            <a:ext cx="278282" cy="0"/>
          </a:xfrm>
          <a:prstGeom prst="straightConnector1">
            <a:avLst/>
          </a:prstGeom>
          <a:noFill/>
          <a:ln w="19050" cap="flat" cmpd="sng">
            <a:solidFill>
              <a:srgbClr val="8A94A8"/>
            </a:solidFill>
            <a:prstDash val="solid"/>
            <a:round/>
            <a:headEnd type="none" w="sm" len="sm"/>
            <a:tailEnd type="triangle" w="med" len="med"/>
          </a:ln>
        </p:spPr>
      </p:cxnSp>
      <p:sp>
        <p:nvSpPr>
          <p:cNvPr id="348" name="Google Shape;348;p14"/>
          <p:cNvSpPr/>
          <p:nvPr/>
        </p:nvSpPr>
        <p:spPr>
          <a:xfrm>
            <a:off x="9110167" y="1554480"/>
            <a:ext cx="2487168" cy="2103120"/>
          </a:xfrm>
          <a:prstGeom prst="roundRect">
            <a:avLst>
              <a:gd name="adj" fmla="val 3043"/>
            </a:avLst>
          </a:prstGeom>
          <a:solidFill>
            <a:srgbClr val="FDECEC"/>
          </a:solidFill>
          <a:ln w="9525" cap="flat" cmpd="sng">
            <a:solidFill>
              <a:srgbClr val="D1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9" name="Google Shape;349;p14"/>
          <p:cNvSpPr txBox="1"/>
          <p:nvPr/>
        </p:nvSpPr>
        <p:spPr>
          <a:xfrm>
            <a:off x="9311335" y="1719072"/>
            <a:ext cx="2084832"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D14343"/>
              </a:buClr>
              <a:buSzPts val="1000"/>
              <a:buFont typeface="Calibri"/>
              <a:buNone/>
            </a:pPr>
            <a:r>
              <a:rPr lang="en-US" sz="1000" b="1" i="0" u="none" strike="noStrike" cap="none">
                <a:solidFill>
                  <a:srgbClr val="D14343"/>
                </a:solidFill>
                <a:latin typeface="Calibri"/>
                <a:ea typeface="Calibri"/>
                <a:cs typeface="Calibri"/>
                <a:sym typeface="Calibri"/>
              </a:rPr>
              <a:t>REACT</a:t>
            </a:r>
            <a:endParaRPr sz="1000" b="0" i="0" u="none" strike="noStrike" cap="none">
              <a:solidFill>
                <a:schemeClr val="dk1"/>
              </a:solidFill>
              <a:latin typeface="Calibri"/>
              <a:ea typeface="Calibri"/>
              <a:cs typeface="Calibri"/>
              <a:sym typeface="Calibri"/>
            </a:endParaRPr>
          </a:p>
        </p:txBody>
      </p:sp>
      <p:sp>
        <p:nvSpPr>
          <p:cNvPr id="350" name="Google Shape;350;p14"/>
          <p:cNvSpPr txBox="1"/>
          <p:nvPr/>
        </p:nvSpPr>
        <p:spPr>
          <a:xfrm>
            <a:off x="9311335" y="1965960"/>
            <a:ext cx="2084832" cy="34747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1500"/>
              <a:buFont typeface="Courier New" panose="02070609020205020404"/>
              <a:buNone/>
            </a:pPr>
            <a:r>
              <a:rPr lang="en-US" sz="1500" b="1" i="0" u="none" strike="noStrike" cap="none">
                <a:solidFill>
                  <a:srgbClr val="0F1B33"/>
                </a:solidFill>
                <a:latin typeface="Courier New" panose="02070609020205020404"/>
                <a:ea typeface="Courier New" panose="02070609020205020404"/>
                <a:cs typeface="Courier New" panose="02070609020205020404"/>
                <a:sym typeface="Courier New" panose="02070609020205020404"/>
              </a:rPr>
              <a:t>ComparisonTable</a:t>
            </a:r>
            <a:endParaRPr sz="1500" b="0" i="0" u="none" strike="noStrike" cap="none">
              <a:solidFill>
                <a:schemeClr val="dk1"/>
              </a:solidFill>
              <a:latin typeface="Calibri"/>
              <a:ea typeface="Calibri"/>
              <a:cs typeface="Calibri"/>
              <a:sym typeface="Calibri"/>
            </a:endParaRPr>
          </a:p>
        </p:txBody>
      </p:sp>
      <p:sp>
        <p:nvSpPr>
          <p:cNvPr id="351" name="Google Shape;351;p14"/>
          <p:cNvSpPr txBox="1"/>
          <p:nvPr/>
        </p:nvSpPr>
        <p:spPr>
          <a:xfrm>
            <a:off x="9311335" y="2395728"/>
            <a:ext cx="2084832" cy="114300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0F1B33"/>
              </a:buClr>
              <a:buSzPts val="1200"/>
              <a:buFont typeface="Calibri"/>
              <a:buNone/>
            </a:pPr>
            <a:r>
              <a:rPr lang="en-US" sz="1200" b="0" i="0" u="none" strike="noStrike" cap="none">
                <a:solidFill>
                  <a:srgbClr val="0F1B33"/>
                </a:solidFill>
                <a:latin typeface="Calibri"/>
                <a:ea typeface="Calibri"/>
                <a:cs typeface="Calibri"/>
                <a:sym typeface="Calibri"/>
              </a:rPr>
              <a:t>row.required_level bernilai undefined, jadi selnya kosong. Tidak ada error.</a:t>
            </a:r>
            <a:endParaRPr sz="1200" b="0" i="0" u="none" strike="noStrike" cap="none">
              <a:solidFill>
                <a:schemeClr val="dk1"/>
              </a:solidFill>
              <a:latin typeface="Calibri"/>
              <a:ea typeface="Calibri"/>
              <a:cs typeface="Calibri"/>
              <a:sym typeface="Calibri"/>
            </a:endParaRPr>
          </a:p>
        </p:txBody>
      </p:sp>
      <p:sp>
        <p:nvSpPr>
          <p:cNvPr id="352" name="Google Shape;352;p14"/>
          <p:cNvSpPr/>
          <p:nvPr/>
        </p:nvSpPr>
        <p:spPr>
          <a:xfrm>
            <a:off x="594360" y="3931920"/>
            <a:ext cx="11002975" cy="548640"/>
          </a:xfrm>
          <a:prstGeom prst="roundRect">
            <a:avLst>
              <a:gd name="adj" fmla="val 11667"/>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3" name="Google Shape;353;p14"/>
          <p:cNvSpPr txBox="1"/>
          <p:nvPr/>
        </p:nvSpPr>
        <p:spPr>
          <a:xfrm>
            <a:off x="777240" y="3931920"/>
            <a:ext cx="82296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14343"/>
              </a:buClr>
              <a:buSzPts val="1300"/>
              <a:buFont typeface="Courier New" panose="02070609020205020404"/>
              <a:buNone/>
            </a:pPr>
            <a:r>
              <a:rPr lang="en-US" sz="1300" b="1" i="0" u="none" strike="noStrike" cap="none">
                <a:solidFill>
                  <a:srgbClr val="D14343"/>
                </a:solidFill>
                <a:latin typeface="Courier New" panose="02070609020205020404"/>
                <a:ea typeface="Courier New" panose="02070609020205020404"/>
                <a:cs typeface="Courier New" panose="02070609020205020404"/>
                <a:sym typeface="Courier New" panose="02070609020205020404"/>
              </a:rPr>
              <a:t>P0-1</a:t>
            </a:r>
            <a:endParaRPr sz="1300" b="0" i="0" u="none" strike="noStrike" cap="none">
              <a:solidFill>
                <a:schemeClr val="dk1"/>
              </a:solidFill>
              <a:latin typeface="Calibri"/>
              <a:ea typeface="Calibri"/>
              <a:cs typeface="Calibri"/>
              <a:sym typeface="Calibri"/>
            </a:endParaRPr>
          </a:p>
        </p:txBody>
      </p:sp>
      <p:sp>
        <p:nvSpPr>
          <p:cNvPr id="354" name="Google Shape;354;p14"/>
          <p:cNvSpPr txBox="1"/>
          <p:nvPr/>
        </p:nvSpPr>
        <p:spPr>
          <a:xfrm>
            <a:off x="1691640" y="3931920"/>
            <a:ext cx="484632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1B33"/>
              </a:buClr>
              <a:buSzPts val="1250"/>
              <a:buFont typeface="Calibri"/>
              <a:buNone/>
            </a:pPr>
            <a:r>
              <a:rPr lang="en-US" sz="1250" b="1" i="0" u="none" strike="noStrike" cap="none">
                <a:solidFill>
                  <a:srgbClr val="0F1B33"/>
                </a:solidFill>
                <a:latin typeface="Calibri"/>
                <a:ea typeface="Calibri"/>
                <a:cs typeface="Calibri"/>
                <a:sym typeface="Calibri"/>
              </a:rPr>
              <a:t>Kolom Required kosong di setiap baris</a:t>
            </a:r>
            <a:endParaRPr sz="1250" b="0" i="0" u="none" strike="noStrike" cap="none">
              <a:solidFill>
                <a:schemeClr val="dk1"/>
              </a:solidFill>
              <a:latin typeface="Calibri"/>
              <a:ea typeface="Calibri"/>
              <a:cs typeface="Calibri"/>
              <a:sym typeface="Calibri"/>
            </a:endParaRPr>
          </a:p>
        </p:txBody>
      </p:sp>
      <p:sp>
        <p:nvSpPr>
          <p:cNvPr id="355" name="Google Shape;355;p14"/>
          <p:cNvSpPr txBox="1"/>
          <p:nvPr/>
        </p:nvSpPr>
        <p:spPr>
          <a:xfrm>
            <a:off x="6629400" y="3931920"/>
            <a:ext cx="4785055"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5617A"/>
              </a:buClr>
              <a:buSzPts val="1250"/>
              <a:buFont typeface="Calibri"/>
              <a:buNone/>
            </a:pPr>
            <a:r>
              <a:rPr lang="en-US" sz="1250" b="0" i="0" u="none" strike="noStrike" cap="none">
                <a:solidFill>
                  <a:srgbClr val="55617A"/>
                </a:solidFill>
                <a:latin typeface="Calibri"/>
                <a:ea typeface="Calibri"/>
                <a:cs typeface="Calibri"/>
                <a:sym typeface="Calibri"/>
              </a:rPr>
              <a:t>Hiring manager tidak tahu level yang dibutuhkan</a:t>
            </a:r>
            <a:endParaRPr sz="1250" b="0" i="0" u="none" strike="noStrike" cap="none">
              <a:solidFill>
                <a:schemeClr val="dk1"/>
              </a:solidFill>
              <a:latin typeface="Calibri"/>
              <a:ea typeface="Calibri"/>
              <a:cs typeface="Calibri"/>
              <a:sym typeface="Calibri"/>
            </a:endParaRPr>
          </a:p>
        </p:txBody>
      </p:sp>
      <p:sp>
        <p:nvSpPr>
          <p:cNvPr id="356" name="Google Shape;356;p14"/>
          <p:cNvSpPr/>
          <p:nvPr/>
        </p:nvSpPr>
        <p:spPr>
          <a:xfrm>
            <a:off x="594360" y="4572000"/>
            <a:ext cx="11002975" cy="548640"/>
          </a:xfrm>
          <a:prstGeom prst="roundRect">
            <a:avLst>
              <a:gd name="adj" fmla="val 11667"/>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7" name="Google Shape;357;p14"/>
          <p:cNvSpPr txBox="1"/>
          <p:nvPr/>
        </p:nvSpPr>
        <p:spPr>
          <a:xfrm>
            <a:off x="777240" y="4572000"/>
            <a:ext cx="82296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14343"/>
              </a:buClr>
              <a:buSzPts val="1300"/>
              <a:buFont typeface="Courier New" panose="02070609020205020404"/>
              <a:buNone/>
            </a:pPr>
            <a:r>
              <a:rPr lang="en-US" sz="1300" b="1" i="0" u="none" strike="noStrike" cap="none">
                <a:solidFill>
                  <a:srgbClr val="D14343"/>
                </a:solidFill>
                <a:latin typeface="Courier New" panose="02070609020205020404"/>
                <a:ea typeface="Courier New" panose="02070609020205020404"/>
                <a:cs typeface="Courier New" panose="02070609020205020404"/>
                <a:sym typeface="Courier New" panose="02070609020205020404"/>
              </a:rPr>
              <a:t>P0-2</a:t>
            </a:r>
            <a:endParaRPr sz="1300" b="0" i="0" u="none" strike="noStrike" cap="none">
              <a:solidFill>
                <a:schemeClr val="dk1"/>
              </a:solidFill>
              <a:latin typeface="Calibri"/>
              <a:ea typeface="Calibri"/>
              <a:cs typeface="Calibri"/>
              <a:sym typeface="Calibri"/>
            </a:endParaRPr>
          </a:p>
        </p:txBody>
      </p:sp>
      <p:sp>
        <p:nvSpPr>
          <p:cNvPr id="358" name="Google Shape;358;p14"/>
          <p:cNvSpPr txBox="1"/>
          <p:nvPr/>
        </p:nvSpPr>
        <p:spPr>
          <a:xfrm>
            <a:off x="1691640" y="4572000"/>
            <a:ext cx="484632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1B33"/>
              </a:buClr>
              <a:buSzPts val="1250"/>
              <a:buFont typeface="Calibri"/>
              <a:buNone/>
            </a:pPr>
            <a:r>
              <a:rPr lang="en-US" sz="1250" b="1" i="0" u="none" strike="noStrike" cap="none">
                <a:solidFill>
                  <a:srgbClr val="0F1B33"/>
                </a:solidFill>
                <a:latin typeface="Calibri"/>
                <a:ea typeface="Calibri"/>
                <a:cs typeface="Calibri"/>
                <a:sym typeface="Calibri"/>
              </a:rPr>
              <a:t>Tanda koreksi assessor tidak pernah muncul</a:t>
            </a:r>
            <a:endParaRPr sz="1250" b="0" i="0" u="none" strike="noStrike" cap="none">
              <a:solidFill>
                <a:schemeClr val="dk1"/>
              </a:solidFill>
              <a:latin typeface="Calibri"/>
              <a:ea typeface="Calibri"/>
              <a:cs typeface="Calibri"/>
              <a:sym typeface="Calibri"/>
            </a:endParaRPr>
          </a:p>
        </p:txBody>
      </p:sp>
      <p:sp>
        <p:nvSpPr>
          <p:cNvPr id="359" name="Google Shape;359;p14"/>
          <p:cNvSpPr txBox="1"/>
          <p:nvPr/>
        </p:nvSpPr>
        <p:spPr>
          <a:xfrm>
            <a:off x="6629400" y="4572000"/>
            <a:ext cx="4785055"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5617A"/>
              </a:buClr>
              <a:buSzPts val="1250"/>
              <a:buFont typeface="Calibri"/>
              <a:buNone/>
            </a:pPr>
            <a:r>
              <a:rPr lang="en-US" sz="1250" b="0" i="0" u="none" strike="noStrike" cap="none">
                <a:solidFill>
                  <a:srgbClr val="55617A"/>
                </a:solidFill>
                <a:latin typeface="Calibri"/>
                <a:ea typeface="Calibri"/>
                <a:cs typeface="Calibri"/>
                <a:sym typeface="Calibri"/>
              </a:rPr>
              <a:t>Nilai dari AI dan dari assessor terlihat sama</a:t>
            </a:r>
            <a:endParaRPr sz="1250" b="0" i="0" u="none" strike="noStrike" cap="none">
              <a:solidFill>
                <a:schemeClr val="dk1"/>
              </a:solidFill>
              <a:latin typeface="Calibri"/>
              <a:ea typeface="Calibri"/>
              <a:cs typeface="Calibri"/>
              <a:sym typeface="Calibri"/>
            </a:endParaRPr>
          </a:p>
        </p:txBody>
      </p:sp>
      <p:sp>
        <p:nvSpPr>
          <p:cNvPr id="360" name="Google Shape;360;p14"/>
          <p:cNvSpPr/>
          <p:nvPr/>
        </p:nvSpPr>
        <p:spPr>
          <a:xfrm>
            <a:off x="594360" y="5212080"/>
            <a:ext cx="11002975" cy="548640"/>
          </a:xfrm>
          <a:prstGeom prst="roundRect">
            <a:avLst>
              <a:gd name="adj" fmla="val 11667"/>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1" name="Google Shape;361;p14"/>
          <p:cNvSpPr txBox="1"/>
          <p:nvPr/>
        </p:nvSpPr>
        <p:spPr>
          <a:xfrm>
            <a:off x="777240" y="5212080"/>
            <a:ext cx="82296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14343"/>
              </a:buClr>
              <a:buSzPts val="1300"/>
              <a:buFont typeface="Courier New" panose="02070609020205020404"/>
              <a:buNone/>
            </a:pPr>
            <a:r>
              <a:rPr lang="en-US" sz="1300" b="1" i="0" u="none" strike="noStrike" cap="none">
                <a:solidFill>
                  <a:srgbClr val="D14343"/>
                </a:solidFill>
                <a:latin typeface="Courier New" panose="02070609020205020404"/>
                <a:ea typeface="Courier New" panose="02070609020205020404"/>
                <a:cs typeface="Courier New" panose="02070609020205020404"/>
                <a:sym typeface="Courier New" panose="02070609020205020404"/>
              </a:rPr>
              <a:t>P0-3</a:t>
            </a:r>
            <a:endParaRPr sz="1300" b="0" i="0" u="none" strike="noStrike" cap="none">
              <a:solidFill>
                <a:schemeClr val="dk1"/>
              </a:solidFill>
              <a:latin typeface="Calibri"/>
              <a:ea typeface="Calibri"/>
              <a:cs typeface="Calibri"/>
              <a:sym typeface="Calibri"/>
            </a:endParaRPr>
          </a:p>
        </p:txBody>
      </p:sp>
      <p:sp>
        <p:nvSpPr>
          <p:cNvPr id="362" name="Google Shape;362;p14"/>
          <p:cNvSpPr txBox="1"/>
          <p:nvPr/>
        </p:nvSpPr>
        <p:spPr>
          <a:xfrm>
            <a:off x="1691640" y="5212080"/>
            <a:ext cx="484632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1B33"/>
              </a:buClr>
              <a:buSzPts val="1250"/>
              <a:buFont typeface="Calibri"/>
              <a:buNone/>
            </a:pPr>
            <a:r>
              <a:rPr lang="en-US" sz="1250" b="1" i="0" u="none" strike="noStrike" cap="none">
                <a:solidFill>
                  <a:srgbClr val="0F1B33"/>
                </a:solidFill>
                <a:latin typeface="Calibri"/>
                <a:ea typeface="Calibri"/>
                <a:cs typeface="Calibri"/>
                <a:sym typeface="Calibri"/>
              </a:rPr>
              <a:t>Tingkat keyakinan dihitung, tapi tidak ditampilkan</a:t>
            </a:r>
            <a:endParaRPr sz="1250" b="0" i="0" u="none" strike="noStrike" cap="none">
              <a:solidFill>
                <a:schemeClr val="dk1"/>
              </a:solidFill>
              <a:latin typeface="Calibri"/>
              <a:ea typeface="Calibri"/>
              <a:cs typeface="Calibri"/>
              <a:sym typeface="Calibri"/>
            </a:endParaRPr>
          </a:p>
        </p:txBody>
      </p:sp>
      <p:sp>
        <p:nvSpPr>
          <p:cNvPr id="363" name="Google Shape;363;p14"/>
          <p:cNvSpPr txBox="1"/>
          <p:nvPr/>
        </p:nvSpPr>
        <p:spPr>
          <a:xfrm>
            <a:off x="6629400" y="5212080"/>
            <a:ext cx="4785055"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5617A"/>
              </a:buClr>
              <a:buSzPts val="1250"/>
              <a:buFont typeface="Calibri"/>
              <a:buNone/>
            </a:pPr>
            <a:r>
              <a:rPr lang="en-US" sz="1250" b="0" i="0" u="none" strike="noStrike" cap="none">
                <a:solidFill>
                  <a:srgbClr val="55617A"/>
                </a:solidFill>
                <a:latin typeface="Calibri"/>
                <a:ea typeface="Calibri"/>
                <a:cs typeface="Calibri"/>
                <a:sym typeface="Calibri"/>
              </a:rPr>
              <a:t>L4 dari 1 pertanyaan terlihat sama dengan L4 dari 4 pertanyaan</a:t>
            </a:r>
            <a:endParaRPr sz="1250" b="0" i="0" u="none" strike="noStrike" cap="non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C2E6B"/>
        </a:solidFill>
        <a:effectLst/>
      </p:bgPr>
    </p:bg>
    <p:spTree>
      <p:nvGrpSpPr>
        <p:cNvPr id="368" name="Shape 368"/>
        <p:cNvGrpSpPr/>
        <p:nvPr/>
      </p:nvGrpSpPr>
      <p:grpSpPr>
        <a:xfrm>
          <a:off x="0" y="0"/>
          <a:ext cx="0" cy="0"/>
          <a:chOff x="0" y="0"/>
          <a:chExt cx="0" cy="0"/>
        </a:xfrm>
      </p:grpSpPr>
      <p:sp>
        <p:nvSpPr>
          <p:cNvPr id="369" name="Google Shape;369;p15"/>
          <p:cNvSpPr txBox="1"/>
          <p:nvPr/>
        </p:nvSpPr>
        <p:spPr>
          <a:xfrm>
            <a:off x="594360" y="2103120"/>
            <a:ext cx="274320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9CC5FF"/>
              </a:buClr>
              <a:buSzPts val="2000"/>
              <a:buFont typeface="Calibri"/>
              <a:buNone/>
            </a:pPr>
            <a:r>
              <a:rPr lang="en-US" sz="2000" b="1" i="0" u="none" strike="noStrike" cap="none">
                <a:solidFill>
                  <a:srgbClr val="9CC5FF"/>
                </a:solidFill>
                <a:latin typeface="Calibri"/>
                <a:ea typeface="Calibri"/>
                <a:cs typeface="Calibri"/>
                <a:sym typeface="Calibri"/>
              </a:rPr>
              <a:t>03</a:t>
            </a:r>
            <a:endParaRPr sz="2000" b="0" i="0" u="none" strike="noStrike" cap="none">
              <a:solidFill>
                <a:schemeClr val="dk1"/>
              </a:solidFill>
              <a:latin typeface="Calibri"/>
              <a:ea typeface="Calibri"/>
              <a:cs typeface="Calibri"/>
              <a:sym typeface="Calibri"/>
            </a:endParaRPr>
          </a:p>
        </p:txBody>
      </p:sp>
      <p:sp>
        <p:nvSpPr>
          <p:cNvPr id="370" name="Google Shape;370;p15"/>
          <p:cNvSpPr txBox="1"/>
          <p:nvPr/>
        </p:nvSpPr>
        <p:spPr>
          <a:xfrm>
            <a:off x="594360" y="2651760"/>
            <a:ext cx="11002975" cy="914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FFFFFF"/>
              </a:buClr>
              <a:buSzPts val="3800"/>
              <a:buFont typeface="Calibri"/>
              <a:buNone/>
            </a:pPr>
            <a:r>
              <a:rPr lang="en-US" sz="3800" b="1" i="0" u="none" strike="noStrike" cap="none">
                <a:solidFill>
                  <a:srgbClr val="FFFFFF"/>
                </a:solidFill>
                <a:latin typeface="Calibri"/>
                <a:ea typeface="Calibri"/>
                <a:cs typeface="Calibri"/>
                <a:sym typeface="Calibri"/>
              </a:rPr>
              <a:t>Memutuskan</a:t>
            </a:r>
            <a:endParaRPr sz="3800" b="0" i="0" u="none" strike="noStrike" cap="none">
              <a:solidFill>
                <a:schemeClr val="dk1"/>
              </a:solidFill>
              <a:latin typeface="Calibri"/>
              <a:ea typeface="Calibri"/>
              <a:cs typeface="Calibri"/>
              <a:sym typeface="Calibri"/>
            </a:endParaRPr>
          </a:p>
        </p:txBody>
      </p:sp>
      <p:sp>
        <p:nvSpPr>
          <p:cNvPr id="371" name="Google Shape;371;p15"/>
          <p:cNvSpPr txBox="1"/>
          <p:nvPr/>
        </p:nvSpPr>
        <p:spPr>
          <a:xfrm>
            <a:off x="594360" y="3611880"/>
            <a:ext cx="9144000" cy="73152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AFCBFF"/>
              </a:buClr>
              <a:buSzPts val="1700"/>
              <a:buFont typeface="Calibri"/>
              <a:buNone/>
            </a:pPr>
            <a:r>
              <a:rPr lang="en-US" sz="1700" b="0" i="0" u="none" strike="noStrike" cap="none">
                <a:solidFill>
                  <a:srgbClr val="AFCBFF"/>
                </a:solidFill>
                <a:latin typeface="Calibri"/>
                <a:ea typeface="Calibri"/>
                <a:cs typeface="Calibri"/>
                <a:sym typeface="Calibri"/>
              </a:rPr>
              <a:t>Pilihan solusi, hal yang saya diskusikan dulu dengan tim, dan kenapa saya fokus di frontend.</a:t>
            </a:r>
            <a:endParaRPr sz="1700" b="0" i="0" u="none" strike="noStrike" cap="non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376" name="Shape 376"/>
        <p:cNvGrpSpPr/>
        <p:nvPr/>
      </p:nvGrpSpPr>
      <p:grpSpPr>
        <a:xfrm>
          <a:off x="0" y="0"/>
          <a:ext cx="0" cy="0"/>
          <a:chOff x="0" y="0"/>
          <a:chExt cx="0" cy="0"/>
        </a:xfrm>
      </p:grpSpPr>
      <p:sp>
        <p:nvSpPr>
          <p:cNvPr id="377" name="Google Shape;377;p16"/>
          <p:cNvSpPr txBox="1"/>
          <p:nvPr/>
        </p:nvSpPr>
        <p:spPr>
          <a:xfrm>
            <a:off x="11277295" y="6419088"/>
            <a:ext cx="457200"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A94A8"/>
              </a:buClr>
              <a:buSzPts val="1000"/>
              <a:buFont typeface="Calibri"/>
              <a:buNone/>
            </a:pPr>
            <a:r>
              <a:rPr lang="en-US" sz="1000" b="0" i="0" u="none" strike="noStrike" cap="none">
                <a:solidFill>
                  <a:srgbClr val="8A94A8"/>
                </a:solidFill>
                <a:latin typeface="Calibri"/>
                <a:ea typeface="Calibri"/>
                <a:cs typeface="Calibri"/>
                <a:sym typeface="Calibri"/>
              </a:rPr>
              <a:t>14</a:t>
            </a:r>
            <a:endParaRPr sz="1000" b="0" i="0" u="none" strike="noStrike" cap="none">
              <a:solidFill>
                <a:schemeClr val="dk1"/>
              </a:solidFill>
              <a:latin typeface="Calibri"/>
              <a:ea typeface="Calibri"/>
              <a:cs typeface="Calibri"/>
              <a:sym typeface="Calibri"/>
            </a:endParaRPr>
          </a:p>
        </p:txBody>
      </p:sp>
      <p:sp>
        <p:nvSpPr>
          <p:cNvPr id="378" name="Google Shape;378;p16"/>
          <p:cNvSpPr txBox="1"/>
          <p:nvPr/>
        </p:nvSpPr>
        <p:spPr>
          <a:xfrm>
            <a:off x="594360" y="6419088"/>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A94A8"/>
              </a:buClr>
              <a:buSzPts val="1000"/>
              <a:buFont typeface="Calibri"/>
              <a:buNone/>
            </a:pPr>
            <a:r>
              <a:rPr lang="en-US" sz="1000" b="0" i="0" u="none" strike="noStrike" cap="none">
                <a:solidFill>
                  <a:srgbClr val="8A94A8"/>
                </a:solidFill>
                <a:latin typeface="Calibri"/>
                <a:ea typeface="Calibri"/>
                <a:cs typeface="Calibri"/>
                <a:sym typeface="Calibri"/>
              </a:rPr>
              <a:t>Aulia Afriza  ·  Kandidat Fullstack · Frontend depth</a:t>
            </a:r>
            <a:endParaRPr sz="1000" b="0" i="0" u="none" strike="noStrike" cap="none">
              <a:solidFill>
                <a:schemeClr val="dk1"/>
              </a:solidFill>
              <a:latin typeface="Calibri"/>
              <a:ea typeface="Calibri"/>
              <a:cs typeface="Calibri"/>
              <a:sym typeface="Calibri"/>
            </a:endParaRPr>
          </a:p>
        </p:txBody>
      </p:sp>
      <p:sp>
        <p:nvSpPr>
          <p:cNvPr id="379" name="Google Shape;379;p16"/>
          <p:cNvSpPr txBox="1"/>
          <p:nvPr/>
        </p:nvSpPr>
        <p:spPr>
          <a:xfrm>
            <a:off x="594360" y="438912"/>
            <a:ext cx="11002975"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2800"/>
              <a:buFont typeface="Calibri"/>
              <a:buNone/>
            </a:pPr>
            <a:r>
              <a:rPr lang="en-US" sz="2800" b="1" i="0" u="none" strike="noStrike" cap="none">
                <a:solidFill>
                  <a:srgbClr val="0F1B33"/>
                </a:solidFill>
                <a:latin typeface="Calibri"/>
                <a:ea typeface="Calibri"/>
                <a:cs typeface="Calibri"/>
                <a:sym typeface="Calibri"/>
              </a:rPr>
              <a:t>Tiga pilihan yang saya pertimbangkan</a:t>
            </a:r>
            <a:endParaRPr sz="2800" b="0" i="0" u="none" strike="noStrike" cap="none">
              <a:solidFill>
                <a:schemeClr val="dk1"/>
              </a:solidFill>
              <a:latin typeface="Calibri"/>
              <a:ea typeface="Calibri"/>
              <a:cs typeface="Calibri"/>
              <a:sym typeface="Calibri"/>
            </a:endParaRPr>
          </a:p>
        </p:txBody>
      </p:sp>
      <p:sp>
        <p:nvSpPr>
          <p:cNvPr id="380" name="Google Shape;380;p16"/>
          <p:cNvSpPr txBox="1"/>
          <p:nvPr/>
        </p:nvSpPr>
        <p:spPr>
          <a:xfrm>
            <a:off x="594360" y="987552"/>
            <a:ext cx="11002975"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5617A"/>
              </a:buClr>
              <a:buSzPts val="1500"/>
              <a:buFont typeface="Calibri"/>
              <a:buNone/>
            </a:pPr>
            <a:r>
              <a:rPr lang="en-US" sz="1500" b="0" i="0" u="none" strike="noStrike" cap="none">
                <a:solidFill>
                  <a:srgbClr val="55617A"/>
                </a:solidFill>
                <a:latin typeface="Calibri"/>
                <a:ea typeface="Calibri"/>
                <a:cs typeface="Calibri"/>
                <a:sym typeface="Calibri"/>
              </a:rPr>
              <a:t>§2.3 · Perbandingan pilihan solusi</a:t>
            </a:r>
            <a:endParaRPr sz="1500" b="0" i="0" u="none" strike="noStrike" cap="none">
              <a:solidFill>
                <a:schemeClr val="dk1"/>
              </a:solidFill>
              <a:latin typeface="Calibri"/>
              <a:ea typeface="Calibri"/>
              <a:cs typeface="Calibri"/>
              <a:sym typeface="Calibri"/>
            </a:endParaRPr>
          </a:p>
        </p:txBody>
      </p:sp>
      <p:graphicFrame>
        <p:nvGraphicFramePr>
          <p:cNvPr id="381" name="Google Shape;381;p16"/>
          <p:cNvGraphicFramePr/>
          <p:nvPr/>
        </p:nvGraphicFramePr>
        <p:xfrm>
          <a:off x="594360" y="1508760"/>
          <a:ext cx="11000250" cy="3429000"/>
        </p:xfrm>
        <a:graphic>
          <a:graphicData uri="http://schemas.openxmlformats.org/drawingml/2006/table">
            <a:tbl>
              <a:tblPr>
                <a:noFill/>
                <a:tableStyleId>{569AB0A4-A050-44F2-8EE5-55170C1F6B93}</a:tableStyleId>
              </a:tblPr>
              <a:tblGrid>
                <a:gridCol w="1828800"/>
                <a:gridCol w="2834650"/>
                <a:gridCol w="3474725"/>
                <a:gridCol w="2862075"/>
              </a:tblGrid>
              <a:tr h="420625">
                <a:tc>
                  <a:txBody>
                    <a:bodyPr/>
                    <a:lstStyle/>
                    <a:p>
                      <a:pPr marL="0" marR="0" lvl="0" indent="0" algn="l" rtl="0">
                        <a:spcBef>
                          <a:spcPts val="0"/>
                        </a:spcBef>
                        <a:spcAft>
                          <a:spcPts val="0"/>
                        </a:spcAft>
                        <a:buClr>
                          <a:schemeClr val="dk1"/>
                        </a:buClr>
                        <a:buSzPts val="1300"/>
                        <a:buFont typeface="Calibri"/>
                        <a:buNone/>
                      </a:pPr>
                      <a:endParaRPr sz="1300" u="none" strike="noStrike" cap="none">
                        <a:latin typeface="Calibri"/>
                        <a:ea typeface="Calibri"/>
                        <a:cs typeface="Calibri"/>
                        <a:sym typeface="Calibri"/>
                      </a:endParaRPr>
                    </a:p>
                  </a:txBody>
                  <a:tcPr marL="128025" marR="128025" marT="73150" marB="73150" anchor="ctr">
                    <a:lnL w="9525" cap="flat" cmpd="sng">
                      <a:solidFill>
                        <a:srgbClr val="DCE4F0"/>
                      </a:solidFill>
                      <a:prstDash val="solid"/>
                      <a:round/>
                      <a:headEnd type="none" w="sm" len="sm"/>
                      <a:tailEnd type="none" w="sm" len="sm"/>
                    </a:lnL>
                    <a:lnR w="9525" cap="flat" cmpd="sng">
                      <a:solidFill>
                        <a:srgbClr val="DCE4F0"/>
                      </a:solidFill>
                      <a:prstDash val="solid"/>
                      <a:round/>
                      <a:headEnd type="none" w="sm" len="sm"/>
                      <a:tailEnd type="none" w="sm" len="sm"/>
                    </a:lnR>
                    <a:lnT w="9525" cap="flat" cmpd="sng">
                      <a:solidFill>
                        <a:srgbClr val="DCE4F0"/>
                      </a:solidFill>
                      <a:prstDash val="solid"/>
                      <a:round/>
                      <a:headEnd type="none" w="sm" len="sm"/>
                      <a:tailEnd type="none" w="sm" len="sm"/>
                    </a:lnT>
                    <a:lnB w="9525" cap="flat" cmpd="sng">
                      <a:solidFill>
                        <a:srgbClr val="DCE4F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F1B33"/>
                        </a:buClr>
                        <a:buSzPts val="1300"/>
                        <a:buFont typeface="Calibri"/>
                        <a:buNone/>
                      </a:pPr>
                      <a:r>
                        <a:rPr lang="en-US" sz="1300" b="1" u="none" strike="noStrike" cap="none">
                          <a:solidFill>
                            <a:srgbClr val="0F1B33"/>
                          </a:solidFill>
                          <a:latin typeface="Calibri"/>
                          <a:ea typeface="Calibri"/>
                          <a:cs typeface="Calibri"/>
                          <a:sym typeface="Calibri"/>
                        </a:rPr>
                        <a:t>A · Tambal nama field</a:t>
                      </a:r>
                      <a:endParaRPr sz="1300" u="none" strike="noStrike" cap="none">
                        <a:latin typeface="Calibri"/>
                        <a:ea typeface="Calibri"/>
                        <a:cs typeface="Calibri"/>
                        <a:sym typeface="Calibri"/>
                      </a:endParaRPr>
                    </a:p>
                  </a:txBody>
                  <a:tcPr marL="128025" marR="128025" marT="73150" marB="73150" anchor="ctr">
                    <a:lnL w="9525" cap="flat" cmpd="sng">
                      <a:solidFill>
                        <a:srgbClr val="DCE4F0"/>
                      </a:solidFill>
                      <a:prstDash val="solid"/>
                      <a:round/>
                      <a:headEnd type="none" w="sm" len="sm"/>
                      <a:tailEnd type="none" w="sm" len="sm"/>
                    </a:lnL>
                    <a:lnR w="9525" cap="flat" cmpd="sng">
                      <a:solidFill>
                        <a:srgbClr val="DCE4F0"/>
                      </a:solidFill>
                      <a:prstDash val="solid"/>
                      <a:round/>
                      <a:headEnd type="none" w="sm" len="sm"/>
                      <a:tailEnd type="none" w="sm" len="sm"/>
                    </a:lnR>
                    <a:lnT w="9525" cap="flat" cmpd="sng">
                      <a:solidFill>
                        <a:srgbClr val="DCE4F0"/>
                      </a:solidFill>
                      <a:prstDash val="solid"/>
                      <a:round/>
                      <a:headEnd type="none" w="sm" len="sm"/>
                      <a:tailEnd type="none" w="sm" len="sm"/>
                    </a:lnT>
                    <a:lnB w="9525" cap="flat" cmpd="sng">
                      <a:solidFill>
                        <a:srgbClr val="DCE4F0"/>
                      </a:solidFill>
                      <a:prstDash val="solid"/>
                      <a:round/>
                      <a:headEnd type="none" w="sm" len="sm"/>
                      <a:tailEnd type="none" w="sm" len="sm"/>
                    </a:lnB>
                    <a:solidFill>
                      <a:srgbClr val="F6F9FE"/>
                    </a:solidFill>
                  </a:tcPr>
                </a:tc>
                <a:tc>
                  <a:txBody>
                    <a:bodyPr/>
                    <a:lstStyle/>
                    <a:p>
                      <a:pPr marL="0" marR="0" lvl="0" indent="0" algn="l"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B · Validasi data  ✓ dipilih</a:t>
                      </a:r>
                      <a:endParaRPr sz="1300" u="none" strike="noStrike" cap="none">
                        <a:latin typeface="Calibri"/>
                        <a:ea typeface="Calibri"/>
                        <a:cs typeface="Calibri"/>
                        <a:sym typeface="Calibri"/>
                      </a:endParaRPr>
                    </a:p>
                  </a:txBody>
                  <a:tcPr marL="128025" marR="128025" marT="73150" marB="73150" anchor="ctr">
                    <a:lnL w="9525" cap="flat" cmpd="sng">
                      <a:solidFill>
                        <a:srgbClr val="DCE4F0"/>
                      </a:solidFill>
                      <a:prstDash val="solid"/>
                      <a:round/>
                      <a:headEnd type="none" w="sm" len="sm"/>
                      <a:tailEnd type="none" w="sm" len="sm"/>
                    </a:lnL>
                    <a:lnR w="9525" cap="flat" cmpd="sng">
                      <a:solidFill>
                        <a:srgbClr val="DCE4F0"/>
                      </a:solidFill>
                      <a:prstDash val="solid"/>
                      <a:round/>
                      <a:headEnd type="none" w="sm" len="sm"/>
                      <a:tailEnd type="none" w="sm" len="sm"/>
                    </a:lnR>
                    <a:lnT w="9525" cap="flat" cmpd="sng">
                      <a:solidFill>
                        <a:srgbClr val="DCE4F0"/>
                      </a:solidFill>
                      <a:prstDash val="solid"/>
                      <a:round/>
                      <a:headEnd type="none" w="sm" len="sm"/>
                      <a:tailEnd type="none" w="sm" len="sm"/>
                    </a:lnT>
                    <a:lnB w="9525" cap="flat" cmpd="sng">
                      <a:solidFill>
                        <a:srgbClr val="DCE4F0"/>
                      </a:solidFill>
                      <a:prstDash val="solid"/>
                      <a:round/>
                      <a:headEnd type="none" w="sm" len="sm"/>
                      <a:tailEnd type="none" w="sm" len="sm"/>
                    </a:lnB>
                    <a:solidFill>
                      <a:srgbClr val="1C6FF3"/>
                    </a:solidFill>
                  </a:tcPr>
                </a:tc>
                <a:tc>
                  <a:txBody>
                    <a:bodyPr/>
                    <a:lstStyle/>
                    <a:p>
                      <a:pPr marL="0" marR="0" lvl="0" indent="0" algn="l" rtl="0">
                        <a:spcBef>
                          <a:spcPts val="0"/>
                        </a:spcBef>
                        <a:spcAft>
                          <a:spcPts val="0"/>
                        </a:spcAft>
                        <a:buClr>
                          <a:srgbClr val="0F1B33"/>
                        </a:buClr>
                        <a:buSzPts val="1300"/>
                        <a:buFont typeface="Calibri"/>
                        <a:buNone/>
                      </a:pPr>
                      <a:r>
                        <a:rPr lang="en-US" sz="1300" b="1" u="none" strike="noStrike" cap="none">
                          <a:solidFill>
                            <a:srgbClr val="0F1B33"/>
                          </a:solidFill>
                          <a:latin typeface="Calibri"/>
                          <a:ea typeface="Calibri"/>
                          <a:cs typeface="Calibri"/>
                          <a:sym typeface="Calibri"/>
                        </a:rPr>
                        <a:t>C · OpenAPI codegen</a:t>
                      </a:r>
                      <a:endParaRPr sz="1300" u="none" strike="noStrike" cap="none">
                        <a:latin typeface="Calibri"/>
                        <a:ea typeface="Calibri"/>
                        <a:cs typeface="Calibri"/>
                        <a:sym typeface="Calibri"/>
                      </a:endParaRPr>
                    </a:p>
                  </a:txBody>
                  <a:tcPr marL="128025" marR="128025" marT="73150" marB="73150" anchor="ctr">
                    <a:lnL w="9525" cap="flat" cmpd="sng">
                      <a:solidFill>
                        <a:srgbClr val="DCE4F0"/>
                      </a:solidFill>
                      <a:prstDash val="solid"/>
                      <a:round/>
                      <a:headEnd type="none" w="sm" len="sm"/>
                      <a:tailEnd type="none" w="sm" len="sm"/>
                    </a:lnL>
                    <a:lnR w="9525" cap="flat" cmpd="sng">
                      <a:solidFill>
                        <a:srgbClr val="DCE4F0"/>
                      </a:solidFill>
                      <a:prstDash val="solid"/>
                      <a:round/>
                      <a:headEnd type="none" w="sm" len="sm"/>
                      <a:tailEnd type="none" w="sm" len="sm"/>
                    </a:lnR>
                    <a:lnT w="9525" cap="flat" cmpd="sng">
                      <a:solidFill>
                        <a:srgbClr val="DCE4F0"/>
                      </a:solidFill>
                      <a:prstDash val="solid"/>
                      <a:round/>
                      <a:headEnd type="none" w="sm" len="sm"/>
                      <a:tailEnd type="none" w="sm" len="sm"/>
                    </a:lnT>
                    <a:lnB w="9525" cap="flat" cmpd="sng">
                      <a:solidFill>
                        <a:srgbClr val="DCE4F0"/>
                      </a:solidFill>
                      <a:prstDash val="solid"/>
                      <a:round/>
                      <a:headEnd type="none" w="sm" len="sm"/>
                      <a:tailEnd type="none" w="sm" len="sm"/>
                    </a:lnB>
                    <a:solidFill>
                      <a:srgbClr val="F6F9FE"/>
                    </a:solidFill>
                  </a:tcPr>
                </a:tc>
              </a:tr>
              <a:tr h="502925">
                <a:tc>
                  <a:txBody>
                    <a:bodyPr/>
                    <a:lstStyle/>
                    <a:p>
                      <a:pPr marL="0" marR="0" lvl="0" indent="0" algn="l" rtl="0">
                        <a:spcBef>
                          <a:spcPts val="0"/>
                        </a:spcBef>
                        <a:spcAft>
                          <a:spcPts val="0"/>
                        </a:spcAft>
                        <a:buClr>
                          <a:srgbClr val="0F1B33"/>
                        </a:buClr>
                        <a:buSzPts val="1250"/>
                        <a:buFont typeface="Calibri"/>
                        <a:buNone/>
                      </a:pPr>
                      <a:r>
                        <a:rPr lang="en-US" sz="1250" b="1" u="none" strike="noStrike" cap="none">
                          <a:solidFill>
                            <a:srgbClr val="0F1B33"/>
                          </a:solidFill>
                          <a:latin typeface="Calibri"/>
                          <a:ea typeface="Calibri"/>
                          <a:cs typeface="Calibri"/>
                          <a:sym typeface="Calibri"/>
                        </a:rPr>
                        <a:t>Biaya</a:t>
                      </a:r>
                      <a:endParaRPr sz="1250" u="none" strike="noStrike" cap="none">
                        <a:latin typeface="Calibri"/>
                        <a:ea typeface="Calibri"/>
                        <a:cs typeface="Calibri"/>
                        <a:sym typeface="Calibri"/>
                      </a:endParaRPr>
                    </a:p>
                  </a:txBody>
                  <a:tcPr marL="128025" marR="128025" marT="73150" marB="73150" anchor="ctr">
                    <a:lnL w="9525" cap="flat" cmpd="sng">
                      <a:solidFill>
                        <a:srgbClr val="DCE4F0"/>
                      </a:solidFill>
                      <a:prstDash val="solid"/>
                      <a:round/>
                      <a:headEnd type="none" w="sm" len="sm"/>
                      <a:tailEnd type="none" w="sm" len="sm"/>
                    </a:lnL>
                    <a:lnR w="9525" cap="flat" cmpd="sng">
                      <a:solidFill>
                        <a:srgbClr val="DCE4F0"/>
                      </a:solidFill>
                      <a:prstDash val="solid"/>
                      <a:round/>
                      <a:headEnd type="none" w="sm" len="sm"/>
                      <a:tailEnd type="none" w="sm" len="sm"/>
                    </a:lnR>
                    <a:lnT w="9525" cap="flat" cmpd="sng">
                      <a:solidFill>
                        <a:srgbClr val="DCE4F0"/>
                      </a:solidFill>
                      <a:prstDash val="solid"/>
                      <a:round/>
                      <a:headEnd type="none" w="sm" len="sm"/>
                      <a:tailEnd type="none" w="sm" len="sm"/>
                    </a:lnT>
                    <a:lnB w="9525" cap="flat" cmpd="sng">
                      <a:solidFill>
                        <a:srgbClr val="DCE4F0"/>
                      </a:solidFill>
                      <a:prstDash val="solid"/>
                      <a:round/>
                      <a:headEnd type="none" w="sm" len="sm"/>
                      <a:tailEnd type="none" w="sm" len="sm"/>
                    </a:lnB>
                  </a:tcPr>
                </a:tc>
                <a:tc>
                  <a:txBody>
                    <a:bodyPr/>
                    <a:lstStyle/>
                    <a:p>
                      <a:pPr marL="0" marR="0" lvl="0" indent="0" algn="l" rtl="0">
                        <a:spcBef>
                          <a:spcPts val="0"/>
                        </a:spcBef>
                        <a:spcAft>
                          <a:spcPts val="0"/>
                        </a:spcAft>
                        <a:buClr>
                          <a:srgbClr val="0F1B33"/>
                        </a:buClr>
                        <a:buSzPts val="1250"/>
                        <a:buFont typeface="Calibri"/>
                        <a:buNone/>
                      </a:pPr>
                      <a:r>
                        <a:rPr lang="en-US" sz="1250" u="none" strike="noStrike" cap="none">
                          <a:solidFill>
                            <a:srgbClr val="0F1B33"/>
                          </a:solidFill>
                          <a:latin typeface="Calibri"/>
                          <a:ea typeface="Calibri"/>
                          <a:cs typeface="Calibri"/>
                          <a:sym typeface="Calibri"/>
                        </a:rPr>
                        <a:t>≈ 1 jam</a:t>
                      </a:r>
                      <a:endParaRPr sz="1250" u="none" strike="noStrike" cap="none">
                        <a:latin typeface="Calibri"/>
                        <a:ea typeface="Calibri"/>
                        <a:cs typeface="Calibri"/>
                        <a:sym typeface="Calibri"/>
                      </a:endParaRPr>
                    </a:p>
                  </a:txBody>
                  <a:tcPr marL="128025" marR="128025" marT="73150" marB="73150" anchor="ctr">
                    <a:lnL w="9525" cap="flat" cmpd="sng">
                      <a:solidFill>
                        <a:srgbClr val="DCE4F0"/>
                      </a:solidFill>
                      <a:prstDash val="solid"/>
                      <a:round/>
                      <a:headEnd type="none" w="sm" len="sm"/>
                      <a:tailEnd type="none" w="sm" len="sm"/>
                    </a:lnL>
                    <a:lnR w="9525" cap="flat" cmpd="sng">
                      <a:solidFill>
                        <a:srgbClr val="DCE4F0"/>
                      </a:solidFill>
                      <a:prstDash val="solid"/>
                      <a:round/>
                      <a:headEnd type="none" w="sm" len="sm"/>
                      <a:tailEnd type="none" w="sm" len="sm"/>
                    </a:lnR>
                    <a:lnT w="9525" cap="flat" cmpd="sng">
                      <a:solidFill>
                        <a:srgbClr val="DCE4F0"/>
                      </a:solidFill>
                      <a:prstDash val="solid"/>
                      <a:round/>
                      <a:headEnd type="none" w="sm" len="sm"/>
                      <a:tailEnd type="none" w="sm" len="sm"/>
                    </a:lnT>
                    <a:lnB w="9525" cap="flat" cmpd="sng">
                      <a:solidFill>
                        <a:srgbClr val="DCE4F0"/>
                      </a:solidFill>
                      <a:prstDash val="solid"/>
                      <a:round/>
                      <a:headEnd type="none" w="sm" len="sm"/>
                      <a:tailEnd type="none" w="sm" len="sm"/>
                    </a:lnB>
                  </a:tcPr>
                </a:tc>
                <a:tc>
                  <a:txBody>
                    <a:bodyPr/>
                    <a:lstStyle/>
                    <a:p>
                      <a:pPr marL="0" marR="0" lvl="0" indent="0" algn="l" rtl="0">
                        <a:spcBef>
                          <a:spcPts val="0"/>
                        </a:spcBef>
                        <a:spcAft>
                          <a:spcPts val="0"/>
                        </a:spcAft>
                        <a:buClr>
                          <a:srgbClr val="0F1B33"/>
                        </a:buClr>
                        <a:buSzPts val="1250"/>
                        <a:buFont typeface="Calibri"/>
                        <a:buNone/>
                      </a:pPr>
                      <a:r>
                        <a:rPr lang="en-US" sz="1250" u="none" strike="noStrike" cap="none">
                          <a:solidFill>
                            <a:srgbClr val="0F1B33"/>
                          </a:solidFill>
                          <a:latin typeface="Calibri"/>
                          <a:ea typeface="Calibri"/>
                          <a:cs typeface="Calibri"/>
                          <a:sym typeface="Calibri"/>
                        </a:rPr>
                        <a:t>≈ 1,5 hari</a:t>
                      </a:r>
                      <a:endParaRPr sz="1250" u="none" strike="noStrike" cap="none">
                        <a:latin typeface="Calibri"/>
                        <a:ea typeface="Calibri"/>
                        <a:cs typeface="Calibri"/>
                        <a:sym typeface="Calibri"/>
                      </a:endParaRPr>
                    </a:p>
                  </a:txBody>
                  <a:tcPr marL="128025" marR="128025" marT="73150" marB="73150" anchor="ctr">
                    <a:lnL w="9525" cap="flat" cmpd="sng">
                      <a:solidFill>
                        <a:srgbClr val="DCE4F0"/>
                      </a:solidFill>
                      <a:prstDash val="solid"/>
                      <a:round/>
                      <a:headEnd type="none" w="sm" len="sm"/>
                      <a:tailEnd type="none" w="sm" len="sm"/>
                    </a:lnL>
                    <a:lnR w="9525" cap="flat" cmpd="sng">
                      <a:solidFill>
                        <a:srgbClr val="DCE4F0"/>
                      </a:solidFill>
                      <a:prstDash val="solid"/>
                      <a:round/>
                      <a:headEnd type="none" w="sm" len="sm"/>
                      <a:tailEnd type="none" w="sm" len="sm"/>
                    </a:lnR>
                    <a:lnT w="9525" cap="flat" cmpd="sng">
                      <a:solidFill>
                        <a:srgbClr val="DCE4F0"/>
                      </a:solidFill>
                      <a:prstDash val="solid"/>
                      <a:round/>
                      <a:headEnd type="none" w="sm" len="sm"/>
                      <a:tailEnd type="none" w="sm" len="sm"/>
                    </a:lnT>
                    <a:lnB w="9525" cap="flat" cmpd="sng">
                      <a:solidFill>
                        <a:srgbClr val="DCE4F0"/>
                      </a:solidFill>
                      <a:prstDash val="solid"/>
                      <a:round/>
                      <a:headEnd type="none" w="sm" len="sm"/>
                      <a:tailEnd type="none" w="sm" len="sm"/>
                    </a:lnB>
                    <a:solidFill>
                      <a:srgbClr val="E7F1FF"/>
                    </a:solidFill>
                  </a:tcPr>
                </a:tc>
                <a:tc>
                  <a:txBody>
                    <a:bodyPr/>
                    <a:lstStyle/>
                    <a:p>
                      <a:pPr marL="0" marR="0" lvl="0" indent="0" algn="l" rtl="0">
                        <a:spcBef>
                          <a:spcPts val="0"/>
                        </a:spcBef>
                        <a:spcAft>
                          <a:spcPts val="0"/>
                        </a:spcAft>
                        <a:buClr>
                          <a:srgbClr val="0F1B33"/>
                        </a:buClr>
                        <a:buSzPts val="1250"/>
                        <a:buFont typeface="Calibri"/>
                        <a:buNone/>
                      </a:pPr>
                      <a:r>
                        <a:rPr lang="en-US" sz="1250" u="none" strike="noStrike" cap="none">
                          <a:solidFill>
                            <a:srgbClr val="0F1B33"/>
                          </a:solidFill>
                          <a:latin typeface="Calibri"/>
                          <a:ea typeface="Calibri"/>
                          <a:cs typeface="Calibri"/>
                          <a:sym typeface="Calibri"/>
                        </a:rPr>
                        <a:t>Beberapa hari, karena API belum punya spec</a:t>
                      </a:r>
                      <a:endParaRPr sz="1250" u="none" strike="noStrike" cap="none">
                        <a:latin typeface="Calibri"/>
                        <a:ea typeface="Calibri"/>
                        <a:cs typeface="Calibri"/>
                        <a:sym typeface="Calibri"/>
                      </a:endParaRPr>
                    </a:p>
                  </a:txBody>
                  <a:tcPr marL="128025" marR="128025" marT="73150" marB="73150" anchor="ctr">
                    <a:lnL w="9525" cap="flat" cmpd="sng">
                      <a:solidFill>
                        <a:srgbClr val="DCE4F0"/>
                      </a:solidFill>
                      <a:prstDash val="solid"/>
                      <a:round/>
                      <a:headEnd type="none" w="sm" len="sm"/>
                      <a:tailEnd type="none" w="sm" len="sm"/>
                    </a:lnL>
                    <a:lnR w="9525" cap="flat" cmpd="sng">
                      <a:solidFill>
                        <a:srgbClr val="DCE4F0"/>
                      </a:solidFill>
                      <a:prstDash val="solid"/>
                      <a:round/>
                      <a:headEnd type="none" w="sm" len="sm"/>
                      <a:tailEnd type="none" w="sm" len="sm"/>
                    </a:lnR>
                    <a:lnT w="9525" cap="flat" cmpd="sng">
                      <a:solidFill>
                        <a:srgbClr val="DCE4F0"/>
                      </a:solidFill>
                      <a:prstDash val="solid"/>
                      <a:round/>
                      <a:headEnd type="none" w="sm" len="sm"/>
                      <a:tailEnd type="none" w="sm" len="sm"/>
                    </a:lnT>
                    <a:lnB w="9525" cap="flat" cmpd="sng">
                      <a:solidFill>
                        <a:srgbClr val="DCE4F0"/>
                      </a:solidFill>
                      <a:prstDash val="solid"/>
                      <a:round/>
                      <a:headEnd type="none" w="sm" len="sm"/>
                      <a:tailEnd type="none" w="sm" len="sm"/>
                    </a:lnB>
                  </a:tcPr>
                </a:tc>
              </a:tr>
              <a:tr h="713225">
                <a:tc>
                  <a:txBody>
                    <a:bodyPr/>
                    <a:lstStyle/>
                    <a:p>
                      <a:pPr marL="0" marR="0" lvl="0" indent="0" algn="l" rtl="0">
                        <a:spcBef>
                          <a:spcPts val="0"/>
                        </a:spcBef>
                        <a:spcAft>
                          <a:spcPts val="0"/>
                        </a:spcAft>
                        <a:buClr>
                          <a:srgbClr val="0F1B33"/>
                        </a:buClr>
                        <a:buSzPts val="1250"/>
                        <a:buFont typeface="Calibri"/>
                        <a:buNone/>
                      </a:pPr>
                      <a:r>
                        <a:rPr lang="en-US" sz="1250" b="1" u="none" strike="noStrike" cap="none">
                          <a:solidFill>
                            <a:srgbClr val="0F1B33"/>
                          </a:solidFill>
                          <a:latin typeface="Calibri"/>
                          <a:ea typeface="Calibri"/>
                          <a:cs typeface="Calibri"/>
                          <a:sym typeface="Calibri"/>
                        </a:rPr>
                        <a:t>Dampak ke user</a:t>
                      </a:r>
                      <a:endParaRPr sz="1250" u="none" strike="noStrike" cap="none">
                        <a:latin typeface="Calibri"/>
                        <a:ea typeface="Calibri"/>
                        <a:cs typeface="Calibri"/>
                        <a:sym typeface="Calibri"/>
                      </a:endParaRPr>
                    </a:p>
                  </a:txBody>
                  <a:tcPr marL="128025" marR="128025" marT="73150" marB="73150" anchor="ctr">
                    <a:lnL w="9525" cap="flat" cmpd="sng">
                      <a:solidFill>
                        <a:srgbClr val="DCE4F0"/>
                      </a:solidFill>
                      <a:prstDash val="solid"/>
                      <a:round/>
                      <a:headEnd type="none" w="sm" len="sm"/>
                      <a:tailEnd type="none" w="sm" len="sm"/>
                    </a:lnL>
                    <a:lnR w="9525" cap="flat" cmpd="sng">
                      <a:solidFill>
                        <a:srgbClr val="DCE4F0"/>
                      </a:solidFill>
                      <a:prstDash val="solid"/>
                      <a:round/>
                      <a:headEnd type="none" w="sm" len="sm"/>
                      <a:tailEnd type="none" w="sm" len="sm"/>
                    </a:lnR>
                    <a:lnT w="9525" cap="flat" cmpd="sng">
                      <a:solidFill>
                        <a:srgbClr val="DCE4F0"/>
                      </a:solidFill>
                      <a:prstDash val="solid"/>
                      <a:round/>
                      <a:headEnd type="none" w="sm" len="sm"/>
                      <a:tailEnd type="none" w="sm" len="sm"/>
                    </a:lnT>
                    <a:lnB w="9525" cap="flat" cmpd="sng">
                      <a:solidFill>
                        <a:srgbClr val="DCE4F0"/>
                      </a:solidFill>
                      <a:prstDash val="solid"/>
                      <a:round/>
                      <a:headEnd type="none" w="sm" len="sm"/>
                      <a:tailEnd type="none" w="sm" len="sm"/>
                    </a:lnB>
                  </a:tcPr>
                </a:tc>
                <a:tc>
                  <a:txBody>
                    <a:bodyPr/>
                    <a:lstStyle/>
                    <a:p>
                      <a:pPr marL="0" marR="0" lvl="0" indent="0" algn="l" rtl="0">
                        <a:spcBef>
                          <a:spcPts val="0"/>
                        </a:spcBef>
                        <a:spcAft>
                          <a:spcPts val="0"/>
                        </a:spcAft>
                        <a:buClr>
                          <a:srgbClr val="0F1B33"/>
                        </a:buClr>
                        <a:buSzPts val="1250"/>
                        <a:buFont typeface="Calibri"/>
                        <a:buNone/>
                      </a:pPr>
                      <a:r>
                        <a:rPr lang="en-US" sz="1250" u="none" strike="noStrike" cap="none">
                          <a:solidFill>
                            <a:srgbClr val="0F1B33"/>
                          </a:solidFill>
                          <a:latin typeface="Calibri"/>
                          <a:ea typeface="Calibri"/>
                          <a:cs typeface="Calibri"/>
                          <a:sym typeface="Calibri"/>
                        </a:rPr>
                        <a:t>Tabel terisi</a:t>
                      </a:r>
                      <a:endParaRPr sz="1250" u="none" strike="noStrike" cap="none">
                        <a:latin typeface="Calibri"/>
                        <a:ea typeface="Calibri"/>
                        <a:cs typeface="Calibri"/>
                        <a:sym typeface="Calibri"/>
                      </a:endParaRPr>
                    </a:p>
                  </a:txBody>
                  <a:tcPr marL="128025" marR="128025" marT="73150" marB="73150" anchor="ctr">
                    <a:lnL w="9525" cap="flat" cmpd="sng">
                      <a:solidFill>
                        <a:srgbClr val="DCE4F0"/>
                      </a:solidFill>
                      <a:prstDash val="solid"/>
                      <a:round/>
                      <a:headEnd type="none" w="sm" len="sm"/>
                      <a:tailEnd type="none" w="sm" len="sm"/>
                    </a:lnL>
                    <a:lnR w="9525" cap="flat" cmpd="sng">
                      <a:solidFill>
                        <a:srgbClr val="DCE4F0"/>
                      </a:solidFill>
                      <a:prstDash val="solid"/>
                      <a:round/>
                      <a:headEnd type="none" w="sm" len="sm"/>
                      <a:tailEnd type="none" w="sm" len="sm"/>
                    </a:lnR>
                    <a:lnT w="9525" cap="flat" cmpd="sng">
                      <a:solidFill>
                        <a:srgbClr val="DCE4F0"/>
                      </a:solidFill>
                      <a:prstDash val="solid"/>
                      <a:round/>
                      <a:headEnd type="none" w="sm" len="sm"/>
                      <a:tailEnd type="none" w="sm" len="sm"/>
                    </a:lnT>
                    <a:lnB w="9525" cap="flat" cmpd="sng">
                      <a:solidFill>
                        <a:srgbClr val="DCE4F0"/>
                      </a:solidFill>
                      <a:prstDash val="solid"/>
                      <a:round/>
                      <a:headEnd type="none" w="sm" len="sm"/>
                      <a:tailEnd type="none" w="sm" len="sm"/>
                    </a:lnB>
                  </a:tcPr>
                </a:tc>
                <a:tc>
                  <a:txBody>
                    <a:bodyPr/>
                    <a:lstStyle/>
                    <a:p>
                      <a:pPr marL="0" marR="0" lvl="0" indent="0" algn="l" rtl="0">
                        <a:spcBef>
                          <a:spcPts val="0"/>
                        </a:spcBef>
                        <a:spcAft>
                          <a:spcPts val="0"/>
                        </a:spcAft>
                        <a:buClr>
                          <a:srgbClr val="0F1B33"/>
                        </a:buClr>
                        <a:buSzPts val="1250"/>
                        <a:buFont typeface="Calibri"/>
                        <a:buNone/>
                      </a:pPr>
                      <a:r>
                        <a:rPr lang="en-US" sz="1250" u="none" strike="noStrike" cap="none">
                          <a:solidFill>
                            <a:srgbClr val="0F1B33"/>
                          </a:solidFill>
                          <a:latin typeface="Calibri"/>
                          <a:ea typeface="Calibri"/>
                          <a:cs typeface="Calibri"/>
                          <a:sym typeface="Calibri"/>
                        </a:rPr>
                        <a:t>Setiap baris menunjukkan siapa yang menilai, seberapa yakin, dan dari berapa pertanyaan</a:t>
                      </a:r>
                      <a:endParaRPr sz="1250" u="none" strike="noStrike" cap="none">
                        <a:latin typeface="Calibri"/>
                        <a:ea typeface="Calibri"/>
                        <a:cs typeface="Calibri"/>
                        <a:sym typeface="Calibri"/>
                      </a:endParaRPr>
                    </a:p>
                  </a:txBody>
                  <a:tcPr marL="128025" marR="128025" marT="73150" marB="73150" anchor="ctr">
                    <a:lnL w="9525" cap="flat" cmpd="sng">
                      <a:solidFill>
                        <a:srgbClr val="DCE4F0"/>
                      </a:solidFill>
                      <a:prstDash val="solid"/>
                      <a:round/>
                      <a:headEnd type="none" w="sm" len="sm"/>
                      <a:tailEnd type="none" w="sm" len="sm"/>
                    </a:lnL>
                    <a:lnR w="9525" cap="flat" cmpd="sng">
                      <a:solidFill>
                        <a:srgbClr val="DCE4F0"/>
                      </a:solidFill>
                      <a:prstDash val="solid"/>
                      <a:round/>
                      <a:headEnd type="none" w="sm" len="sm"/>
                      <a:tailEnd type="none" w="sm" len="sm"/>
                    </a:lnR>
                    <a:lnT w="9525" cap="flat" cmpd="sng">
                      <a:solidFill>
                        <a:srgbClr val="DCE4F0"/>
                      </a:solidFill>
                      <a:prstDash val="solid"/>
                      <a:round/>
                      <a:headEnd type="none" w="sm" len="sm"/>
                      <a:tailEnd type="none" w="sm" len="sm"/>
                    </a:lnT>
                    <a:lnB w="9525" cap="flat" cmpd="sng">
                      <a:solidFill>
                        <a:srgbClr val="DCE4F0"/>
                      </a:solidFill>
                      <a:prstDash val="solid"/>
                      <a:round/>
                      <a:headEnd type="none" w="sm" len="sm"/>
                      <a:tailEnd type="none" w="sm" len="sm"/>
                    </a:lnB>
                    <a:solidFill>
                      <a:srgbClr val="E7F1FF"/>
                    </a:solidFill>
                  </a:tcPr>
                </a:tc>
                <a:tc>
                  <a:txBody>
                    <a:bodyPr/>
                    <a:lstStyle/>
                    <a:p>
                      <a:pPr marL="0" marR="0" lvl="0" indent="0" algn="l" rtl="0">
                        <a:spcBef>
                          <a:spcPts val="0"/>
                        </a:spcBef>
                        <a:spcAft>
                          <a:spcPts val="0"/>
                        </a:spcAft>
                        <a:buClr>
                          <a:srgbClr val="0F1B33"/>
                        </a:buClr>
                        <a:buSzPts val="1250"/>
                        <a:buFont typeface="Calibri"/>
                        <a:buNone/>
                      </a:pPr>
                      <a:r>
                        <a:rPr lang="en-US" sz="1250" u="none" strike="noStrike" cap="none">
                          <a:solidFill>
                            <a:srgbClr val="0F1B33"/>
                          </a:solidFill>
                          <a:latin typeface="Calibri"/>
                          <a:ea typeface="Calibri"/>
                          <a:cs typeface="Calibri"/>
                          <a:sym typeface="Calibri"/>
                        </a:rPr>
                        <a:t>Sama dengan B, plus type otomatis</a:t>
                      </a:r>
                      <a:endParaRPr sz="1250" u="none" strike="noStrike" cap="none">
                        <a:latin typeface="Calibri"/>
                        <a:ea typeface="Calibri"/>
                        <a:cs typeface="Calibri"/>
                        <a:sym typeface="Calibri"/>
                      </a:endParaRPr>
                    </a:p>
                  </a:txBody>
                  <a:tcPr marL="128025" marR="128025" marT="73150" marB="73150" anchor="ctr">
                    <a:lnL w="9525" cap="flat" cmpd="sng">
                      <a:solidFill>
                        <a:srgbClr val="DCE4F0"/>
                      </a:solidFill>
                      <a:prstDash val="solid"/>
                      <a:round/>
                      <a:headEnd type="none" w="sm" len="sm"/>
                      <a:tailEnd type="none" w="sm" len="sm"/>
                    </a:lnL>
                    <a:lnR w="9525" cap="flat" cmpd="sng">
                      <a:solidFill>
                        <a:srgbClr val="DCE4F0"/>
                      </a:solidFill>
                      <a:prstDash val="solid"/>
                      <a:round/>
                      <a:headEnd type="none" w="sm" len="sm"/>
                      <a:tailEnd type="none" w="sm" len="sm"/>
                    </a:lnR>
                    <a:lnT w="9525" cap="flat" cmpd="sng">
                      <a:solidFill>
                        <a:srgbClr val="DCE4F0"/>
                      </a:solidFill>
                      <a:prstDash val="solid"/>
                      <a:round/>
                      <a:headEnd type="none" w="sm" len="sm"/>
                      <a:tailEnd type="none" w="sm" len="sm"/>
                    </a:lnT>
                    <a:lnB w="9525" cap="flat" cmpd="sng">
                      <a:solidFill>
                        <a:srgbClr val="DCE4F0"/>
                      </a:solidFill>
                      <a:prstDash val="solid"/>
                      <a:round/>
                      <a:headEnd type="none" w="sm" len="sm"/>
                      <a:tailEnd type="none" w="sm" len="sm"/>
                    </a:lnB>
                  </a:tcPr>
                </a:tc>
              </a:tr>
              <a:tr h="658375">
                <a:tc>
                  <a:txBody>
                    <a:bodyPr/>
                    <a:lstStyle/>
                    <a:p>
                      <a:pPr marL="0" marR="0" lvl="0" indent="0" algn="l" rtl="0">
                        <a:spcBef>
                          <a:spcPts val="0"/>
                        </a:spcBef>
                        <a:spcAft>
                          <a:spcPts val="0"/>
                        </a:spcAft>
                        <a:buClr>
                          <a:srgbClr val="0F1B33"/>
                        </a:buClr>
                        <a:buSzPts val="1250"/>
                        <a:buFont typeface="Calibri"/>
                        <a:buNone/>
                      </a:pPr>
                      <a:r>
                        <a:rPr lang="en-US" sz="1250" b="1" u="none" strike="noStrike" cap="none">
                          <a:solidFill>
                            <a:srgbClr val="0F1B33"/>
                          </a:solidFill>
                          <a:latin typeface="Calibri"/>
                          <a:ea typeface="Calibri"/>
                          <a:cs typeface="Calibri"/>
                          <a:sym typeface="Calibri"/>
                        </a:rPr>
                        <a:t>Cara gagal</a:t>
                      </a:r>
                      <a:endParaRPr sz="1250" u="none" strike="noStrike" cap="none">
                        <a:latin typeface="Calibri"/>
                        <a:ea typeface="Calibri"/>
                        <a:cs typeface="Calibri"/>
                        <a:sym typeface="Calibri"/>
                      </a:endParaRPr>
                    </a:p>
                  </a:txBody>
                  <a:tcPr marL="128025" marR="128025" marT="73150" marB="73150" anchor="ctr">
                    <a:lnL w="9525" cap="flat" cmpd="sng">
                      <a:solidFill>
                        <a:srgbClr val="DCE4F0"/>
                      </a:solidFill>
                      <a:prstDash val="solid"/>
                      <a:round/>
                      <a:headEnd type="none" w="sm" len="sm"/>
                      <a:tailEnd type="none" w="sm" len="sm"/>
                    </a:lnL>
                    <a:lnR w="9525" cap="flat" cmpd="sng">
                      <a:solidFill>
                        <a:srgbClr val="DCE4F0"/>
                      </a:solidFill>
                      <a:prstDash val="solid"/>
                      <a:round/>
                      <a:headEnd type="none" w="sm" len="sm"/>
                      <a:tailEnd type="none" w="sm" len="sm"/>
                    </a:lnR>
                    <a:lnT w="9525" cap="flat" cmpd="sng">
                      <a:solidFill>
                        <a:srgbClr val="DCE4F0"/>
                      </a:solidFill>
                      <a:prstDash val="solid"/>
                      <a:round/>
                      <a:headEnd type="none" w="sm" len="sm"/>
                      <a:tailEnd type="none" w="sm" len="sm"/>
                    </a:lnT>
                    <a:lnB w="9525" cap="flat" cmpd="sng">
                      <a:solidFill>
                        <a:srgbClr val="DCE4F0"/>
                      </a:solidFill>
                      <a:prstDash val="solid"/>
                      <a:round/>
                      <a:headEnd type="none" w="sm" len="sm"/>
                      <a:tailEnd type="none" w="sm" len="sm"/>
                    </a:lnB>
                  </a:tcPr>
                </a:tc>
                <a:tc>
                  <a:txBody>
                    <a:bodyPr/>
                    <a:lstStyle/>
                    <a:p>
                      <a:pPr marL="0" marR="0" lvl="0" indent="0" algn="l" rtl="0">
                        <a:spcBef>
                          <a:spcPts val="0"/>
                        </a:spcBef>
                        <a:spcAft>
                          <a:spcPts val="0"/>
                        </a:spcAft>
                        <a:buClr>
                          <a:srgbClr val="0F1B33"/>
                        </a:buClr>
                        <a:buSzPts val="1250"/>
                        <a:buFont typeface="Calibri"/>
                        <a:buNone/>
                      </a:pPr>
                      <a:r>
                        <a:rPr lang="en-US" sz="1250" u="none" strike="noStrike" cap="none">
                          <a:solidFill>
                            <a:srgbClr val="0F1B33"/>
                          </a:solidFill>
                          <a:latin typeface="Calibri"/>
                          <a:ea typeface="Calibri"/>
                          <a:cs typeface="Calibri"/>
                          <a:sym typeface="Calibri"/>
                        </a:rPr>
                        <a:t>Kalau API berubah lagi, bug yang sama muncul tanpa ketahuan</a:t>
                      </a:r>
                      <a:endParaRPr sz="1250" u="none" strike="noStrike" cap="none">
                        <a:latin typeface="Calibri"/>
                        <a:ea typeface="Calibri"/>
                        <a:cs typeface="Calibri"/>
                        <a:sym typeface="Calibri"/>
                      </a:endParaRPr>
                    </a:p>
                  </a:txBody>
                  <a:tcPr marL="128025" marR="128025" marT="73150" marB="73150" anchor="ctr">
                    <a:lnL w="9525" cap="flat" cmpd="sng">
                      <a:solidFill>
                        <a:srgbClr val="DCE4F0"/>
                      </a:solidFill>
                      <a:prstDash val="solid"/>
                      <a:round/>
                      <a:headEnd type="none" w="sm" len="sm"/>
                      <a:tailEnd type="none" w="sm" len="sm"/>
                    </a:lnL>
                    <a:lnR w="9525" cap="flat" cmpd="sng">
                      <a:solidFill>
                        <a:srgbClr val="DCE4F0"/>
                      </a:solidFill>
                      <a:prstDash val="solid"/>
                      <a:round/>
                      <a:headEnd type="none" w="sm" len="sm"/>
                      <a:tailEnd type="none" w="sm" len="sm"/>
                    </a:lnR>
                    <a:lnT w="9525" cap="flat" cmpd="sng">
                      <a:solidFill>
                        <a:srgbClr val="DCE4F0"/>
                      </a:solidFill>
                      <a:prstDash val="solid"/>
                      <a:round/>
                      <a:headEnd type="none" w="sm" len="sm"/>
                      <a:tailEnd type="none" w="sm" len="sm"/>
                    </a:lnT>
                    <a:lnB w="9525" cap="flat" cmpd="sng">
                      <a:solidFill>
                        <a:srgbClr val="DCE4F0"/>
                      </a:solidFill>
                      <a:prstDash val="solid"/>
                      <a:round/>
                      <a:headEnd type="none" w="sm" len="sm"/>
                      <a:tailEnd type="none" w="sm" len="sm"/>
                    </a:lnB>
                  </a:tcPr>
                </a:tc>
                <a:tc>
                  <a:txBody>
                    <a:bodyPr/>
                    <a:lstStyle/>
                    <a:p>
                      <a:pPr marL="0" marR="0" lvl="0" indent="0" algn="l" rtl="0">
                        <a:spcBef>
                          <a:spcPts val="0"/>
                        </a:spcBef>
                        <a:spcAft>
                          <a:spcPts val="0"/>
                        </a:spcAft>
                        <a:buClr>
                          <a:srgbClr val="0F1B33"/>
                        </a:buClr>
                        <a:buSzPts val="1250"/>
                        <a:buFont typeface="Calibri"/>
                        <a:buNone/>
                      </a:pPr>
                      <a:r>
                        <a:rPr lang="en-US" sz="1250" u="none" strike="noStrike" cap="none">
                          <a:solidFill>
                            <a:srgbClr val="0F1B33"/>
                          </a:solidFill>
                          <a:latin typeface="Calibri"/>
                          <a:ea typeface="Calibri"/>
                          <a:cs typeface="Calibri"/>
                          <a:sym typeface="Calibri"/>
                        </a:rPr>
                        <a:t>Kalau API berubah, layar memberi tahu field mana yang hilang</a:t>
                      </a:r>
                      <a:endParaRPr sz="1250" u="none" strike="noStrike" cap="none">
                        <a:latin typeface="Calibri"/>
                        <a:ea typeface="Calibri"/>
                        <a:cs typeface="Calibri"/>
                        <a:sym typeface="Calibri"/>
                      </a:endParaRPr>
                    </a:p>
                  </a:txBody>
                  <a:tcPr marL="128025" marR="128025" marT="73150" marB="73150" anchor="ctr">
                    <a:lnL w="9525" cap="flat" cmpd="sng">
                      <a:solidFill>
                        <a:srgbClr val="DCE4F0"/>
                      </a:solidFill>
                      <a:prstDash val="solid"/>
                      <a:round/>
                      <a:headEnd type="none" w="sm" len="sm"/>
                      <a:tailEnd type="none" w="sm" len="sm"/>
                    </a:lnL>
                    <a:lnR w="9525" cap="flat" cmpd="sng">
                      <a:solidFill>
                        <a:srgbClr val="DCE4F0"/>
                      </a:solidFill>
                      <a:prstDash val="solid"/>
                      <a:round/>
                      <a:headEnd type="none" w="sm" len="sm"/>
                      <a:tailEnd type="none" w="sm" len="sm"/>
                    </a:lnR>
                    <a:lnT w="9525" cap="flat" cmpd="sng">
                      <a:solidFill>
                        <a:srgbClr val="DCE4F0"/>
                      </a:solidFill>
                      <a:prstDash val="solid"/>
                      <a:round/>
                      <a:headEnd type="none" w="sm" len="sm"/>
                      <a:tailEnd type="none" w="sm" len="sm"/>
                    </a:lnT>
                    <a:lnB w="9525" cap="flat" cmpd="sng">
                      <a:solidFill>
                        <a:srgbClr val="DCE4F0"/>
                      </a:solidFill>
                      <a:prstDash val="solid"/>
                      <a:round/>
                      <a:headEnd type="none" w="sm" len="sm"/>
                      <a:tailEnd type="none" w="sm" len="sm"/>
                    </a:lnB>
                    <a:solidFill>
                      <a:srgbClr val="E7F1FF"/>
                    </a:solidFill>
                  </a:tcPr>
                </a:tc>
                <a:tc>
                  <a:txBody>
                    <a:bodyPr/>
                    <a:lstStyle/>
                    <a:p>
                      <a:pPr marL="0" marR="0" lvl="0" indent="0" algn="l" rtl="0">
                        <a:spcBef>
                          <a:spcPts val="0"/>
                        </a:spcBef>
                        <a:spcAft>
                          <a:spcPts val="0"/>
                        </a:spcAft>
                        <a:buClr>
                          <a:srgbClr val="0F1B33"/>
                        </a:buClr>
                        <a:buSzPts val="1250"/>
                        <a:buFont typeface="Calibri"/>
                        <a:buNone/>
                      </a:pPr>
                      <a:r>
                        <a:rPr lang="en-US" sz="1250" u="none" strike="noStrike" cap="none">
                          <a:solidFill>
                            <a:srgbClr val="0F1B33"/>
                          </a:solidFill>
                          <a:latin typeface="Calibri"/>
                          <a:ea typeface="Calibri"/>
                          <a:cs typeface="Calibri"/>
                          <a:sym typeface="Calibri"/>
                        </a:rPr>
                        <a:t>Kalau spec tidak dirawat, jadi sumber masalah baru</a:t>
                      </a:r>
                      <a:endParaRPr sz="1250" u="none" strike="noStrike" cap="none">
                        <a:latin typeface="Calibri"/>
                        <a:ea typeface="Calibri"/>
                        <a:cs typeface="Calibri"/>
                        <a:sym typeface="Calibri"/>
                      </a:endParaRPr>
                    </a:p>
                  </a:txBody>
                  <a:tcPr marL="128025" marR="128025" marT="73150" marB="73150" anchor="ctr">
                    <a:lnL w="9525" cap="flat" cmpd="sng">
                      <a:solidFill>
                        <a:srgbClr val="DCE4F0"/>
                      </a:solidFill>
                      <a:prstDash val="solid"/>
                      <a:round/>
                      <a:headEnd type="none" w="sm" len="sm"/>
                      <a:tailEnd type="none" w="sm" len="sm"/>
                    </a:lnL>
                    <a:lnR w="9525" cap="flat" cmpd="sng">
                      <a:solidFill>
                        <a:srgbClr val="DCE4F0"/>
                      </a:solidFill>
                      <a:prstDash val="solid"/>
                      <a:round/>
                      <a:headEnd type="none" w="sm" len="sm"/>
                      <a:tailEnd type="none" w="sm" len="sm"/>
                    </a:lnR>
                    <a:lnT w="9525" cap="flat" cmpd="sng">
                      <a:solidFill>
                        <a:srgbClr val="DCE4F0"/>
                      </a:solidFill>
                      <a:prstDash val="solid"/>
                      <a:round/>
                      <a:headEnd type="none" w="sm" len="sm"/>
                      <a:tailEnd type="none" w="sm" len="sm"/>
                    </a:lnT>
                    <a:lnB w="9525" cap="flat" cmpd="sng">
                      <a:solidFill>
                        <a:srgbClr val="DCE4F0"/>
                      </a:solidFill>
                      <a:prstDash val="solid"/>
                      <a:round/>
                      <a:headEnd type="none" w="sm" len="sm"/>
                      <a:tailEnd type="none" w="sm" len="sm"/>
                    </a:lnB>
                  </a:tcPr>
                </a:tc>
              </a:tr>
              <a:tr h="566925">
                <a:tc>
                  <a:txBody>
                    <a:bodyPr/>
                    <a:lstStyle/>
                    <a:p>
                      <a:pPr marL="0" marR="0" lvl="0" indent="0" algn="l" rtl="0">
                        <a:spcBef>
                          <a:spcPts val="0"/>
                        </a:spcBef>
                        <a:spcAft>
                          <a:spcPts val="0"/>
                        </a:spcAft>
                        <a:buClr>
                          <a:srgbClr val="0F1B33"/>
                        </a:buClr>
                        <a:buSzPts val="1250"/>
                        <a:buFont typeface="Calibri"/>
                        <a:buNone/>
                      </a:pPr>
                      <a:r>
                        <a:rPr lang="en-US" sz="1250" b="1" u="none" strike="noStrike" cap="none">
                          <a:solidFill>
                            <a:srgbClr val="0F1B33"/>
                          </a:solidFill>
                          <a:latin typeface="Calibri"/>
                          <a:ea typeface="Calibri"/>
                          <a:cs typeface="Calibri"/>
                          <a:sym typeface="Calibri"/>
                        </a:rPr>
                        <a:t>Perawatan</a:t>
                      </a:r>
                      <a:endParaRPr sz="1250" u="none" strike="noStrike" cap="none">
                        <a:latin typeface="Calibri"/>
                        <a:ea typeface="Calibri"/>
                        <a:cs typeface="Calibri"/>
                        <a:sym typeface="Calibri"/>
                      </a:endParaRPr>
                    </a:p>
                  </a:txBody>
                  <a:tcPr marL="128025" marR="128025" marT="73150" marB="73150" anchor="ctr">
                    <a:lnL w="9525" cap="flat" cmpd="sng">
                      <a:solidFill>
                        <a:srgbClr val="DCE4F0"/>
                      </a:solidFill>
                      <a:prstDash val="solid"/>
                      <a:round/>
                      <a:headEnd type="none" w="sm" len="sm"/>
                      <a:tailEnd type="none" w="sm" len="sm"/>
                    </a:lnL>
                    <a:lnR w="9525" cap="flat" cmpd="sng">
                      <a:solidFill>
                        <a:srgbClr val="DCE4F0"/>
                      </a:solidFill>
                      <a:prstDash val="solid"/>
                      <a:round/>
                      <a:headEnd type="none" w="sm" len="sm"/>
                      <a:tailEnd type="none" w="sm" len="sm"/>
                    </a:lnR>
                    <a:lnT w="9525" cap="flat" cmpd="sng">
                      <a:solidFill>
                        <a:srgbClr val="DCE4F0"/>
                      </a:solidFill>
                      <a:prstDash val="solid"/>
                      <a:round/>
                      <a:headEnd type="none" w="sm" len="sm"/>
                      <a:tailEnd type="none" w="sm" len="sm"/>
                    </a:lnT>
                    <a:lnB w="9525" cap="flat" cmpd="sng">
                      <a:solidFill>
                        <a:srgbClr val="DCE4F0"/>
                      </a:solidFill>
                      <a:prstDash val="solid"/>
                      <a:round/>
                      <a:headEnd type="none" w="sm" len="sm"/>
                      <a:tailEnd type="none" w="sm" len="sm"/>
                    </a:lnB>
                  </a:tcPr>
                </a:tc>
                <a:tc>
                  <a:txBody>
                    <a:bodyPr/>
                    <a:lstStyle/>
                    <a:p>
                      <a:pPr marL="0" marR="0" lvl="0" indent="0" algn="l" rtl="0">
                        <a:spcBef>
                          <a:spcPts val="0"/>
                        </a:spcBef>
                        <a:spcAft>
                          <a:spcPts val="0"/>
                        </a:spcAft>
                        <a:buClr>
                          <a:srgbClr val="0F1B33"/>
                        </a:buClr>
                        <a:buSzPts val="1250"/>
                        <a:buFont typeface="Calibri"/>
                        <a:buNone/>
                      </a:pPr>
                      <a:r>
                        <a:rPr lang="en-US" sz="1250" u="none" strike="noStrike" cap="none">
                          <a:solidFill>
                            <a:srgbClr val="0F1B33"/>
                          </a:solidFill>
                          <a:latin typeface="Calibri"/>
                          <a:ea typeface="Calibri"/>
                          <a:cs typeface="Calibri"/>
                          <a:sym typeface="Calibri"/>
                        </a:rPr>
                        <a:t>Type tetap ditulis manual</a:t>
                      </a:r>
                      <a:endParaRPr sz="1250" u="none" strike="noStrike" cap="none">
                        <a:latin typeface="Calibri"/>
                        <a:ea typeface="Calibri"/>
                        <a:cs typeface="Calibri"/>
                        <a:sym typeface="Calibri"/>
                      </a:endParaRPr>
                    </a:p>
                  </a:txBody>
                  <a:tcPr marL="128025" marR="128025" marT="73150" marB="73150" anchor="ctr">
                    <a:lnL w="9525" cap="flat" cmpd="sng">
                      <a:solidFill>
                        <a:srgbClr val="DCE4F0"/>
                      </a:solidFill>
                      <a:prstDash val="solid"/>
                      <a:round/>
                      <a:headEnd type="none" w="sm" len="sm"/>
                      <a:tailEnd type="none" w="sm" len="sm"/>
                    </a:lnL>
                    <a:lnR w="9525" cap="flat" cmpd="sng">
                      <a:solidFill>
                        <a:srgbClr val="DCE4F0"/>
                      </a:solidFill>
                      <a:prstDash val="solid"/>
                      <a:round/>
                      <a:headEnd type="none" w="sm" len="sm"/>
                      <a:tailEnd type="none" w="sm" len="sm"/>
                    </a:lnR>
                    <a:lnT w="9525" cap="flat" cmpd="sng">
                      <a:solidFill>
                        <a:srgbClr val="DCE4F0"/>
                      </a:solidFill>
                      <a:prstDash val="solid"/>
                      <a:round/>
                      <a:headEnd type="none" w="sm" len="sm"/>
                      <a:tailEnd type="none" w="sm" len="sm"/>
                    </a:lnT>
                    <a:lnB w="9525" cap="flat" cmpd="sng">
                      <a:solidFill>
                        <a:srgbClr val="DCE4F0"/>
                      </a:solidFill>
                      <a:prstDash val="solid"/>
                      <a:round/>
                      <a:headEnd type="none" w="sm" len="sm"/>
                      <a:tailEnd type="none" w="sm" len="sm"/>
                    </a:lnB>
                  </a:tcPr>
                </a:tc>
                <a:tc>
                  <a:txBody>
                    <a:bodyPr/>
                    <a:lstStyle/>
                    <a:p>
                      <a:pPr marL="0" marR="0" lvl="0" indent="0" algn="l" rtl="0">
                        <a:spcBef>
                          <a:spcPts val="0"/>
                        </a:spcBef>
                        <a:spcAft>
                          <a:spcPts val="0"/>
                        </a:spcAft>
                        <a:buClr>
                          <a:srgbClr val="0F1B33"/>
                        </a:buClr>
                        <a:buSzPts val="1250"/>
                        <a:buFont typeface="Calibri"/>
                        <a:buNone/>
                      </a:pPr>
                      <a:r>
                        <a:rPr lang="en-US" sz="1250" u="none" strike="noStrike" cap="none">
                          <a:solidFill>
                            <a:srgbClr val="0F1B33"/>
                          </a:solidFill>
                          <a:latin typeface="Calibri"/>
                          <a:ea typeface="Calibri"/>
                          <a:cs typeface="Calibri"/>
                          <a:sym typeface="Calibri"/>
                        </a:rPr>
                        <a:t>Satu schema per response, type otomatis dari schema</a:t>
                      </a:r>
                      <a:endParaRPr sz="1250" u="none" strike="noStrike" cap="none">
                        <a:latin typeface="Calibri"/>
                        <a:ea typeface="Calibri"/>
                        <a:cs typeface="Calibri"/>
                        <a:sym typeface="Calibri"/>
                      </a:endParaRPr>
                    </a:p>
                  </a:txBody>
                  <a:tcPr marL="128025" marR="128025" marT="73150" marB="73150" anchor="ctr">
                    <a:lnL w="9525" cap="flat" cmpd="sng">
                      <a:solidFill>
                        <a:srgbClr val="DCE4F0"/>
                      </a:solidFill>
                      <a:prstDash val="solid"/>
                      <a:round/>
                      <a:headEnd type="none" w="sm" len="sm"/>
                      <a:tailEnd type="none" w="sm" len="sm"/>
                    </a:lnL>
                    <a:lnR w="9525" cap="flat" cmpd="sng">
                      <a:solidFill>
                        <a:srgbClr val="DCE4F0"/>
                      </a:solidFill>
                      <a:prstDash val="solid"/>
                      <a:round/>
                      <a:headEnd type="none" w="sm" len="sm"/>
                      <a:tailEnd type="none" w="sm" len="sm"/>
                    </a:lnR>
                    <a:lnT w="9525" cap="flat" cmpd="sng">
                      <a:solidFill>
                        <a:srgbClr val="DCE4F0"/>
                      </a:solidFill>
                      <a:prstDash val="solid"/>
                      <a:round/>
                      <a:headEnd type="none" w="sm" len="sm"/>
                      <a:tailEnd type="none" w="sm" len="sm"/>
                    </a:lnT>
                    <a:lnB w="9525" cap="flat" cmpd="sng">
                      <a:solidFill>
                        <a:srgbClr val="DCE4F0"/>
                      </a:solidFill>
                      <a:prstDash val="solid"/>
                      <a:round/>
                      <a:headEnd type="none" w="sm" len="sm"/>
                      <a:tailEnd type="none" w="sm" len="sm"/>
                    </a:lnB>
                    <a:solidFill>
                      <a:srgbClr val="E7F1FF"/>
                    </a:solidFill>
                  </a:tcPr>
                </a:tc>
                <a:tc>
                  <a:txBody>
                    <a:bodyPr/>
                    <a:lstStyle/>
                    <a:p>
                      <a:pPr marL="0" marR="0" lvl="0" indent="0" algn="l" rtl="0">
                        <a:spcBef>
                          <a:spcPts val="0"/>
                        </a:spcBef>
                        <a:spcAft>
                          <a:spcPts val="0"/>
                        </a:spcAft>
                        <a:buClr>
                          <a:srgbClr val="0F1B33"/>
                        </a:buClr>
                        <a:buSzPts val="1250"/>
                        <a:buFont typeface="Calibri"/>
                        <a:buNone/>
                      </a:pPr>
                      <a:r>
                        <a:rPr lang="en-US" sz="1250" u="none" strike="noStrike" cap="none">
                          <a:solidFill>
                            <a:srgbClr val="0F1B33"/>
                          </a:solidFill>
                          <a:latin typeface="Calibri"/>
                          <a:ea typeface="Calibri"/>
                          <a:cs typeface="Calibri"/>
                          <a:sym typeface="Calibri"/>
                        </a:rPr>
                        <a:t>Paling rapi untuk jangka panjang</a:t>
                      </a:r>
                      <a:endParaRPr sz="1250" u="none" strike="noStrike" cap="none">
                        <a:latin typeface="Calibri"/>
                        <a:ea typeface="Calibri"/>
                        <a:cs typeface="Calibri"/>
                        <a:sym typeface="Calibri"/>
                      </a:endParaRPr>
                    </a:p>
                  </a:txBody>
                  <a:tcPr marL="128025" marR="128025" marT="73150" marB="73150" anchor="ctr">
                    <a:lnL w="9525" cap="flat" cmpd="sng">
                      <a:solidFill>
                        <a:srgbClr val="DCE4F0"/>
                      </a:solidFill>
                      <a:prstDash val="solid"/>
                      <a:round/>
                      <a:headEnd type="none" w="sm" len="sm"/>
                      <a:tailEnd type="none" w="sm" len="sm"/>
                    </a:lnL>
                    <a:lnR w="9525" cap="flat" cmpd="sng">
                      <a:solidFill>
                        <a:srgbClr val="DCE4F0"/>
                      </a:solidFill>
                      <a:prstDash val="solid"/>
                      <a:round/>
                      <a:headEnd type="none" w="sm" len="sm"/>
                      <a:tailEnd type="none" w="sm" len="sm"/>
                    </a:lnR>
                    <a:lnT w="9525" cap="flat" cmpd="sng">
                      <a:solidFill>
                        <a:srgbClr val="DCE4F0"/>
                      </a:solidFill>
                      <a:prstDash val="solid"/>
                      <a:round/>
                      <a:headEnd type="none" w="sm" len="sm"/>
                      <a:tailEnd type="none" w="sm" len="sm"/>
                    </a:lnT>
                    <a:lnB w="9525" cap="flat" cmpd="sng">
                      <a:solidFill>
                        <a:srgbClr val="DCE4F0"/>
                      </a:solidFill>
                      <a:prstDash val="solid"/>
                      <a:round/>
                      <a:headEnd type="none" w="sm" len="sm"/>
                      <a:tailEnd type="none" w="sm" len="sm"/>
                    </a:lnB>
                  </a:tcPr>
                </a:tc>
              </a:tr>
              <a:tr h="566925">
                <a:tc>
                  <a:txBody>
                    <a:bodyPr/>
                    <a:lstStyle/>
                    <a:p>
                      <a:pPr marL="0" marR="0" lvl="0" indent="0" algn="l" rtl="0">
                        <a:spcBef>
                          <a:spcPts val="0"/>
                        </a:spcBef>
                        <a:spcAft>
                          <a:spcPts val="0"/>
                        </a:spcAft>
                        <a:buClr>
                          <a:srgbClr val="0F1B33"/>
                        </a:buClr>
                        <a:buSzPts val="1250"/>
                        <a:buFont typeface="Calibri"/>
                        <a:buNone/>
                      </a:pPr>
                      <a:r>
                        <a:rPr lang="en-US" sz="1250" b="1" u="none" strike="noStrike" cap="none">
                          <a:solidFill>
                            <a:srgbClr val="0F1B33"/>
                          </a:solidFill>
                          <a:latin typeface="Calibri"/>
                          <a:ea typeface="Calibri"/>
                          <a:cs typeface="Calibri"/>
                          <a:sym typeface="Calibri"/>
                        </a:rPr>
                        <a:t>Bisa dibatalkan</a:t>
                      </a:r>
                      <a:endParaRPr sz="1250" u="none" strike="noStrike" cap="none">
                        <a:latin typeface="Calibri"/>
                        <a:ea typeface="Calibri"/>
                        <a:cs typeface="Calibri"/>
                        <a:sym typeface="Calibri"/>
                      </a:endParaRPr>
                    </a:p>
                  </a:txBody>
                  <a:tcPr marL="128025" marR="128025" marT="73150" marB="73150" anchor="ctr">
                    <a:lnL w="9525" cap="flat" cmpd="sng">
                      <a:solidFill>
                        <a:srgbClr val="DCE4F0"/>
                      </a:solidFill>
                      <a:prstDash val="solid"/>
                      <a:round/>
                      <a:headEnd type="none" w="sm" len="sm"/>
                      <a:tailEnd type="none" w="sm" len="sm"/>
                    </a:lnL>
                    <a:lnR w="9525" cap="flat" cmpd="sng">
                      <a:solidFill>
                        <a:srgbClr val="DCE4F0"/>
                      </a:solidFill>
                      <a:prstDash val="solid"/>
                      <a:round/>
                      <a:headEnd type="none" w="sm" len="sm"/>
                      <a:tailEnd type="none" w="sm" len="sm"/>
                    </a:lnR>
                    <a:lnT w="9525" cap="flat" cmpd="sng">
                      <a:solidFill>
                        <a:srgbClr val="DCE4F0"/>
                      </a:solidFill>
                      <a:prstDash val="solid"/>
                      <a:round/>
                      <a:headEnd type="none" w="sm" len="sm"/>
                      <a:tailEnd type="none" w="sm" len="sm"/>
                    </a:lnT>
                    <a:lnB w="9525" cap="flat" cmpd="sng">
                      <a:solidFill>
                        <a:srgbClr val="DCE4F0"/>
                      </a:solidFill>
                      <a:prstDash val="solid"/>
                      <a:round/>
                      <a:headEnd type="none" w="sm" len="sm"/>
                      <a:tailEnd type="none" w="sm" len="sm"/>
                    </a:lnB>
                  </a:tcPr>
                </a:tc>
                <a:tc>
                  <a:txBody>
                    <a:bodyPr/>
                    <a:lstStyle/>
                    <a:p>
                      <a:pPr marL="0" marR="0" lvl="0" indent="0" algn="l" rtl="0">
                        <a:spcBef>
                          <a:spcPts val="0"/>
                        </a:spcBef>
                        <a:spcAft>
                          <a:spcPts val="0"/>
                        </a:spcAft>
                        <a:buClr>
                          <a:srgbClr val="0F1B33"/>
                        </a:buClr>
                        <a:buSzPts val="1250"/>
                        <a:buFont typeface="Calibri"/>
                        <a:buNone/>
                      </a:pPr>
                      <a:r>
                        <a:rPr lang="en-US" sz="1250" u="none" strike="noStrike" cap="none">
                          <a:solidFill>
                            <a:srgbClr val="0F1B33"/>
                          </a:solidFill>
                          <a:latin typeface="Calibri"/>
                          <a:ea typeface="Calibri"/>
                          <a:cs typeface="Calibri"/>
                          <a:sym typeface="Calibri"/>
                        </a:rPr>
                        <a:t>Mudah</a:t>
                      </a:r>
                      <a:endParaRPr sz="1250" u="none" strike="noStrike" cap="none">
                        <a:latin typeface="Calibri"/>
                        <a:ea typeface="Calibri"/>
                        <a:cs typeface="Calibri"/>
                        <a:sym typeface="Calibri"/>
                      </a:endParaRPr>
                    </a:p>
                  </a:txBody>
                  <a:tcPr marL="128025" marR="128025" marT="73150" marB="73150" anchor="ctr">
                    <a:lnL w="9525" cap="flat" cmpd="sng">
                      <a:solidFill>
                        <a:srgbClr val="DCE4F0"/>
                      </a:solidFill>
                      <a:prstDash val="solid"/>
                      <a:round/>
                      <a:headEnd type="none" w="sm" len="sm"/>
                      <a:tailEnd type="none" w="sm" len="sm"/>
                    </a:lnL>
                    <a:lnR w="9525" cap="flat" cmpd="sng">
                      <a:solidFill>
                        <a:srgbClr val="DCE4F0"/>
                      </a:solidFill>
                      <a:prstDash val="solid"/>
                      <a:round/>
                      <a:headEnd type="none" w="sm" len="sm"/>
                      <a:tailEnd type="none" w="sm" len="sm"/>
                    </a:lnR>
                    <a:lnT w="9525" cap="flat" cmpd="sng">
                      <a:solidFill>
                        <a:srgbClr val="DCE4F0"/>
                      </a:solidFill>
                      <a:prstDash val="solid"/>
                      <a:round/>
                      <a:headEnd type="none" w="sm" len="sm"/>
                      <a:tailEnd type="none" w="sm" len="sm"/>
                    </a:lnT>
                    <a:lnB w="9525" cap="flat" cmpd="sng">
                      <a:solidFill>
                        <a:srgbClr val="DCE4F0"/>
                      </a:solidFill>
                      <a:prstDash val="solid"/>
                      <a:round/>
                      <a:headEnd type="none" w="sm" len="sm"/>
                      <a:tailEnd type="none" w="sm" len="sm"/>
                    </a:lnB>
                  </a:tcPr>
                </a:tc>
                <a:tc>
                  <a:txBody>
                    <a:bodyPr/>
                    <a:lstStyle/>
                    <a:p>
                      <a:pPr marL="0" marR="0" lvl="0" indent="0" algn="l" rtl="0">
                        <a:spcBef>
                          <a:spcPts val="0"/>
                        </a:spcBef>
                        <a:spcAft>
                          <a:spcPts val="0"/>
                        </a:spcAft>
                        <a:buClr>
                          <a:srgbClr val="0F1B33"/>
                        </a:buClr>
                        <a:buSzPts val="1250"/>
                        <a:buFont typeface="Calibri"/>
                        <a:buNone/>
                      </a:pPr>
                      <a:r>
                        <a:rPr lang="en-US" sz="1250" u="none" strike="noStrike" cap="none">
                          <a:solidFill>
                            <a:srgbClr val="0F1B33"/>
                          </a:solidFill>
                          <a:latin typeface="Calibri"/>
                          <a:ea typeface="Calibri"/>
                          <a:cs typeface="Calibri"/>
                          <a:sym typeface="Calibri"/>
                        </a:rPr>
                        <a:t>Bisa dilepas per endpoint. Zod sudah terpasang</a:t>
                      </a:r>
                      <a:endParaRPr sz="1250" u="none" strike="noStrike" cap="none">
                        <a:latin typeface="Calibri"/>
                        <a:ea typeface="Calibri"/>
                        <a:cs typeface="Calibri"/>
                        <a:sym typeface="Calibri"/>
                      </a:endParaRPr>
                    </a:p>
                  </a:txBody>
                  <a:tcPr marL="128025" marR="128025" marT="73150" marB="73150" anchor="ctr">
                    <a:lnL w="9525" cap="flat" cmpd="sng">
                      <a:solidFill>
                        <a:srgbClr val="DCE4F0"/>
                      </a:solidFill>
                      <a:prstDash val="solid"/>
                      <a:round/>
                      <a:headEnd type="none" w="sm" len="sm"/>
                      <a:tailEnd type="none" w="sm" len="sm"/>
                    </a:lnL>
                    <a:lnR w="9525" cap="flat" cmpd="sng">
                      <a:solidFill>
                        <a:srgbClr val="DCE4F0"/>
                      </a:solidFill>
                      <a:prstDash val="solid"/>
                      <a:round/>
                      <a:headEnd type="none" w="sm" len="sm"/>
                      <a:tailEnd type="none" w="sm" len="sm"/>
                    </a:lnR>
                    <a:lnT w="9525" cap="flat" cmpd="sng">
                      <a:solidFill>
                        <a:srgbClr val="DCE4F0"/>
                      </a:solidFill>
                      <a:prstDash val="solid"/>
                      <a:round/>
                      <a:headEnd type="none" w="sm" len="sm"/>
                      <a:tailEnd type="none" w="sm" len="sm"/>
                    </a:lnT>
                    <a:lnB w="9525" cap="flat" cmpd="sng">
                      <a:solidFill>
                        <a:srgbClr val="DCE4F0"/>
                      </a:solidFill>
                      <a:prstDash val="solid"/>
                      <a:round/>
                      <a:headEnd type="none" w="sm" len="sm"/>
                      <a:tailEnd type="none" w="sm" len="sm"/>
                    </a:lnB>
                    <a:solidFill>
                      <a:srgbClr val="E7F1FF"/>
                    </a:solidFill>
                  </a:tcPr>
                </a:tc>
                <a:tc>
                  <a:txBody>
                    <a:bodyPr/>
                    <a:lstStyle/>
                    <a:p>
                      <a:pPr marL="0" marR="0" lvl="0" indent="0" algn="l" rtl="0">
                        <a:spcBef>
                          <a:spcPts val="0"/>
                        </a:spcBef>
                        <a:spcAft>
                          <a:spcPts val="0"/>
                        </a:spcAft>
                        <a:buClr>
                          <a:srgbClr val="0F1B33"/>
                        </a:buClr>
                        <a:buSzPts val="1250"/>
                        <a:buFont typeface="Calibri"/>
                        <a:buNone/>
                      </a:pPr>
                      <a:r>
                        <a:rPr lang="en-US" sz="1250" u="none" strike="noStrike" cap="none">
                          <a:solidFill>
                            <a:srgbClr val="0F1B33"/>
                          </a:solidFill>
                          <a:latin typeface="Calibri"/>
                          <a:ea typeface="Calibri"/>
                          <a:cs typeface="Calibri"/>
                          <a:sym typeface="Calibri"/>
                        </a:rPr>
                        <a:t>Masih bisa dilakukan setelah B</a:t>
                      </a:r>
                      <a:endParaRPr sz="1250" u="none" strike="noStrike" cap="none">
                        <a:latin typeface="Calibri"/>
                        <a:ea typeface="Calibri"/>
                        <a:cs typeface="Calibri"/>
                        <a:sym typeface="Calibri"/>
                      </a:endParaRPr>
                    </a:p>
                  </a:txBody>
                  <a:tcPr marL="128025" marR="128025" marT="73150" marB="73150" anchor="ctr">
                    <a:lnL w="9525" cap="flat" cmpd="sng">
                      <a:solidFill>
                        <a:srgbClr val="DCE4F0"/>
                      </a:solidFill>
                      <a:prstDash val="solid"/>
                      <a:round/>
                      <a:headEnd type="none" w="sm" len="sm"/>
                      <a:tailEnd type="none" w="sm" len="sm"/>
                    </a:lnL>
                    <a:lnR w="9525" cap="flat" cmpd="sng">
                      <a:solidFill>
                        <a:srgbClr val="DCE4F0"/>
                      </a:solidFill>
                      <a:prstDash val="solid"/>
                      <a:round/>
                      <a:headEnd type="none" w="sm" len="sm"/>
                      <a:tailEnd type="none" w="sm" len="sm"/>
                    </a:lnR>
                    <a:lnT w="9525" cap="flat" cmpd="sng">
                      <a:solidFill>
                        <a:srgbClr val="DCE4F0"/>
                      </a:solidFill>
                      <a:prstDash val="solid"/>
                      <a:round/>
                      <a:headEnd type="none" w="sm" len="sm"/>
                      <a:tailEnd type="none" w="sm" len="sm"/>
                    </a:lnT>
                    <a:lnB w="9525" cap="flat" cmpd="sng">
                      <a:solidFill>
                        <a:srgbClr val="DCE4F0"/>
                      </a:solidFill>
                      <a:prstDash val="solid"/>
                      <a:round/>
                      <a:headEnd type="none" w="sm" len="sm"/>
                      <a:tailEnd type="none" w="sm" len="sm"/>
                    </a:lnB>
                  </a:tcPr>
                </a:tc>
              </a:tr>
            </a:tbl>
          </a:graphicData>
        </a:graphic>
      </p:graphicFrame>
      <p:sp>
        <p:nvSpPr>
          <p:cNvPr id="382" name="Google Shape;382;p16"/>
          <p:cNvSpPr/>
          <p:nvPr/>
        </p:nvSpPr>
        <p:spPr>
          <a:xfrm>
            <a:off x="594360" y="5257800"/>
            <a:ext cx="11002975" cy="731520"/>
          </a:xfrm>
          <a:prstGeom prst="roundRect">
            <a:avLst>
              <a:gd name="adj" fmla="val 8750"/>
            </a:avLst>
          </a:prstGeom>
          <a:solidFill>
            <a:srgbClr val="E7F1FF"/>
          </a:solidFill>
          <a:ln w="9525" cap="flat" cmpd="sng">
            <a:solidFill>
              <a:srgbClr val="E7F1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3" name="Google Shape;383;p16"/>
          <p:cNvSpPr txBox="1"/>
          <p:nvPr/>
        </p:nvSpPr>
        <p:spPr>
          <a:xfrm>
            <a:off x="868680" y="5257800"/>
            <a:ext cx="10454335" cy="7315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C2E6B"/>
              </a:buClr>
              <a:buSzPts val="1350"/>
              <a:buFont typeface="Calibri"/>
              <a:buNone/>
            </a:pPr>
            <a:r>
              <a:rPr lang="en-US" sz="1350" b="1" i="0" u="none" strike="noStrike" cap="none">
                <a:solidFill>
                  <a:srgbClr val="0C2E6B"/>
                </a:solidFill>
                <a:latin typeface="Calibri"/>
                <a:ea typeface="Calibri"/>
                <a:cs typeface="Calibri"/>
                <a:sym typeface="Calibri"/>
              </a:rPr>
              <a:t>Keputusan: </a:t>
            </a:r>
            <a:r>
              <a:rPr lang="en-US" sz="1350" b="0" i="0" u="none" strike="noStrike" cap="none">
                <a:solidFill>
                  <a:srgbClr val="0F1B33"/>
                </a:solidFill>
                <a:latin typeface="Calibri"/>
                <a:ea typeface="Calibri"/>
                <a:cs typeface="Calibri"/>
                <a:sym typeface="Calibri"/>
              </a:rPr>
              <a:t>B dulu, C nanti. Setelah ada test yang bisa menangkap perubahan API, baru masuk akal menulis spec.</a:t>
            </a:r>
            <a:endParaRPr sz="1350" b="0" i="0" u="none" strike="noStrike" cap="non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388" name="Shape 388"/>
        <p:cNvGrpSpPr/>
        <p:nvPr/>
      </p:nvGrpSpPr>
      <p:grpSpPr>
        <a:xfrm>
          <a:off x="0" y="0"/>
          <a:ext cx="0" cy="0"/>
          <a:chOff x="0" y="0"/>
          <a:chExt cx="0" cy="0"/>
        </a:xfrm>
      </p:grpSpPr>
      <p:sp>
        <p:nvSpPr>
          <p:cNvPr id="389" name="Google Shape;389;p17"/>
          <p:cNvSpPr txBox="1"/>
          <p:nvPr/>
        </p:nvSpPr>
        <p:spPr>
          <a:xfrm>
            <a:off x="11277295" y="6419088"/>
            <a:ext cx="457200"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A94A8"/>
              </a:buClr>
              <a:buSzPts val="1000"/>
              <a:buFont typeface="Calibri"/>
              <a:buNone/>
            </a:pPr>
            <a:r>
              <a:rPr lang="en-US" sz="1000" b="0" i="0" u="none" strike="noStrike" cap="none">
                <a:solidFill>
                  <a:srgbClr val="8A94A8"/>
                </a:solidFill>
                <a:latin typeface="Calibri"/>
                <a:ea typeface="Calibri"/>
                <a:cs typeface="Calibri"/>
                <a:sym typeface="Calibri"/>
              </a:rPr>
              <a:t>15</a:t>
            </a:r>
            <a:endParaRPr sz="1000" b="0" i="0" u="none" strike="noStrike" cap="none">
              <a:solidFill>
                <a:schemeClr val="dk1"/>
              </a:solidFill>
              <a:latin typeface="Calibri"/>
              <a:ea typeface="Calibri"/>
              <a:cs typeface="Calibri"/>
              <a:sym typeface="Calibri"/>
            </a:endParaRPr>
          </a:p>
        </p:txBody>
      </p:sp>
      <p:sp>
        <p:nvSpPr>
          <p:cNvPr id="390" name="Google Shape;390;p17"/>
          <p:cNvSpPr txBox="1"/>
          <p:nvPr/>
        </p:nvSpPr>
        <p:spPr>
          <a:xfrm>
            <a:off x="594360" y="6419088"/>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A94A8"/>
              </a:buClr>
              <a:buSzPts val="1000"/>
              <a:buFont typeface="Calibri"/>
              <a:buNone/>
            </a:pPr>
            <a:r>
              <a:rPr lang="en-US" sz="1000" b="0" i="0" u="none" strike="noStrike" cap="none">
                <a:solidFill>
                  <a:srgbClr val="8A94A8"/>
                </a:solidFill>
                <a:latin typeface="Calibri"/>
                <a:ea typeface="Calibri"/>
                <a:cs typeface="Calibri"/>
                <a:sym typeface="Calibri"/>
              </a:rPr>
              <a:t>Aulia Afriza  ·  Kandidat Fullstack · Frontend depth</a:t>
            </a:r>
            <a:endParaRPr sz="1000" b="0" i="0" u="none" strike="noStrike" cap="none">
              <a:solidFill>
                <a:schemeClr val="dk1"/>
              </a:solidFill>
              <a:latin typeface="Calibri"/>
              <a:ea typeface="Calibri"/>
              <a:cs typeface="Calibri"/>
              <a:sym typeface="Calibri"/>
            </a:endParaRPr>
          </a:p>
        </p:txBody>
      </p:sp>
      <p:sp>
        <p:nvSpPr>
          <p:cNvPr id="391" name="Google Shape;391;p17"/>
          <p:cNvSpPr txBox="1"/>
          <p:nvPr/>
        </p:nvSpPr>
        <p:spPr>
          <a:xfrm>
            <a:off x="594360" y="438912"/>
            <a:ext cx="11002975"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2800"/>
              <a:buFont typeface="Calibri"/>
              <a:buNone/>
            </a:pPr>
            <a:r>
              <a:rPr lang="en-US" sz="2800" b="1" i="0" u="none" strike="noStrike" cap="none">
                <a:solidFill>
                  <a:srgbClr val="0F1B33"/>
                </a:solidFill>
                <a:latin typeface="Calibri"/>
                <a:ea typeface="Calibri"/>
                <a:cs typeface="Calibri"/>
                <a:sym typeface="Calibri"/>
              </a:rPr>
              <a:t>Hal yang perlu saya diskusikan dulu dengan tim</a:t>
            </a:r>
            <a:endParaRPr sz="2800" b="0" i="0" u="none" strike="noStrike" cap="none">
              <a:solidFill>
                <a:schemeClr val="dk1"/>
              </a:solidFill>
              <a:latin typeface="Calibri"/>
              <a:ea typeface="Calibri"/>
              <a:cs typeface="Calibri"/>
              <a:sym typeface="Calibri"/>
            </a:endParaRPr>
          </a:p>
        </p:txBody>
      </p:sp>
      <p:sp>
        <p:nvSpPr>
          <p:cNvPr id="392" name="Google Shape;392;p17"/>
          <p:cNvSpPr txBox="1"/>
          <p:nvPr/>
        </p:nvSpPr>
        <p:spPr>
          <a:xfrm>
            <a:off x="594360" y="987552"/>
            <a:ext cx="11002975"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5617A"/>
              </a:buClr>
              <a:buSzPts val="1500"/>
              <a:buFont typeface="Calibri"/>
              <a:buNone/>
            </a:pPr>
            <a:r>
              <a:rPr lang="en-US" sz="1500" b="0" i="0" u="none" strike="noStrike" cap="none">
                <a:solidFill>
                  <a:srgbClr val="55617A"/>
                </a:solidFill>
                <a:latin typeface="Calibri"/>
                <a:ea typeface="Calibri"/>
                <a:cs typeface="Calibri"/>
                <a:sym typeface="Calibri"/>
              </a:rPr>
              <a:t>§2.2 · Di proyek sungguhan, lima hal ini akan saya tanyakan dulu ke Tech Lead sebelum mulai coding.</a:t>
            </a:r>
            <a:endParaRPr sz="1500" b="0" i="0" u="none" strike="noStrike" cap="none">
              <a:solidFill>
                <a:schemeClr val="dk1"/>
              </a:solidFill>
              <a:latin typeface="Calibri"/>
              <a:ea typeface="Calibri"/>
              <a:cs typeface="Calibri"/>
              <a:sym typeface="Calibri"/>
            </a:endParaRPr>
          </a:p>
        </p:txBody>
      </p:sp>
      <p:sp>
        <p:nvSpPr>
          <p:cNvPr id="393" name="Google Shape;393;p17"/>
          <p:cNvSpPr/>
          <p:nvPr/>
        </p:nvSpPr>
        <p:spPr>
          <a:xfrm>
            <a:off x="594360" y="1554480"/>
            <a:ext cx="11002975" cy="804672"/>
          </a:xfrm>
          <a:prstGeom prst="roundRect">
            <a:avLst>
              <a:gd name="adj" fmla="val 7955"/>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4" name="Google Shape;394;p17"/>
          <p:cNvSpPr/>
          <p:nvPr/>
        </p:nvSpPr>
        <p:spPr>
          <a:xfrm>
            <a:off x="795528" y="1755648"/>
            <a:ext cx="402336" cy="402336"/>
          </a:xfrm>
          <a:prstGeom prst="ellipse">
            <a:avLst/>
          </a:prstGeom>
          <a:solidFill>
            <a:srgbClr val="B26A00"/>
          </a:solidFill>
          <a:ln w="12700" cap="flat" cmpd="sng">
            <a:solidFill>
              <a:srgbClr val="B26A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5" name="Google Shape;395;p17"/>
          <p:cNvSpPr txBox="1"/>
          <p:nvPr/>
        </p:nvSpPr>
        <p:spPr>
          <a:xfrm>
            <a:off x="795528" y="1755648"/>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1</a:t>
            </a:r>
            <a:endParaRPr sz="1400" b="0" i="0" u="none" strike="noStrike" cap="none">
              <a:solidFill>
                <a:schemeClr val="dk1"/>
              </a:solidFill>
              <a:latin typeface="Calibri"/>
              <a:ea typeface="Calibri"/>
              <a:cs typeface="Calibri"/>
              <a:sym typeface="Calibri"/>
            </a:endParaRPr>
          </a:p>
        </p:txBody>
      </p:sp>
      <p:sp>
        <p:nvSpPr>
          <p:cNvPr id="396" name="Google Shape;396;p17"/>
          <p:cNvSpPr txBox="1"/>
          <p:nvPr/>
        </p:nvSpPr>
        <p:spPr>
          <a:xfrm>
            <a:off x="1371600" y="1645920"/>
            <a:ext cx="4754880" cy="640080"/>
          </a:xfrm>
          <a:prstGeom prst="rect">
            <a:avLst/>
          </a:prstGeom>
          <a:noFill/>
          <a:ln>
            <a:noFill/>
          </a:ln>
        </p:spPr>
        <p:txBody>
          <a:bodyPr spcFirstLastPara="1" wrap="square" lIns="0" tIns="0" rIns="0" bIns="0" anchor="ctr" anchorCtr="0">
            <a:noAutofit/>
          </a:bodyPr>
          <a:lstStyle/>
          <a:p>
            <a:pPr marL="0" marR="0" lvl="0" indent="0" algn="l" rtl="0">
              <a:lnSpc>
                <a:spcPct val="123000"/>
              </a:lnSpc>
              <a:spcBef>
                <a:spcPts val="0"/>
              </a:spcBef>
              <a:spcAft>
                <a:spcPts val="0"/>
              </a:spcAft>
              <a:buClr>
                <a:srgbClr val="0F1B33"/>
              </a:buClr>
              <a:buSzPts val="1300"/>
              <a:buFont typeface="Calibri"/>
              <a:buNone/>
            </a:pPr>
            <a:r>
              <a:rPr lang="en-US" sz="1300" b="1" i="0" u="none" strike="noStrike" cap="none">
                <a:solidFill>
                  <a:srgbClr val="0F1B33"/>
                </a:solidFill>
                <a:latin typeface="Calibri"/>
                <a:ea typeface="Calibri"/>
                <a:cs typeface="Calibri"/>
                <a:sym typeface="Calibri"/>
              </a:rPr>
              <a:t>Celah IDOR: dicek lewat Session, atau tambah kolom tenant_id?</a:t>
            </a:r>
            <a:endParaRPr sz="1300" b="0" i="0" u="none" strike="noStrike" cap="none">
              <a:solidFill>
                <a:schemeClr val="dk1"/>
              </a:solidFill>
              <a:latin typeface="Calibri"/>
              <a:ea typeface="Calibri"/>
              <a:cs typeface="Calibri"/>
              <a:sym typeface="Calibri"/>
            </a:endParaRPr>
          </a:p>
        </p:txBody>
      </p:sp>
      <p:sp>
        <p:nvSpPr>
          <p:cNvPr id="397" name="Google Shape;397;p17"/>
          <p:cNvSpPr txBox="1"/>
          <p:nvPr/>
        </p:nvSpPr>
        <p:spPr>
          <a:xfrm>
            <a:off x="6309360" y="1627632"/>
            <a:ext cx="5105095" cy="676656"/>
          </a:xfrm>
          <a:prstGeom prst="rect">
            <a:avLst/>
          </a:prstGeom>
          <a:noFill/>
          <a:ln>
            <a:noFill/>
          </a:ln>
        </p:spPr>
        <p:txBody>
          <a:bodyPr spcFirstLastPara="1" wrap="square" lIns="0" tIns="0" rIns="0" bIns="0" anchor="ctr" anchorCtr="0">
            <a:noAutofit/>
          </a:bodyPr>
          <a:lstStyle/>
          <a:p>
            <a:pPr marL="0" marR="0" lvl="0" indent="0" algn="l" rtl="0">
              <a:lnSpc>
                <a:spcPct val="133000"/>
              </a:lnSpc>
              <a:spcBef>
                <a:spcPts val="0"/>
              </a:spcBef>
              <a:spcAft>
                <a:spcPts val="0"/>
              </a:spcAft>
              <a:buClr>
                <a:srgbClr val="55617A"/>
              </a:buClr>
              <a:buSzPts val="1200"/>
              <a:buFont typeface="Calibri"/>
              <a:buNone/>
            </a:pPr>
            <a:r>
              <a:rPr lang="en-US" sz="1200" b="0" i="0" u="none" strike="noStrike" cap="none">
                <a:solidFill>
                  <a:srgbClr val="55617A"/>
                </a:solidFill>
                <a:latin typeface="Calibri"/>
                <a:ea typeface="Calibri"/>
                <a:cs typeface="Calibri"/>
                <a:sym typeface="Calibri"/>
              </a:rPr>
              <a:t>Pilihan kedua butuh migrasi data produksi. Saya ambil pilihan pertama dan mencatat asumsinya.</a:t>
            </a:r>
            <a:endParaRPr sz="1200" b="0" i="0" u="none" strike="noStrike" cap="none">
              <a:solidFill>
                <a:schemeClr val="dk1"/>
              </a:solidFill>
              <a:latin typeface="Calibri"/>
              <a:ea typeface="Calibri"/>
              <a:cs typeface="Calibri"/>
              <a:sym typeface="Calibri"/>
            </a:endParaRPr>
          </a:p>
        </p:txBody>
      </p:sp>
      <p:sp>
        <p:nvSpPr>
          <p:cNvPr id="398" name="Google Shape;398;p17"/>
          <p:cNvSpPr/>
          <p:nvPr/>
        </p:nvSpPr>
        <p:spPr>
          <a:xfrm>
            <a:off x="594360" y="2441448"/>
            <a:ext cx="11002975" cy="804672"/>
          </a:xfrm>
          <a:prstGeom prst="roundRect">
            <a:avLst>
              <a:gd name="adj" fmla="val 7955"/>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9" name="Google Shape;399;p17"/>
          <p:cNvSpPr/>
          <p:nvPr/>
        </p:nvSpPr>
        <p:spPr>
          <a:xfrm>
            <a:off x="795528" y="2642616"/>
            <a:ext cx="402336" cy="402336"/>
          </a:xfrm>
          <a:prstGeom prst="ellipse">
            <a:avLst/>
          </a:prstGeom>
          <a:solidFill>
            <a:srgbClr val="B26A00"/>
          </a:solidFill>
          <a:ln w="12700" cap="flat" cmpd="sng">
            <a:solidFill>
              <a:srgbClr val="B26A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0" name="Google Shape;400;p17"/>
          <p:cNvSpPr txBox="1"/>
          <p:nvPr/>
        </p:nvSpPr>
        <p:spPr>
          <a:xfrm>
            <a:off x="795528" y="2642616"/>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2</a:t>
            </a:r>
            <a:endParaRPr sz="1400" b="0" i="0" u="none" strike="noStrike" cap="none">
              <a:solidFill>
                <a:schemeClr val="dk1"/>
              </a:solidFill>
              <a:latin typeface="Calibri"/>
              <a:ea typeface="Calibri"/>
              <a:cs typeface="Calibri"/>
              <a:sym typeface="Calibri"/>
            </a:endParaRPr>
          </a:p>
        </p:txBody>
      </p:sp>
      <p:sp>
        <p:nvSpPr>
          <p:cNvPr id="401" name="Google Shape;401;p17"/>
          <p:cNvSpPr txBox="1"/>
          <p:nvPr/>
        </p:nvSpPr>
        <p:spPr>
          <a:xfrm>
            <a:off x="1371600" y="2532888"/>
            <a:ext cx="4754880" cy="640080"/>
          </a:xfrm>
          <a:prstGeom prst="rect">
            <a:avLst/>
          </a:prstGeom>
          <a:noFill/>
          <a:ln>
            <a:noFill/>
          </a:ln>
        </p:spPr>
        <p:txBody>
          <a:bodyPr spcFirstLastPara="1" wrap="square" lIns="0" tIns="0" rIns="0" bIns="0" anchor="ctr" anchorCtr="0">
            <a:noAutofit/>
          </a:bodyPr>
          <a:lstStyle/>
          <a:p>
            <a:pPr marL="0" marR="0" lvl="0" indent="0" algn="l" rtl="0">
              <a:lnSpc>
                <a:spcPct val="123000"/>
              </a:lnSpc>
              <a:spcBef>
                <a:spcPts val="0"/>
              </a:spcBef>
              <a:spcAft>
                <a:spcPts val="0"/>
              </a:spcAft>
              <a:buClr>
                <a:srgbClr val="0F1B33"/>
              </a:buClr>
              <a:buSzPts val="1300"/>
              <a:buFont typeface="Calibri"/>
              <a:buNone/>
            </a:pPr>
            <a:r>
              <a:rPr lang="en-US" sz="1300" b="1" i="0" u="none" strike="noStrike" cap="none">
                <a:solidFill>
                  <a:srgbClr val="0F1B33"/>
                </a:solidFill>
                <a:latin typeface="Calibri"/>
                <a:ea typeface="Calibri"/>
                <a:cs typeface="Calibri"/>
                <a:sym typeface="Calibri"/>
              </a:rPr>
              <a:t>Definisi level L1–L5 tersebar di banyak tempat</a:t>
            </a:r>
            <a:endParaRPr sz="1300" b="0" i="0" u="none" strike="noStrike" cap="none">
              <a:solidFill>
                <a:schemeClr val="dk1"/>
              </a:solidFill>
              <a:latin typeface="Calibri"/>
              <a:ea typeface="Calibri"/>
              <a:cs typeface="Calibri"/>
              <a:sym typeface="Calibri"/>
            </a:endParaRPr>
          </a:p>
        </p:txBody>
      </p:sp>
      <p:sp>
        <p:nvSpPr>
          <p:cNvPr id="402" name="Google Shape;402;p17"/>
          <p:cNvSpPr txBox="1"/>
          <p:nvPr/>
        </p:nvSpPr>
        <p:spPr>
          <a:xfrm>
            <a:off x="6309360" y="2514600"/>
            <a:ext cx="5105095" cy="676656"/>
          </a:xfrm>
          <a:prstGeom prst="rect">
            <a:avLst/>
          </a:prstGeom>
          <a:noFill/>
          <a:ln>
            <a:noFill/>
          </a:ln>
        </p:spPr>
        <p:txBody>
          <a:bodyPr spcFirstLastPara="1" wrap="square" lIns="0" tIns="0" rIns="0" bIns="0" anchor="ctr" anchorCtr="0">
            <a:noAutofit/>
          </a:bodyPr>
          <a:lstStyle/>
          <a:p>
            <a:pPr marL="0" marR="0" lvl="0" indent="0" algn="l" rtl="0">
              <a:lnSpc>
                <a:spcPct val="133000"/>
              </a:lnSpc>
              <a:spcBef>
                <a:spcPts val="0"/>
              </a:spcBef>
              <a:spcAft>
                <a:spcPts val="0"/>
              </a:spcAft>
              <a:buClr>
                <a:srgbClr val="55617A"/>
              </a:buClr>
              <a:buSzPts val="1200"/>
              <a:buFont typeface="Calibri"/>
              <a:buNone/>
            </a:pPr>
            <a:r>
              <a:rPr lang="en-US" sz="1200" b="0" i="0" u="none" strike="noStrike" cap="none">
                <a:solidFill>
                  <a:srgbClr val="55617A"/>
                </a:solidFill>
                <a:latin typeface="Calibri"/>
                <a:ea typeface="Calibri"/>
                <a:cs typeface="Calibri"/>
                <a:sym typeface="Calibri"/>
              </a:rPr>
              <a:t>Ada di constants.ts, prompt Generator, assessment_skills, dan skill_taxonomies, tanpa ada yang menjaga supaya tetap sama.</a:t>
            </a:r>
            <a:endParaRPr sz="1200" b="0" i="0" u="none" strike="noStrike" cap="none">
              <a:solidFill>
                <a:schemeClr val="dk1"/>
              </a:solidFill>
              <a:latin typeface="Calibri"/>
              <a:ea typeface="Calibri"/>
              <a:cs typeface="Calibri"/>
              <a:sym typeface="Calibri"/>
            </a:endParaRPr>
          </a:p>
        </p:txBody>
      </p:sp>
      <p:sp>
        <p:nvSpPr>
          <p:cNvPr id="403" name="Google Shape;403;p17"/>
          <p:cNvSpPr/>
          <p:nvPr/>
        </p:nvSpPr>
        <p:spPr>
          <a:xfrm>
            <a:off x="594360" y="3328416"/>
            <a:ext cx="11002975" cy="804672"/>
          </a:xfrm>
          <a:prstGeom prst="roundRect">
            <a:avLst>
              <a:gd name="adj" fmla="val 7955"/>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4" name="Google Shape;404;p17"/>
          <p:cNvSpPr/>
          <p:nvPr/>
        </p:nvSpPr>
        <p:spPr>
          <a:xfrm>
            <a:off x="795528" y="3529584"/>
            <a:ext cx="402336" cy="402336"/>
          </a:xfrm>
          <a:prstGeom prst="ellipse">
            <a:avLst/>
          </a:prstGeom>
          <a:solidFill>
            <a:srgbClr val="B26A00"/>
          </a:solidFill>
          <a:ln w="12700" cap="flat" cmpd="sng">
            <a:solidFill>
              <a:srgbClr val="B26A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5" name="Google Shape;405;p17"/>
          <p:cNvSpPr txBox="1"/>
          <p:nvPr/>
        </p:nvSpPr>
        <p:spPr>
          <a:xfrm>
            <a:off x="795528" y="3529584"/>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3</a:t>
            </a:r>
            <a:endParaRPr sz="1400" b="0" i="0" u="none" strike="noStrike" cap="none">
              <a:solidFill>
                <a:schemeClr val="dk1"/>
              </a:solidFill>
              <a:latin typeface="Calibri"/>
              <a:ea typeface="Calibri"/>
              <a:cs typeface="Calibri"/>
              <a:sym typeface="Calibri"/>
            </a:endParaRPr>
          </a:p>
        </p:txBody>
      </p:sp>
      <p:sp>
        <p:nvSpPr>
          <p:cNvPr id="406" name="Google Shape;406;p17"/>
          <p:cNvSpPr txBox="1"/>
          <p:nvPr/>
        </p:nvSpPr>
        <p:spPr>
          <a:xfrm>
            <a:off x="1371600" y="3419856"/>
            <a:ext cx="4754880" cy="640080"/>
          </a:xfrm>
          <a:prstGeom prst="rect">
            <a:avLst/>
          </a:prstGeom>
          <a:noFill/>
          <a:ln>
            <a:noFill/>
          </a:ln>
        </p:spPr>
        <p:txBody>
          <a:bodyPr spcFirstLastPara="1" wrap="square" lIns="0" tIns="0" rIns="0" bIns="0" anchor="ctr" anchorCtr="0">
            <a:noAutofit/>
          </a:bodyPr>
          <a:lstStyle/>
          <a:p>
            <a:pPr marL="0" marR="0" lvl="0" indent="0" algn="l" rtl="0">
              <a:lnSpc>
                <a:spcPct val="123000"/>
              </a:lnSpc>
              <a:spcBef>
                <a:spcPts val="0"/>
              </a:spcBef>
              <a:spcAft>
                <a:spcPts val="0"/>
              </a:spcAft>
              <a:buClr>
                <a:srgbClr val="0F1B33"/>
              </a:buClr>
              <a:buSzPts val="1300"/>
              <a:buFont typeface="Calibri"/>
              <a:buNone/>
            </a:pPr>
            <a:r>
              <a:rPr lang="en-US" sz="1300" b="1" i="0" u="none" strike="noStrike" cap="none">
                <a:solidFill>
                  <a:srgbClr val="0F1B33"/>
                </a:solidFill>
                <a:latin typeface="Calibri"/>
                <a:ea typeface="Calibri"/>
                <a:cs typeface="Calibri"/>
                <a:sym typeface="Calibri"/>
              </a:rPr>
              <a:t>Tidak ada kontrak data antara backend dan frontend</a:t>
            </a:r>
            <a:endParaRPr sz="1300" b="0" i="0" u="none" strike="noStrike" cap="none">
              <a:solidFill>
                <a:schemeClr val="dk1"/>
              </a:solidFill>
              <a:latin typeface="Calibri"/>
              <a:ea typeface="Calibri"/>
              <a:cs typeface="Calibri"/>
              <a:sym typeface="Calibri"/>
            </a:endParaRPr>
          </a:p>
        </p:txBody>
      </p:sp>
      <p:sp>
        <p:nvSpPr>
          <p:cNvPr id="407" name="Google Shape;407;p17"/>
          <p:cNvSpPr txBox="1"/>
          <p:nvPr/>
        </p:nvSpPr>
        <p:spPr>
          <a:xfrm>
            <a:off x="6309360" y="3401568"/>
            <a:ext cx="5105095" cy="676656"/>
          </a:xfrm>
          <a:prstGeom prst="rect">
            <a:avLst/>
          </a:prstGeom>
          <a:noFill/>
          <a:ln>
            <a:noFill/>
          </a:ln>
        </p:spPr>
        <p:txBody>
          <a:bodyPr spcFirstLastPara="1" wrap="square" lIns="0" tIns="0" rIns="0" bIns="0" anchor="ctr" anchorCtr="0">
            <a:noAutofit/>
          </a:bodyPr>
          <a:lstStyle/>
          <a:p>
            <a:pPr marL="0" marR="0" lvl="0" indent="0" algn="l" rtl="0">
              <a:lnSpc>
                <a:spcPct val="133000"/>
              </a:lnSpc>
              <a:spcBef>
                <a:spcPts val="0"/>
              </a:spcBef>
              <a:spcAft>
                <a:spcPts val="0"/>
              </a:spcAft>
              <a:buClr>
                <a:srgbClr val="55617A"/>
              </a:buClr>
              <a:buSzPts val="1200"/>
              <a:buFont typeface="Calibri"/>
              <a:buNone/>
            </a:pPr>
            <a:r>
              <a:rPr lang="en-US" sz="1200" b="0" i="0" u="none" strike="noStrike" cap="none">
                <a:solidFill>
                  <a:srgbClr val="55617A"/>
                </a:solidFill>
                <a:latin typeface="Calibri"/>
                <a:ea typeface="Calibri"/>
                <a:cs typeface="Calibri"/>
                <a:sym typeface="Calibri"/>
              </a:rPr>
              <a:t>types/index.ts tidak pernah dicek dengan response asli. Ini penyebab tiga P0 tadi.</a:t>
            </a:r>
            <a:endParaRPr sz="1200" b="0" i="0" u="none" strike="noStrike" cap="none">
              <a:solidFill>
                <a:schemeClr val="dk1"/>
              </a:solidFill>
              <a:latin typeface="Calibri"/>
              <a:ea typeface="Calibri"/>
              <a:cs typeface="Calibri"/>
              <a:sym typeface="Calibri"/>
            </a:endParaRPr>
          </a:p>
        </p:txBody>
      </p:sp>
      <p:sp>
        <p:nvSpPr>
          <p:cNvPr id="408" name="Google Shape;408;p17"/>
          <p:cNvSpPr/>
          <p:nvPr/>
        </p:nvSpPr>
        <p:spPr>
          <a:xfrm>
            <a:off x="594360" y="4215384"/>
            <a:ext cx="11002975" cy="804672"/>
          </a:xfrm>
          <a:prstGeom prst="roundRect">
            <a:avLst>
              <a:gd name="adj" fmla="val 7955"/>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9" name="Google Shape;409;p17"/>
          <p:cNvSpPr/>
          <p:nvPr/>
        </p:nvSpPr>
        <p:spPr>
          <a:xfrm>
            <a:off x="795528" y="4416552"/>
            <a:ext cx="402336" cy="402336"/>
          </a:xfrm>
          <a:prstGeom prst="ellipse">
            <a:avLst/>
          </a:prstGeom>
          <a:solidFill>
            <a:srgbClr val="B26A00"/>
          </a:solidFill>
          <a:ln w="12700" cap="flat" cmpd="sng">
            <a:solidFill>
              <a:srgbClr val="B26A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0" name="Google Shape;410;p17"/>
          <p:cNvSpPr txBox="1"/>
          <p:nvPr/>
        </p:nvSpPr>
        <p:spPr>
          <a:xfrm>
            <a:off x="795528" y="4416552"/>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4</a:t>
            </a:r>
            <a:endParaRPr sz="1400" b="0" i="0" u="none" strike="noStrike" cap="none">
              <a:solidFill>
                <a:schemeClr val="dk1"/>
              </a:solidFill>
              <a:latin typeface="Calibri"/>
              <a:ea typeface="Calibri"/>
              <a:cs typeface="Calibri"/>
              <a:sym typeface="Calibri"/>
            </a:endParaRPr>
          </a:p>
        </p:txBody>
      </p:sp>
      <p:sp>
        <p:nvSpPr>
          <p:cNvPr id="411" name="Google Shape;411;p17"/>
          <p:cNvSpPr txBox="1"/>
          <p:nvPr/>
        </p:nvSpPr>
        <p:spPr>
          <a:xfrm>
            <a:off x="1371600" y="4306824"/>
            <a:ext cx="4754880" cy="640080"/>
          </a:xfrm>
          <a:prstGeom prst="rect">
            <a:avLst/>
          </a:prstGeom>
          <a:noFill/>
          <a:ln>
            <a:noFill/>
          </a:ln>
        </p:spPr>
        <p:txBody>
          <a:bodyPr spcFirstLastPara="1" wrap="square" lIns="0" tIns="0" rIns="0" bIns="0" anchor="ctr" anchorCtr="0">
            <a:noAutofit/>
          </a:bodyPr>
          <a:lstStyle/>
          <a:p>
            <a:pPr marL="0" marR="0" lvl="0" indent="0" algn="l" rtl="0">
              <a:lnSpc>
                <a:spcPct val="123000"/>
              </a:lnSpc>
              <a:spcBef>
                <a:spcPts val="0"/>
              </a:spcBef>
              <a:spcAft>
                <a:spcPts val="0"/>
              </a:spcAft>
              <a:buClr>
                <a:srgbClr val="0F1B33"/>
              </a:buClr>
              <a:buSzPts val="1300"/>
              <a:buFont typeface="Calibri"/>
              <a:buNone/>
            </a:pPr>
            <a:r>
              <a:rPr lang="en-US" sz="1300" b="1" i="0" u="none" strike="noStrike" cap="none">
                <a:solidFill>
                  <a:srgbClr val="0F1B33"/>
                </a:solidFill>
                <a:latin typeface="Calibri"/>
                <a:ea typeface="Calibri"/>
                <a:cs typeface="Calibri"/>
                <a:sym typeface="Calibri"/>
              </a:rPr>
              <a:t>Frontend belum punya test sama sekali</a:t>
            </a:r>
            <a:endParaRPr sz="1300" b="0" i="0" u="none" strike="noStrike" cap="none">
              <a:solidFill>
                <a:schemeClr val="dk1"/>
              </a:solidFill>
              <a:latin typeface="Calibri"/>
              <a:ea typeface="Calibri"/>
              <a:cs typeface="Calibri"/>
              <a:sym typeface="Calibri"/>
            </a:endParaRPr>
          </a:p>
        </p:txBody>
      </p:sp>
      <p:sp>
        <p:nvSpPr>
          <p:cNvPr id="412" name="Google Shape;412;p17"/>
          <p:cNvSpPr txBox="1"/>
          <p:nvPr/>
        </p:nvSpPr>
        <p:spPr>
          <a:xfrm>
            <a:off x="6309360" y="4288536"/>
            <a:ext cx="5105095" cy="676656"/>
          </a:xfrm>
          <a:prstGeom prst="rect">
            <a:avLst/>
          </a:prstGeom>
          <a:noFill/>
          <a:ln>
            <a:noFill/>
          </a:ln>
        </p:spPr>
        <p:txBody>
          <a:bodyPr spcFirstLastPara="1" wrap="square" lIns="0" tIns="0" rIns="0" bIns="0" anchor="ctr" anchorCtr="0">
            <a:noAutofit/>
          </a:bodyPr>
          <a:lstStyle/>
          <a:p>
            <a:pPr marL="0" marR="0" lvl="0" indent="0" algn="l" rtl="0">
              <a:lnSpc>
                <a:spcPct val="133000"/>
              </a:lnSpc>
              <a:spcBef>
                <a:spcPts val="0"/>
              </a:spcBef>
              <a:spcAft>
                <a:spcPts val="0"/>
              </a:spcAft>
              <a:buClr>
                <a:srgbClr val="55617A"/>
              </a:buClr>
              <a:buSzPts val="1200"/>
              <a:buFont typeface="Calibri"/>
              <a:buNone/>
            </a:pPr>
            <a:r>
              <a:rPr lang="en-US" sz="1200" b="0" i="0" u="none" strike="noStrike" cap="none">
                <a:solidFill>
                  <a:srgbClr val="55617A"/>
                </a:solidFill>
                <a:latin typeface="Calibri"/>
                <a:ea typeface="Calibri"/>
                <a:cs typeface="Calibri"/>
                <a:sym typeface="Calibri"/>
              </a:rPr>
              <a:t>Tidak ada yang bisa menangkap kalau data berubah. Karena itu ini yang pertama saya pasang.</a:t>
            </a:r>
            <a:endParaRPr sz="1200" b="0" i="0" u="none" strike="noStrike" cap="none">
              <a:solidFill>
                <a:schemeClr val="dk1"/>
              </a:solidFill>
              <a:latin typeface="Calibri"/>
              <a:ea typeface="Calibri"/>
              <a:cs typeface="Calibri"/>
              <a:sym typeface="Calibri"/>
            </a:endParaRPr>
          </a:p>
        </p:txBody>
      </p:sp>
      <p:sp>
        <p:nvSpPr>
          <p:cNvPr id="413" name="Google Shape;413;p17"/>
          <p:cNvSpPr/>
          <p:nvPr/>
        </p:nvSpPr>
        <p:spPr>
          <a:xfrm>
            <a:off x="594360" y="5102352"/>
            <a:ext cx="11002975" cy="804672"/>
          </a:xfrm>
          <a:prstGeom prst="roundRect">
            <a:avLst>
              <a:gd name="adj" fmla="val 7955"/>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4" name="Google Shape;414;p17"/>
          <p:cNvSpPr/>
          <p:nvPr/>
        </p:nvSpPr>
        <p:spPr>
          <a:xfrm>
            <a:off x="795528" y="5303520"/>
            <a:ext cx="402336" cy="402336"/>
          </a:xfrm>
          <a:prstGeom prst="ellipse">
            <a:avLst/>
          </a:prstGeom>
          <a:solidFill>
            <a:srgbClr val="B26A00"/>
          </a:solidFill>
          <a:ln w="12700" cap="flat" cmpd="sng">
            <a:solidFill>
              <a:srgbClr val="B26A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5" name="Google Shape;415;p17"/>
          <p:cNvSpPr txBox="1"/>
          <p:nvPr/>
        </p:nvSpPr>
        <p:spPr>
          <a:xfrm>
            <a:off x="795528" y="5303520"/>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5</a:t>
            </a:r>
            <a:endParaRPr sz="1400" b="0" i="0" u="none" strike="noStrike" cap="none">
              <a:solidFill>
                <a:schemeClr val="dk1"/>
              </a:solidFill>
              <a:latin typeface="Calibri"/>
              <a:ea typeface="Calibri"/>
              <a:cs typeface="Calibri"/>
              <a:sym typeface="Calibri"/>
            </a:endParaRPr>
          </a:p>
        </p:txBody>
      </p:sp>
      <p:sp>
        <p:nvSpPr>
          <p:cNvPr id="416" name="Google Shape;416;p17"/>
          <p:cNvSpPr txBox="1"/>
          <p:nvPr/>
        </p:nvSpPr>
        <p:spPr>
          <a:xfrm>
            <a:off x="1371600" y="5193792"/>
            <a:ext cx="4754880" cy="640080"/>
          </a:xfrm>
          <a:prstGeom prst="rect">
            <a:avLst/>
          </a:prstGeom>
          <a:noFill/>
          <a:ln>
            <a:noFill/>
          </a:ln>
        </p:spPr>
        <p:txBody>
          <a:bodyPr spcFirstLastPara="1" wrap="square" lIns="0" tIns="0" rIns="0" bIns="0" anchor="ctr" anchorCtr="0">
            <a:noAutofit/>
          </a:bodyPr>
          <a:lstStyle/>
          <a:p>
            <a:pPr marL="0" marR="0" lvl="0" indent="0" algn="l" rtl="0">
              <a:lnSpc>
                <a:spcPct val="123000"/>
              </a:lnSpc>
              <a:spcBef>
                <a:spcPts val="0"/>
              </a:spcBef>
              <a:spcAft>
                <a:spcPts val="0"/>
              </a:spcAft>
              <a:buClr>
                <a:srgbClr val="0F1B33"/>
              </a:buClr>
              <a:buSzPts val="1300"/>
              <a:buFont typeface="Calibri"/>
              <a:buNone/>
            </a:pPr>
            <a:r>
              <a:rPr lang="en-US" sz="1300" b="1" i="0" u="none" strike="noStrike" cap="none">
                <a:solidFill>
                  <a:srgbClr val="0F1B33"/>
                </a:solidFill>
                <a:latin typeface="Calibri"/>
                <a:ea typeface="Calibri"/>
                <a:cs typeface="Calibri"/>
                <a:sym typeface="Calibri"/>
              </a:rPr>
              <a:t>Belum ada aturan berapa lama data kandidat disimpan</a:t>
            </a:r>
            <a:endParaRPr sz="1300" b="0" i="0" u="none" strike="noStrike" cap="none">
              <a:solidFill>
                <a:schemeClr val="dk1"/>
              </a:solidFill>
              <a:latin typeface="Calibri"/>
              <a:ea typeface="Calibri"/>
              <a:cs typeface="Calibri"/>
              <a:sym typeface="Calibri"/>
            </a:endParaRPr>
          </a:p>
        </p:txBody>
      </p:sp>
      <p:sp>
        <p:nvSpPr>
          <p:cNvPr id="417" name="Google Shape;417;p17"/>
          <p:cNvSpPr txBox="1"/>
          <p:nvPr/>
        </p:nvSpPr>
        <p:spPr>
          <a:xfrm>
            <a:off x="6309360" y="5175504"/>
            <a:ext cx="5105095" cy="676656"/>
          </a:xfrm>
          <a:prstGeom prst="rect">
            <a:avLst/>
          </a:prstGeom>
          <a:noFill/>
          <a:ln>
            <a:noFill/>
          </a:ln>
        </p:spPr>
        <p:txBody>
          <a:bodyPr spcFirstLastPara="1" wrap="square" lIns="0" tIns="0" rIns="0" bIns="0" anchor="ctr" anchorCtr="0">
            <a:noAutofit/>
          </a:bodyPr>
          <a:lstStyle/>
          <a:p>
            <a:pPr marL="0" marR="0" lvl="0" indent="0" algn="l" rtl="0">
              <a:lnSpc>
                <a:spcPct val="133000"/>
              </a:lnSpc>
              <a:spcBef>
                <a:spcPts val="0"/>
              </a:spcBef>
              <a:spcAft>
                <a:spcPts val="0"/>
              </a:spcAft>
              <a:buClr>
                <a:srgbClr val="55617A"/>
              </a:buClr>
              <a:buSzPts val="1200"/>
              <a:buFont typeface="Calibri"/>
              <a:buNone/>
            </a:pPr>
            <a:r>
              <a:rPr lang="en-US" sz="1200" b="0" i="0" u="none" strike="noStrike" cap="none">
                <a:solidFill>
                  <a:srgbClr val="55617A"/>
                </a:solidFill>
                <a:latin typeface="Calibri"/>
                <a:ea typeface="Calibri"/>
                <a:cs typeface="Calibri"/>
                <a:sym typeface="Calibri"/>
              </a:rPr>
              <a:t>Menurut UU PDP, ini keputusan tim produk dan legal, bukan developer.</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422" name="Shape 422"/>
        <p:cNvGrpSpPr/>
        <p:nvPr/>
      </p:nvGrpSpPr>
      <p:grpSpPr>
        <a:xfrm>
          <a:off x="0" y="0"/>
          <a:ext cx="0" cy="0"/>
          <a:chOff x="0" y="0"/>
          <a:chExt cx="0" cy="0"/>
        </a:xfrm>
      </p:grpSpPr>
      <p:sp>
        <p:nvSpPr>
          <p:cNvPr id="423" name="Google Shape;423;p18"/>
          <p:cNvSpPr txBox="1"/>
          <p:nvPr/>
        </p:nvSpPr>
        <p:spPr>
          <a:xfrm>
            <a:off x="11277295" y="6419088"/>
            <a:ext cx="457200"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A94A8"/>
              </a:buClr>
              <a:buSzPts val="1000"/>
              <a:buFont typeface="Calibri"/>
              <a:buNone/>
            </a:pPr>
            <a:r>
              <a:rPr lang="en-US" sz="1000" b="0" i="0" u="none" strike="noStrike" cap="none">
                <a:solidFill>
                  <a:srgbClr val="8A94A8"/>
                </a:solidFill>
                <a:latin typeface="Calibri"/>
                <a:ea typeface="Calibri"/>
                <a:cs typeface="Calibri"/>
                <a:sym typeface="Calibri"/>
              </a:rPr>
              <a:t>16</a:t>
            </a:r>
            <a:endParaRPr sz="1000" b="0" i="0" u="none" strike="noStrike" cap="none">
              <a:solidFill>
                <a:schemeClr val="dk1"/>
              </a:solidFill>
              <a:latin typeface="Calibri"/>
              <a:ea typeface="Calibri"/>
              <a:cs typeface="Calibri"/>
              <a:sym typeface="Calibri"/>
            </a:endParaRPr>
          </a:p>
        </p:txBody>
      </p:sp>
      <p:sp>
        <p:nvSpPr>
          <p:cNvPr id="424" name="Google Shape;424;p18"/>
          <p:cNvSpPr txBox="1"/>
          <p:nvPr/>
        </p:nvSpPr>
        <p:spPr>
          <a:xfrm>
            <a:off x="594360" y="6419088"/>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A94A8"/>
              </a:buClr>
              <a:buSzPts val="1000"/>
              <a:buFont typeface="Calibri"/>
              <a:buNone/>
            </a:pPr>
            <a:r>
              <a:rPr lang="en-US" sz="1000" b="0" i="0" u="none" strike="noStrike" cap="none">
                <a:solidFill>
                  <a:srgbClr val="8A94A8"/>
                </a:solidFill>
                <a:latin typeface="Calibri"/>
                <a:ea typeface="Calibri"/>
                <a:cs typeface="Calibri"/>
                <a:sym typeface="Calibri"/>
              </a:rPr>
              <a:t>Aulia Afriza  ·  Kandidat Fullstack · Frontend depth</a:t>
            </a:r>
            <a:endParaRPr sz="1000" b="0" i="0" u="none" strike="noStrike" cap="none">
              <a:solidFill>
                <a:schemeClr val="dk1"/>
              </a:solidFill>
              <a:latin typeface="Calibri"/>
              <a:ea typeface="Calibri"/>
              <a:cs typeface="Calibri"/>
              <a:sym typeface="Calibri"/>
            </a:endParaRPr>
          </a:p>
        </p:txBody>
      </p:sp>
      <p:sp>
        <p:nvSpPr>
          <p:cNvPr id="425" name="Google Shape;425;p18"/>
          <p:cNvSpPr txBox="1"/>
          <p:nvPr/>
        </p:nvSpPr>
        <p:spPr>
          <a:xfrm>
            <a:off x="594360" y="438912"/>
            <a:ext cx="11002975"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2800"/>
              <a:buFont typeface="Calibri"/>
              <a:buNone/>
            </a:pPr>
            <a:r>
              <a:rPr lang="en-US" sz="2800" b="1" i="0" u="none" strike="noStrike" cap="none">
                <a:solidFill>
                  <a:srgbClr val="0F1B33"/>
                </a:solidFill>
                <a:latin typeface="Calibri"/>
                <a:ea typeface="Calibri"/>
                <a:cs typeface="Calibri"/>
                <a:sym typeface="Calibri"/>
              </a:rPr>
              <a:t>Kenapa saya fokus di frontend</a:t>
            </a:r>
            <a:endParaRPr sz="2800" b="0" i="0" u="none" strike="noStrike" cap="none">
              <a:solidFill>
                <a:schemeClr val="dk1"/>
              </a:solidFill>
              <a:latin typeface="Calibri"/>
              <a:ea typeface="Calibri"/>
              <a:cs typeface="Calibri"/>
              <a:sym typeface="Calibri"/>
            </a:endParaRPr>
          </a:p>
        </p:txBody>
      </p:sp>
      <p:sp>
        <p:nvSpPr>
          <p:cNvPr id="426" name="Google Shape;426;p18"/>
          <p:cNvSpPr txBox="1"/>
          <p:nvPr/>
        </p:nvSpPr>
        <p:spPr>
          <a:xfrm>
            <a:off x="594360" y="987552"/>
            <a:ext cx="11002975"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5617A"/>
              </a:buClr>
              <a:buSzPts val="1500"/>
              <a:buFont typeface="Calibri"/>
              <a:buNone/>
            </a:pPr>
            <a:r>
              <a:rPr lang="en-US" sz="1500" b="0" i="0" u="none" strike="noStrike" cap="none">
                <a:solidFill>
                  <a:srgbClr val="55617A"/>
                </a:solidFill>
                <a:latin typeface="Calibri"/>
                <a:ea typeface="Calibri"/>
                <a:cs typeface="Calibri"/>
                <a:sym typeface="Calibri"/>
              </a:rPr>
              <a:t>§2.6 · Klaim kedalaman: frontend</a:t>
            </a:r>
            <a:endParaRPr sz="1500" b="0" i="0" u="none" strike="noStrike" cap="none">
              <a:solidFill>
                <a:schemeClr val="dk1"/>
              </a:solidFill>
              <a:latin typeface="Calibri"/>
              <a:ea typeface="Calibri"/>
              <a:cs typeface="Calibri"/>
              <a:sym typeface="Calibri"/>
            </a:endParaRPr>
          </a:p>
        </p:txBody>
      </p:sp>
      <p:sp>
        <p:nvSpPr>
          <p:cNvPr id="427" name="Google Shape;427;p18"/>
          <p:cNvSpPr/>
          <p:nvPr/>
        </p:nvSpPr>
        <p:spPr>
          <a:xfrm>
            <a:off x="594360" y="1463040"/>
            <a:ext cx="11002975" cy="1005840"/>
          </a:xfrm>
          <a:prstGeom prst="roundRect">
            <a:avLst>
              <a:gd name="adj" fmla="val 6364"/>
            </a:avLst>
          </a:prstGeom>
          <a:solidFill>
            <a:srgbClr val="0F1B33"/>
          </a:solidFill>
          <a:ln w="9525" cap="flat" cmpd="sng">
            <a:solidFill>
              <a:srgbClr val="0F1B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8" name="Google Shape;428;p18"/>
          <p:cNvSpPr txBox="1"/>
          <p:nvPr/>
        </p:nvSpPr>
        <p:spPr>
          <a:xfrm>
            <a:off x="914400" y="1463040"/>
            <a:ext cx="10362895" cy="1005840"/>
          </a:xfrm>
          <a:prstGeom prst="rect">
            <a:avLst/>
          </a:prstGeom>
          <a:noFill/>
          <a:ln>
            <a:noFill/>
          </a:ln>
        </p:spPr>
        <p:txBody>
          <a:bodyPr spcFirstLastPara="1" wrap="square" lIns="0" tIns="0" rIns="0" bIns="0" anchor="ctr" anchorCtr="0">
            <a:noAutofit/>
          </a:bodyPr>
          <a:lstStyle/>
          <a:p>
            <a:pPr marL="0" marR="0" lvl="0" indent="0" algn="l" rtl="0">
              <a:lnSpc>
                <a:spcPct val="143000"/>
              </a:lnSpc>
              <a:spcBef>
                <a:spcPts val="0"/>
              </a:spcBef>
              <a:spcAft>
                <a:spcPts val="0"/>
              </a:spcAft>
              <a:buClr>
                <a:srgbClr val="FFFFFF"/>
              </a:buClr>
              <a:buSzPts val="1400"/>
              <a:buFont typeface="Calibri"/>
              <a:buNone/>
            </a:pPr>
            <a:r>
              <a:rPr lang="en-US" sz="1400" b="0" i="0" u="none" strike="noStrike" cap="none">
                <a:solidFill>
                  <a:srgbClr val="FFFFFF"/>
                </a:solidFill>
                <a:latin typeface="Calibri"/>
                <a:ea typeface="Calibri"/>
                <a:cs typeface="Calibri"/>
                <a:sym typeface="Calibri"/>
              </a:rPr>
              <a:t>Di produk penilaian seperti ini, frontend bukan cuma tampilan. Frontend yang memberi tahu hiring manager seberapa yakin penilaiannya dan siapa yang menilai. Kalau data kosong ditampilkan seolah tidak ada masalah, informasi tentang kandidat jadi salah.</a:t>
            </a:r>
            <a:endParaRPr sz="1400" b="0" i="0" u="none" strike="noStrike" cap="none">
              <a:solidFill>
                <a:schemeClr val="dk1"/>
              </a:solidFill>
              <a:latin typeface="Calibri"/>
              <a:ea typeface="Calibri"/>
              <a:cs typeface="Calibri"/>
              <a:sym typeface="Calibri"/>
            </a:endParaRPr>
          </a:p>
        </p:txBody>
      </p:sp>
      <p:sp>
        <p:nvSpPr>
          <p:cNvPr id="429" name="Google Shape;429;p18"/>
          <p:cNvSpPr/>
          <p:nvPr/>
        </p:nvSpPr>
        <p:spPr>
          <a:xfrm>
            <a:off x="594360" y="2697480"/>
            <a:ext cx="3484778" cy="2011680"/>
          </a:xfrm>
          <a:prstGeom prst="roundRect">
            <a:avLst>
              <a:gd name="adj" fmla="val 3182"/>
            </a:avLst>
          </a:prstGeom>
          <a:solidFill>
            <a:srgbClr val="E7F1FF"/>
          </a:solidFill>
          <a:ln w="9525" cap="flat" cmpd="sng">
            <a:solidFill>
              <a:srgbClr val="E7F1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0" name="Google Shape;430;p18"/>
          <p:cNvSpPr/>
          <p:nvPr/>
        </p:nvSpPr>
        <p:spPr>
          <a:xfrm>
            <a:off x="822960" y="2852928"/>
            <a:ext cx="402336" cy="402336"/>
          </a:xfrm>
          <a:prstGeom prst="ellipse">
            <a:avLst/>
          </a:prstGeom>
          <a:solidFill>
            <a:srgbClr val="1C6FF3"/>
          </a:solidFill>
          <a:ln w="12700" cap="flat" cmpd="sng">
            <a:solidFill>
              <a:srgbClr val="1C6F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1" name="Google Shape;431;p18"/>
          <p:cNvSpPr txBox="1"/>
          <p:nvPr/>
        </p:nvSpPr>
        <p:spPr>
          <a:xfrm>
            <a:off x="822960" y="2852928"/>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1</a:t>
            </a:r>
            <a:endParaRPr sz="1400" b="0" i="0" u="none" strike="noStrike" cap="none">
              <a:solidFill>
                <a:schemeClr val="dk1"/>
              </a:solidFill>
              <a:latin typeface="Calibri"/>
              <a:ea typeface="Calibri"/>
              <a:cs typeface="Calibri"/>
              <a:sym typeface="Calibri"/>
            </a:endParaRPr>
          </a:p>
        </p:txBody>
      </p:sp>
      <p:sp>
        <p:nvSpPr>
          <p:cNvPr id="432" name="Google Shape;432;p18"/>
          <p:cNvSpPr txBox="1"/>
          <p:nvPr/>
        </p:nvSpPr>
        <p:spPr>
          <a:xfrm>
            <a:off x="1371600" y="2880360"/>
            <a:ext cx="2524658"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C2E6B"/>
              </a:buClr>
              <a:buSzPts val="1500"/>
              <a:buFont typeface="Calibri"/>
              <a:buNone/>
            </a:pPr>
            <a:r>
              <a:rPr lang="en-US" sz="1500" b="1" i="0" u="none" strike="noStrike" cap="none">
                <a:solidFill>
                  <a:srgbClr val="0C2E6B"/>
                </a:solidFill>
                <a:latin typeface="Calibri"/>
                <a:ea typeface="Calibri"/>
                <a:cs typeface="Calibri"/>
                <a:sym typeface="Calibri"/>
              </a:rPr>
              <a:t>Data dicek sebelum tampil</a:t>
            </a:r>
            <a:endParaRPr sz="1500" b="0" i="0" u="none" strike="noStrike" cap="none">
              <a:solidFill>
                <a:schemeClr val="dk1"/>
              </a:solidFill>
              <a:latin typeface="Calibri"/>
              <a:ea typeface="Calibri"/>
              <a:cs typeface="Calibri"/>
              <a:sym typeface="Calibri"/>
            </a:endParaRPr>
          </a:p>
        </p:txBody>
      </p:sp>
      <p:sp>
        <p:nvSpPr>
          <p:cNvPr id="433" name="Google Shape;433;p18"/>
          <p:cNvSpPr txBox="1"/>
          <p:nvPr/>
        </p:nvSpPr>
        <p:spPr>
          <a:xfrm>
            <a:off x="822960" y="3401568"/>
            <a:ext cx="3027578" cy="1234440"/>
          </a:xfrm>
          <a:prstGeom prst="rect">
            <a:avLst/>
          </a:prstGeom>
          <a:noFill/>
          <a:ln>
            <a:noFill/>
          </a:ln>
        </p:spPr>
        <p:txBody>
          <a:bodyPr spcFirstLastPara="1" wrap="square" lIns="0" tIns="0" rIns="0" bIns="0" anchor="t" anchorCtr="0">
            <a:noAutofit/>
          </a:bodyPr>
          <a:lstStyle/>
          <a:p>
            <a:pPr marL="0" marR="0" lvl="0" indent="0" algn="l" rtl="0">
              <a:lnSpc>
                <a:spcPct val="142000"/>
              </a:lnSpc>
              <a:spcBef>
                <a:spcPts val="0"/>
              </a:spcBef>
              <a:spcAft>
                <a:spcPts val="0"/>
              </a:spcAft>
              <a:buClr>
                <a:srgbClr val="0F1B33"/>
              </a:buClr>
              <a:buSzPts val="1200"/>
              <a:buFont typeface="Calibri"/>
              <a:buNone/>
            </a:pPr>
            <a:r>
              <a:rPr lang="en-US" sz="1200" b="0" i="0" u="none" strike="noStrike" cap="none">
                <a:solidFill>
                  <a:srgbClr val="0F1B33"/>
                </a:solidFill>
                <a:latin typeface="Calibri"/>
                <a:ea typeface="Calibri"/>
                <a:cs typeface="Calibri"/>
                <a:sym typeface="Calibri"/>
              </a:rPr>
              <a:t>Data dari API divalidasi dengan Zod. Kalau ada yang hilang, layar bilang “data tidak lengkap”. Bug seperti P0-1 tidak bisa lagi lolos diam-diam.</a:t>
            </a:r>
            <a:endParaRPr sz="1200" b="0" i="0" u="none" strike="noStrike" cap="none">
              <a:solidFill>
                <a:schemeClr val="dk1"/>
              </a:solidFill>
              <a:latin typeface="Calibri"/>
              <a:ea typeface="Calibri"/>
              <a:cs typeface="Calibri"/>
              <a:sym typeface="Calibri"/>
            </a:endParaRPr>
          </a:p>
        </p:txBody>
      </p:sp>
      <p:sp>
        <p:nvSpPr>
          <p:cNvPr id="434" name="Google Shape;434;p18"/>
          <p:cNvSpPr/>
          <p:nvPr/>
        </p:nvSpPr>
        <p:spPr>
          <a:xfrm>
            <a:off x="4353458" y="2697480"/>
            <a:ext cx="3484778" cy="2011680"/>
          </a:xfrm>
          <a:prstGeom prst="roundRect">
            <a:avLst>
              <a:gd name="adj" fmla="val 3182"/>
            </a:avLst>
          </a:prstGeom>
          <a:solidFill>
            <a:srgbClr val="E7F1FF"/>
          </a:solidFill>
          <a:ln w="9525" cap="flat" cmpd="sng">
            <a:solidFill>
              <a:srgbClr val="E7F1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5" name="Google Shape;435;p18"/>
          <p:cNvSpPr/>
          <p:nvPr/>
        </p:nvSpPr>
        <p:spPr>
          <a:xfrm>
            <a:off x="4582058" y="2852928"/>
            <a:ext cx="402336" cy="402336"/>
          </a:xfrm>
          <a:prstGeom prst="ellipse">
            <a:avLst/>
          </a:prstGeom>
          <a:solidFill>
            <a:srgbClr val="1C6FF3"/>
          </a:solidFill>
          <a:ln w="12700" cap="flat" cmpd="sng">
            <a:solidFill>
              <a:srgbClr val="1C6F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6" name="Google Shape;436;p18"/>
          <p:cNvSpPr txBox="1"/>
          <p:nvPr/>
        </p:nvSpPr>
        <p:spPr>
          <a:xfrm>
            <a:off x="4582058" y="2852928"/>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2</a:t>
            </a:r>
            <a:endParaRPr sz="1400" b="0" i="0" u="none" strike="noStrike" cap="none">
              <a:solidFill>
                <a:schemeClr val="dk1"/>
              </a:solidFill>
              <a:latin typeface="Calibri"/>
              <a:ea typeface="Calibri"/>
              <a:cs typeface="Calibri"/>
              <a:sym typeface="Calibri"/>
            </a:endParaRPr>
          </a:p>
        </p:txBody>
      </p:sp>
      <p:sp>
        <p:nvSpPr>
          <p:cNvPr id="437" name="Google Shape;437;p18"/>
          <p:cNvSpPr txBox="1"/>
          <p:nvPr/>
        </p:nvSpPr>
        <p:spPr>
          <a:xfrm>
            <a:off x="5130698" y="2880360"/>
            <a:ext cx="2524658"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C2E6B"/>
              </a:buClr>
              <a:buSzPts val="1500"/>
              <a:buFont typeface="Calibri"/>
              <a:buNone/>
            </a:pPr>
            <a:r>
              <a:rPr lang="en-US" sz="1500" b="1" i="0" u="none" strike="noStrike" cap="none">
                <a:solidFill>
                  <a:srgbClr val="0C2E6B"/>
                </a:solidFill>
                <a:latin typeface="Calibri"/>
                <a:ea typeface="Calibri"/>
                <a:cs typeface="Calibri"/>
                <a:sym typeface="Calibri"/>
              </a:rPr>
              <a:t>Jelas siapa yang menilai</a:t>
            </a:r>
            <a:endParaRPr sz="1500" b="0" i="0" u="none" strike="noStrike" cap="none">
              <a:solidFill>
                <a:schemeClr val="dk1"/>
              </a:solidFill>
              <a:latin typeface="Calibri"/>
              <a:ea typeface="Calibri"/>
              <a:cs typeface="Calibri"/>
              <a:sym typeface="Calibri"/>
            </a:endParaRPr>
          </a:p>
        </p:txBody>
      </p:sp>
      <p:sp>
        <p:nvSpPr>
          <p:cNvPr id="438" name="Google Shape;438;p18"/>
          <p:cNvSpPr txBox="1"/>
          <p:nvPr/>
        </p:nvSpPr>
        <p:spPr>
          <a:xfrm>
            <a:off x="4582058" y="3401568"/>
            <a:ext cx="3027578" cy="1234440"/>
          </a:xfrm>
          <a:prstGeom prst="rect">
            <a:avLst/>
          </a:prstGeom>
          <a:noFill/>
          <a:ln>
            <a:noFill/>
          </a:ln>
        </p:spPr>
        <p:txBody>
          <a:bodyPr spcFirstLastPara="1" wrap="square" lIns="0" tIns="0" rIns="0" bIns="0" anchor="t" anchorCtr="0">
            <a:noAutofit/>
          </a:bodyPr>
          <a:lstStyle/>
          <a:p>
            <a:pPr marL="0" marR="0" lvl="0" indent="0" algn="l" rtl="0">
              <a:lnSpc>
                <a:spcPct val="142000"/>
              </a:lnSpc>
              <a:spcBef>
                <a:spcPts val="0"/>
              </a:spcBef>
              <a:spcAft>
                <a:spcPts val="0"/>
              </a:spcAft>
              <a:buClr>
                <a:srgbClr val="0F1B33"/>
              </a:buClr>
              <a:buSzPts val="1200"/>
              <a:buFont typeface="Calibri"/>
              <a:buNone/>
            </a:pPr>
            <a:r>
              <a:rPr lang="en-US" sz="1200" b="0" i="0" u="none" strike="noStrike" cap="none">
                <a:solidFill>
                  <a:srgbClr val="0F1B33"/>
                </a:solidFill>
                <a:latin typeface="Calibri"/>
                <a:ea typeface="Calibri"/>
                <a:cs typeface="Calibri"/>
                <a:sym typeface="Calibri"/>
              </a:rPr>
              <a:t>Setiap baris menunjukkan siapa yang menilai, seberapa yakin, dan dari berapa pertanyaan. Sama di tabel, kartu, PDF, dan JSON.</a:t>
            </a:r>
            <a:endParaRPr sz="1200" b="0" i="0" u="none" strike="noStrike" cap="none">
              <a:solidFill>
                <a:schemeClr val="dk1"/>
              </a:solidFill>
              <a:latin typeface="Calibri"/>
              <a:ea typeface="Calibri"/>
              <a:cs typeface="Calibri"/>
              <a:sym typeface="Calibri"/>
            </a:endParaRPr>
          </a:p>
        </p:txBody>
      </p:sp>
      <p:sp>
        <p:nvSpPr>
          <p:cNvPr id="439" name="Google Shape;439;p18"/>
          <p:cNvSpPr/>
          <p:nvPr/>
        </p:nvSpPr>
        <p:spPr>
          <a:xfrm>
            <a:off x="8112557" y="2697480"/>
            <a:ext cx="3484778" cy="2011680"/>
          </a:xfrm>
          <a:prstGeom prst="roundRect">
            <a:avLst>
              <a:gd name="adj" fmla="val 3182"/>
            </a:avLst>
          </a:prstGeom>
          <a:solidFill>
            <a:srgbClr val="E7F1FF"/>
          </a:solidFill>
          <a:ln w="9525" cap="flat" cmpd="sng">
            <a:solidFill>
              <a:srgbClr val="E7F1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0" name="Google Shape;440;p18"/>
          <p:cNvSpPr/>
          <p:nvPr/>
        </p:nvSpPr>
        <p:spPr>
          <a:xfrm>
            <a:off x="8341157" y="2852928"/>
            <a:ext cx="402336" cy="402336"/>
          </a:xfrm>
          <a:prstGeom prst="ellipse">
            <a:avLst/>
          </a:prstGeom>
          <a:solidFill>
            <a:srgbClr val="1C6FF3"/>
          </a:solidFill>
          <a:ln w="12700" cap="flat" cmpd="sng">
            <a:solidFill>
              <a:srgbClr val="1C6F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1" name="Google Shape;441;p18"/>
          <p:cNvSpPr txBox="1"/>
          <p:nvPr/>
        </p:nvSpPr>
        <p:spPr>
          <a:xfrm>
            <a:off x="8341157" y="2852928"/>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3</a:t>
            </a:r>
            <a:endParaRPr sz="1400" b="0" i="0" u="none" strike="noStrike" cap="none">
              <a:solidFill>
                <a:schemeClr val="dk1"/>
              </a:solidFill>
              <a:latin typeface="Calibri"/>
              <a:ea typeface="Calibri"/>
              <a:cs typeface="Calibri"/>
              <a:sym typeface="Calibri"/>
            </a:endParaRPr>
          </a:p>
        </p:txBody>
      </p:sp>
      <p:sp>
        <p:nvSpPr>
          <p:cNvPr id="442" name="Google Shape;442;p18"/>
          <p:cNvSpPr txBox="1"/>
          <p:nvPr/>
        </p:nvSpPr>
        <p:spPr>
          <a:xfrm>
            <a:off x="8889797" y="2880360"/>
            <a:ext cx="2524658"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C2E6B"/>
              </a:buClr>
              <a:buSzPts val="1500"/>
              <a:buFont typeface="Calibri"/>
              <a:buNone/>
            </a:pPr>
            <a:r>
              <a:rPr lang="en-US" sz="1500" b="1" i="0" u="none" strike="noStrike" cap="none">
                <a:solidFill>
                  <a:srgbClr val="0C2E6B"/>
                </a:solidFill>
                <a:latin typeface="Calibri"/>
                <a:ea typeface="Calibri"/>
                <a:cs typeface="Calibri"/>
                <a:sym typeface="Calibri"/>
              </a:rPr>
              <a:t>Bisa dicek sumbernya</a:t>
            </a:r>
            <a:endParaRPr sz="1500" b="0" i="0" u="none" strike="noStrike" cap="none">
              <a:solidFill>
                <a:schemeClr val="dk1"/>
              </a:solidFill>
              <a:latin typeface="Calibri"/>
              <a:ea typeface="Calibri"/>
              <a:cs typeface="Calibri"/>
              <a:sym typeface="Calibri"/>
            </a:endParaRPr>
          </a:p>
        </p:txBody>
      </p:sp>
      <p:sp>
        <p:nvSpPr>
          <p:cNvPr id="443" name="Google Shape;443;p18"/>
          <p:cNvSpPr txBox="1"/>
          <p:nvPr/>
        </p:nvSpPr>
        <p:spPr>
          <a:xfrm>
            <a:off x="8341157" y="3401568"/>
            <a:ext cx="3027578" cy="1234440"/>
          </a:xfrm>
          <a:prstGeom prst="rect">
            <a:avLst/>
          </a:prstGeom>
          <a:noFill/>
          <a:ln>
            <a:noFill/>
          </a:ln>
        </p:spPr>
        <p:txBody>
          <a:bodyPr spcFirstLastPara="1" wrap="square" lIns="0" tIns="0" rIns="0" bIns="0" anchor="t" anchorCtr="0">
            <a:noAutofit/>
          </a:bodyPr>
          <a:lstStyle/>
          <a:p>
            <a:pPr marL="0" marR="0" lvl="0" indent="0" algn="l" rtl="0">
              <a:lnSpc>
                <a:spcPct val="142000"/>
              </a:lnSpc>
              <a:spcBef>
                <a:spcPts val="0"/>
              </a:spcBef>
              <a:spcAft>
                <a:spcPts val="0"/>
              </a:spcAft>
              <a:buClr>
                <a:srgbClr val="0F1B33"/>
              </a:buClr>
              <a:buSzPts val="1200"/>
              <a:buFont typeface="Calibri"/>
              <a:buNone/>
            </a:pPr>
            <a:r>
              <a:rPr lang="en-US" sz="1200" b="0" i="0" u="none" strike="noStrike" cap="none">
                <a:solidFill>
                  <a:srgbClr val="0F1B33"/>
                </a:solidFill>
                <a:latin typeface="Calibri"/>
                <a:ea typeface="Calibri"/>
                <a:cs typeface="Calibri"/>
                <a:sym typeface="Calibri"/>
              </a:rPr>
              <a:t>Setiap kutipan terhubung ke bagian transkrip tempat kandidat mengucapkannya, jadi hasil AI bisa diperiksa.</a:t>
            </a:r>
            <a:endParaRPr sz="1200" b="0" i="0" u="none" strike="noStrike" cap="none">
              <a:solidFill>
                <a:schemeClr val="dk1"/>
              </a:solidFill>
              <a:latin typeface="Calibri"/>
              <a:ea typeface="Calibri"/>
              <a:cs typeface="Calibri"/>
              <a:sym typeface="Calibri"/>
            </a:endParaRPr>
          </a:p>
        </p:txBody>
      </p:sp>
      <p:sp>
        <p:nvSpPr>
          <p:cNvPr id="444" name="Google Shape;444;p18"/>
          <p:cNvSpPr/>
          <p:nvPr/>
        </p:nvSpPr>
        <p:spPr>
          <a:xfrm>
            <a:off x="594360" y="4919472"/>
            <a:ext cx="11002975" cy="1097280"/>
          </a:xfrm>
          <a:prstGeom prst="roundRect">
            <a:avLst>
              <a:gd name="adj" fmla="val 5833"/>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5" name="Google Shape;445;p18"/>
          <p:cNvSpPr txBox="1"/>
          <p:nvPr/>
        </p:nvSpPr>
        <p:spPr>
          <a:xfrm>
            <a:off x="868680" y="4919472"/>
            <a:ext cx="10454335" cy="1097280"/>
          </a:xfrm>
          <a:prstGeom prst="rect">
            <a:avLst/>
          </a:prstGeom>
          <a:noFill/>
          <a:ln>
            <a:noFill/>
          </a:ln>
        </p:spPr>
        <p:txBody>
          <a:bodyPr spcFirstLastPara="1" wrap="square" lIns="0" tIns="0" rIns="0" bIns="0" anchor="ctr" anchorCtr="0">
            <a:noAutofit/>
          </a:bodyPr>
          <a:lstStyle/>
          <a:p>
            <a:pPr marL="0" marR="0" lvl="0" indent="0" algn="l" rtl="0">
              <a:lnSpc>
                <a:spcPct val="138000"/>
              </a:lnSpc>
              <a:spcBef>
                <a:spcPts val="0"/>
              </a:spcBef>
              <a:spcAft>
                <a:spcPts val="0"/>
              </a:spcAft>
              <a:buClr>
                <a:srgbClr val="0F1B33"/>
              </a:buClr>
              <a:buSzPts val="1300"/>
              <a:buFont typeface="Calibri"/>
              <a:buNone/>
            </a:pPr>
            <a:r>
              <a:rPr lang="en-US" sz="1300" b="1" i="0" u="none" strike="noStrike" cap="none">
                <a:solidFill>
                  <a:srgbClr val="0F1B33"/>
                </a:solidFill>
                <a:latin typeface="Calibri"/>
                <a:ea typeface="Calibri"/>
                <a:cs typeface="Calibri"/>
                <a:sym typeface="Calibri"/>
              </a:rPr>
              <a:t>Kenapa bukan backend: </a:t>
            </a:r>
            <a:r>
              <a:rPr lang="en-US" sz="1300" b="0" i="0" u="none" strike="noStrike" cap="none">
                <a:solidFill>
                  <a:srgbClr val="0F1B33"/>
                </a:solidFill>
                <a:latin typeface="Calibri"/>
                <a:ea typeface="Calibri"/>
                <a:cs typeface="Calibri"/>
                <a:sym typeface="Calibri"/>
              </a:rPr>
              <a:t>saya sempat ingin menulis ulang Portfolios::Generator. Tapi generator-nya sudah menghasilkan data yang benar. Masalahnya ada di cara data itu sampai ke layar, jadi dampak terbesarnya ada di frontend.</a:t>
            </a:r>
            <a:endParaRPr sz="1300" b="0" i="0" u="none" strike="noStrike" cap="non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C2E6B"/>
        </a:solidFill>
        <a:effectLst/>
      </p:bgPr>
    </p:bg>
    <p:spTree>
      <p:nvGrpSpPr>
        <p:cNvPr id="450" name="Shape 450"/>
        <p:cNvGrpSpPr/>
        <p:nvPr/>
      </p:nvGrpSpPr>
      <p:grpSpPr>
        <a:xfrm>
          <a:off x="0" y="0"/>
          <a:ext cx="0" cy="0"/>
          <a:chOff x="0" y="0"/>
          <a:chExt cx="0" cy="0"/>
        </a:xfrm>
      </p:grpSpPr>
      <p:sp>
        <p:nvSpPr>
          <p:cNvPr id="451" name="Google Shape;451;p19"/>
          <p:cNvSpPr txBox="1"/>
          <p:nvPr/>
        </p:nvSpPr>
        <p:spPr>
          <a:xfrm>
            <a:off x="594360" y="2103120"/>
            <a:ext cx="274320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9CC5FF"/>
              </a:buClr>
              <a:buSzPts val="2000"/>
              <a:buFont typeface="Calibri"/>
              <a:buNone/>
            </a:pPr>
            <a:r>
              <a:rPr lang="en-US" sz="2000" b="1" i="0" u="none" strike="noStrike" cap="none">
                <a:solidFill>
                  <a:srgbClr val="9CC5FF"/>
                </a:solidFill>
                <a:latin typeface="Calibri"/>
                <a:ea typeface="Calibri"/>
                <a:cs typeface="Calibri"/>
                <a:sym typeface="Calibri"/>
              </a:rPr>
              <a:t>04</a:t>
            </a:r>
            <a:endParaRPr sz="2000" b="0" i="0" u="none" strike="noStrike" cap="none">
              <a:solidFill>
                <a:schemeClr val="dk1"/>
              </a:solidFill>
              <a:latin typeface="Calibri"/>
              <a:ea typeface="Calibri"/>
              <a:cs typeface="Calibri"/>
              <a:sym typeface="Calibri"/>
            </a:endParaRPr>
          </a:p>
        </p:txBody>
      </p:sp>
      <p:sp>
        <p:nvSpPr>
          <p:cNvPr id="452" name="Google Shape;452;p19"/>
          <p:cNvSpPr txBox="1"/>
          <p:nvPr/>
        </p:nvSpPr>
        <p:spPr>
          <a:xfrm>
            <a:off x="594360" y="2651760"/>
            <a:ext cx="11002975" cy="914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FFFFFF"/>
              </a:buClr>
              <a:buSzPts val="3800"/>
              <a:buFont typeface="Calibri"/>
              <a:buNone/>
            </a:pPr>
            <a:r>
              <a:rPr lang="en-US" sz="3800" b="1" i="0" u="none" strike="noStrike" cap="none">
                <a:solidFill>
                  <a:srgbClr val="FFFFFF"/>
                </a:solidFill>
                <a:latin typeface="Calibri"/>
                <a:ea typeface="Calibri"/>
                <a:cs typeface="Calibri"/>
                <a:sym typeface="Calibri"/>
              </a:rPr>
              <a:t>Membangun</a:t>
            </a:r>
            <a:endParaRPr sz="3800" b="0" i="0" u="none" strike="noStrike" cap="none">
              <a:solidFill>
                <a:schemeClr val="dk1"/>
              </a:solidFill>
              <a:latin typeface="Calibri"/>
              <a:ea typeface="Calibri"/>
              <a:cs typeface="Calibri"/>
              <a:sym typeface="Calibri"/>
            </a:endParaRPr>
          </a:p>
        </p:txBody>
      </p:sp>
      <p:sp>
        <p:nvSpPr>
          <p:cNvPr id="453" name="Google Shape;453;p19"/>
          <p:cNvSpPr txBox="1"/>
          <p:nvPr/>
        </p:nvSpPr>
        <p:spPr>
          <a:xfrm>
            <a:off x="594360" y="3611880"/>
            <a:ext cx="9144000" cy="73152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AFCBFF"/>
              </a:buClr>
              <a:buSzPts val="1700"/>
              <a:buFont typeface="Calibri"/>
              <a:buNone/>
            </a:pPr>
            <a:r>
              <a:rPr lang="en-US" sz="1700" b="0" i="0" u="none" strike="noStrike" cap="none">
                <a:solidFill>
                  <a:srgbClr val="AFCBFF"/>
                </a:solidFill>
                <a:latin typeface="Calibri"/>
                <a:ea typeface="Calibri"/>
                <a:cs typeface="Calibri"/>
                <a:sym typeface="Calibri"/>
              </a:rPr>
              <a:t>Saya tulis kriteria selesai dulu, lalu desain, lalu hasilnya di layar.</a:t>
            </a:r>
            <a:endParaRPr sz="1700" b="0" i="0" u="none" strike="noStrike" cap="non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458" name="Shape 458"/>
        <p:cNvGrpSpPr/>
        <p:nvPr/>
      </p:nvGrpSpPr>
      <p:grpSpPr>
        <a:xfrm>
          <a:off x="0" y="0"/>
          <a:ext cx="0" cy="0"/>
          <a:chOff x="0" y="0"/>
          <a:chExt cx="0" cy="0"/>
        </a:xfrm>
      </p:grpSpPr>
      <p:sp>
        <p:nvSpPr>
          <p:cNvPr id="459" name="Google Shape;459;p20"/>
          <p:cNvSpPr txBox="1"/>
          <p:nvPr/>
        </p:nvSpPr>
        <p:spPr>
          <a:xfrm>
            <a:off x="11277295" y="6419088"/>
            <a:ext cx="457200"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A94A8"/>
              </a:buClr>
              <a:buSzPts val="1000"/>
              <a:buFont typeface="Calibri"/>
              <a:buNone/>
            </a:pPr>
            <a:r>
              <a:rPr lang="en-US" sz="1000" b="0" i="0" u="none" strike="noStrike" cap="none">
                <a:solidFill>
                  <a:srgbClr val="8A94A8"/>
                </a:solidFill>
                <a:latin typeface="Calibri"/>
                <a:ea typeface="Calibri"/>
                <a:cs typeface="Calibri"/>
                <a:sym typeface="Calibri"/>
              </a:rPr>
              <a:t>18</a:t>
            </a:r>
            <a:endParaRPr sz="1000" b="0" i="0" u="none" strike="noStrike" cap="none">
              <a:solidFill>
                <a:schemeClr val="dk1"/>
              </a:solidFill>
              <a:latin typeface="Calibri"/>
              <a:ea typeface="Calibri"/>
              <a:cs typeface="Calibri"/>
              <a:sym typeface="Calibri"/>
            </a:endParaRPr>
          </a:p>
        </p:txBody>
      </p:sp>
      <p:sp>
        <p:nvSpPr>
          <p:cNvPr id="460" name="Google Shape;460;p20"/>
          <p:cNvSpPr txBox="1"/>
          <p:nvPr/>
        </p:nvSpPr>
        <p:spPr>
          <a:xfrm>
            <a:off x="594360" y="6419088"/>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A94A8"/>
              </a:buClr>
              <a:buSzPts val="1000"/>
              <a:buFont typeface="Calibri"/>
              <a:buNone/>
            </a:pPr>
            <a:r>
              <a:rPr lang="en-US" sz="1000" b="0" i="0" u="none" strike="noStrike" cap="none">
                <a:solidFill>
                  <a:srgbClr val="8A94A8"/>
                </a:solidFill>
                <a:latin typeface="Calibri"/>
                <a:ea typeface="Calibri"/>
                <a:cs typeface="Calibri"/>
                <a:sym typeface="Calibri"/>
              </a:rPr>
              <a:t>Aulia Afriza  ·  Kandidat Fullstack · Frontend depth</a:t>
            </a:r>
            <a:endParaRPr sz="1000" b="0" i="0" u="none" strike="noStrike" cap="none">
              <a:solidFill>
                <a:schemeClr val="dk1"/>
              </a:solidFill>
              <a:latin typeface="Calibri"/>
              <a:ea typeface="Calibri"/>
              <a:cs typeface="Calibri"/>
              <a:sym typeface="Calibri"/>
            </a:endParaRPr>
          </a:p>
        </p:txBody>
      </p:sp>
      <p:sp>
        <p:nvSpPr>
          <p:cNvPr id="461" name="Google Shape;461;p20"/>
          <p:cNvSpPr txBox="1"/>
          <p:nvPr/>
        </p:nvSpPr>
        <p:spPr>
          <a:xfrm>
            <a:off x="594360" y="438912"/>
            <a:ext cx="11002975"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2800"/>
              <a:buFont typeface="Calibri"/>
              <a:buNone/>
            </a:pPr>
            <a:r>
              <a:rPr lang="en-US" sz="2800" b="1" i="0" u="none" strike="noStrike" cap="none">
                <a:solidFill>
                  <a:srgbClr val="0F1B33"/>
                </a:solidFill>
                <a:latin typeface="Calibri"/>
                <a:ea typeface="Calibri"/>
                <a:cs typeface="Calibri"/>
                <a:sym typeface="Calibri"/>
              </a:rPr>
              <a:t>Kriteria selesai, saya tulis sebelum coding</a:t>
            </a:r>
            <a:endParaRPr sz="2800" b="0" i="0" u="none" strike="noStrike" cap="none">
              <a:solidFill>
                <a:schemeClr val="dk1"/>
              </a:solidFill>
              <a:latin typeface="Calibri"/>
              <a:ea typeface="Calibri"/>
              <a:cs typeface="Calibri"/>
              <a:sym typeface="Calibri"/>
            </a:endParaRPr>
          </a:p>
        </p:txBody>
      </p:sp>
      <p:sp>
        <p:nvSpPr>
          <p:cNvPr id="462" name="Google Shape;462;p20"/>
          <p:cNvSpPr txBox="1"/>
          <p:nvPr/>
        </p:nvSpPr>
        <p:spPr>
          <a:xfrm>
            <a:off x="594360" y="987552"/>
            <a:ext cx="11002975"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5617A"/>
              </a:buClr>
              <a:buSzPts val="1500"/>
              <a:buFont typeface="Calibri"/>
              <a:buNone/>
            </a:pPr>
            <a:r>
              <a:rPr lang="en-US" sz="1500" b="0" i="0" u="none" strike="noStrike" cap="none">
                <a:solidFill>
                  <a:srgbClr val="55617A"/>
                </a:solidFill>
                <a:latin typeface="Calibri"/>
                <a:ea typeface="Calibri"/>
                <a:cs typeface="Calibri"/>
                <a:sym typeface="Calibri"/>
              </a:rPr>
              <a:t>§2.4 · Setiap kriteria punya test-nya sendiri.</a:t>
            </a:r>
            <a:endParaRPr sz="1500" b="0" i="0" u="none" strike="noStrike" cap="none">
              <a:solidFill>
                <a:schemeClr val="dk1"/>
              </a:solidFill>
              <a:latin typeface="Calibri"/>
              <a:ea typeface="Calibri"/>
              <a:cs typeface="Calibri"/>
              <a:sym typeface="Calibri"/>
            </a:endParaRPr>
          </a:p>
        </p:txBody>
      </p:sp>
      <p:sp>
        <p:nvSpPr>
          <p:cNvPr id="463" name="Google Shape;463;p20"/>
          <p:cNvSpPr/>
          <p:nvPr/>
        </p:nvSpPr>
        <p:spPr>
          <a:xfrm>
            <a:off x="594360" y="1481328"/>
            <a:ext cx="7406640" cy="548640"/>
          </a:xfrm>
          <a:prstGeom prst="roundRect">
            <a:avLst>
              <a:gd name="adj" fmla="val 11667"/>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4" name="Google Shape;464;p20"/>
          <p:cNvSpPr txBox="1"/>
          <p:nvPr/>
        </p:nvSpPr>
        <p:spPr>
          <a:xfrm>
            <a:off x="777240" y="1481328"/>
            <a:ext cx="73152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C2E6B"/>
              </a:buClr>
              <a:buSzPts val="1250"/>
              <a:buFont typeface="Courier New" panose="02070609020205020404"/>
              <a:buNone/>
            </a:pPr>
            <a:r>
              <a:rPr lang="en-US" sz="1250" b="1" i="0" u="none" strike="noStrike" cap="none">
                <a:solidFill>
                  <a:srgbClr val="0C2E6B"/>
                </a:solidFill>
                <a:latin typeface="Courier New" panose="02070609020205020404"/>
                <a:ea typeface="Courier New" panose="02070609020205020404"/>
                <a:cs typeface="Courier New" panose="02070609020205020404"/>
                <a:sym typeface="Courier New" panose="02070609020205020404"/>
              </a:rPr>
              <a:t>AC-1</a:t>
            </a:r>
            <a:endParaRPr sz="1250" b="0" i="0" u="none" strike="noStrike" cap="none">
              <a:solidFill>
                <a:schemeClr val="dk1"/>
              </a:solidFill>
              <a:latin typeface="Calibri"/>
              <a:ea typeface="Calibri"/>
              <a:cs typeface="Calibri"/>
              <a:sym typeface="Calibri"/>
            </a:endParaRPr>
          </a:p>
        </p:txBody>
      </p:sp>
      <p:sp>
        <p:nvSpPr>
          <p:cNvPr id="465" name="Google Shape;465;p20"/>
          <p:cNvSpPr txBox="1"/>
          <p:nvPr/>
        </p:nvSpPr>
        <p:spPr>
          <a:xfrm>
            <a:off x="1554480" y="1481328"/>
            <a:ext cx="2651760" cy="54864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0F1B33"/>
              </a:buClr>
              <a:buSzPts val="1200"/>
              <a:buFont typeface="Calibri"/>
              <a:buNone/>
            </a:pPr>
            <a:r>
              <a:rPr lang="en-US" sz="1200" b="1" i="0" u="none" strike="noStrike" cap="none">
                <a:solidFill>
                  <a:srgbClr val="0F1B33"/>
                </a:solidFill>
                <a:latin typeface="Calibri"/>
                <a:ea typeface="Calibri"/>
                <a:cs typeface="Calibri"/>
                <a:sym typeface="Calibri"/>
              </a:rPr>
              <a:t>Data dicek saat masuk</a:t>
            </a:r>
            <a:endParaRPr sz="1200" b="0" i="0" u="none" strike="noStrike" cap="none">
              <a:solidFill>
                <a:schemeClr val="dk1"/>
              </a:solidFill>
              <a:latin typeface="Calibri"/>
              <a:ea typeface="Calibri"/>
              <a:cs typeface="Calibri"/>
              <a:sym typeface="Calibri"/>
            </a:endParaRPr>
          </a:p>
        </p:txBody>
      </p:sp>
      <p:sp>
        <p:nvSpPr>
          <p:cNvPr id="466" name="Google Shape;466;p20"/>
          <p:cNvSpPr txBox="1"/>
          <p:nvPr/>
        </p:nvSpPr>
        <p:spPr>
          <a:xfrm>
            <a:off x="4297680" y="1481328"/>
            <a:ext cx="3611880" cy="548640"/>
          </a:xfrm>
          <a:prstGeom prst="rect">
            <a:avLst/>
          </a:prstGeom>
          <a:noFill/>
          <a:ln>
            <a:noFill/>
          </a:ln>
        </p:spPr>
        <p:txBody>
          <a:bodyPr spcFirstLastPara="1" wrap="square" lIns="0" tIns="0" rIns="0" bIns="0" anchor="ctr" anchorCtr="0">
            <a:noAutofit/>
          </a:bodyPr>
          <a:lstStyle/>
          <a:p>
            <a:pPr marL="0" marR="0" lvl="0" indent="0" algn="l" rtl="0">
              <a:lnSpc>
                <a:spcPct val="127000"/>
              </a:lnSpc>
              <a:spcBef>
                <a:spcPts val="0"/>
              </a:spcBef>
              <a:spcAft>
                <a:spcPts val="0"/>
              </a:spcAft>
              <a:buClr>
                <a:srgbClr val="55617A"/>
              </a:buClr>
              <a:buSzPts val="1100"/>
              <a:buFont typeface="Calibri"/>
              <a:buNone/>
            </a:pPr>
            <a:r>
              <a:rPr lang="en-US" sz="1100" b="0" i="0" u="none" strike="noStrike" cap="none">
                <a:solidFill>
                  <a:srgbClr val="55617A"/>
                </a:solidFill>
                <a:latin typeface="Calibri"/>
                <a:ea typeface="Calibri"/>
                <a:cs typeface="Calibri"/>
                <a:sym typeface="Calibri"/>
              </a:rPr>
              <a:t>Kalau field wajib hilang, muncul “data tidak lengkap”</a:t>
            </a:r>
            <a:endParaRPr sz="1100" b="0" i="0" u="none" strike="noStrike" cap="none">
              <a:solidFill>
                <a:schemeClr val="dk1"/>
              </a:solidFill>
              <a:latin typeface="Calibri"/>
              <a:ea typeface="Calibri"/>
              <a:cs typeface="Calibri"/>
              <a:sym typeface="Calibri"/>
            </a:endParaRPr>
          </a:p>
        </p:txBody>
      </p:sp>
      <p:sp>
        <p:nvSpPr>
          <p:cNvPr id="467" name="Google Shape;467;p20"/>
          <p:cNvSpPr/>
          <p:nvPr/>
        </p:nvSpPr>
        <p:spPr>
          <a:xfrm>
            <a:off x="594360" y="2103120"/>
            <a:ext cx="7406640" cy="548640"/>
          </a:xfrm>
          <a:prstGeom prst="roundRect">
            <a:avLst>
              <a:gd name="adj" fmla="val 11667"/>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8" name="Google Shape;468;p20"/>
          <p:cNvSpPr txBox="1"/>
          <p:nvPr/>
        </p:nvSpPr>
        <p:spPr>
          <a:xfrm>
            <a:off x="777240" y="2103120"/>
            <a:ext cx="73152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C2E6B"/>
              </a:buClr>
              <a:buSzPts val="1250"/>
              <a:buFont typeface="Courier New" panose="02070609020205020404"/>
              <a:buNone/>
            </a:pPr>
            <a:r>
              <a:rPr lang="en-US" sz="1250" b="1" i="0" u="none" strike="noStrike" cap="none">
                <a:solidFill>
                  <a:srgbClr val="0C2E6B"/>
                </a:solidFill>
                <a:latin typeface="Courier New" panose="02070609020205020404"/>
                <a:ea typeface="Courier New" panose="02070609020205020404"/>
                <a:cs typeface="Courier New" panose="02070609020205020404"/>
                <a:sym typeface="Courier New" panose="02070609020205020404"/>
              </a:rPr>
              <a:t>AC-2</a:t>
            </a:r>
            <a:endParaRPr sz="1250" b="0" i="0" u="none" strike="noStrike" cap="none">
              <a:solidFill>
                <a:schemeClr val="dk1"/>
              </a:solidFill>
              <a:latin typeface="Calibri"/>
              <a:ea typeface="Calibri"/>
              <a:cs typeface="Calibri"/>
              <a:sym typeface="Calibri"/>
            </a:endParaRPr>
          </a:p>
        </p:txBody>
      </p:sp>
      <p:sp>
        <p:nvSpPr>
          <p:cNvPr id="469" name="Google Shape;469;p20"/>
          <p:cNvSpPr txBox="1"/>
          <p:nvPr/>
        </p:nvSpPr>
        <p:spPr>
          <a:xfrm>
            <a:off x="1554480" y="2103120"/>
            <a:ext cx="2651760" cy="54864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0F1B33"/>
              </a:buClr>
              <a:buSzPts val="1200"/>
              <a:buFont typeface="Calibri"/>
              <a:buNone/>
            </a:pPr>
            <a:r>
              <a:rPr lang="en-US" sz="1200" b="1" i="0" u="none" strike="noStrike" cap="none">
                <a:solidFill>
                  <a:srgbClr val="0F1B33"/>
                </a:solidFill>
                <a:latin typeface="Calibri"/>
                <a:ea typeface="Calibri"/>
                <a:cs typeface="Calibri"/>
                <a:sym typeface="Calibri"/>
              </a:rPr>
              <a:t>Terlihat siapa yang menilai</a:t>
            </a:r>
            <a:endParaRPr sz="1200" b="0" i="0" u="none" strike="noStrike" cap="none">
              <a:solidFill>
                <a:schemeClr val="dk1"/>
              </a:solidFill>
              <a:latin typeface="Calibri"/>
              <a:ea typeface="Calibri"/>
              <a:cs typeface="Calibri"/>
              <a:sym typeface="Calibri"/>
            </a:endParaRPr>
          </a:p>
        </p:txBody>
      </p:sp>
      <p:sp>
        <p:nvSpPr>
          <p:cNvPr id="470" name="Google Shape;470;p20"/>
          <p:cNvSpPr txBox="1"/>
          <p:nvPr/>
        </p:nvSpPr>
        <p:spPr>
          <a:xfrm>
            <a:off x="4297680" y="2103120"/>
            <a:ext cx="3611880" cy="548640"/>
          </a:xfrm>
          <a:prstGeom prst="rect">
            <a:avLst/>
          </a:prstGeom>
          <a:noFill/>
          <a:ln>
            <a:noFill/>
          </a:ln>
        </p:spPr>
        <p:txBody>
          <a:bodyPr spcFirstLastPara="1" wrap="square" lIns="0" tIns="0" rIns="0" bIns="0" anchor="ctr" anchorCtr="0">
            <a:noAutofit/>
          </a:bodyPr>
          <a:lstStyle/>
          <a:p>
            <a:pPr marL="0" marR="0" lvl="0" indent="0" algn="l" rtl="0">
              <a:lnSpc>
                <a:spcPct val="127000"/>
              </a:lnSpc>
              <a:spcBef>
                <a:spcPts val="0"/>
              </a:spcBef>
              <a:spcAft>
                <a:spcPts val="0"/>
              </a:spcAft>
              <a:buClr>
                <a:srgbClr val="55617A"/>
              </a:buClr>
              <a:buSzPts val="1100"/>
              <a:buFont typeface="Calibri"/>
              <a:buNone/>
            </a:pPr>
            <a:r>
              <a:rPr lang="en-US" sz="1100" b="0" i="0" u="none" strike="noStrike" cap="none">
                <a:solidFill>
                  <a:srgbClr val="55617A"/>
                </a:solidFill>
                <a:latin typeface="Calibri"/>
                <a:ea typeface="Calibri"/>
                <a:cs typeface="Calibri"/>
                <a:sym typeface="Calibri"/>
              </a:rPr>
              <a:t>AI L2 → L4, oleh siapa, kapan. Koreksi tanpa nama tetap dianggap dari manusia</a:t>
            </a:r>
            <a:endParaRPr sz="1100" b="0" i="0" u="none" strike="noStrike" cap="none">
              <a:solidFill>
                <a:schemeClr val="dk1"/>
              </a:solidFill>
              <a:latin typeface="Calibri"/>
              <a:ea typeface="Calibri"/>
              <a:cs typeface="Calibri"/>
              <a:sym typeface="Calibri"/>
            </a:endParaRPr>
          </a:p>
        </p:txBody>
      </p:sp>
      <p:sp>
        <p:nvSpPr>
          <p:cNvPr id="471" name="Google Shape;471;p20"/>
          <p:cNvSpPr/>
          <p:nvPr/>
        </p:nvSpPr>
        <p:spPr>
          <a:xfrm>
            <a:off x="594360" y="2724912"/>
            <a:ext cx="7406640" cy="548640"/>
          </a:xfrm>
          <a:prstGeom prst="roundRect">
            <a:avLst>
              <a:gd name="adj" fmla="val 11667"/>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2" name="Google Shape;472;p20"/>
          <p:cNvSpPr txBox="1"/>
          <p:nvPr/>
        </p:nvSpPr>
        <p:spPr>
          <a:xfrm>
            <a:off x="777240" y="2724912"/>
            <a:ext cx="73152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C2E6B"/>
              </a:buClr>
              <a:buSzPts val="1250"/>
              <a:buFont typeface="Courier New" panose="02070609020205020404"/>
              <a:buNone/>
            </a:pPr>
            <a:r>
              <a:rPr lang="en-US" sz="1250" b="1" i="0" u="none" strike="noStrike" cap="none">
                <a:solidFill>
                  <a:srgbClr val="0C2E6B"/>
                </a:solidFill>
                <a:latin typeface="Courier New" panose="02070609020205020404"/>
                <a:ea typeface="Courier New" panose="02070609020205020404"/>
                <a:cs typeface="Courier New" panose="02070609020205020404"/>
                <a:sym typeface="Courier New" panose="02070609020205020404"/>
              </a:rPr>
              <a:t>AC-3</a:t>
            </a:r>
            <a:endParaRPr sz="1250" b="0" i="0" u="none" strike="noStrike" cap="none">
              <a:solidFill>
                <a:schemeClr val="dk1"/>
              </a:solidFill>
              <a:latin typeface="Calibri"/>
              <a:ea typeface="Calibri"/>
              <a:cs typeface="Calibri"/>
              <a:sym typeface="Calibri"/>
            </a:endParaRPr>
          </a:p>
        </p:txBody>
      </p:sp>
      <p:sp>
        <p:nvSpPr>
          <p:cNvPr id="473" name="Google Shape;473;p20"/>
          <p:cNvSpPr txBox="1"/>
          <p:nvPr/>
        </p:nvSpPr>
        <p:spPr>
          <a:xfrm>
            <a:off x="1554480" y="2724912"/>
            <a:ext cx="2651760" cy="54864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0F1B33"/>
              </a:buClr>
              <a:buSzPts val="1200"/>
              <a:buFont typeface="Calibri"/>
              <a:buNone/>
            </a:pPr>
            <a:r>
              <a:rPr lang="en-US" sz="1200" b="1" i="0" u="none" strike="noStrike" cap="none">
                <a:solidFill>
                  <a:srgbClr val="0F1B33"/>
                </a:solidFill>
                <a:latin typeface="Calibri"/>
                <a:ea typeface="Calibri"/>
                <a:cs typeface="Calibri"/>
                <a:sym typeface="Calibri"/>
              </a:rPr>
              <a:t>Tingkat keyakinan ikut tampil</a:t>
            </a:r>
            <a:endParaRPr sz="1200" b="0" i="0" u="none" strike="noStrike" cap="none">
              <a:solidFill>
                <a:schemeClr val="dk1"/>
              </a:solidFill>
              <a:latin typeface="Calibri"/>
              <a:ea typeface="Calibri"/>
              <a:cs typeface="Calibri"/>
              <a:sym typeface="Calibri"/>
            </a:endParaRPr>
          </a:p>
        </p:txBody>
      </p:sp>
      <p:sp>
        <p:nvSpPr>
          <p:cNvPr id="474" name="Google Shape;474;p20"/>
          <p:cNvSpPr txBox="1"/>
          <p:nvPr/>
        </p:nvSpPr>
        <p:spPr>
          <a:xfrm>
            <a:off x="4297680" y="2724912"/>
            <a:ext cx="3611880" cy="548640"/>
          </a:xfrm>
          <a:prstGeom prst="rect">
            <a:avLst/>
          </a:prstGeom>
          <a:noFill/>
          <a:ln>
            <a:noFill/>
          </a:ln>
        </p:spPr>
        <p:txBody>
          <a:bodyPr spcFirstLastPara="1" wrap="square" lIns="0" tIns="0" rIns="0" bIns="0" anchor="ctr" anchorCtr="0">
            <a:noAutofit/>
          </a:bodyPr>
          <a:lstStyle/>
          <a:p>
            <a:pPr marL="0" marR="0" lvl="0" indent="0" algn="l" rtl="0">
              <a:lnSpc>
                <a:spcPct val="127000"/>
              </a:lnSpc>
              <a:spcBef>
                <a:spcPts val="0"/>
              </a:spcBef>
              <a:spcAft>
                <a:spcPts val="0"/>
              </a:spcAft>
              <a:buClr>
                <a:srgbClr val="55617A"/>
              </a:buClr>
              <a:buSzPts val="1100"/>
              <a:buFont typeface="Calibri"/>
              <a:buNone/>
            </a:pPr>
            <a:r>
              <a:rPr lang="en-US" sz="1100" b="0" i="0" u="none" strike="noStrike" cap="none">
                <a:solidFill>
                  <a:srgbClr val="55617A"/>
                </a:solidFill>
                <a:latin typeface="Calibri"/>
                <a:ea typeface="Calibri"/>
                <a:cs typeface="Calibri"/>
                <a:sym typeface="Calibri"/>
              </a:rPr>
              <a:t>Kalau kosong, tampil “belum terukur”, bukan LOW</a:t>
            </a:r>
            <a:endParaRPr sz="1100" b="0" i="0" u="none" strike="noStrike" cap="none">
              <a:solidFill>
                <a:schemeClr val="dk1"/>
              </a:solidFill>
              <a:latin typeface="Calibri"/>
              <a:ea typeface="Calibri"/>
              <a:cs typeface="Calibri"/>
              <a:sym typeface="Calibri"/>
            </a:endParaRPr>
          </a:p>
        </p:txBody>
      </p:sp>
      <p:sp>
        <p:nvSpPr>
          <p:cNvPr id="475" name="Google Shape;475;p20"/>
          <p:cNvSpPr/>
          <p:nvPr/>
        </p:nvSpPr>
        <p:spPr>
          <a:xfrm>
            <a:off x="594360" y="3346704"/>
            <a:ext cx="7406640" cy="548640"/>
          </a:xfrm>
          <a:prstGeom prst="roundRect">
            <a:avLst>
              <a:gd name="adj" fmla="val 11667"/>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6" name="Google Shape;476;p20"/>
          <p:cNvSpPr txBox="1"/>
          <p:nvPr/>
        </p:nvSpPr>
        <p:spPr>
          <a:xfrm>
            <a:off x="777240" y="3346704"/>
            <a:ext cx="73152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C2E6B"/>
              </a:buClr>
              <a:buSzPts val="1250"/>
              <a:buFont typeface="Courier New" panose="02070609020205020404"/>
              <a:buNone/>
            </a:pPr>
            <a:r>
              <a:rPr lang="en-US" sz="1250" b="1" i="0" u="none" strike="noStrike" cap="none">
                <a:solidFill>
                  <a:srgbClr val="0C2E6B"/>
                </a:solidFill>
                <a:latin typeface="Courier New" panose="02070609020205020404"/>
                <a:ea typeface="Courier New" panose="02070609020205020404"/>
                <a:cs typeface="Courier New" panose="02070609020205020404"/>
                <a:sym typeface="Courier New" panose="02070609020205020404"/>
              </a:rPr>
              <a:t>AC-4</a:t>
            </a:r>
            <a:endParaRPr sz="1250" b="0" i="0" u="none" strike="noStrike" cap="none">
              <a:solidFill>
                <a:schemeClr val="dk1"/>
              </a:solidFill>
              <a:latin typeface="Calibri"/>
              <a:ea typeface="Calibri"/>
              <a:cs typeface="Calibri"/>
              <a:sym typeface="Calibri"/>
            </a:endParaRPr>
          </a:p>
        </p:txBody>
      </p:sp>
      <p:sp>
        <p:nvSpPr>
          <p:cNvPr id="477" name="Google Shape;477;p20"/>
          <p:cNvSpPr txBox="1"/>
          <p:nvPr/>
        </p:nvSpPr>
        <p:spPr>
          <a:xfrm>
            <a:off x="1554480" y="3346704"/>
            <a:ext cx="2651760" cy="54864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0F1B33"/>
              </a:buClr>
              <a:buSzPts val="1200"/>
              <a:buFont typeface="Calibri"/>
              <a:buNone/>
            </a:pPr>
            <a:r>
              <a:rPr lang="en-US" sz="1200" b="1" i="0" u="none" strike="noStrike" cap="none">
                <a:solidFill>
                  <a:srgbClr val="0F1B33"/>
                </a:solidFill>
                <a:latin typeface="Calibri"/>
                <a:ea typeface="Calibri"/>
                <a:cs typeface="Calibri"/>
                <a:sym typeface="Calibri"/>
              </a:rPr>
              <a:t>Level kosong bukan nilai</a:t>
            </a:r>
            <a:endParaRPr sz="1200" b="0" i="0" u="none" strike="noStrike" cap="none">
              <a:solidFill>
                <a:schemeClr val="dk1"/>
              </a:solidFill>
              <a:latin typeface="Calibri"/>
              <a:ea typeface="Calibri"/>
              <a:cs typeface="Calibri"/>
              <a:sym typeface="Calibri"/>
            </a:endParaRPr>
          </a:p>
        </p:txBody>
      </p:sp>
      <p:sp>
        <p:nvSpPr>
          <p:cNvPr id="478" name="Google Shape;478;p20"/>
          <p:cNvSpPr txBox="1"/>
          <p:nvPr/>
        </p:nvSpPr>
        <p:spPr>
          <a:xfrm>
            <a:off x="4297680" y="3346704"/>
            <a:ext cx="3611880" cy="548640"/>
          </a:xfrm>
          <a:prstGeom prst="rect">
            <a:avLst/>
          </a:prstGeom>
          <a:noFill/>
          <a:ln>
            <a:noFill/>
          </a:ln>
        </p:spPr>
        <p:txBody>
          <a:bodyPr spcFirstLastPara="1" wrap="square" lIns="0" tIns="0" rIns="0" bIns="0" anchor="ctr" anchorCtr="0">
            <a:noAutofit/>
          </a:bodyPr>
          <a:lstStyle/>
          <a:p>
            <a:pPr marL="0" marR="0" lvl="0" indent="0" algn="l" rtl="0">
              <a:lnSpc>
                <a:spcPct val="127000"/>
              </a:lnSpc>
              <a:spcBef>
                <a:spcPts val="0"/>
              </a:spcBef>
              <a:spcAft>
                <a:spcPts val="0"/>
              </a:spcAft>
              <a:buClr>
                <a:srgbClr val="55617A"/>
              </a:buClr>
              <a:buSzPts val="1100"/>
              <a:buFont typeface="Calibri"/>
              <a:buNone/>
            </a:pPr>
            <a:r>
              <a:rPr lang="en-US" sz="1100" b="0" i="0" u="none" strike="noStrike" cap="none">
                <a:solidFill>
                  <a:srgbClr val="55617A"/>
                </a:solidFill>
                <a:latin typeface="Calibri"/>
                <a:ea typeface="Calibri"/>
                <a:cs typeface="Calibri"/>
                <a:sym typeface="Calibri"/>
              </a:rPr>
              <a:t>Kosong atau di luar 1–5 tampil “—”, tidak pernah L1</a:t>
            </a:r>
            <a:endParaRPr sz="1100" b="0" i="0" u="none" strike="noStrike" cap="none">
              <a:solidFill>
                <a:schemeClr val="dk1"/>
              </a:solidFill>
              <a:latin typeface="Calibri"/>
              <a:ea typeface="Calibri"/>
              <a:cs typeface="Calibri"/>
              <a:sym typeface="Calibri"/>
            </a:endParaRPr>
          </a:p>
        </p:txBody>
      </p:sp>
      <p:sp>
        <p:nvSpPr>
          <p:cNvPr id="479" name="Google Shape;479;p20"/>
          <p:cNvSpPr/>
          <p:nvPr/>
        </p:nvSpPr>
        <p:spPr>
          <a:xfrm>
            <a:off x="594360" y="3968496"/>
            <a:ext cx="7406640" cy="548640"/>
          </a:xfrm>
          <a:prstGeom prst="roundRect">
            <a:avLst>
              <a:gd name="adj" fmla="val 11667"/>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0" name="Google Shape;480;p20"/>
          <p:cNvSpPr txBox="1"/>
          <p:nvPr/>
        </p:nvSpPr>
        <p:spPr>
          <a:xfrm>
            <a:off x="777240" y="3968496"/>
            <a:ext cx="73152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C2E6B"/>
              </a:buClr>
              <a:buSzPts val="1250"/>
              <a:buFont typeface="Courier New" panose="02070609020205020404"/>
              <a:buNone/>
            </a:pPr>
            <a:r>
              <a:rPr lang="en-US" sz="1250" b="1" i="0" u="none" strike="noStrike" cap="none">
                <a:solidFill>
                  <a:srgbClr val="0C2E6B"/>
                </a:solidFill>
                <a:latin typeface="Courier New" panose="02070609020205020404"/>
                <a:ea typeface="Courier New" panose="02070609020205020404"/>
                <a:cs typeface="Courier New" panose="02070609020205020404"/>
                <a:sym typeface="Courier New" panose="02070609020205020404"/>
              </a:rPr>
              <a:t>AC-5</a:t>
            </a:r>
            <a:endParaRPr sz="1250" b="0" i="0" u="none" strike="noStrike" cap="none">
              <a:solidFill>
                <a:schemeClr val="dk1"/>
              </a:solidFill>
              <a:latin typeface="Calibri"/>
              <a:ea typeface="Calibri"/>
              <a:cs typeface="Calibri"/>
              <a:sym typeface="Calibri"/>
            </a:endParaRPr>
          </a:p>
        </p:txBody>
      </p:sp>
      <p:sp>
        <p:nvSpPr>
          <p:cNvPr id="481" name="Google Shape;481;p20"/>
          <p:cNvSpPr txBox="1"/>
          <p:nvPr/>
        </p:nvSpPr>
        <p:spPr>
          <a:xfrm>
            <a:off x="1554480" y="3968496"/>
            <a:ext cx="2651760" cy="54864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0F1B33"/>
              </a:buClr>
              <a:buSzPts val="1200"/>
              <a:buFont typeface="Calibri"/>
              <a:buNone/>
            </a:pPr>
            <a:r>
              <a:rPr lang="en-US" sz="1200" b="1" i="0" u="none" strike="noStrike" cap="none">
                <a:solidFill>
                  <a:srgbClr val="0F1B33"/>
                </a:solidFill>
                <a:latin typeface="Calibri"/>
                <a:ea typeface="Calibri"/>
                <a:cs typeface="Calibri"/>
                <a:sym typeface="Calibri"/>
              </a:rPr>
              <a:t>Proses generate tidak macet selamanya</a:t>
            </a:r>
            <a:endParaRPr sz="1200" b="0" i="0" u="none" strike="noStrike" cap="none">
              <a:solidFill>
                <a:schemeClr val="dk1"/>
              </a:solidFill>
              <a:latin typeface="Calibri"/>
              <a:ea typeface="Calibri"/>
              <a:cs typeface="Calibri"/>
              <a:sym typeface="Calibri"/>
            </a:endParaRPr>
          </a:p>
        </p:txBody>
      </p:sp>
      <p:sp>
        <p:nvSpPr>
          <p:cNvPr id="482" name="Google Shape;482;p20"/>
          <p:cNvSpPr txBox="1"/>
          <p:nvPr/>
        </p:nvSpPr>
        <p:spPr>
          <a:xfrm>
            <a:off x="4297680" y="3968496"/>
            <a:ext cx="3611880" cy="548640"/>
          </a:xfrm>
          <a:prstGeom prst="rect">
            <a:avLst/>
          </a:prstGeom>
          <a:noFill/>
          <a:ln>
            <a:noFill/>
          </a:ln>
        </p:spPr>
        <p:txBody>
          <a:bodyPr spcFirstLastPara="1" wrap="square" lIns="0" tIns="0" rIns="0" bIns="0" anchor="ctr" anchorCtr="0">
            <a:noAutofit/>
          </a:bodyPr>
          <a:lstStyle/>
          <a:p>
            <a:pPr marL="0" marR="0" lvl="0" indent="0" algn="l" rtl="0">
              <a:lnSpc>
                <a:spcPct val="127000"/>
              </a:lnSpc>
              <a:spcBef>
                <a:spcPts val="0"/>
              </a:spcBef>
              <a:spcAft>
                <a:spcPts val="0"/>
              </a:spcAft>
              <a:buClr>
                <a:srgbClr val="55617A"/>
              </a:buClr>
              <a:buSzPts val="1100"/>
              <a:buFont typeface="Calibri"/>
              <a:buNone/>
            </a:pPr>
            <a:r>
              <a:rPr lang="en-US" sz="1100" b="0" i="0" u="none" strike="noStrike" cap="none">
                <a:solidFill>
                  <a:srgbClr val="55617A"/>
                </a:solidFill>
                <a:latin typeface="Calibri"/>
                <a:ea typeface="Calibri"/>
                <a:cs typeface="Calibri"/>
                <a:sym typeface="Calibri"/>
              </a:rPr>
              <a:t>Lebih dari 5 menit dianggap macet dan bisa dicoba lagi</a:t>
            </a:r>
            <a:endParaRPr sz="1100" b="0" i="0" u="none" strike="noStrike" cap="none">
              <a:solidFill>
                <a:schemeClr val="dk1"/>
              </a:solidFill>
              <a:latin typeface="Calibri"/>
              <a:ea typeface="Calibri"/>
              <a:cs typeface="Calibri"/>
              <a:sym typeface="Calibri"/>
            </a:endParaRPr>
          </a:p>
        </p:txBody>
      </p:sp>
      <p:sp>
        <p:nvSpPr>
          <p:cNvPr id="483" name="Google Shape;483;p20"/>
          <p:cNvSpPr/>
          <p:nvPr/>
        </p:nvSpPr>
        <p:spPr>
          <a:xfrm>
            <a:off x="594360" y="4590288"/>
            <a:ext cx="7406640" cy="548640"/>
          </a:xfrm>
          <a:prstGeom prst="roundRect">
            <a:avLst>
              <a:gd name="adj" fmla="val 11667"/>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4" name="Google Shape;484;p20"/>
          <p:cNvSpPr txBox="1"/>
          <p:nvPr/>
        </p:nvSpPr>
        <p:spPr>
          <a:xfrm>
            <a:off x="777240" y="4590288"/>
            <a:ext cx="73152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C2E6B"/>
              </a:buClr>
              <a:buSzPts val="1250"/>
              <a:buFont typeface="Courier New" panose="02070609020205020404"/>
              <a:buNone/>
            </a:pPr>
            <a:r>
              <a:rPr lang="en-US" sz="1250" b="1" i="0" u="none" strike="noStrike" cap="none">
                <a:solidFill>
                  <a:srgbClr val="0C2E6B"/>
                </a:solidFill>
                <a:latin typeface="Courier New" panose="02070609020205020404"/>
                <a:ea typeface="Courier New" panose="02070609020205020404"/>
                <a:cs typeface="Courier New" panose="02070609020205020404"/>
                <a:sym typeface="Courier New" panose="02070609020205020404"/>
              </a:rPr>
              <a:t>AC-6</a:t>
            </a:r>
            <a:endParaRPr sz="1250" b="0" i="0" u="none" strike="noStrike" cap="none">
              <a:solidFill>
                <a:schemeClr val="dk1"/>
              </a:solidFill>
              <a:latin typeface="Calibri"/>
              <a:ea typeface="Calibri"/>
              <a:cs typeface="Calibri"/>
              <a:sym typeface="Calibri"/>
            </a:endParaRPr>
          </a:p>
        </p:txBody>
      </p:sp>
      <p:sp>
        <p:nvSpPr>
          <p:cNvPr id="485" name="Google Shape;485;p20"/>
          <p:cNvSpPr txBox="1"/>
          <p:nvPr/>
        </p:nvSpPr>
        <p:spPr>
          <a:xfrm>
            <a:off x="1554480" y="4590288"/>
            <a:ext cx="2651760" cy="54864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0F1B33"/>
              </a:buClr>
              <a:buSzPts val="1200"/>
              <a:buFont typeface="Calibri"/>
              <a:buNone/>
            </a:pPr>
            <a:r>
              <a:rPr lang="en-US" sz="1200" b="1" i="0" u="none" strike="noStrike" cap="none">
                <a:solidFill>
                  <a:srgbClr val="0F1B33"/>
                </a:solidFill>
                <a:latin typeface="Calibri"/>
                <a:ea typeface="Calibri"/>
                <a:cs typeface="Calibri"/>
                <a:sym typeface="Calibri"/>
              </a:rPr>
              <a:t>Error ditangani, bukan diabaikan</a:t>
            </a:r>
            <a:endParaRPr sz="1200" b="0" i="0" u="none" strike="noStrike" cap="none">
              <a:solidFill>
                <a:schemeClr val="dk1"/>
              </a:solidFill>
              <a:latin typeface="Calibri"/>
              <a:ea typeface="Calibri"/>
              <a:cs typeface="Calibri"/>
              <a:sym typeface="Calibri"/>
            </a:endParaRPr>
          </a:p>
        </p:txBody>
      </p:sp>
      <p:sp>
        <p:nvSpPr>
          <p:cNvPr id="486" name="Google Shape;486;p20"/>
          <p:cNvSpPr txBox="1"/>
          <p:nvPr/>
        </p:nvSpPr>
        <p:spPr>
          <a:xfrm>
            <a:off x="4297680" y="4590288"/>
            <a:ext cx="3611880" cy="548640"/>
          </a:xfrm>
          <a:prstGeom prst="rect">
            <a:avLst/>
          </a:prstGeom>
          <a:noFill/>
          <a:ln>
            <a:noFill/>
          </a:ln>
        </p:spPr>
        <p:txBody>
          <a:bodyPr spcFirstLastPara="1" wrap="square" lIns="0" tIns="0" rIns="0" bIns="0" anchor="ctr" anchorCtr="0">
            <a:noAutofit/>
          </a:bodyPr>
          <a:lstStyle/>
          <a:p>
            <a:pPr marL="0" marR="0" lvl="0" indent="0" algn="l" rtl="0">
              <a:lnSpc>
                <a:spcPct val="127000"/>
              </a:lnSpc>
              <a:spcBef>
                <a:spcPts val="0"/>
              </a:spcBef>
              <a:spcAft>
                <a:spcPts val="0"/>
              </a:spcAft>
              <a:buClr>
                <a:srgbClr val="55617A"/>
              </a:buClr>
              <a:buSzPts val="1100"/>
              <a:buFont typeface="Calibri"/>
              <a:buNone/>
            </a:pPr>
            <a:r>
              <a:rPr lang="en-US" sz="1100" b="0" i="0" u="none" strike="noStrike" cap="none">
                <a:solidFill>
                  <a:srgbClr val="55617A"/>
                </a:solidFill>
                <a:latin typeface="Calibri"/>
                <a:ea typeface="Calibri"/>
                <a:cs typeface="Calibri"/>
                <a:sym typeface="Calibri"/>
              </a:rPr>
              <a:t>Error 500 ada tombol coba lagi; pesan error export terbaca</a:t>
            </a:r>
            <a:endParaRPr sz="1100" b="0" i="0" u="none" strike="noStrike" cap="none">
              <a:solidFill>
                <a:schemeClr val="dk1"/>
              </a:solidFill>
              <a:latin typeface="Calibri"/>
              <a:ea typeface="Calibri"/>
              <a:cs typeface="Calibri"/>
              <a:sym typeface="Calibri"/>
            </a:endParaRPr>
          </a:p>
        </p:txBody>
      </p:sp>
      <p:sp>
        <p:nvSpPr>
          <p:cNvPr id="487" name="Google Shape;487;p20"/>
          <p:cNvSpPr/>
          <p:nvPr/>
        </p:nvSpPr>
        <p:spPr>
          <a:xfrm>
            <a:off x="594360" y="5212080"/>
            <a:ext cx="7406640" cy="548640"/>
          </a:xfrm>
          <a:prstGeom prst="roundRect">
            <a:avLst>
              <a:gd name="adj" fmla="val 11667"/>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8" name="Google Shape;488;p20"/>
          <p:cNvSpPr txBox="1"/>
          <p:nvPr/>
        </p:nvSpPr>
        <p:spPr>
          <a:xfrm>
            <a:off x="777240" y="5212080"/>
            <a:ext cx="73152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C2E6B"/>
              </a:buClr>
              <a:buSzPts val="1250"/>
              <a:buFont typeface="Courier New" panose="02070609020205020404"/>
              <a:buNone/>
            </a:pPr>
            <a:r>
              <a:rPr lang="en-US" sz="1250" b="1" i="0" u="none" strike="noStrike" cap="none">
                <a:solidFill>
                  <a:srgbClr val="0C2E6B"/>
                </a:solidFill>
                <a:latin typeface="Courier New" panose="02070609020205020404"/>
                <a:ea typeface="Courier New" panose="02070609020205020404"/>
                <a:cs typeface="Courier New" panose="02070609020205020404"/>
                <a:sym typeface="Courier New" panose="02070609020205020404"/>
              </a:rPr>
              <a:t>AC-7</a:t>
            </a:r>
            <a:endParaRPr sz="1250" b="0" i="0" u="none" strike="noStrike" cap="none">
              <a:solidFill>
                <a:schemeClr val="dk1"/>
              </a:solidFill>
              <a:latin typeface="Calibri"/>
              <a:ea typeface="Calibri"/>
              <a:cs typeface="Calibri"/>
              <a:sym typeface="Calibri"/>
            </a:endParaRPr>
          </a:p>
        </p:txBody>
      </p:sp>
      <p:sp>
        <p:nvSpPr>
          <p:cNvPr id="489" name="Google Shape;489;p20"/>
          <p:cNvSpPr txBox="1"/>
          <p:nvPr/>
        </p:nvSpPr>
        <p:spPr>
          <a:xfrm>
            <a:off x="1554480" y="5212080"/>
            <a:ext cx="2651760" cy="548640"/>
          </a:xfrm>
          <a:prstGeom prst="rect">
            <a:avLst/>
          </a:prstGeom>
          <a:noFill/>
          <a:ln>
            <a:noFill/>
          </a:ln>
        </p:spPr>
        <p:txBody>
          <a:bodyPr spcFirstLastPara="1" wrap="square" lIns="0" tIns="0" rIns="0" bIns="0" anchor="ctr" anchorCtr="0">
            <a:noAutofit/>
          </a:bodyPr>
          <a:lstStyle/>
          <a:p>
            <a:pPr marL="0" marR="0" lvl="0" indent="0" algn="l" rtl="0">
              <a:lnSpc>
                <a:spcPct val="125000"/>
              </a:lnSpc>
              <a:spcBef>
                <a:spcPts val="0"/>
              </a:spcBef>
              <a:spcAft>
                <a:spcPts val="0"/>
              </a:spcAft>
              <a:buClr>
                <a:srgbClr val="0F1B33"/>
              </a:buClr>
              <a:buSzPts val="1200"/>
              <a:buFont typeface="Calibri"/>
              <a:buNone/>
            </a:pPr>
            <a:r>
              <a:rPr lang="en-US" sz="1200" b="1" i="0" u="none" strike="noStrike" cap="none">
                <a:solidFill>
                  <a:srgbClr val="0F1B33"/>
                </a:solidFill>
                <a:latin typeface="Calibri"/>
                <a:ea typeface="Calibri"/>
                <a:cs typeface="Calibri"/>
                <a:sym typeface="Calibri"/>
              </a:rPr>
              <a:t>Kualitas tampilan</a:t>
            </a:r>
            <a:endParaRPr sz="1200" b="0" i="0" u="none" strike="noStrike" cap="none">
              <a:solidFill>
                <a:schemeClr val="dk1"/>
              </a:solidFill>
              <a:latin typeface="Calibri"/>
              <a:ea typeface="Calibri"/>
              <a:cs typeface="Calibri"/>
              <a:sym typeface="Calibri"/>
            </a:endParaRPr>
          </a:p>
        </p:txBody>
      </p:sp>
      <p:sp>
        <p:nvSpPr>
          <p:cNvPr id="490" name="Google Shape;490;p20"/>
          <p:cNvSpPr txBox="1"/>
          <p:nvPr/>
        </p:nvSpPr>
        <p:spPr>
          <a:xfrm>
            <a:off x="4297680" y="5212080"/>
            <a:ext cx="3611880" cy="548640"/>
          </a:xfrm>
          <a:prstGeom prst="rect">
            <a:avLst/>
          </a:prstGeom>
          <a:noFill/>
          <a:ln>
            <a:noFill/>
          </a:ln>
        </p:spPr>
        <p:txBody>
          <a:bodyPr spcFirstLastPara="1" wrap="square" lIns="0" tIns="0" rIns="0" bIns="0" anchor="ctr" anchorCtr="0">
            <a:noAutofit/>
          </a:bodyPr>
          <a:lstStyle/>
          <a:p>
            <a:pPr marL="0" marR="0" lvl="0" indent="0" algn="l" rtl="0">
              <a:lnSpc>
                <a:spcPct val="127000"/>
              </a:lnSpc>
              <a:spcBef>
                <a:spcPts val="0"/>
              </a:spcBef>
              <a:spcAft>
                <a:spcPts val="0"/>
              </a:spcAft>
              <a:buClr>
                <a:srgbClr val="55617A"/>
              </a:buClr>
              <a:buSzPts val="1100"/>
              <a:buFont typeface="Calibri"/>
              <a:buNone/>
            </a:pPr>
            <a:r>
              <a:rPr lang="en-US" sz="1100" b="0" i="0" u="none" strike="noStrike" cap="none">
                <a:solidFill>
                  <a:srgbClr val="55617A"/>
                </a:solidFill>
                <a:latin typeface="Calibri"/>
                <a:ea typeface="Calibri"/>
                <a:cs typeface="Calibri"/>
                <a:sym typeface="Calibri"/>
              </a:rPr>
              <a:t>Ada label teks, kontras cukup, rapi di layar 375px, bisa pakai keyboard</a:t>
            </a:r>
            <a:endParaRPr sz="1100" b="0" i="0" u="none" strike="noStrike" cap="none">
              <a:solidFill>
                <a:schemeClr val="dk1"/>
              </a:solidFill>
              <a:latin typeface="Calibri"/>
              <a:ea typeface="Calibri"/>
              <a:cs typeface="Calibri"/>
              <a:sym typeface="Calibri"/>
            </a:endParaRPr>
          </a:p>
        </p:txBody>
      </p:sp>
      <p:sp>
        <p:nvSpPr>
          <p:cNvPr id="491" name="Google Shape;491;p20"/>
          <p:cNvSpPr/>
          <p:nvPr/>
        </p:nvSpPr>
        <p:spPr>
          <a:xfrm>
            <a:off x="8275320" y="1481328"/>
            <a:ext cx="3322015" cy="4297680"/>
          </a:xfrm>
          <a:prstGeom prst="roundRect">
            <a:avLst>
              <a:gd name="adj" fmla="val 1927"/>
            </a:avLst>
          </a:prstGeom>
          <a:solidFill>
            <a:srgbClr val="E7F1FF"/>
          </a:solidFill>
          <a:ln w="9525" cap="flat" cmpd="sng">
            <a:solidFill>
              <a:srgbClr val="E7F1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2" name="Google Shape;492;p20"/>
          <p:cNvSpPr txBox="1"/>
          <p:nvPr/>
        </p:nvSpPr>
        <p:spPr>
          <a:xfrm>
            <a:off x="8531352" y="1645920"/>
            <a:ext cx="2809951"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C2E6B"/>
              </a:buClr>
              <a:buSzPts val="1450"/>
              <a:buFont typeface="Calibri"/>
              <a:buNone/>
            </a:pPr>
            <a:r>
              <a:rPr lang="en-US" sz="1450" b="1" i="0" u="none" strike="noStrike" cap="none">
                <a:solidFill>
                  <a:srgbClr val="0C2E6B"/>
                </a:solidFill>
                <a:latin typeface="Calibri"/>
                <a:ea typeface="Calibri"/>
                <a:cs typeface="Calibri"/>
                <a:sym typeface="Calibri"/>
              </a:rPr>
              <a:t>Kasus khusus yang saya uji</a:t>
            </a:r>
            <a:endParaRPr sz="1450" b="0" i="0" u="none" strike="noStrike" cap="none">
              <a:solidFill>
                <a:schemeClr val="dk1"/>
              </a:solidFill>
              <a:latin typeface="Calibri"/>
              <a:ea typeface="Calibri"/>
              <a:cs typeface="Calibri"/>
              <a:sym typeface="Calibri"/>
            </a:endParaRPr>
          </a:p>
        </p:txBody>
      </p:sp>
      <p:sp>
        <p:nvSpPr>
          <p:cNvPr id="493" name="Google Shape;493;p20"/>
          <p:cNvSpPr txBox="1"/>
          <p:nvPr/>
        </p:nvSpPr>
        <p:spPr>
          <a:xfrm>
            <a:off x="8531352" y="2057400"/>
            <a:ext cx="2809951" cy="3566160"/>
          </a:xfrm>
          <a:prstGeom prst="rect">
            <a:avLst/>
          </a:prstGeom>
          <a:noFill/>
          <a:ln>
            <a:noFill/>
          </a:ln>
        </p:spPr>
        <p:txBody>
          <a:bodyPr spcFirstLastPara="1" wrap="square" lIns="0" tIns="0" rIns="0" bIns="0" anchor="t" anchorCtr="0">
            <a:noAutofit/>
          </a:bodyPr>
          <a:lstStyle/>
          <a:p>
            <a:pPr marL="342900" marR="0" lvl="0" indent="-342900" algn="l" rtl="0">
              <a:lnSpc>
                <a:spcPct val="128000"/>
              </a:lnSpc>
              <a:spcBef>
                <a:spcPts val="0"/>
              </a:spcBef>
              <a:spcAft>
                <a:spcPts val="0"/>
              </a:spcAft>
              <a:buClr>
                <a:srgbClr val="0F1B33"/>
              </a:buClr>
              <a:buSzPts val="1250"/>
              <a:buFont typeface="Calibri"/>
              <a:buChar char="•"/>
            </a:pPr>
            <a:r>
              <a:rPr lang="en-US" sz="1250" b="0" i="0" u="none" strike="noStrike" cap="none">
                <a:solidFill>
                  <a:srgbClr val="0F1B33"/>
                </a:solidFill>
                <a:latin typeface="Calibri"/>
                <a:ea typeface="Calibri"/>
                <a:cs typeface="Calibri"/>
                <a:sym typeface="Calibri"/>
              </a:rPr>
              <a:t>Skill yang belum pernah ditanyakan</a:t>
            </a:r>
            <a:endParaRPr sz="1250" b="0" i="0" u="none" strike="noStrike" cap="none">
              <a:solidFill>
                <a:schemeClr val="dk1"/>
              </a:solidFill>
              <a:latin typeface="Calibri"/>
              <a:ea typeface="Calibri"/>
              <a:cs typeface="Calibri"/>
              <a:sym typeface="Calibri"/>
            </a:endParaRPr>
          </a:p>
          <a:p>
            <a:pPr marL="342900" marR="0" lvl="0" indent="-342900" algn="l" rtl="0">
              <a:lnSpc>
                <a:spcPct val="128000"/>
              </a:lnSpc>
              <a:spcBef>
                <a:spcPts val="700"/>
              </a:spcBef>
              <a:spcAft>
                <a:spcPts val="0"/>
              </a:spcAft>
              <a:buClr>
                <a:srgbClr val="0F1B33"/>
              </a:buClr>
              <a:buSzPts val="1250"/>
              <a:buFont typeface="Calibri"/>
              <a:buChar char="•"/>
            </a:pPr>
            <a:r>
              <a:rPr lang="en-US" sz="1250" b="0" i="0" u="none" strike="noStrike" cap="none">
                <a:solidFill>
                  <a:srgbClr val="0F1B33"/>
                </a:solidFill>
                <a:latin typeface="Calibri"/>
                <a:ea typeface="Calibri"/>
                <a:cs typeface="Calibri"/>
                <a:sym typeface="Calibri"/>
              </a:rPr>
              <a:t>Nilai yang kosong</a:t>
            </a:r>
            <a:endParaRPr sz="1250" b="0" i="0" u="none" strike="noStrike" cap="none">
              <a:solidFill>
                <a:schemeClr val="dk1"/>
              </a:solidFill>
              <a:latin typeface="Calibri"/>
              <a:ea typeface="Calibri"/>
              <a:cs typeface="Calibri"/>
              <a:sym typeface="Calibri"/>
            </a:endParaRPr>
          </a:p>
          <a:p>
            <a:pPr marL="342900" marR="0" lvl="0" indent="-342900" algn="l" rtl="0">
              <a:lnSpc>
                <a:spcPct val="128000"/>
              </a:lnSpc>
              <a:spcBef>
                <a:spcPts val="700"/>
              </a:spcBef>
              <a:spcAft>
                <a:spcPts val="0"/>
              </a:spcAft>
              <a:buClr>
                <a:srgbClr val="0F1B33"/>
              </a:buClr>
              <a:buSzPts val="1250"/>
              <a:buFont typeface="Calibri"/>
              <a:buChar char="•"/>
            </a:pPr>
            <a:r>
              <a:rPr lang="en-US" sz="1250" b="0" i="0" u="none" strike="noStrike" cap="none">
                <a:solidFill>
                  <a:srgbClr val="0F1B33"/>
                </a:solidFill>
                <a:latin typeface="Calibri"/>
                <a:ea typeface="Calibri"/>
                <a:cs typeface="Calibri"/>
                <a:sym typeface="Calibri"/>
              </a:rPr>
              <a:t>AI gagal: timeout, JSON rusak, nilai tak dikenal</a:t>
            </a:r>
            <a:endParaRPr sz="1250" b="0" i="0" u="none" strike="noStrike" cap="none">
              <a:solidFill>
                <a:schemeClr val="dk1"/>
              </a:solidFill>
              <a:latin typeface="Calibri"/>
              <a:ea typeface="Calibri"/>
              <a:cs typeface="Calibri"/>
              <a:sym typeface="Calibri"/>
            </a:endParaRPr>
          </a:p>
          <a:p>
            <a:pPr marL="342900" marR="0" lvl="0" indent="-342900" algn="l" rtl="0">
              <a:lnSpc>
                <a:spcPct val="128000"/>
              </a:lnSpc>
              <a:spcBef>
                <a:spcPts val="700"/>
              </a:spcBef>
              <a:spcAft>
                <a:spcPts val="0"/>
              </a:spcAft>
              <a:buClr>
                <a:srgbClr val="0F1B33"/>
              </a:buClr>
              <a:buSzPts val="1250"/>
              <a:buFont typeface="Calibri"/>
              <a:buChar char="•"/>
            </a:pPr>
            <a:r>
              <a:rPr lang="en-US" sz="1250" b="0" i="0" u="none" strike="noStrike" cap="none">
                <a:solidFill>
                  <a:srgbClr val="0F1B33"/>
                </a:solidFill>
                <a:latin typeface="Calibri"/>
                <a:ea typeface="Calibri"/>
                <a:cs typeface="Calibri"/>
                <a:sym typeface="Calibri"/>
              </a:rPr>
              <a:t>Tipe data berbeda: string dan number</a:t>
            </a:r>
            <a:endParaRPr sz="1250" b="0" i="0" u="none" strike="noStrike" cap="none">
              <a:solidFill>
                <a:schemeClr val="dk1"/>
              </a:solidFill>
              <a:latin typeface="Calibri"/>
              <a:ea typeface="Calibri"/>
              <a:cs typeface="Calibri"/>
              <a:sym typeface="Calibri"/>
            </a:endParaRPr>
          </a:p>
          <a:p>
            <a:pPr marL="342900" marR="0" lvl="0" indent="-342900" algn="l" rtl="0">
              <a:lnSpc>
                <a:spcPct val="128000"/>
              </a:lnSpc>
              <a:spcBef>
                <a:spcPts val="700"/>
              </a:spcBef>
              <a:spcAft>
                <a:spcPts val="0"/>
              </a:spcAft>
              <a:buClr>
                <a:srgbClr val="0F1B33"/>
              </a:buClr>
              <a:buSzPts val="1250"/>
              <a:buFont typeface="Calibri"/>
              <a:buChar char="•"/>
            </a:pPr>
            <a:r>
              <a:rPr lang="en-US" sz="1250" b="0" i="0" u="none" strike="noStrike" cap="none">
                <a:solidFill>
                  <a:srgbClr val="0F1B33"/>
                </a:solidFill>
                <a:latin typeface="Calibri"/>
                <a:ea typeface="Calibri"/>
                <a:cs typeface="Calibri"/>
                <a:sym typeface="Calibri"/>
              </a:rPr>
              <a:t>Teks sangat panjang dan label tanpa spasi</a:t>
            </a:r>
            <a:endParaRPr sz="1250" b="0" i="0" u="none" strike="noStrike" cap="none">
              <a:solidFill>
                <a:schemeClr val="dk1"/>
              </a:solidFill>
              <a:latin typeface="Calibri"/>
              <a:ea typeface="Calibri"/>
              <a:cs typeface="Calibri"/>
              <a:sym typeface="Calibri"/>
            </a:endParaRPr>
          </a:p>
          <a:p>
            <a:pPr marL="342900" marR="0" lvl="0" indent="-342900" algn="l" rtl="0">
              <a:lnSpc>
                <a:spcPct val="128000"/>
              </a:lnSpc>
              <a:spcBef>
                <a:spcPts val="700"/>
              </a:spcBef>
              <a:spcAft>
                <a:spcPts val="0"/>
              </a:spcAft>
              <a:buClr>
                <a:srgbClr val="0F1B33"/>
              </a:buClr>
              <a:buSzPts val="1250"/>
              <a:buFont typeface="Calibri"/>
              <a:buChar char="•"/>
            </a:pPr>
            <a:r>
              <a:rPr lang="en-US" sz="1250" b="0" i="0" u="none" strike="noStrike" cap="none">
                <a:solidFill>
                  <a:srgbClr val="0F1B33"/>
                </a:solidFill>
                <a:latin typeface="Calibri"/>
                <a:ea typeface="Calibri"/>
                <a:cs typeface="Calibri"/>
                <a:sym typeface="Calibri"/>
              </a:rPr>
              <a:t>Dua tab atau dua proses bersamaan</a:t>
            </a:r>
            <a:endParaRPr sz="1250" b="0" i="0" u="none" strike="noStrike" cap="none">
              <a:solidFill>
                <a:schemeClr val="dk1"/>
              </a:solidFill>
              <a:latin typeface="Calibri"/>
              <a:ea typeface="Calibri"/>
              <a:cs typeface="Calibri"/>
              <a:sym typeface="Calibri"/>
            </a:endParaRPr>
          </a:p>
          <a:p>
            <a:pPr marL="342900" marR="0" lvl="0" indent="-342900" algn="l" rtl="0">
              <a:lnSpc>
                <a:spcPct val="128000"/>
              </a:lnSpc>
              <a:spcBef>
                <a:spcPts val="700"/>
              </a:spcBef>
              <a:spcAft>
                <a:spcPts val="0"/>
              </a:spcAft>
              <a:buClr>
                <a:srgbClr val="0F1B33"/>
              </a:buClr>
              <a:buSzPts val="1250"/>
              <a:buFont typeface="Calibri"/>
              <a:buChar char="•"/>
            </a:pPr>
            <a:r>
              <a:rPr lang="en-US" sz="1250" b="0" i="0" u="none" strike="noStrike" cap="none">
                <a:solidFill>
                  <a:srgbClr val="0F1B33"/>
                </a:solidFill>
                <a:latin typeface="Calibri"/>
                <a:ea typeface="Calibri"/>
                <a:cs typeface="Calibri"/>
                <a:sym typeface="Calibri"/>
              </a:rPr>
              <a:t>Akses dari perusahaan lain</a:t>
            </a:r>
            <a:endParaRPr sz="1250" b="0" i="0" u="none" strike="noStrike" cap="non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498" name="Shape 498"/>
        <p:cNvGrpSpPr/>
        <p:nvPr/>
      </p:nvGrpSpPr>
      <p:grpSpPr>
        <a:xfrm>
          <a:off x="0" y="0"/>
          <a:ext cx="0" cy="0"/>
          <a:chOff x="0" y="0"/>
          <a:chExt cx="0" cy="0"/>
        </a:xfrm>
      </p:grpSpPr>
      <p:sp>
        <p:nvSpPr>
          <p:cNvPr id="499" name="Google Shape;499;p21"/>
          <p:cNvSpPr txBox="1"/>
          <p:nvPr/>
        </p:nvSpPr>
        <p:spPr>
          <a:xfrm>
            <a:off x="11277295" y="6419088"/>
            <a:ext cx="457200"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A94A8"/>
              </a:buClr>
              <a:buSzPts val="1000"/>
              <a:buFont typeface="Calibri"/>
              <a:buNone/>
            </a:pPr>
            <a:r>
              <a:rPr lang="en-US" sz="1000" b="0" i="0" u="none" strike="noStrike" cap="none">
                <a:solidFill>
                  <a:srgbClr val="8A94A8"/>
                </a:solidFill>
                <a:latin typeface="Calibri"/>
                <a:ea typeface="Calibri"/>
                <a:cs typeface="Calibri"/>
                <a:sym typeface="Calibri"/>
              </a:rPr>
              <a:t>19</a:t>
            </a:r>
            <a:endParaRPr sz="1000" b="0" i="0" u="none" strike="noStrike" cap="none">
              <a:solidFill>
                <a:schemeClr val="dk1"/>
              </a:solidFill>
              <a:latin typeface="Calibri"/>
              <a:ea typeface="Calibri"/>
              <a:cs typeface="Calibri"/>
              <a:sym typeface="Calibri"/>
            </a:endParaRPr>
          </a:p>
        </p:txBody>
      </p:sp>
      <p:sp>
        <p:nvSpPr>
          <p:cNvPr id="500" name="Google Shape;500;p21"/>
          <p:cNvSpPr txBox="1"/>
          <p:nvPr/>
        </p:nvSpPr>
        <p:spPr>
          <a:xfrm>
            <a:off x="594360" y="6419088"/>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A94A8"/>
              </a:buClr>
              <a:buSzPts val="1000"/>
              <a:buFont typeface="Calibri"/>
              <a:buNone/>
            </a:pPr>
            <a:r>
              <a:rPr lang="en-US" sz="1000" b="0" i="0" u="none" strike="noStrike" cap="none">
                <a:solidFill>
                  <a:srgbClr val="8A94A8"/>
                </a:solidFill>
                <a:latin typeface="Calibri"/>
                <a:ea typeface="Calibri"/>
                <a:cs typeface="Calibri"/>
                <a:sym typeface="Calibri"/>
              </a:rPr>
              <a:t>Aulia Afriza  ·  Kandidat Fullstack · Frontend depth</a:t>
            </a:r>
            <a:endParaRPr sz="1000" b="0" i="0" u="none" strike="noStrike" cap="none">
              <a:solidFill>
                <a:schemeClr val="dk1"/>
              </a:solidFill>
              <a:latin typeface="Calibri"/>
              <a:ea typeface="Calibri"/>
              <a:cs typeface="Calibri"/>
              <a:sym typeface="Calibri"/>
            </a:endParaRPr>
          </a:p>
        </p:txBody>
      </p:sp>
      <p:sp>
        <p:nvSpPr>
          <p:cNvPr id="501" name="Google Shape;501;p21"/>
          <p:cNvSpPr txBox="1"/>
          <p:nvPr/>
        </p:nvSpPr>
        <p:spPr>
          <a:xfrm>
            <a:off x="594360" y="438912"/>
            <a:ext cx="11002975"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2800"/>
              <a:buFont typeface="Calibri"/>
              <a:buNone/>
            </a:pPr>
            <a:r>
              <a:rPr lang="en-US" sz="2800" b="1" i="0" u="none" strike="noStrike" cap="none">
                <a:solidFill>
                  <a:srgbClr val="0F1B33"/>
                </a:solidFill>
                <a:latin typeface="Calibri"/>
                <a:ea typeface="Calibri"/>
                <a:cs typeface="Calibri"/>
                <a:sym typeface="Calibri"/>
              </a:rPr>
              <a:t>Desain solusinya</a:t>
            </a:r>
            <a:endParaRPr sz="2800" b="0" i="0" u="none" strike="noStrike" cap="none">
              <a:solidFill>
                <a:schemeClr val="dk1"/>
              </a:solidFill>
              <a:latin typeface="Calibri"/>
              <a:ea typeface="Calibri"/>
              <a:cs typeface="Calibri"/>
              <a:sym typeface="Calibri"/>
            </a:endParaRPr>
          </a:p>
        </p:txBody>
      </p:sp>
      <p:sp>
        <p:nvSpPr>
          <p:cNvPr id="502" name="Google Shape;502;p21"/>
          <p:cNvSpPr txBox="1"/>
          <p:nvPr/>
        </p:nvSpPr>
        <p:spPr>
          <a:xfrm>
            <a:off x="594360" y="987552"/>
            <a:ext cx="11002975"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5617A"/>
              </a:buClr>
              <a:buSzPts val="1500"/>
              <a:buFont typeface="Calibri"/>
              <a:buNone/>
            </a:pPr>
            <a:r>
              <a:rPr lang="en-US" sz="1500" b="0" i="0" u="none" strike="noStrike" cap="none">
                <a:solidFill>
                  <a:srgbClr val="55617A"/>
                </a:solidFill>
                <a:latin typeface="Calibri"/>
                <a:ea typeface="Calibri"/>
                <a:cs typeface="Calibri"/>
                <a:sym typeface="Calibri"/>
              </a:rPr>
              <a:t>Data dicek di satu tempat, sebelum sampai ke komponen.</a:t>
            </a:r>
            <a:endParaRPr sz="1500" b="0" i="0" u="none" strike="noStrike" cap="none">
              <a:solidFill>
                <a:schemeClr val="dk1"/>
              </a:solidFill>
              <a:latin typeface="Calibri"/>
              <a:ea typeface="Calibri"/>
              <a:cs typeface="Calibri"/>
              <a:sym typeface="Calibri"/>
            </a:endParaRPr>
          </a:p>
        </p:txBody>
      </p:sp>
      <p:sp>
        <p:nvSpPr>
          <p:cNvPr id="503" name="Google Shape;503;p21"/>
          <p:cNvSpPr/>
          <p:nvPr/>
        </p:nvSpPr>
        <p:spPr>
          <a:xfrm>
            <a:off x="594360" y="1645920"/>
            <a:ext cx="3108960" cy="868680"/>
          </a:xfrm>
          <a:prstGeom prst="roundRect">
            <a:avLst>
              <a:gd name="adj" fmla="val 7368"/>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4" name="Google Shape;504;p21"/>
          <p:cNvSpPr txBox="1"/>
          <p:nvPr/>
        </p:nvSpPr>
        <p:spPr>
          <a:xfrm>
            <a:off x="777240" y="1755648"/>
            <a:ext cx="274320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1350"/>
              <a:buFont typeface="Courier New" panose="02070609020205020404"/>
              <a:buNone/>
            </a:pPr>
            <a:r>
              <a:rPr lang="en-US" sz="1350" b="1" i="0" u="none" strike="noStrike" cap="none">
                <a:solidFill>
                  <a:srgbClr val="0F1B33"/>
                </a:solidFill>
                <a:latin typeface="Courier New" panose="02070609020205020404"/>
                <a:ea typeface="Courier New" panose="02070609020205020404"/>
                <a:cs typeface="Courier New" panose="02070609020205020404"/>
                <a:sym typeface="Courier New" panose="02070609020205020404"/>
              </a:rPr>
              <a:t>GET …/fitgap</a:t>
            </a:r>
            <a:endParaRPr sz="1350" b="0" i="0" u="none" strike="noStrike" cap="none">
              <a:solidFill>
                <a:schemeClr val="dk1"/>
              </a:solidFill>
              <a:latin typeface="Calibri"/>
              <a:ea typeface="Calibri"/>
              <a:cs typeface="Calibri"/>
              <a:sym typeface="Calibri"/>
            </a:endParaRPr>
          </a:p>
        </p:txBody>
      </p:sp>
      <p:sp>
        <p:nvSpPr>
          <p:cNvPr id="505" name="Google Shape;505;p21"/>
          <p:cNvSpPr txBox="1"/>
          <p:nvPr/>
        </p:nvSpPr>
        <p:spPr>
          <a:xfrm>
            <a:off x="777240" y="2103120"/>
            <a:ext cx="274320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5617A"/>
              </a:buClr>
              <a:buSzPts val="1150"/>
              <a:buFont typeface="Calibri"/>
              <a:buNone/>
            </a:pPr>
            <a:r>
              <a:rPr lang="en-US" sz="1150" b="0" i="0" u="none" strike="noStrike" cap="none">
                <a:solidFill>
                  <a:srgbClr val="55617A"/>
                </a:solidFill>
                <a:latin typeface="Calibri"/>
                <a:ea typeface="Calibri"/>
                <a:cs typeface="Calibri"/>
                <a:sym typeface="Calibri"/>
              </a:rPr>
              <a:t>Response mentah dari API</a:t>
            </a:r>
            <a:endParaRPr sz="1150" b="0" i="0" u="none" strike="noStrike" cap="none">
              <a:solidFill>
                <a:schemeClr val="dk1"/>
              </a:solidFill>
              <a:latin typeface="Calibri"/>
              <a:ea typeface="Calibri"/>
              <a:cs typeface="Calibri"/>
              <a:sym typeface="Calibri"/>
            </a:endParaRPr>
          </a:p>
        </p:txBody>
      </p:sp>
      <p:cxnSp>
        <p:nvCxnSpPr>
          <p:cNvPr id="506" name="Google Shape;506;p21"/>
          <p:cNvCxnSpPr/>
          <p:nvPr/>
        </p:nvCxnSpPr>
        <p:spPr>
          <a:xfrm>
            <a:off x="2148840" y="2532888"/>
            <a:ext cx="0" cy="329184"/>
          </a:xfrm>
          <a:prstGeom prst="straightConnector1">
            <a:avLst/>
          </a:prstGeom>
          <a:noFill/>
          <a:ln w="19050" cap="flat" cmpd="sng">
            <a:solidFill>
              <a:srgbClr val="8A94A8"/>
            </a:solidFill>
            <a:prstDash val="solid"/>
            <a:round/>
            <a:headEnd type="none" w="sm" len="sm"/>
            <a:tailEnd type="triangle" w="med" len="med"/>
          </a:ln>
        </p:spPr>
      </p:cxnSp>
      <p:sp>
        <p:nvSpPr>
          <p:cNvPr id="507" name="Google Shape;507;p21"/>
          <p:cNvSpPr/>
          <p:nvPr/>
        </p:nvSpPr>
        <p:spPr>
          <a:xfrm>
            <a:off x="594360" y="2880360"/>
            <a:ext cx="3108960" cy="868680"/>
          </a:xfrm>
          <a:prstGeom prst="roundRect">
            <a:avLst>
              <a:gd name="adj" fmla="val 7368"/>
            </a:avLst>
          </a:prstGeom>
          <a:solidFill>
            <a:srgbClr val="E7F1FF"/>
          </a:solidFill>
          <a:ln w="9525" cap="flat" cmpd="sng">
            <a:solidFill>
              <a:srgbClr val="1C6F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8" name="Google Shape;508;p21"/>
          <p:cNvSpPr txBox="1"/>
          <p:nvPr/>
        </p:nvSpPr>
        <p:spPr>
          <a:xfrm>
            <a:off x="777240" y="2990088"/>
            <a:ext cx="274320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1350"/>
              <a:buFont typeface="Courier New" panose="02070609020205020404"/>
              <a:buNone/>
            </a:pPr>
            <a:r>
              <a:rPr lang="en-US" sz="1350" b="1" i="0" u="none" strike="noStrike" cap="none">
                <a:solidFill>
                  <a:srgbClr val="0F1B33"/>
                </a:solidFill>
                <a:latin typeface="Courier New" panose="02070609020205020404"/>
                <a:ea typeface="Courier New" panose="02070609020205020404"/>
                <a:cs typeface="Courier New" panose="02070609020205020404"/>
                <a:sym typeface="Courier New" panose="02070609020205020404"/>
              </a:rPr>
              <a:t>parseContract()</a:t>
            </a:r>
            <a:endParaRPr sz="1350" b="0" i="0" u="none" strike="noStrike" cap="none">
              <a:solidFill>
                <a:schemeClr val="dk1"/>
              </a:solidFill>
              <a:latin typeface="Calibri"/>
              <a:ea typeface="Calibri"/>
              <a:cs typeface="Calibri"/>
              <a:sym typeface="Calibri"/>
            </a:endParaRPr>
          </a:p>
        </p:txBody>
      </p:sp>
      <p:sp>
        <p:nvSpPr>
          <p:cNvPr id="509" name="Google Shape;509;p21"/>
          <p:cNvSpPr txBox="1"/>
          <p:nvPr/>
        </p:nvSpPr>
        <p:spPr>
          <a:xfrm>
            <a:off x="777240" y="3337560"/>
            <a:ext cx="274320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5617A"/>
              </a:buClr>
              <a:buSzPts val="1150"/>
              <a:buFont typeface="Calibri"/>
              <a:buNone/>
            </a:pPr>
            <a:r>
              <a:rPr lang="en-US" sz="1150" b="0" i="0" u="none" strike="noStrike" cap="none">
                <a:solidFill>
                  <a:srgbClr val="55617A"/>
                </a:solidFill>
                <a:latin typeface="Calibri"/>
                <a:ea typeface="Calibri"/>
                <a:cs typeface="Calibri"/>
                <a:sym typeface="Calibri"/>
              </a:rPr>
              <a:t>Zod schema di services/schemas.ts</a:t>
            </a:r>
            <a:endParaRPr sz="1150" b="0" i="0" u="none" strike="noStrike" cap="none">
              <a:solidFill>
                <a:schemeClr val="dk1"/>
              </a:solidFill>
              <a:latin typeface="Calibri"/>
              <a:ea typeface="Calibri"/>
              <a:cs typeface="Calibri"/>
              <a:sym typeface="Calibri"/>
            </a:endParaRPr>
          </a:p>
        </p:txBody>
      </p:sp>
      <p:cxnSp>
        <p:nvCxnSpPr>
          <p:cNvPr id="510" name="Google Shape;510;p21"/>
          <p:cNvCxnSpPr/>
          <p:nvPr/>
        </p:nvCxnSpPr>
        <p:spPr>
          <a:xfrm>
            <a:off x="1417320" y="3767328"/>
            <a:ext cx="0" cy="365760"/>
          </a:xfrm>
          <a:prstGeom prst="straightConnector1">
            <a:avLst/>
          </a:prstGeom>
          <a:noFill/>
          <a:ln w="19050" cap="flat" cmpd="sng">
            <a:solidFill>
              <a:srgbClr val="1C6FF3"/>
            </a:solidFill>
            <a:prstDash val="solid"/>
            <a:round/>
            <a:headEnd type="none" w="sm" len="sm"/>
            <a:tailEnd type="triangle" w="med" len="med"/>
          </a:ln>
        </p:spPr>
      </p:cxnSp>
      <p:cxnSp>
        <p:nvCxnSpPr>
          <p:cNvPr id="511" name="Google Shape;511;p21"/>
          <p:cNvCxnSpPr/>
          <p:nvPr/>
        </p:nvCxnSpPr>
        <p:spPr>
          <a:xfrm>
            <a:off x="2880360" y="3767328"/>
            <a:ext cx="0" cy="365760"/>
          </a:xfrm>
          <a:prstGeom prst="straightConnector1">
            <a:avLst/>
          </a:prstGeom>
          <a:noFill/>
          <a:ln w="19050" cap="flat" cmpd="sng">
            <a:solidFill>
              <a:srgbClr val="D14343"/>
            </a:solidFill>
            <a:prstDash val="solid"/>
            <a:round/>
            <a:headEnd type="none" w="sm" len="sm"/>
            <a:tailEnd type="triangle" w="med" len="med"/>
          </a:ln>
        </p:spPr>
      </p:cxnSp>
      <p:sp>
        <p:nvSpPr>
          <p:cNvPr id="512" name="Google Shape;512;p21"/>
          <p:cNvSpPr/>
          <p:nvPr/>
        </p:nvSpPr>
        <p:spPr>
          <a:xfrm>
            <a:off x="548640" y="4169664"/>
            <a:ext cx="1691640" cy="1280160"/>
          </a:xfrm>
          <a:prstGeom prst="roundRect">
            <a:avLst>
              <a:gd name="adj" fmla="val 5000"/>
            </a:avLst>
          </a:prstGeom>
          <a:solidFill>
            <a:srgbClr val="E7F1FF"/>
          </a:solidFill>
          <a:ln w="9525" cap="flat" cmpd="sng">
            <a:solidFill>
              <a:srgbClr val="1C6F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3" name="Google Shape;513;p21"/>
          <p:cNvSpPr txBox="1"/>
          <p:nvPr/>
        </p:nvSpPr>
        <p:spPr>
          <a:xfrm>
            <a:off x="685800" y="4261104"/>
            <a:ext cx="146304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C2E6B"/>
              </a:buClr>
              <a:buSzPts val="1250"/>
              <a:buFont typeface="Calibri"/>
              <a:buNone/>
            </a:pPr>
            <a:r>
              <a:rPr lang="en-US" sz="1250" b="1" i="0" u="none" strike="noStrike" cap="none">
                <a:solidFill>
                  <a:srgbClr val="0C2E6B"/>
                </a:solidFill>
                <a:latin typeface="Calibri"/>
                <a:ea typeface="Calibri"/>
                <a:cs typeface="Calibri"/>
                <a:sym typeface="Calibri"/>
              </a:rPr>
              <a:t>Valid</a:t>
            </a:r>
            <a:endParaRPr sz="1250" b="0" i="0" u="none" strike="noStrike" cap="none">
              <a:solidFill>
                <a:schemeClr val="dk1"/>
              </a:solidFill>
              <a:latin typeface="Calibri"/>
              <a:ea typeface="Calibri"/>
              <a:cs typeface="Calibri"/>
              <a:sym typeface="Calibri"/>
            </a:endParaRPr>
          </a:p>
        </p:txBody>
      </p:sp>
      <p:sp>
        <p:nvSpPr>
          <p:cNvPr id="514" name="Google Shape;514;p21"/>
          <p:cNvSpPr txBox="1"/>
          <p:nvPr/>
        </p:nvSpPr>
        <p:spPr>
          <a:xfrm>
            <a:off x="685800" y="4535424"/>
            <a:ext cx="1463040" cy="822960"/>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F1B33"/>
              </a:buClr>
              <a:buSzPts val="1150"/>
              <a:buFont typeface="Calibri"/>
              <a:buNone/>
            </a:pPr>
            <a:r>
              <a:rPr lang="en-US" sz="1150" b="0" i="0" u="none" strike="noStrike" cap="none">
                <a:solidFill>
                  <a:srgbClr val="0F1B33"/>
                </a:solidFill>
                <a:latin typeface="Calibri"/>
                <a:ea typeface="Calibri"/>
                <a:cs typeface="Calibri"/>
                <a:sym typeface="Calibri"/>
              </a:rPr>
              <a:t>Tampilkan setiap baris lengkap</a:t>
            </a:r>
            <a:endParaRPr sz="1150" b="0" i="0" u="none" strike="noStrike" cap="none">
              <a:solidFill>
                <a:schemeClr val="dk1"/>
              </a:solidFill>
              <a:latin typeface="Calibri"/>
              <a:ea typeface="Calibri"/>
              <a:cs typeface="Calibri"/>
              <a:sym typeface="Calibri"/>
            </a:endParaRPr>
          </a:p>
        </p:txBody>
      </p:sp>
      <p:sp>
        <p:nvSpPr>
          <p:cNvPr id="515" name="Google Shape;515;p21"/>
          <p:cNvSpPr/>
          <p:nvPr/>
        </p:nvSpPr>
        <p:spPr>
          <a:xfrm>
            <a:off x="2377440" y="4169664"/>
            <a:ext cx="1371600" cy="1280160"/>
          </a:xfrm>
          <a:prstGeom prst="roundRect">
            <a:avLst>
              <a:gd name="adj" fmla="val 5000"/>
            </a:avLst>
          </a:prstGeom>
          <a:solidFill>
            <a:srgbClr val="FDECEC"/>
          </a:solidFill>
          <a:ln w="9525" cap="flat" cmpd="sng">
            <a:solidFill>
              <a:srgbClr val="D1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6" name="Google Shape;516;p21"/>
          <p:cNvSpPr txBox="1"/>
          <p:nvPr/>
        </p:nvSpPr>
        <p:spPr>
          <a:xfrm>
            <a:off x="2496312" y="4261104"/>
            <a:ext cx="118872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D14343"/>
              </a:buClr>
              <a:buSzPts val="1250"/>
              <a:buFont typeface="Calibri"/>
              <a:buNone/>
            </a:pPr>
            <a:r>
              <a:rPr lang="en-US" sz="1250" b="1" i="0" u="none" strike="noStrike" cap="none">
                <a:solidFill>
                  <a:srgbClr val="D14343"/>
                </a:solidFill>
                <a:latin typeface="Calibri"/>
                <a:ea typeface="Calibri"/>
                <a:cs typeface="Calibri"/>
                <a:sym typeface="Calibri"/>
              </a:rPr>
              <a:t>Tidak valid</a:t>
            </a:r>
            <a:endParaRPr sz="1250" b="0" i="0" u="none" strike="noStrike" cap="none">
              <a:solidFill>
                <a:schemeClr val="dk1"/>
              </a:solidFill>
              <a:latin typeface="Calibri"/>
              <a:ea typeface="Calibri"/>
              <a:cs typeface="Calibri"/>
              <a:sym typeface="Calibri"/>
            </a:endParaRPr>
          </a:p>
        </p:txBody>
      </p:sp>
      <p:sp>
        <p:nvSpPr>
          <p:cNvPr id="517" name="Google Shape;517;p21"/>
          <p:cNvSpPr txBox="1"/>
          <p:nvPr/>
        </p:nvSpPr>
        <p:spPr>
          <a:xfrm>
            <a:off x="2496312" y="4535424"/>
            <a:ext cx="1188720" cy="868680"/>
          </a:xfrm>
          <a:prstGeom prst="rect">
            <a:avLst/>
          </a:prstGeom>
          <a:noFill/>
          <a:ln>
            <a:noFill/>
          </a:ln>
        </p:spPr>
        <p:txBody>
          <a:bodyPr spcFirstLastPara="1" wrap="square" lIns="0" tIns="0" rIns="0" bIns="0" anchor="t" anchorCtr="0">
            <a:noAutofit/>
          </a:bodyPr>
          <a:lstStyle/>
          <a:p>
            <a:pPr marL="0" marR="0" lvl="0" indent="0" algn="l" rtl="0">
              <a:lnSpc>
                <a:spcPct val="124000"/>
              </a:lnSpc>
              <a:spcBef>
                <a:spcPts val="0"/>
              </a:spcBef>
              <a:spcAft>
                <a:spcPts val="0"/>
              </a:spcAft>
              <a:buClr>
                <a:srgbClr val="0F1B33"/>
              </a:buClr>
              <a:buSzPts val="1050"/>
              <a:buFont typeface="Calibri"/>
              <a:buNone/>
            </a:pPr>
            <a:r>
              <a:rPr lang="en-US" sz="1050" b="0" i="0" u="none" strike="noStrike" cap="none">
                <a:solidFill>
                  <a:srgbClr val="0F1B33"/>
                </a:solidFill>
                <a:latin typeface="Calibri"/>
                <a:ea typeface="Calibri"/>
                <a:cs typeface="Calibri"/>
                <a:sym typeface="Calibri"/>
              </a:rPr>
              <a:t>Tampilkan “data laporan tidak lengkap” dan catat field-nya</a:t>
            </a:r>
            <a:endParaRPr sz="1050" b="0" i="0" u="none" strike="noStrike" cap="none">
              <a:solidFill>
                <a:schemeClr val="dk1"/>
              </a:solidFill>
              <a:latin typeface="Calibri"/>
              <a:ea typeface="Calibri"/>
              <a:cs typeface="Calibri"/>
              <a:sym typeface="Calibri"/>
            </a:endParaRPr>
          </a:p>
        </p:txBody>
      </p:sp>
      <p:sp>
        <p:nvSpPr>
          <p:cNvPr id="518" name="Google Shape;518;p21"/>
          <p:cNvSpPr txBox="1"/>
          <p:nvPr/>
        </p:nvSpPr>
        <p:spPr>
          <a:xfrm>
            <a:off x="4206240" y="1645920"/>
            <a:ext cx="388620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1450"/>
              <a:buFont typeface="Calibri"/>
              <a:buNone/>
            </a:pPr>
            <a:r>
              <a:rPr lang="en-US" sz="1450" b="1" i="0" u="none" strike="noStrike" cap="none">
                <a:solidFill>
                  <a:srgbClr val="0F1B33"/>
                </a:solidFill>
                <a:latin typeface="Calibri"/>
                <a:ea typeface="Calibri"/>
                <a:cs typeface="Calibri"/>
                <a:sym typeface="Calibri"/>
              </a:rPr>
              <a:t>Data yang sekarang dikirim backend</a:t>
            </a:r>
            <a:endParaRPr sz="1450" b="0" i="0" u="none" strike="noStrike" cap="none">
              <a:solidFill>
                <a:schemeClr val="dk1"/>
              </a:solidFill>
              <a:latin typeface="Calibri"/>
              <a:ea typeface="Calibri"/>
              <a:cs typeface="Calibri"/>
              <a:sym typeface="Calibri"/>
            </a:endParaRPr>
          </a:p>
        </p:txBody>
      </p:sp>
      <p:sp>
        <p:nvSpPr>
          <p:cNvPr id="519" name="Google Shape;519;p21"/>
          <p:cNvSpPr/>
          <p:nvPr/>
        </p:nvSpPr>
        <p:spPr>
          <a:xfrm>
            <a:off x="4206240" y="2011680"/>
            <a:ext cx="3886200" cy="3474720"/>
          </a:xfrm>
          <a:prstGeom prst="roundRect">
            <a:avLst>
              <a:gd name="adj" fmla="val 1842"/>
            </a:avLst>
          </a:prstGeom>
          <a:solidFill>
            <a:srgbClr val="0E1E3A"/>
          </a:solidFill>
          <a:ln w="12700" cap="flat" cmpd="sng">
            <a:solidFill>
              <a:srgbClr val="0E1E3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0" name="Google Shape;520;p21"/>
          <p:cNvSpPr txBox="1"/>
          <p:nvPr/>
        </p:nvSpPr>
        <p:spPr>
          <a:xfrm>
            <a:off x="4480560" y="2194560"/>
            <a:ext cx="3429000" cy="3154680"/>
          </a:xfrm>
          <a:prstGeom prst="rect">
            <a:avLst/>
          </a:prstGeom>
          <a:noFill/>
          <a:ln>
            <a:noFill/>
          </a:ln>
        </p:spPr>
        <p:txBody>
          <a:bodyPr spcFirstLastPara="1" wrap="square" lIns="0" tIns="0" rIns="0" bIns="0" anchor="t" anchorCtr="0">
            <a:noAutofit/>
          </a:bodyPr>
          <a:lstStyle/>
          <a:p>
            <a:pPr marL="0" marR="0" lvl="0" indent="0" algn="l" rtl="0">
              <a:lnSpc>
                <a:spcPct val="165000"/>
              </a:lnSpc>
              <a:spcBef>
                <a:spcPts val="0"/>
              </a:spcBef>
              <a:spcAft>
                <a:spcPts val="0"/>
              </a:spcAft>
              <a:buClr>
                <a:srgbClr val="E7F1FF"/>
              </a:buClr>
              <a:buSzPts val="1150"/>
              <a:buFont typeface="Courier New" panose="02070609020205020404"/>
              <a:buNone/>
            </a:pPr>
            <a:r>
              <a:rPr lang="en-US" sz="1150" b="0" i="0" u="none" strike="noStrike" cap="none">
                <a:solidFill>
                  <a:srgbClr val="E7F1FF"/>
                </a:solidFill>
                <a:latin typeface="Courier New" panose="02070609020205020404"/>
                <a:ea typeface="Courier New" panose="02070609020205020404"/>
                <a:cs typeface="Courier New" panose="02070609020205020404"/>
                <a:sym typeface="Courier New" panose="02070609020205020404"/>
              </a:rPr>
              <a:t>required_level</a:t>
            </a:r>
            <a:r>
              <a:rPr lang="en-US" sz="1150" b="0" i="0" u="none" strike="noStrike" cap="none">
                <a:solidFill>
                  <a:srgbClr val="8FA2C4"/>
                </a:solidFill>
                <a:latin typeface="Courier New" panose="02070609020205020404"/>
                <a:ea typeface="Courier New" panose="02070609020205020404"/>
                <a:cs typeface="Courier New" panose="02070609020205020404"/>
                <a:sym typeface="Courier New" panose="02070609020205020404"/>
              </a:rPr>
              <a:t>   + alias expected_level</a:t>
            </a:r>
            <a:endParaRPr sz="1150" b="0" i="0" u="none" strike="noStrike" cap="none">
              <a:solidFill>
                <a:schemeClr val="dk1"/>
              </a:solidFill>
              <a:latin typeface="Calibri"/>
              <a:ea typeface="Calibri"/>
              <a:cs typeface="Calibri"/>
              <a:sym typeface="Calibri"/>
            </a:endParaRPr>
          </a:p>
          <a:p>
            <a:pPr marL="0" marR="0" lvl="0" indent="0" algn="l" rtl="0">
              <a:lnSpc>
                <a:spcPct val="165000"/>
              </a:lnSpc>
              <a:spcBef>
                <a:spcPts val="0"/>
              </a:spcBef>
              <a:spcAft>
                <a:spcPts val="0"/>
              </a:spcAft>
              <a:buClr>
                <a:srgbClr val="E7F1FF"/>
              </a:buClr>
              <a:buSzPts val="1150"/>
              <a:buFont typeface="Courier New" panose="02070609020205020404"/>
              <a:buNone/>
            </a:pPr>
            <a:r>
              <a:rPr lang="en-US" sz="1150" b="0" i="0" u="none" strike="noStrike" cap="none">
                <a:solidFill>
                  <a:srgbClr val="E7F1FF"/>
                </a:solidFill>
                <a:latin typeface="Courier New" panose="02070609020205020404"/>
                <a:ea typeface="Courier New" panose="02070609020205020404"/>
                <a:cs typeface="Courier New" panose="02070609020205020404"/>
                <a:sym typeface="Courier New" panose="02070609020205020404"/>
              </a:rPr>
              <a:t>ai_level</a:t>
            </a:r>
            <a:endParaRPr sz="1150" b="0" i="0" u="none" strike="noStrike" cap="none">
              <a:solidFill>
                <a:schemeClr val="dk1"/>
              </a:solidFill>
              <a:latin typeface="Calibri"/>
              <a:ea typeface="Calibri"/>
              <a:cs typeface="Calibri"/>
              <a:sym typeface="Calibri"/>
            </a:endParaRPr>
          </a:p>
          <a:p>
            <a:pPr marL="0" marR="0" lvl="0" indent="0" algn="l" rtl="0">
              <a:lnSpc>
                <a:spcPct val="165000"/>
              </a:lnSpc>
              <a:spcBef>
                <a:spcPts val="0"/>
              </a:spcBef>
              <a:spcAft>
                <a:spcPts val="0"/>
              </a:spcAft>
              <a:buClr>
                <a:srgbClr val="E7F1FF"/>
              </a:buClr>
              <a:buSzPts val="1150"/>
              <a:buFont typeface="Courier New" panose="02070609020205020404"/>
              <a:buNone/>
            </a:pPr>
            <a:r>
              <a:rPr lang="en-US" sz="1150" b="0" i="0" u="none" strike="noStrike" cap="none">
                <a:solidFill>
                  <a:srgbClr val="E7F1FF"/>
                </a:solidFill>
                <a:latin typeface="Courier New" panose="02070609020205020404"/>
                <a:ea typeface="Courier New" panose="02070609020205020404"/>
                <a:cs typeface="Courier New" panose="02070609020205020404"/>
                <a:sym typeface="Courier New" panose="02070609020205020404"/>
              </a:rPr>
              <a:t>is_override</a:t>
            </a:r>
            <a:endParaRPr sz="1150" b="0" i="0" u="none" strike="noStrike" cap="none">
              <a:solidFill>
                <a:schemeClr val="dk1"/>
              </a:solidFill>
              <a:latin typeface="Calibri"/>
              <a:ea typeface="Calibri"/>
              <a:cs typeface="Calibri"/>
              <a:sym typeface="Calibri"/>
            </a:endParaRPr>
          </a:p>
          <a:p>
            <a:pPr marL="0" marR="0" lvl="0" indent="0" algn="l" rtl="0">
              <a:lnSpc>
                <a:spcPct val="165000"/>
              </a:lnSpc>
              <a:spcBef>
                <a:spcPts val="0"/>
              </a:spcBef>
              <a:spcAft>
                <a:spcPts val="0"/>
              </a:spcAft>
              <a:buClr>
                <a:srgbClr val="E7F1FF"/>
              </a:buClr>
              <a:buSzPts val="1150"/>
              <a:buFont typeface="Courier New" panose="02070609020205020404"/>
              <a:buNone/>
            </a:pPr>
            <a:r>
              <a:rPr lang="en-US" sz="1150" b="0" i="0" u="none" strike="noStrike" cap="none">
                <a:solidFill>
                  <a:srgbClr val="E7F1FF"/>
                </a:solidFill>
                <a:latin typeface="Courier New" panose="02070609020205020404"/>
                <a:ea typeface="Courier New" panose="02070609020205020404"/>
                <a:cs typeface="Courier New" panose="02070609020205020404"/>
                <a:sym typeface="Courier New" panose="02070609020205020404"/>
              </a:rPr>
              <a:t>overridden_by_email</a:t>
            </a:r>
            <a:endParaRPr sz="1150" b="0" i="0" u="none" strike="noStrike" cap="none">
              <a:solidFill>
                <a:schemeClr val="dk1"/>
              </a:solidFill>
              <a:latin typeface="Calibri"/>
              <a:ea typeface="Calibri"/>
              <a:cs typeface="Calibri"/>
              <a:sym typeface="Calibri"/>
            </a:endParaRPr>
          </a:p>
          <a:p>
            <a:pPr marL="0" marR="0" lvl="0" indent="0" algn="l" rtl="0">
              <a:lnSpc>
                <a:spcPct val="165000"/>
              </a:lnSpc>
              <a:spcBef>
                <a:spcPts val="0"/>
              </a:spcBef>
              <a:spcAft>
                <a:spcPts val="0"/>
              </a:spcAft>
              <a:buClr>
                <a:srgbClr val="E7F1FF"/>
              </a:buClr>
              <a:buSzPts val="1150"/>
              <a:buFont typeface="Courier New" panose="02070609020205020404"/>
              <a:buNone/>
            </a:pPr>
            <a:r>
              <a:rPr lang="en-US" sz="1150" b="0" i="0" u="none" strike="noStrike" cap="none">
                <a:solidFill>
                  <a:srgbClr val="E7F1FF"/>
                </a:solidFill>
                <a:latin typeface="Courier New" panose="02070609020205020404"/>
                <a:ea typeface="Courier New" panose="02070609020205020404"/>
                <a:cs typeface="Courier New" panose="02070609020205020404"/>
                <a:sym typeface="Courier New" panose="02070609020205020404"/>
              </a:rPr>
              <a:t>overridden_at</a:t>
            </a:r>
            <a:endParaRPr sz="1150" b="0" i="0" u="none" strike="noStrike" cap="none">
              <a:solidFill>
                <a:schemeClr val="dk1"/>
              </a:solidFill>
              <a:latin typeface="Calibri"/>
              <a:ea typeface="Calibri"/>
              <a:cs typeface="Calibri"/>
              <a:sym typeface="Calibri"/>
            </a:endParaRPr>
          </a:p>
          <a:p>
            <a:pPr marL="0" marR="0" lvl="0" indent="0" algn="l" rtl="0">
              <a:lnSpc>
                <a:spcPct val="165000"/>
              </a:lnSpc>
              <a:spcBef>
                <a:spcPts val="0"/>
              </a:spcBef>
              <a:spcAft>
                <a:spcPts val="0"/>
              </a:spcAft>
              <a:buClr>
                <a:srgbClr val="E7F1FF"/>
              </a:buClr>
              <a:buSzPts val="1150"/>
              <a:buFont typeface="Courier New" panose="02070609020205020404"/>
              <a:buNone/>
            </a:pPr>
            <a:r>
              <a:rPr lang="en-US" sz="1150" b="0" i="0" u="none" strike="noStrike" cap="none">
                <a:solidFill>
                  <a:srgbClr val="E7F1FF"/>
                </a:solidFill>
                <a:latin typeface="Courier New" panose="02070609020205020404"/>
                <a:ea typeface="Courier New" panose="02070609020205020404"/>
                <a:cs typeface="Courier New" panose="02070609020205020404"/>
                <a:sym typeface="Courier New" panose="02070609020205020404"/>
              </a:rPr>
              <a:t>confidence</a:t>
            </a:r>
            <a:r>
              <a:rPr lang="en-US" sz="1150" b="0" i="0" u="none" strike="noStrike" cap="none">
                <a:solidFill>
                  <a:srgbClr val="8FA2C4"/>
                </a:solidFill>
                <a:latin typeface="Courier New" panose="02070609020205020404"/>
                <a:ea typeface="Courier New" panose="02070609020205020404"/>
                <a:cs typeface="Courier New" panose="02070609020205020404"/>
                <a:sym typeface="Courier New" panose="02070609020205020404"/>
              </a:rPr>
              <a:t>   nullable = belum terukur</a:t>
            </a:r>
            <a:endParaRPr sz="1150" b="0" i="0" u="none" strike="noStrike" cap="none">
              <a:solidFill>
                <a:schemeClr val="dk1"/>
              </a:solidFill>
              <a:latin typeface="Calibri"/>
              <a:ea typeface="Calibri"/>
              <a:cs typeface="Calibri"/>
              <a:sym typeface="Calibri"/>
            </a:endParaRPr>
          </a:p>
          <a:p>
            <a:pPr marL="0" marR="0" lvl="0" indent="0" algn="l" rtl="0">
              <a:lnSpc>
                <a:spcPct val="165000"/>
              </a:lnSpc>
              <a:spcBef>
                <a:spcPts val="0"/>
              </a:spcBef>
              <a:spcAft>
                <a:spcPts val="0"/>
              </a:spcAft>
              <a:buClr>
                <a:srgbClr val="E7F1FF"/>
              </a:buClr>
              <a:buSzPts val="1150"/>
              <a:buFont typeface="Courier New" panose="02070609020205020404"/>
              <a:buNone/>
            </a:pPr>
            <a:r>
              <a:rPr lang="en-US" sz="1150" b="0" i="0" u="none" strike="noStrike" cap="none">
                <a:solidFill>
                  <a:srgbClr val="E7F1FF"/>
                </a:solidFill>
                <a:latin typeface="Courier New" panose="02070609020205020404"/>
                <a:ea typeface="Courier New" panose="02070609020205020404"/>
                <a:cs typeface="Courier New" panose="02070609020205020404"/>
                <a:sym typeface="Courier New" panose="02070609020205020404"/>
              </a:rPr>
              <a:t>probe_count</a:t>
            </a:r>
            <a:endParaRPr sz="1150" b="0" i="0" u="none" strike="noStrike" cap="none">
              <a:solidFill>
                <a:schemeClr val="dk1"/>
              </a:solidFill>
              <a:latin typeface="Calibri"/>
              <a:ea typeface="Calibri"/>
              <a:cs typeface="Calibri"/>
              <a:sym typeface="Calibri"/>
            </a:endParaRPr>
          </a:p>
          <a:p>
            <a:pPr marL="0" marR="0" lvl="0" indent="0" algn="l" rtl="0">
              <a:lnSpc>
                <a:spcPct val="165000"/>
              </a:lnSpc>
              <a:spcBef>
                <a:spcPts val="0"/>
              </a:spcBef>
              <a:spcAft>
                <a:spcPts val="0"/>
              </a:spcAft>
              <a:buClr>
                <a:srgbClr val="E7F1FF"/>
              </a:buClr>
              <a:buSzPts val="1150"/>
              <a:buFont typeface="Courier New" panose="02070609020205020404"/>
              <a:buNone/>
            </a:pPr>
            <a:r>
              <a:rPr lang="en-US" sz="1150" b="0" i="0" u="none" strike="noStrike" cap="none">
                <a:solidFill>
                  <a:srgbClr val="E7F1FF"/>
                </a:solidFill>
                <a:latin typeface="Courier New" panose="02070609020205020404"/>
                <a:ea typeface="Courier New" panose="02070609020205020404"/>
                <a:cs typeface="Courier New" panose="02070609020205020404"/>
                <a:sym typeface="Courier New" panose="02070609020205020404"/>
              </a:rPr>
              <a:t>evidence_turn_ids</a:t>
            </a:r>
            <a:r>
              <a:rPr lang="en-US" sz="1150" b="0" i="0" u="none" strike="noStrike" cap="none">
                <a:solidFill>
                  <a:srgbClr val="8FA2C4"/>
                </a:solidFill>
                <a:latin typeface="Courier New" panose="02070609020205020404"/>
                <a:ea typeface="Courier New" panose="02070609020205020404"/>
                <a:cs typeface="Courier New" panose="02070609020205020404"/>
                <a:sym typeface="Courier New" panose="02070609020205020404"/>
              </a:rPr>
              <a:t>   → turn</a:t>
            </a:r>
            <a:endParaRPr sz="1150" b="0" i="0" u="none" strike="noStrike" cap="none">
              <a:solidFill>
                <a:schemeClr val="dk1"/>
              </a:solidFill>
              <a:latin typeface="Calibri"/>
              <a:ea typeface="Calibri"/>
              <a:cs typeface="Calibri"/>
              <a:sym typeface="Calibri"/>
            </a:endParaRPr>
          </a:p>
          <a:p>
            <a:pPr marL="0" marR="0" lvl="0" indent="0" algn="l" rtl="0">
              <a:lnSpc>
                <a:spcPct val="165000"/>
              </a:lnSpc>
              <a:spcBef>
                <a:spcPts val="0"/>
              </a:spcBef>
              <a:spcAft>
                <a:spcPts val="0"/>
              </a:spcAft>
              <a:buClr>
                <a:srgbClr val="E7F1FF"/>
              </a:buClr>
              <a:buSzPts val="1150"/>
              <a:buFont typeface="Courier New" panose="02070609020205020404"/>
              <a:buNone/>
            </a:pPr>
            <a:r>
              <a:rPr lang="en-US" sz="1150" b="0" i="0" u="none" strike="noStrike" cap="none">
                <a:solidFill>
                  <a:srgbClr val="E7F1FF"/>
                </a:solidFill>
                <a:latin typeface="Courier New" panose="02070609020205020404"/>
                <a:ea typeface="Courier New" panose="02070609020205020404"/>
                <a:cs typeface="Courier New" panose="02070609020205020404"/>
                <a:sym typeface="Courier New" panose="02070609020205020404"/>
              </a:rPr>
              <a:t>narrative_is_fallback</a:t>
            </a:r>
            <a:endParaRPr sz="1150" b="0" i="0" u="none" strike="noStrike" cap="none">
              <a:solidFill>
                <a:schemeClr val="dk1"/>
              </a:solidFill>
              <a:latin typeface="Calibri"/>
              <a:ea typeface="Calibri"/>
              <a:cs typeface="Calibri"/>
              <a:sym typeface="Calibri"/>
            </a:endParaRPr>
          </a:p>
        </p:txBody>
      </p:sp>
      <p:sp>
        <p:nvSpPr>
          <p:cNvPr id="521" name="Google Shape;521;p21"/>
          <p:cNvSpPr txBox="1"/>
          <p:nvPr/>
        </p:nvSpPr>
        <p:spPr>
          <a:xfrm>
            <a:off x="8412480" y="1645920"/>
            <a:ext cx="3184855"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1450"/>
              <a:buFont typeface="Calibri"/>
              <a:buNone/>
            </a:pPr>
            <a:r>
              <a:rPr lang="en-US" sz="1450" b="1" i="0" u="none" strike="noStrike" cap="none">
                <a:solidFill>
                  <a:srgbClr val="0F1B33"/>
                </a:solidFill>
                <a:latin typeface="Calibri"/>
                <a:ea typeface="Calibri"/>
                <a:cs typeface="Calibri"/>
                <a:sym typeface="Calibri"/>
              </a:rPr>
              <a:t>Yang saya perhatikan</a:t>
            </a:r>
            <a:endParaRPr sz="1450" b="0" i="0" u="none" strike="noStrike" cap="none">
              <a:solidFill>
                <a:schemeClr val="dk1"/>
              </a:solidFill>
              <a:latin typeface="Calibri"/>
              <a:ea typeface="Calibri"/>
              <a:cs typeface="Calibri"/>
              <a:sym typeface="Calibri"/>
            </a:endParaRPr>
          </a:p>
        </p:txBody>
      </p:sp>
      <p:sp>
        <p:nvSpPr>
          <p:cNvPr id="522" name="Google Shape;522;p21"/>
          <p:cNvSpPr txBox="1"/>
          <p:nvPr/>
        </p:nvSpPr>
        <p:spPr>
          <a:xfrm>
            <a:off x="8412480" y="2057400"/>
            <a:ext cx="3184855" cy="3474720"/>
          </a:xfrm>
          <a:prstGeom prst="rect">
            <a:avLst/>
          </a:prstGeom>
          <a:noFill/>
          <a:ln>
            <a:noFill/>
          </a:ln>
        </p:spPr>
        <p:txBody>
          <a:bodyPr spcFirstLastPara="1" wrap="square" lIns="0" tIns="0" rIns="0" bIns="0" anchor="t" anchorCtr="0">
            <a:noAutofit/>
          </a:bodyPr>
          <a:lstStyle/>
          <a:p>
            <a:pPr marL="342900" marR="0" lvl="0" indent="-342900" algn="l" rtl="0">
              <a:lnSpc>
                <a:spcPct val="136000"/>
              </a:lnSpc>
              <a:spcBef>
                <a:spcPts val="0"/>
              </a:spcBef>
              <a:spcAft>
                <a:spcPts val="0"/>
              </a:spcAft>
              <a:buClr>
                <a:srgbClr val="0F1B33"/>
              </a:buClr>
              <a:buSzPts val="1250"/>
              <a:buFont typeface="Calibri"/>
              <a:buChar char="•"/>
            </a:pPr>
            <a:r>
              <a:rPr lang="en-US" sz="1250" b="0" i="0" u="none" strike="noStrike" cap="none">
                <a:solidFill>
                  <a:srgbClr val="0F1B33"/>
                </a:solidFill>
                <a:latin typeface="Calibri"/>
                <a:ea typeface="Calibri"/>
                <a:cs typeface="Calibri"/>
                <a:sym typeface="Calibri"/>
              </a:rPr>
              <a:t>Schema menerima required_level atau expected_level, dan menolak baris yang tidak punya keduanya.</a:t>
            </a:r>
            <a:endParaRPr sz="1250" b="0" i="0" u="none" strike="noStrike" cap="none">
              <a:solidFill>
                <a:schemeClr val="dk1"/>
              </a:solidFill>
              <a:latin typeface="Calibri"/>
              <a:ea typeface="Calibri"/>
              <a:cs typeface="Calibri"/>
              <a:sym typeface="Calibri"/>
            </a:endParaRPr>
          </a:p>
          <a:p>
            <a:pPr marL="342900" marR="0" lvl="0" indent="-342900" algn="l" rtl="0">
              <a:lnSpc>
                <a:spcPct val="136000"/>
              </a:lnSpc>
              <a:spcBef>
                <a:spcPts val="900"/>
              </a:spcBef>
              <a:spcAft>
                <a:spcPts val="0"/>
              </a:spcAft>
              <a:buClr>
                <a:srgbClr val="0F1B33"/>
              </a:buClr>
              <a:buSzPts val="1250"/>
              <a:buFont typeface="Calibri"/>
              <a:buChar char="•"/>
            </a:pPr>
            <a:r>
              <a:rPr lang="en-US" sz="1250" b="0" i="0" u="none" strike="noStrike" cap="none">
                <a:solidFill>
                  <a:srgbClr val="0F1B33"/>
                </a:solidFill>
                <a:latin typeface="Calibri"/>
                <a:ea typeface="Calibri"/>
                <a:cs typeface="Calibri"/>
                <a:sym typeface="Calibri"/>
              </a:rPr>
              <a:t>Field baru dari backend tidak membuat frontend rusak.</a:t>
            </a:r>
            <a:endParaRPr sz="1250" b="0" i="0" u="none" strike="noStrike" cap="none">
              <a:solidFill>
                <a:schemeClr val="dk1"/>
              </a:solidFill>
              <a:latin typeface="Calibri"/>
              <a:ea typeface="Calibri"/>
              <a:cs typeface="Calibri"/>
              <a:sym typeface="Calibri"/>
            </a:endParaRPr>
          </a:p>
          <a:p>
            <a:pPr marL="342900" marR="0" lvl="0" indent="-342900" algn="l" rtl="0">
              <a:lnSpc>
                <a:spcPct val="136000"/>
              </a:lnSpc>
              <a:spcBef>
                <a:spcPts val="900"/>
              </a:spcBef>
              <a:spcAft>
                <a:spcPts val="0"/>
              </a:spcAft>
              <a:buClr>
                <a:srgbClr val="0F1B33"/>
              </a:buClr>
              <a:buSzPts val="1250"/>
              <a:buFont typeface="Calibri"/>
              <a:buChar char="•"/>
            </a:pPr>
            <a:r>
              <a:rPr lang="en-US" sz="1250" b="0" i="0" u="none" strike="noStrike" cap="none">
                <a:solidFill>
                  <a:srgbClr val="0F1B33"/>
                </a:solidFill>
                <a:latin typeface="Calibri"/>
                <a:ea typeface="Calibri"/>
                <a:cs typeface="Calibri"/>
                <a:sym typeface="Calibri"/>
              </a:rPr>
              <a:t>Type di frontend dibuat otomatis dari schema, jadi tidak bisa beda lagi dengan data aslinya.</a:t>
            </a:r>
            <a:endParaRPr sz="1250" b="0" i="0" u="none" strike="noStrike" cap="none">
              <a:solidFill>
                <a:schemeClr val="dk1"/>
              </a:solidFill>
              <a:latin typeface="Calibri"/>
              <a:ea typeface="Calibri"/>
              <a:cs typeface="Calibri"/>
              <a:sym typeface="Calibri"/>
            </a:endParaRPr>
          </a:p>
          <a:p>
            <a:pPr marL="342900" marR="0" lvl="0" indent="-342900" algn="l" rtl="0">
              <a:lnSpc>
                <a:spcPct val="136000"/>
              </a:lnSpc>
              <a:spcBef>
                <a:spcPts val="900"/>
              </a:spcBef>
              <a:spcAft>
                <a:spcPts val="0"/>
              </a:spcAft>
              <a:buClr>
                <a:srgbClr val="0F1B33"/>
              </a:buClr>
              <a:buSzPts val="1250"/>
              <a:buFont typeface="Calibri"/>
              <a:buChar char="•"/>
            </a:pPr>
            <a:r>
              <a:rPr lang="en-US" sz="1250" b="0" i="0" u="none" strike="noStrike" cap="none">
                <a:solidFill>
                  <a:srgbClr val="0F1B33"/>
                </a:solidFill>
                <a:latin typeface="Calibri"/>
                <a:ea typeface="Calibri"/>
                <a:cs typeface="Calibri"/>
                <a:sym typeface="Calibri"/>
              </a:rPr>
              <a:t>Kalau level tidak valid, hasilnya kosong, bukan L1.</a:t>
            </a:r>
            <a:endParaRPr sz="1250" b="0" i="0" u="none" strike="noStrike" cap="non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527" name="Shape 527"/>
        <p:cNvGrpSpPr/>
        <p:nvPr/>
      </p:nvGrpSpPr>
      <p:grpSpPr>
        <a:xfrm>
          <a:off x="0" y="0"/>
          <a:ext cx="0" cy="0"/>
          <a:chOff x="0" y="0"/>
          <a:chExt cx="0" cy="0"/>
        </a:xfrm>
      </p:grpSpPr>
      <p:sp>
        <p:nvSpPr>
          <p:cNvPr id="528" name="Google Shape;528;p22"/>
          <p:cNvSpPr txBox="1"/>
          <p:nvPr/>
        </p:nvSpPr>
        <p:spPr>
          <a:xfrm>
            <a:off x="11277295" y="6419088"/>
            <a:ext cx="457200"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A94A8"/>
              </a:buClr>
              <a:buSzPts val="1000"/>
              <a:buFont typeface="Calibri"/>
              <a:buNone/>
            </a:pPr>
            <a:r>
              <a:rPr lang="en-US" sz="1000" b="0" i="0" u="none" strike="noStrike" cap="none">
                <a:solidFill>
                  <a:srgbClr val="8A94A8"/>
                </a:solidFill>
                <a:latin typeface="Calibri"/>
                <a:ea typeface="Calibri"/>
                <a:cs typeface="Calibri"/>
                <a:sym typeface="Calibri"/>
              </a:rPr>
              <a:t>20</a:t>
            </a:r>
            <a:endParaRPr sz="1000" b="0" i="0" u="none" strike="noStrike" cap="none">
              <a:solidFill>
                <a:schemeClr val="dk1"/>
              </a:solidFill>
              <a:latin typeface="Calibri"/>
              <a:ea typeface="Calibri"/>
              <a:cs typeface="Calibri"/>
              <a:sym typeface="Calibri"/>
            </a:endParaRPr>
          </a:p>
        </p:txBody>
      </p:sp>
      <p:sp>
        <p:nvSpPr>
          <p:cNvPr id="529" name="Google Shape;529;p22"/>
          <p:cNvSpPr txBox="1"/>
          <p:nvPr/>
        </p:nvSpPr>
        <p:spPr>
          <a:xfrm>
            <a:off x="594360" y="6419088"/>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A94A8"/>
              </a:buClr>
              <a:buSzPts val="1000"/>
              <a:buFont typeface="Calibri"/>
              <a:buNone/>
            </a:pPr>
            <a:r>
              <a:rPr lang="en-US" sz="1000" b="0" i="0" u="none" strike="noStrike" cap="none">
                <a:solidFill>
                  <a:srgbClr val="8A94A8"/>
                </a:solidFill>
                <a:latin typeface="Calibri"/>
                <a:ea typeface="Calibri"/>
                <a:cs typeface="Calibri"/>
                <a:sym typeface="Calibri"/>
              </a:rPr>
              <a:t>Aulia Afriza  ·  Kandidat Fullstack · Frontend depth</a:t>
            </a:r>
            <a:endParaRPr sz="1000" b="0" i="0" u="none" strike="noStrike" cap="none">
              <a:solidFill>
                <a:schemeClr val="dk1"/>
              </a:solidFill>
              <a:latin typeface="Calibri"/>
              <a:ea typeface="Calibri"/>
              <a:cs typeface="Calibri"/>
              <a:sym typeface="Calibri"/>
            </a:endParaRPr>
          </a:p>
        </p:txBody>
      </p:sp>
      <p:sp>
        <p:nvSpPr>
          <p:cNvPr id="530" name="Google Shape;530;p22"/>
          <p:cNvSpPr txBox="1"/>
          <p:nvPr/>
        </p:nvSpPr>
        <p:spPr>
          <a:xfrm>
            <a:off x="594360" y="438912"/>
            <a:ext cx="11002975"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2800"/>
              <a:buFont typeface="Calibri"/>
              <a:buNone/>
            </a:pPr>
            <a:r>
              <a:rPr lang="en-US" sz="2800" b="1" i="0" u="none" strike="noStrike" cap="none">
                <a:solidFill>
                  <a:srgbClr val="0F1B33"/>
                </a:solidFill>
                <a:latin typeface="Calibri"/>
                <a:ea typeface="Calibri"/>
                <a:cs typeface="Calibri"/>
                <a:sym typeface="Calibri"/>
              </a:rPr>
              <a:t>Hasil: level yang dibutuhkan sekarang terlihat</a:t>
            </a:r>
            <a:endParaRPr sz="2800" b="0" i="0" u="none" strike="noStrike" cap="none">
              <a:solidFill>
                <a:schemeClr val="dk1"/>
              </a:solidFill>
              <a:latin typeface="Calibri"/>
              <a:ea typeface="Calibri"/>
              <a:cs typeface="Calibri"/>
              <a:sym typeface="Calibri"/>
            </a:endParaRPr>
          </a:p>
        </p:txBody>
      </p:sp>
      <p:sp>
        <p:nvSpPr>
          <p:cNvPr id="531" name="Google Shape;531;p22"/>
          <p:cNvSpPr txBox="1"/>
          <p:nvPr/>
        </p:nvSpPr>
        <p:spPr>
          <a:xfrm>
            <a:off x="594360" y="987552"/>
            <a:ext cx="11002975"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5617A"/>
              </a:buClr>
              <a:buSzPts val="1500"/>
              <a:buFont typeface="Calibri"/>
              <a:buNone/>
            </a:pPr>
            <a:r>
              <a:rPr lang="en-US" sz="1500" b="0" i="0" u="none" strike="noStrike" cap="none">
                <a:solidFill>
                  <a:srgbClr val="55617A"/>
                </a:solidFill>
                <a:latin typeface="Calibri"/>
                <a:ea typeface="Calibri"/>
                <a:cs typeface="Calibri"/>
                <a:sym typeface="Calibri"/>
              </a:rPr>
              <a:t>§3.2 · P0-1 · Data yang sama, sebelum dan sesudah.</a:t>
            </a:r>
            <a:endParaRPr sz="1500" b="0" i="0" u="none" strike="noStrike" cap="none">
              <a:solidFill>
                <a:schemeClr val="dk1"/>
              </a:solidFill>
              <a:latin typeface="Calibri"/>
              <a:ea typeface="Calibri"/>
              <a:cs typeface="Calibri"/>
              <a:sym typeface="Calibri"/>
            </a:endParaRPr>
          </a:p>
        </p:txBody>
      </p:sp>
      <p:sp>
        <p:nvSpPr>
          <p:cNvPr id="532" name="Google Shape;532;p22"/>
          <p:cNvSpPr txBox="1"/>
          <p:nvPr/>
        </p:nvSpPr>
        <p:spPr>
          <a:xfrm>
            <a:off x="594360" y="1536192"/>
            <a:ext cx="1828800" cy="2560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D14343"/>
              </a:buClr>
              <a:buSzPts val="1200"/>
              <a:buFont typeface="Calibri"/>
              <a:buNone/>
            </a:pPr>
            <a:r>
              <a:rPr lang="en-US" sz="1200" b="1" i="0" u="none" strike="noStrike" cap="none">
                <a:solidFill>
                  <a:srgbClr val="D14343"/>
                </a:solidFill>
                <a:latin typeface="Calibri"/>
                <a:ea typeface="Calibri"/>
                <a:cs typeface="Calibri"/>
                <a:sym typeface="Calibri"/>
              </a:rPr>
              <a:t>Sebelum</a:t>
            </a:r>
            <a:endParaRPr sz="1200" b="0" i="0" u="none" strike="noStrike" cap="none">
              <a:solidFill>
                <a:schemeClr val="dk1"/>
              </a:solidFill>
              <a:latin typeface="Calibri"/>
              <a:ea typeface="Calibri"/>
              <a:cs typeface="Calibri"/>
              <a:sym typeface="Calibri"/>
            </a:endParaRPr>
          </a:p>
        </p:txBody>
      </p:sp>
      <p:pic>
        <p:nvPicPr>
          <p:cNvPr id="533" name="Google Shape;533;p22" descr="img/p01_before.png"/>
          <p:cNvPicPr preferRelativeResize="0"/>
          <p:nvPr/>
        </p:nvPicPr>
        <p:blipFill rotWithShape="1">
          <a:blip r:embed="rId1"/>
          <a:srcRect/>
          <a:stretch>
            <a:fillRect/>
          </a:stretch>
        </p:blipFill>
        <p:spPr>
          <a:xfrm>
            <a:off x="594360" y="1810512"/>
            <a:ext cx="6309360" cy="1638795"/>
          </a:xfrm>
          <a:prstGeom prst="rect">
            <a:avLst/>
          </a:prstGeom>
          <a:noFill/>
          <a:ln>
            <a:noFill/>
          </a:ln>
        </p:spPr>
      </p:pic>
      <p:sp>
        <p:nvSpPr>
          <p:cNvPr id="534" name="Google Shape;534;p22"/>
          <p:cNvSpPr/>
          <p:nvPr/>
        </p:nvSpPr>
        <p:spPr>
          <a:xfrm>
            <a:off x="594360" y="1810512"/>
            <a:ext cx="6309360" cy="1638795"/>
          </a:xfrm>
          <a:prstGeom prst="rect">
            <a:avLst/>
          </a:prstGeom>
          <a:no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5" name="Google Shape;535;p22"/>
          <p:cNvSpPr txBox="1"/>
          <p:nvPr/>
        </p:nvSpPr>
        <p:spPr>
          <a:xfrm>
            <a:off x="594360" y="3705339"/>
            <a:ext cx="1828800" cy="2560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C6FF3"/>
              </a:buClr>
              <a:buSzPts val="1200"/>
              <a:buFont typeface="Calibri"/>
              <a:buNone/>
            </a:pPr>
            <a:r>
              <a:rPr lang="en-US" sz="1200" b="1" i="0" u="none" strike="noStrike" cap="none">
                <a:solidFill>
                  <a:srgbClr val="1C6FF3"/>
                </a:solidFill>
                <a:latin typeface="Calibri"/>
                <a:ea typeface="Calibri"/>
                <a:cs typeface="Calibri"/>
                <a:sym typeface="Calibri"/>
              </a:rPr>
              <a:t>Sesudah</a:t>
            </a:r>
            <a:endParaRPr sz="1200" b="0" i="0" u="none" strike="noStrike" cap="none">
              <a:solidFill>
                <a:schemeClr val="dk1"/>
              </a:solidFill>
              <a:latin typeface="Calibri"/>
              <a:ea typeface="Calibri"/>
              <a:cs typeface="Calibri"/>
              <a:sym typeface="Calibri"/>
            </a:endParaRPr>
          </a:p>
        </p:txBody>
      </p:sp>
      <p:pic>
        <p:nvPicPr>
          <p:cNvPr id="536" name="Google Shape;536;p22" descr="img/p01_after.png"/>
          <p:cNvPicPr preferRelativeResize="0"/>
          <p:nvPr/>
        </p:nvPicPr>
        <p:blipFill rotWithShape="1">
          <a:blip r:embed="rId2"/>
          <a:srcRect/>
          <a:stretch>
            <a:fillRect/>
          </a:stretch>
        </p:blipFill>
        <p:spPr>
          <a:xfrm>
            <a:off x="594360" y="3979659"/>
            <a:ext cx="6309360" cy="2190750"/>
          </a:xfrm>
          <a:prstGeom prst="rect">
            <a:avLst/>
          </a:prstGeom>
          <a:noFill/>
          <a:ln>
            <a:noFill/>
          </a:ln>
        </p:spPr>
      </p:pic>
      <p:sp>
        <p:nvSpPr>
          <p:cNvPr id="537" name="Google Shape;537;p22"/>
          <p:cNvSpPr/>
          <p:nvPr/>
        </p:nvSpPr>
        <p:spPr>
          <a:xfrm>
            <a:off x="594360" y="3979659"/>
            <a:ext cx="6309360" cy="2190750"/>
          </a:xfrm>
          <a:prstGeom prst="rect">
            <a:avLst/>
          </a:prstGeom>
          <a:no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8" name="Google Shape;538;p22"/>
          <p:cNvSpPr/>
          <p:nvPr/>
        </p:nvSpPr>
        <p:spPr>
          <a:xfrm>
            <a:off x="7315200" y="1536192"/>
            <a:ext cx="4282135" cy="4526280"/>
          </a:xfrm>
          <a:prstGeom prst="roundRect">
            <a:avLst>
              <a:gd name="adj" fmla="val 1495"/>
            </a:avLst>
          </a:prstGeom>
          <a:solidFill>
            <a:srgbClr val="E7F1FF"/>
          </a:solidFill>
          <a:ln w="9525" cap="flat" cmpd="sng">
            <a:solidFill>
              <a:srgbClr val="E7F1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9" name="Google Shape;539;p22"/>
          <p:cNvSpPr txBox="1"/>
          <p:nvPr/>
        </p:nvSpPr>
        <p:spPr>
          <a:xfrm>
            <a:off x="7589520" y="1700784"/>
            <a:ext cx="3733495"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C2E6B"/>
              </a:buClr>
              <a:buSzPts val="1500"/>
              <a:buFont typeface="Calibri"/>
              <a:buNone/>
            </a:pPr>
            <a:r>
              <a:rPr lang="en-US" sz="1500" b="1" i="0" u="none" strike="noStrike" cap="none">
                <a:solidFill>
                  <a:srgbClr val="0C2E6B"/>
                </a:solidFill>
                <a:latin typeface="Calibri"/>
                <a:ea typeface="Calibri"/>
                <a:cs typeface="Calibri"/>
                <a:sym typeface="Calibri"/>
              </a:rPr>
              <a:t>Yang berubah untuk user</a:t>
            </a:r>
            <a:endParaRPr sz="1500" b="0" i="0" u="none" strike="noStrike" cap="none">
              <a:solidFill>
                <a:schemeClr val="dk1"/>
              </a:solidFill>
              <a:latin typeface="Calibri"/>
              <a:ea typeface="Calibri"/>
              <a:cs typeface="Calibri"/>
              <a:sym typeface="Calibri"/>
            </a:endParaRPr>
          </a:p>
        </p:txBody>
      </p:sp>
      <p:sp>
        <p:nvSpPr>
          <p:cNvPr id="540" name="Google Shape;540;p22"/>
          <p:cNvSpPr txBox="1"/>
          <p:nvPr/>
        </p:nvSpPr>
        <p:spPr>
          <a:xfrm>
            <a:off x="7589520" y="2121408"/>
            <a:ext cx="3733495" cy="3749040"/>
          </a:xfrm>
          <a:prstGeom prst="rect">
            <a:avLst/>
          </a:prstGeom>
          <a:noFill/>
          <a:ln>
            <a:noFill/>
          </a:ln>
        </p:spPr>
        <p:txBody>
          <a:bodyPr spcFirstLastPara="1" wrap="square" lIns="0" tIns="0" rIns="0" bIns="0" anchor="t" anchorCtr="0">
            <a:noAutofit/>
          </a:bodyPr>
          <a:lstStyle/>
          <a:p>
            <a:pPr marL="342900" marR="0" lvl="0" indent="-342900" algn="l" rtl="0">
              <a:lnSpc>
                <a:spcPct val="138000"/>
              </a:lnSpc>
              <a:spcBef>
                <a:spcPts val="0"/>
              </a:spcBef>
              <a:spcAft>
                <a:spcPts val="0"/>
              </a:spcAft>
              <a:buClr>
                <a:srgbClr val="0F1B33"/>
              </a:buClr>
              <a:buSzPts val="1300"/>
              <a:buFont typeface="Calibri"/>
              <a:buChar char="•"/>
            </a:pPr>
            <a:r>
              <a:rPr lang="en-US" sz="1300" b="0" i="0" u="none" strike="noStrike" cap="none">
                <a:solidFill>
                  <a:srgbClr val="0F1B33"/>
                </a:solidFill>
                <a:latin typeface="Calibri"/>
                <a:ea typeface="Calibri"/>
                <a:cs typeface="Calibri"/>
                <a:sym typeface="Calibri"/>
              </a:rPr>
              <a:t>Level yang dibutuhkan untuk role ini muncul di setiap baris.</a:t>
            </a:r>
            <a:endParaRPr sz="1300" b="0" i="0" u="none" strike="noStrike" cap="none">
              <a:solidFill>
                <a:schemeClr val="dk1"/>
              </a:solidFill>
              <a:latin typeface="Calibri"/>
              <a:ea typeface="Calibri"/>
              <a:cs typeface="Calibri"/>
              <a:sym typeface="Calibri"/>
            </a:endParaRPr>
          </a:p>
          <a:p>
            <a:pPr marL="342900" marR="0" lvl="0" indent="-342900" algn="l" rtl="0">
              <a:lnSpc>
                <a:spcPct val="138000"/>
              </a:lnSpc>
              <a:spcBef>
                <a:spcPts val="900"/>
              </a:spcBef>
              <a:spcAft>
                <a:spcPts val="0"/>
              </a:spcAft>
              <a:buClr>
                <a:srgbClr val="0F1B33"/>
              </a:buClr>
              <a:buSzPts val="1300"/>
              <a:buFont typeface="Calibri"/>
              <a:buChar char="•"/>
            </a:pPr>
            <a:r>
              <a:rPr lang="en-US" sz="1300" b="0" i="0" u="none" strike="noStrike" cap="none">
                <a:solidFill>
                  <a:srgbClr val="0F1B33"/>
                </a:solidFill>
                <a:latin typeface="Calibri"/>
                <a:ea typeface="Calibri"/>
                <a:cs typeface="Calibri"/>
                <a:sym typeface="Calibri"/>
              </a:rPr>
              <a:t>Tingkat keyakinan dan jumlah pertanyaan ikut ditampilkan.</a:t>
            </a:r>
            <a:endParaRPr sz="1300" b="0" i="0" u="none" strike="noStrike" cap="none">
              <a:solidFill>
                <a:schemeClr val="dk1"/>
              </a:solidFill>
              <a:latin typeface="Calibri"/>
              <a:ea typeface="Calibri"/>
              <a:cs typeface="Calibri"/>
              <a:sym typeface="Calibri"/>
            </a:endParaRPr>
          </a:p>
          <a:p>
            <a:pPr marL="342900" marR="0" lvl="0" indent="-342900" algn="l" rtl="0">
              <a:lnSpc>
                <a:spcPct val="138000"/>
              </a:lnSpc>
              <a:spcBef>
                <a:spcPts val="900"/>
              </a:spcBef>
              <a:spcAft>
                <a:spcPts val="0"/>
              </a:spcAft>
              <a:buClr>
                <a:srgbClr val="0F1B33"/>
              </a:buClr>
              <a:buSzPts val="1300"/>
              <a:buFont typeface="Calibri"/>
              <a:buChar char="•"/>
            </a:pPr>
            <a:r>
              <a:rPr lang="en-US" sz="1300" b="0" i="0" u="none" strike="noStrike" cap="none">
                <a:solidFill>
                  <a:srgbClr val="0F1B33"/>
                </a:solidFill>
                <a:latin typeface="Calibri"/>
                <a:ea typeface="Calibri"/>
                <a:cs typeface="Calibri"/>
                <a:sym typeface="Calibri"/>
              </a:rPr>
              <a:t>Kalau kekurangan kandidat hanya dari satu pertanyaan, muncul saran wawancara lanjutan sebelum menolak (AC-3.3).</a:t>
            </a:r>
            <a:endParaRPr sz="1300" b="0" i="0" u="none" strike="noStrike" cap="none">
              <a:solidFill>
                <a:schemeClr val="dk1"/>
              </a:solidFill>
              <a:latin typeface="Calibri"/>
              <a:ea typeface="Calibri"/>
              <a:cs typeface="Calibri"/>
              <a:sym typeface="Calibri"/>
            </a:endParaRPr>
          </a:p>
          <a:p>
            <a:pPr marL="342900" marR="0" lvl="0" indent="-342900" algn="l" rtl="0">
              <a:lnSpc>
                <a:spcPct val="138000"/>
              </a:lnSpc>
              <a:spcBef>
                <a:spcPts val="900"/>
              </a:spcBef>
              <a:spcAft>
                <a:spcPts val="0"/>
              </a:spcAft>
              <a:buClr>
                <a:srgbClr val="0F1B33"/>
              </a:buClr>
              <a:buSzPts val="1300"/>
              <a:buFont typeface="Calibri"/>
              <a:buChar char="•"/>
            </a:pPr>
            <a:r>
              <a:rPr lang="en-US" sz="1300" b="0" i="0" u="none" strike="noStrike" cap="none">
                <a:solidFill>
                  <a:srgbClr val="0F1B33"/>
                </a:solidFill>
                <a:latin typeface="Calibri"/>
                <a:ea typeface="Calibri"/>
                <a:cs typeface="Calibri"/>
                <a:sym typeface="Calibri"/>
              </a:rPr>
              <a:t>Skill yang belum ditanyakan tertulis “Belum dinilai”, bukan L1 (AC-4.4).</a:t>
            </a:r>
            <a:endParaRPr sz="1300" b="0" i="0" u="none" strike="noStrike" cap="non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545" name="Shape 545"/>
        <p:cNvGrpSpPr/>
        <p:nvPr/>
      </p:nvGrpSpPr>
      <p:grpSpPr>
        <a:xfrm>
          <a:off x="0" y="0"/>
          <a:ext cx="0" cy="0"/>
          <a:chOff x="0" y="0"/>
          <a:chExt cx="0" cy="0"/>
        </a:xfrm>
      </p:grpSpPr>
      <p:sp>
        <p:nvSpPr>
          <p:cNvPr id="546" name="Google Shape;546;p23"/>
          <p:cNvSpPr txBox="1"/>
          <p:nvPr/>
        </p:nvSpPr>
        <p:spPr>
          <a:xfrm>
            <a:off x="11277295" y="6419088"/>
            <a:ext cx="457200"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A94A8"/>
              </a:buClr>
              <a:buSzPts val="1000"/>
              <a:buFont typeface="Calibri"/>
              <a:buNone/>
            </a:pPr>
            <a:r>
              <a:rPr lang="en-US" sz="1000" b="0" i="0" u="none" strike="noStrike" cap="none">
                <a:solidFill>
                  <a:srgbClr val="8A94A8"/>
                </a:solidFill>
                <a:latin typeface="Calibri"/>
                <a:ea typeface="Calibri"/>
                <a:cs typeface="Calibri"/>
                <a:sym typeface="Calibri"/>
              </a:rPr>
              <a:t>21</a:t>
            </a:r>
            <a:endParaRPr sz="1000" b="0" i="0" u="none" strike="noStrike" cap="none">
              <a:solidFill>
                <a:schemeClr val="dk1"/>
              </a:solidFill>
              <a:latin typeface="Calibri"/>
              <a:ea typeface="Calibri"/>
              <a:cs typeface="Calibri"/>
              <a:sym typeface="Calibri"/>
            </a:endParaRPr>
          </a:p>
        </p:txBody>
      </p:sp>
      <p:sp>
        <p:nvSpPr>
          <p:cNvPr id="547" name="Google Shape;547;p23"/>
          <p:cNvSpPr txBox="1"/>
          <p:nvPr/>
        </p:nvSpPr>
        <p:spPr>
          <a:xfrm>
            <a:off x="594360" y="6419088"/>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A94A8"/>
              </a:buClr>
              <a:buSzPts val="1000"/>
              <a:buFont typeface="Calibri"/>
              <a:buNone/>
            </a:pPr>
            <a:r>
              <a:rPr lang="en-US" sz="1000" b="0" i="0" u="none" strike="noStrike" cap="none">
                <a:solidFill>
                  <a:srgbClr val="8A94A8"/>
                </a:solidFill>
                <a:latin typeface="Calibri"/>
                <a:ea typeface="Calibri"/>
                <a:cs typeface="Calibri"/>
                <a:sym typeface="Calibri"/>
              </a:rPr>
              <a:t>Aulia Afriza  ·  Kandidat Fullstack · Frontend depth</a:t>
            </a:r>
            <a:endParaRPr sz="1000" b="0" i="0" u="none" strike="noStrike" cap="none">
              <a:solidFill>
                <a:schemeClr val="dk1"/>
              </a:solidFill>
              <a:latin typeface="Calibri"/>
              <a:ea typeface="Calibri"/>
              <a:cs typeface="Calibri"/>
              <a:sym typeface="Calibri"/>
            </a:endParaRPr>
          </a:p>
        </p:txBody>
      </p:sp>
      <p:sp>
        <p:nvSpPr>
          <p:cNvPr id="548" name="Google Shape;548;p23"/>
          <p:cNvSpPr txBox="1"/>
          <p:nvPr/>
        </p:nvSpPr>
        <p:spPr>
          <a:xfrm>
            <a:off x="594360" y="438912"/>
            <a:ext cx="11002975"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2800"/>
              <a:buFont typeface="Calibri"/>
              <a:buNone/>
            </a:pPr>
            <a:r>
              <a:rPr lang="en-US" sz="2800" b="1" i="0" u="none" strike="noStrike" cap="none">
                <a:solidFill>
                  <a:srgbClr val="0F1B33"/>
                </a:solidFill>
                <a:latin typeface="Calibri"/>
                <a:ea typeface="Calibri"/>
                <a:cs typeface="Calibri"/>
                <a:sym typeface="Calibri"/>
              </a:rPr>
              <a:t>Hasil: siapa yang menilai, dan seberapa yakin</a:t>
            </a:r>
            <a:endParaRPr sz="2800" b="0" i="0" u="none" strike="noStrike" cap="none">
              <a:solidFill>
                <a:schemeClr val="dk1"/>
              </a:solidFill>
              <a:latin typeface="Calibri"/>
              <a:ea typeface="Calibri"/>
              <a:cs typeface="Calibri"/>
              <a:sym typeface="Calibri"/>
            </a:endParaRPr>
          </a:p>
        </p:txBody>
      </p:sp>
      <p:sp>
        <p:nvSpPr>
          <p:cNvPr id="549" name="Google Shape;549;p23"/>
          <p:cNvSpPr txBox="1"/>
          <p:nvPr/>
        </p:nvSpPr>
        <p:spPr>
          <a:xfrm>
            <a:off x="594360" y="987552"/>
            <a:ext cx="11002975"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5617A"/>
              </a:buClr>
              <a:buSzPts val="1500"/>
              <a:buFont typeface="Calibri"/>
              <a:buNone/>
            </a:pPr>
            <a:r>
              <a:rPr lang="en-US" sz="1500" b="0" i="0" u="none" strike="noStrike" cap="none">
                <a:solidFill>
                  <a:srgbClr val="55617A"/>
                </a:solidFill>
                <a:latin typeface="Calibri"/>
                <a:ea typeface="Calibri"/>
                <a:cs typeface="Calibri"/>
                <a:sym typeface="Calibri"/>
              </a:rPr>
              <a:t>§3.2 · P0-2 dan P0-3</a:t>
            </a:r>
            <a:endParaRPr sz="1500" b="0" i="0" u="none" strike="noStrike" cap="none">
              <a:solidFill>
                <a:schemeClr val="dk1"/>
              </a:solidFill>
              <a:latin typeface="Calibri"/>
              <a:ea typeface="Calibri"/>
              <a:cs typeface="Calibri"/>
              <a:sym typeface="Calibri"/>
            </a:endParaRPr>
          </a:p>
        </p:txBody>
      </p:sp>
      <p:sp>
        <p:nvSpPr>
          <p:cNvPr id="550" name="Google Shape;550;p23"/>
          <p:cNvSpPr txBox="1"/>
          <p:nvPr/>
        </p:nvSpPr>
        <p:spPr>
          <a:xfrm>
            <a:off x="594360" y="1536192"/>
            <a:ext cx="6949440" cy="2560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C6FF3"/>
              </a:buClr>
              <a:buSzPts val="1200"/>
              <a:buFont typeface="Calibri"/>
              <a:buNone/>
            </a:pPr>
            <a:r>
              <a:rPr lang="en-US" sz="1200" b="1" i="0" u="none" strike="noStrike" cap="none">
                <a:solidFill>
                  <a:srgbClr val="1C6FF3"/>
                </a:solidFill>
                <a:latin typeface="Calibri"/>
                <a:ea typeface="Calibri"/>
                <a:cs typeface="Calibri"/>
                <a:sym typeface="Calibri"/>
              </a:rPr>
              <a:t>Koreksi assessor terlihat: AI L2 → L4, oleh siapa, dan kapan</a:t>
            </a:r>
            <a:endParaRPr sz="1200" b="0" i="0" u="none" strike="noStrike" cap="none">
              <a:solidFill>
                <a:schemeClr val="dk1"/>
              </a:solidFill>
              <a:latin typeface="Calibri"/>
              <a:ea typeface="Calibri"/>
              <a:cs typeface="Calibri"/>
              <a:sym typeface="Calibri"/>
            </a:endParaRPr>
          </a:p>
        </p:txBody>
      </p:sp>
      <p:pic>
        <p:nvPicPr>
          <p:cNvPr id="551" name="Google Shape;551;p23" descr="img/p02_after.png"/>
          <p:cNvPicPr preferRelativeResize="0"/>
          <p:nvPr/>
        </p:nvPicPr>
        <p:blipFill rotWithShape="1">
          <a:blip r:embed="rId1"/>
          <a:srcRect/>
          <a:stretch>
            <a:fillRect/>
          </a:stretch>
        </p:blipFill>
        <p:spPr>
          <a:xfrm>
            <a:off x="594360" y="1810512"/>
            <a:ext cx="6949440" cy="1662545"/>
          </a:xfrm>
          <a:prstGeom prst="rect">
            <a:avLst/>
          </a:prstGeom>
          <a:noFill/>
          <a:ln>
            <a:noFill/>
          </a:ln>
        </p:spPr>
      </p:pic>
      <p:sp>
        <p:nvSpPr>
          <p:cNvPr id="552" name="Google Shape;552;p23"/>
          <p:cNvSpPr/>
          <p:nvPr/>
        </p:nvSpPr>
        <p:spPr>
          <a:xfrm>
            <a:off x="594360" y="1810512"/>
            <a:ext cx="6949440" cy="1662545"/>
          </a:xfrm>
          <a:prstGeom prst="rect">
            <a:avLst/>
          </a:prstGeom>
          <a:no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3" name="Google Shape;553;p23"/>
          <p:cNvSpPr txBox="1"/>
          <p:nvPr/>
        </p:nvSpPr>
        <p:spPr>
          <a:xfrm>
            <a:off x="594360" y="3765665"/>
            <a:ext cx="6949440" cy="2560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C6FF3"/>
              </a:buClr>
              <a:buSzPts val="1200"/>
              <a:buFont typeface="Calibri"/>
              <a:buNone/>
            </a:pPr>
            <a:r>
              <a:rPr lang="en-US" sz="1200" b="1" i="0" u="none" strike="noStrike" cap="none">
                <a:solidFill>
                  <a:srgbClr val="1C6FF3"/>
                </a:solidFill>
                <a:latin typeface="Calibri"/>
                <a:ea typeface="Calibri"/>
                <a:cs typeface="Calibri"/>
                <a:sym typeface="Calibri"/>
              </a:rPr>
              <a:t>Tingkat keyakinan ikut bersama hasilnya</a:t>
            </a:r>
            <a:endParaRPr sz="1200" b="0" i="0" u="none" strike="noStrike" cap="none">
              <a:solidFill>
                <a:schemeClr val="dk1"/>
              </a:solidFill>
              <a:latin typeface="Calibri"/>
              <a:ea typeface="Calibri"/>
              <a:cs typeface="Calibri"/>
              <a:sym typeface="Calibri"/>
            </a:endParaRPr>
          </a:p>
        </p:txBody>
      </p:sp>
      <p:pic>
        <p:nvPicPr>
          <p:cNvPr id="554" name="Google Shape;554;p23" descr="img/p03_after.png"/>
          <p:cNvPicPr preferRelativeResize="0"/>
          <p:nvPr/>
        </p:nvPicPr>
        <p:blipFill rotWithShape="1">
          <a:blip r:embed="rId2"/>
          <a:srcRect/>
          <a:stretch>
            <a:fillRect/>
          </a:stretch>
        </p:blipFill>
        <p:spPr>
          <a:xfrm>
            <a:off x="594360" y="4039985"/>
            <a:ext cx="6949440" cy="2026076"/>
          </a:xfrm>
          <a:prstGeom prst="rect">
            <a:avLst/>
          </a:prstGeom>
          <a:noFill/>
          <a:ln>
            <a:noFill/>
          </a:ln>
        </p:spPr>
      </p:pic>
      <p:sp>
        <p:nvSpPr>
          <p:cNvPr id="555" name="Google Shape;555;p23"/>
          <p:cNvSpPr/>
          <p:nvPr/>
        </p:nvSpPr>
        <p:spPr>
          <a:xfrm>
            <a:off x="594360" y="4039985"/>
            <a:ext cx="6949440" cy="2026076"/>
          </a:xfrm>
          <a:prstGeom prst="rect">
            <a:avLst/>
          </a:prstGeom>
          <a:no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6" name="Google Shape;556;p23"/>
          <p:cNvSpPr txBox="1"/>
          <p:nvPr/>
        </p:nvSpPr>
        <p:spPr>
          <a:xfrm>
            <a:off x="7955280" y="1572768"/>
            <a:ext cx="3642055"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1450"/>
              <a:buFont typeface="Calibri"/>
              <a:buNone/>
            </a:pPr>
            <a:r>
              <a:rPr lang="en-US" sz="1450" b="1" i="0" u="none" strike="noStrike" cap="none">
                <a:solidFill>
                  <a:srgbClr val="0F1B33"/>
                </a:solidFill>
                <a:latin typeface="Calibri"/>
                <a:ea typeface="Calibri"/>
                <a:cs typeface="Calibri"/>
                <a:sym typeface="Calibri"/>
              </a:rPr>
              <a:t>Kasus khusus yang saya jaga</a:t>
            </a:r>
            <a:endParaRPr sz="1450" b="0" i="0" u="none" strike="noStrike" cap="none">
              <a:solidFill>
                <a:schemeClr val="dk1"/>
              </a:solidFill>
              <a:latin typeface="Calibri"/>
              <a:ea typeface="Calibri"/>
              <a:cs typeface="Calibri"/>
              <a:sym typeface="Calibri"/>
            </a:endParaRPr>
          </a:p>
        </p:txBody>
      </p:sp>
      <p:sp>
        <p:nvSpPr>
          <p:cNvPr id="557" name="Google Shape;557;p23"/>
          <p:cNvSpPr/>
          <p:nvPr/>
        </p:nvSpPr>
        <p:spPr>
          <a:xfrm>
            <a:off x="7955280" y="2011680"/>
            <a:ext cx="3642055" cy="1188720"/>
          </a:xfrm>
          <a:prstGeom prst="roundRect">
            <a:avLst>
              <a:gd name="adj" fmla="val 5385"/>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8" name="Google Shape;558;p23"/>
          <p:cNvSpPr txBox="1"/>
          <p:nvPr/>
        </p:nvSpPr>
        <p:spPr>
          <a:xfrm>
            <a:off x="8156448" y="2121408"/>
            <a:ext cx="3239719" cy="2560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C2E6B"/>
              </a:buClr>
              <a:buSzPts val="1150"/>
              <a:buFont typeface="Courier New" panose="02070609020205020404"/>
              <a:buNone/>
            </a:pPr>
            <a:r>
              <a:rPr lang="en-US" sz="1150" b="1" i="0" u="none" strike="noStrike" cap="none">
                <a:solidFill>
                  <a:srgbClr val="0C2E6B"/>
                </a:solidFill>
                <a:latin typeface="Courier New" panose="02070609020205020404"/>
                <a:ea typeface="Courier New" panose="02070609020205020404"/>
                <a:cs typeface="Courier New" panose="02070609020205020404"/>
                <a:sym typeface="Courier New" panose="02070609020205020404"/>
              </a:rPr>
              <a:t>AC-2.3</a:t>
            </a:r>
            <a:endParaRPr sz="1150" b="0" i="0" u="none" strike="noStrike" cap="none">
              <a:solidFill>
                <a:schemeClr val="dk1"/>
              </a:solidFill>
              <a:latin typeface="Calibri"/>
              <a:ea typeface="Calibri"/>
              <a:cs typeface="Calibri"/>
              <a:sym typeface="Calibri"/>
            </a:endParaRPr>
          </a:p>
        </p:txBody>
      </p:sp>
      <p:sp>
        <p:nvSpPr>
          <p:cNvPr id="559" name="Google Shape;559;p23"/>
          <p:cNvSpPr txBox="1"/>
          <p:nvPr/>
        </p:nvSpPr>
        <p:spPr>
          <a:xfrm>
            <a:off x="8156448" y="2395728"/>
            <a:ext cx="3239719" cy="77724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0F1B33"/>
              </a:buClr>
              <a:buSzPts val="1200"/>
              <a:buFont typeface="Calibri"/>
              <a:buNone/>
            </a:pPr>
            <a:r>
              <a:rPr lang="en-US" sz="1200" b="0" i="0" u="none" strike="noStrike" cap="none">
                <a:solidFill>
                  <a:srgbClr val="0F1B33"/>
                </a:solidFill>
                <a:latin typeface="Calibri"/>
                <a:ea typeface="Calibri"/>
                <a:cs typeface="Calibri"/>
                <a:sym typeface="Calibri"/>
              </a:rPr>
              <a:t>Koreksi tanpa nama tetap ditandai dari manusia, dengan keterangan “unknown”.</a:t>
            </a:r>
            <a:endParaRPr sz="1200" b="0" i="0" u="none" strike="noStrike" cap="none">
              <a:solidFill>
                <a:schemeClr val="dk1"/>
              </a:solidFill>
              <a:latin typeface="Calibri"/>
              <a:ea typeface="Calibri"/>
              <a:cs typeface="Calibri"/>
              <a:sym typeface="Calibri"/>
            </a:endParaRPr>
          </a:p>
        </p:txBody>
      </p:sp>
      <p:sp>
        <p:nvSpPr>
          <p:cNvPr id="560" name="Google Shape;560;p23"/>
          <p:cNvSpPr/>
          <p:nvPr/>
        </p:nvSpPr>
        <p:spPr>
          <a:xfrm>
            <a:off x="7955280" y="3310128"/>
            <a:ext cx="3642055" cy="1188720"/>
          </a:xfrm>
          <a:prstGeom prst="roundRect">
            <a:avLst>
              <a:gd name="adj" fmla="val 5385"/>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1" name="Google Shape;561;p23"/>
          <p:cNvSpPr txBox="1"/>
          <p:nvPr/>
        </p:nvSpPr>
        <p:spPr>
          <a:xfrm>
            <a:off x="8156448" y="3419856"/>
            <a:ext cx="3239719" cy="2560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C2E6B"/>
              </a:buClr>
              <a:buSzPts val="1150"/>
              <a:buFont typeface="Courier New" panose="02070609020205020404"/>
              <a:buNone/>
            </a:pPr>
            <a:r>
              <a:rPr lang="en-US" sz="1150" b="1" i="0" u="none" strike="noStrike" cap="none">
                <a:solidFill>
                  <a:srgbClr val="0C2E6B"/>
                </a:solidFill>
                <a:latin typeface="Courier New" panose="02070609020205020404"/>
                <a:ea typeface="Courier New" panose="02070609020205020404"/>
                <a:cs typeface="Courier New" panose="02070609020205020404"/>
                <a:sym typeface="Courier New" panose="02070609020205020404"/>
              </a:rPr>
              <a:t>AC-2.4</a:t>
            </a:r>
            <a:endParaRPr sz="1150" b="0" i="0" u="none" strike="noStrike" cap="none">
              <a:solidFill>
                <a:schemeClr val="dk1"/>
              </a:solidFill>
              <a:latin typeface="Calibri"/>
              <a:ea typeface="Calibri"/>
              <a:cs typeface="Calibri"/>
              <a:sym typeface="Calibri"/>
            </a:endParaRPr>
          </a:p>
        </p:txBody>
      </p:sp>
      <p:sp>
        <p:nvSpPr>
          <p:cNvPr id="562" name="Google Shape;562;p23"/>
          <p:cNvSpPr txBox="1"/>
          <p:nvPr/>
        </p:nvSpPr>
        <p:spPr>
          <a:xfrm>
            <a:off x="8156448" y="3694176"/>
            <a:ext cx="3239719" cy="77724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0F1B33"/>
              </a:buClr>
              <a:buSzPts val="1200"/>
              <a:buFont typeface="Calibri"/>
              <a:buNone/>
            </a:pPr>
            <a:r>
              <a:rPr lang="en-US" sz="1200" b="0" i="0" u="none" strike="noStrike" cap="none">
                <a:solidFill>
                  <a:srgbClr val="0F1B33"/>
                </a:solidFill>
                <a:latin typeface="Calibri"/>
                <a:ea typeface="Calibri"/>
                <a:cs typeface="Calibri"/>
                <a:sym typeface="Calibri"/>
              </a:rPr>
              <a:t>Keterangan koreksi hanya muncul kalau memang ada koreksi.</a:t>
            </a:r>
            <a:endParaRPr sz="1200" b="0" i="0" u="none" strike="noStrike" cap="none">
              <a:solidFill>
                <a:schemeClr val="dk1"/>
              </a:solidFill>
              <a:latin typeface="Calibri"/>
              <a:ea typeface="Calibri"/>
              <a:cs typeface="Calibri"/>
              <a:sym typeface="Calibri"/>
            </a:endParaRPr>
          </a:p>
        </p:txBody>
      </p:sp>
      <p:sp>
        <p:nvSpPr>
          <p:cNvPr id="563" name="Google Shape;563;p23"/>
          <p:cNvSpPr/>
          <p:nvPr/>
        </p:nvSpPr>
        <p:spPr>
          <a:xfrm>
            <a:off x="7955280" y="4608576"/>
            <a:ext cx="3642055" cy="1188720"/>
          </a:xfrm>
          <a:prstGeom prst="roundRect">
            <a:avLst>
              <a:gd name="adj" fmla="val 5385"/>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4" name="Google Shape;564;p23"/>
          <p:cNvSpPr txBox="1"/>
          <p:nvPr/>
        </p:nvSpPr>
        <p:spPr>
          <a:xfrm>
            <a:off x="8156448" y="4718304"/>
            <a:ext cx="3239719" cy="2560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C2E6B"/>
              </a:buClr>
              <a:buSzPts val="1150"/>
              <a:buFont typeface="Courier New" panose="02070609020205020404"/>
              <a:buNone/>
            </a:pPr>
            <a:r>
              <a:rPr lang="en-US" sz="1150" b="1" i="0" u="none" strike="noStrike" cap="none">
                <a:solidFill>
                  <a:srgbClr val="0C2E6B"/>
                </a:solidFill>
                <a:latin typeface="Courier New" panose="02070609020205020404"/>
                <a:ea typeface="Courier New" panose="02070609020205020404"/>
                <a:cs typeface="Courier New" panose="02070609020205020404"/>
                <a:sym typeface="Courier New" panose="02070609020205020404"/>
              </a:rPr>
              <a:t>AC-3.2</a:t>
            </a:r>
            <a:endParaRPr sz="1150" b="0" i="0" u="none" strike="noStrike" cap="none">
              <a:solidFill>
                <a:schemeClr val="dk1"/>
              </a:solidFill>
              <a:latin typeface="Calibri"/>
              <a:ea typeface="Calibri"/>
              <a:cs typeface="Calibri"/>
              <a:sym typeface="Calibri"/>
            </a:endParaRPr>
          </a:p>
        </p:txBody>
      </p:sp>
      <p:sp>
        <p:nvSpPr>
          <p:cNvPr id="565" name="Google Shape;565;p23"/>
          <p:cNvSpPr txBox="1"/>
          <p:nvPr/>
        </p:nvSpPr>
        <p:spPr>
          <a:xfrm>
            <a:off x="8156448" y="4992624"/>
            <a:ext cx="3239719" cy="77724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0F1B33"/>
              </a:buClr>
              <a:buSzPts val="1200"/>
              <a:buFont typeface="Calibri"/>
              <a:buNone/>
            </a:pPr>
            <a:r>
              <a:rPr lang="en-US" sz="1200" b="0" i="0" u="none" strike="noStrike" cap="none">
                <a:solidFill>
                  <a:srgbClr val="0F1B33"/>
                </a:solidFill>
                <a:latin typeface="Calibri"/>
                <a:ea typeface="Calibri"/>
                <a:cs typeface="Calibri"/>
                <a:sym typeface="Calibri"/>
              </a:rPr>
              <a:t>Keyakinan yang kosong tampil “belum terukur”, bukan LOW merah.</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570" name="Shape 570"/>
        <p:cNvGrpSpPr/>
        <p:nvPr/>
      </p:nvGrpSpPr>
      <p:grpSpPr>
        <a:xfrm>
          <a:off x="0" y="0"/>
          <a:ext cx="0" cy="0"/>
          <a:chOff x="0" y="0"/>
          <a:chExt cx="0" cy="0"/>
        </a:xfrm>
      </p:grpSpPr>
      <p:sp>
        <p:nvSpPr>
          <p:cNvPr id="571" name="Google Shape;571;p24"/>
          <p:cNvSpPr txBox="1"/>
          <p:nvPr/>
        </p:nvSpPr>
        <p:spPr>
          <a:xfrm>
            <a:off x="11277295" y="6419088"/>
            <a:ext cx="457200"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A94A8"/>
              </a:buClr>
              <a:buSzPts val="1000"/>
              <a:buFont typeface="Calibri"/>
              <a:buNone/>
            </a:pPr>
            <a:r>
              <a:rPr lang="en-US" sz="1000" b="0" i="0" u="none" strike="noStrike" cap="none">
                <a:solidFill>
                  <a:srgbClr val="8A94A8"/>
                </a:solidFill>
                <a:latin typeface="Calibri"/>
                <a:ea typeface="Calibri"/>
                <a:cs typeface="Calibri"/>
                <a:sym typeface="Calibri"/>
              </a:rPr>
              <a:t>22</a:t>
            </a:r>
            <a:endParaRPr sz="1000" b="0" i="0" u="none" strike="noStrike" cap="none">
              <a:solidFill>
                <a:schemeClr val="dk1"/>
              </a:solidFill>
              <a:latin typeface="Calibri"/>
              <a:ea typeface="Calibri"/>
              <a:cs typeface="Calibri"/>
              <a:sym typeface="Calibri"/>
            </a:endParaRPr>
          </a:p>
        </p:txBody>
      </p:sp>
      <p:sp>
        <p:nvSpPr>
          <p:cNvPr id="572" name="Google Shape;572;p24"/>
          <p:cNvSpPr txBox="1"/>
          <p:nvPr/>
        </p:nvSpPr>
        <p:spPr>
          <a:xfrm>
            <a:off x="594360" y="6419088"/>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A94A8"/>
              </a:buClr>
              <a:buSzPts val="1000"/>
              <a:buFont typeface="Calibri"/>
              <a:buNone/>
            </a:pPr>
            <a:r>
              <a:rPr lang="en-US" sz="1000" b="0" i="0" u="none" strike="noStrike" cap="none">
                <a:solidFill>
                  <a:srgbClr val="8A94A8"/>
                </a:solidFill>
                <a:latin typeface="Calibri"/>
                <a:ea typeface="Calibri"/>
                <a:cs typeface="Calibri"/>
                <a:sym typeface="Calibri"/>
              </a:rPr>
              <a:t>Aulia Afriza  ·  Kandidat Fullstack · Frontend depth</a:t>
            </a:r>
            <a:endParaRPr sz="1000" b="0" i="0" u="none" strike="noStrike" cap="none">
              <a:solidFill>
                <a:schemeClr val="dk1"/>
              </a:solidFill>
              <a:latin typeface="Calibri"/>
              <a:ea typeface="Calibri"/>
              <a:cs typeface="Calibri"/>
              <a:sym typeface="Calibri"/>
            </a:endParaRPr>
          </a:p>
        </p:txBody>
      </p:sp>
      <p:sp>
        <p:nvSpPr>
          <p:cNvPr id="573" name="Google Shape;573;p24"/>
          <p:cNvSpPr txBox="1"/>
          <p:nvPr/>
        </p:nvSpPr>
        <p:spPr>
          <a:xfrm>
            <a:off x="594360" y="438912"/>
            <a:ext cx="11002975"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2800"/>
              <a:buFont typeface="Calibri"/>
              <a:buNone/>
            </a:pPr>
            <a:r>
              <a:rPr lang="en-US" sz="2800" b="1" i="0" u="none" strike="noStrike" cap="none">
                <a:solidFill>
                  <a:srgbClr val="0F1B33"/>
                </a:solidFill>
                <a:latin typeface="Calibri"/>
                <a:ea typeface="Calibri"/>
                <a:cs typeface="Calibri"/>
                <a:sym typeface="Calibri"/>
              </a:rPr>
              <a:t>Hasil: data kosong tidak lagi dianggap nilai terendah</a:t>
            </a:r>
            <a:endParaRPr sz="2800" b="0" i="0" u="none" strike="noStrike" cap="none">
              <a:solidFill>
                <a:schemeClr val="dk1"/>
              </a:solidFill>
              <a:latin typeface="Calibri"/>
              <a:ea typeface="Calibri"/>
              <a:cs typeface="Calibri"/>
              <a:sym typeface="Calibri"/>
            </a:endParaRPr>
          </a:p>
        </p:txBody>
      </p:sp>
      <p:sp>
        <p:nvSpPr>
          <p:cNvPr id="574" name="Google Shape;574;p24"/>
          <p:cNvSpPr txBox="1"/>
          <p:nvPr/>
        </p:nvSpPr>
        <p:spPr>
          <a:xfrm>
            <a:off x="594360" y="987552"/>
            <a:ext cx="11002975"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5617A"/>
              </a:buClr>
              <a:buSzPts val="1500"/>
              <a:buFont typeface="Calibri"/>
              <a:buNone/>
            </a:pPr>
            <a:r>
              <a:rPr lang="en-US" sz="1500" b="0" i="0" u="none" strike="noStrike" cap="none">
                <a:solidFill>
                  <a:srgbClr val="55617A"/>
                </a:solidFill>
                <a:latin typeface="Calibri"/>
                <a:ea typeface="Calibri"/>
                <a:cs typeface="Calibri"/>
                <a:sym typeface="Calibri"/>
              </a:rPr>
              <a:t>§3.2 · Perubahan kecil di frontend, dampaknya besar untuk kandidat.</a:t>
            </a:r>
            <a:endParaRPr sz="1500" b="0" i="0" u="none" strike="noStrike" cap="none">
              <a:solidFill>
                <a:schemeClr val="dk1"/>
              </a:solidFill>
              <a:latin typeface="Calibri"/>
              <a:ea typeface="Calibri"/>
              <a:cs typeface="Calibri"/>
              <a:sym typeface="Calibri"/>
            </a:endParaRPr>
          </a:p>
        </p:txBody>
      </p:sp>
      <p:sp>
        <p:nvSpPr>
          <p:cNvPr id="575" name="Google Shape;575;p24"/>
          <p:cNvSpPr txBox="1"/>
          <p:nvPr/>
        </p:nvSpPr>
        <p:spPr>
          <a:xfrm>
            <a:off x="594360" y="1572768"/>
            <a:ext cx="7498080" cy="2560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D14343"/>
              </a:buClr>
              <a:buSzPts val="1200"/>
              <a:buFont typeface="Calibri"/>
              <a:buNone/>
            </a:pPr>
            <a:r>
              <a:rPr lang="en-US" sz="1200" b="1" i="0" u="none" strike="noStrike" cap="none">
                <a:solidFill>
                  <a:srgbClr val="D14343"/>
                </a:solidFill>
                <a:latin typeface="Calibri"/>
                <a:ea typeface="Calibri"/>
                <a:cs typeface="Calibri"/>
                <a:sym typeface="Calibri"/>
              </a:rPr>
              <a:t>Sebelum: level yang kosong ditampilkan sebagai L1 Foundational</a:t>
            </a:r>
            <a:endParaRPr sz="1200" b="0" i="0" u="none" strike="noStrike" cap="none">
              <a:solidFill>
                <a:schemeClr val="dk1"/>
              </a:solidFill>
              <a:latin typeface="Calibri"/>
              <a:ea typeface="Calibri"/>
              <a:cs typeface="Calibri"/>
              <a:sym typeface="Calibri"/>
            </a:endParaRPr>
          </a:p>
        </p:txBody>
      </p:sp>
      <p:pic>
        <p:nvPicPr>
          <p:cNvPr id="576" name="Google Shape;576;p24" descr="img/p04_before.png"/>
          <p:cNvPicPr preferRelativeResize="0"/>
          <p:nvPr/>
        </p:nvPicPr>
        <p:blipFill rotWithShape="1">
          <a:blip r:embed="rId1"/>
          <a:srcRect/>
          <a:stretch>
            <a:fillRect/>
          </a:stretch>
        </p:blipFill>
        <p:spPr>
          <a:xfrm>
            <a:off x="594360" y="1865376"/>
            <a:ext cx="7498080" cy="1505639"/>
          </a:xfrm>
          <a:prstGeom prst="rect">
            <a:avLst/>
          </a:prstGeom>
          <a:noFill/>
          <a:ln>
            <a:noFill/>
          </a:ln>
        </p:spPr>
      </p:pic>
      <p:sp>
        <p:nvSpPr>
          <p:cNvPr id="577" name="Google Shape;577;p24"/>
          <p:cNvSpPr/>
          <p:nvPr/>
        </p:nvSpPr>
        <p:spPr>
          <a:xfrm>
            <a:off x="594360" y="1865376"/>
            <a:ext cx="7498080" cy="1505639"/>
          </a:xfrm>
          <a:prstGeom prst="rect">
            <a:avLst/>
          </a:prstGeom>
          <a:no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8" name="Google Shape;578;p24"/>
          <p:cNvSpPr txBox="1"/>
          <p:nvPr/>
        </p:nvSpPr>
        <p:spPr>
          <a:xfrm>
            <a:off x="594360" y="3736775"/>
            <a:ext cx="7498080" cy="2560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C6FF3"/>
              </a:buClr>
              <a:buSzPts val="1200"/>
              <a:buFont typeface="Calibri"/>
              <a:buNone/>
            </a:pPr>
            <a:r>
              <a:rPr lang="en-US" sz="1200" b="1" i="0" u="none" strike="noStrike" cap="none">
                <a:solidFill>
                  <a:srgbClr val="1C6FF3"/>
                </a:solidFill>
                <a:latin typeface="Calibri"/>
                <a:ea typeface="Calibri"/>
                <a:cs typeface="Calibri"/>
                <a:sym typeface="Calibri"/>
              </a:rPr>
              <a:t>Sesudah: data yang sama tampil “—” dengan label “tidak dinilai”</a:t>
            </a:r>
            <a:endParaRPr sz="1200" b="0" i="0" u="none" strike="noStrike" cap="none">
              <a:solidFill>
                <a:schemeClr val="dk1"/>
              </a:solidFill>
              <a:latin typeface="Calibri"/>
              <a:ea typeface="Calibri"/>
              <a:cs typeface="Calibri"/>
              <a:sym typeface="Calibri"/>
            </a:endParaRPr>
          </a:p>
        </p:txBody>
      </p:sp>
      <p:pic>
        <p:nvPicPr>
          <p:cNvPr id="579" name="Google Shape;579;p24" descr="img/p04_after.png"/>
          <p:cNvPicPr preferRelativeResize="0"/>
          <p:nvPr/>
        </p:nvPicPr>
        <p:blipFill rotWithShape="1">
          <a:blip r:embed="rId2"/>
          <a:srcRect/>
          <a:stretch>
            <a:fillRect/>
          </a:stretch>
        </p:blipFill>
        <p:spPr>
          <a:xfrm>
            <a:off x="594360" y="4029383"/>
            <a:ext cx="7498080" cy="1520909"/>
          </a:xfrm>
          <a:prstGeom prst="rect">
            <a:avLst/>
          </a:prstGeom>
          <a:noFill/>
          <a:ln>
            <a:noFill/>
          </a:ln>
        </p:spPr>
      </p:pic>
      <p:sp>
        <p:nvSpPr>
          <p:cNvPr id="580" name="Google Shape;580;p24"/>
          <p:cNvSpPr/>
          <p:nvPr/>
        </p:nvSpPr>
        <p:spPr>
          <a:xfrm>
            <a:off x="594360" y="4029383"/>
            <a:ext cx="7498080" cy="1520909"/>
          </a:xfrm>
          <a:prstGeom prst="rect">
            <a:avLst/>
          </a:prstGeom>
          <a:no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1" name="Google Shape;581;p24"/>
          <p:cNvSpPr/>
          <p:nvPr/>
        </p:nvSpPr>
        <p:spPr>
          <a:xfrm>
            <a:off x="8503920" y="1572768"/>
            <a:ext cx="3093415" cy="4434840"/>
          </a:xfrm>
          <a:prstGeom prst="roundRect">
            <a:avLst>
              <a:gd name="adj" fmla="val 2069"/>
            </a:avLst>
          </a:prstGeom>
          <a:solidFill>
            <a:srgbClr val="FDECEC"/>
          </a:solidFill>
          <a:ln w="9525" cap="flat" cmpd="sng">
            <a:solidFill>
              <a:srgbClr val="FDECE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2" name="Google Shape;582;p24"/>
          <p:cNvSpPr txBox="1"/>
          <p:nvPr/>
        </p:nvSpPr>
        <p:spPr>
          <a:xfrm>
            <a:off x="8759952" y="1737360"/>
            <a:ext cx="2581351"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D14343"/>
              </a:buClr>
              <a:buSzPts val="1450"/>
              <a:buFont typeface="Calibri"/>
              <a:buNone/>
            </a:pPr>
            <a:r>
              <a:rPr lang="en-US" sz="1450" b="1" i="0" u="none" strike="noStrike" cap="none">
                <a:solidFill>
                  <a:srgbClr val="D14343"/>
                </a:solidFill>
                <a:latin typeface="Calibri"/>
                <a:ea typeface="Calibri"/>
                <a:cs typeface="Calibri"/>
                <a:sym typeface="Calibri"/>
              </a:rPr>
              <a:t>Kenapa ini penting</a:t>
            </a:r>
            <a:endParaRPr sz="1450" b="0" i="0" u="none" strike="noStrike" cap="none">
              <a:solidFill>
                <a:schemeClr val="dk1"/>
              </a:solidFill>
              <a:latin typeface="Calibri"/>
              <a:ea typeface="Calibri"/>
              <a:cs typeface="Calibri"/>
              <a:sym typeface="Calibri"/>
            </a:endParaRPr>
          </a:p>
        </p:txBody>
      </p:sp>
      <p:sp>
        <p:nvSpPr>
          <p:cNvPr id="583" name="Google Shape;583;p24"/>
          <p:cNvSpPr txBox="1"/>
          <p:nvPr/>
        </p:nvSpPr>
        <p:spPr>
          <a:xfrm>
            <a:off x="8759952" y="2148840"/>
            <a:ext cx="2581351" cy="3657600"/>
          </a:xfrm>
          <a:prstGeom prst="rect">
            <a:avLst/>
          </a:prstGeom>
          <a:noFill/>
          <a:ln>
            <a:noFill/>
          </a:ln>
        </p:spPr>
        <p:txBody>
          <a:bodyPr spcFirstLastPara="1" wrap="square" lIns="0" tIns="0" rIns="0" bIns="0" anchor="t" anchorCtr="0">
            <a:noAutofit/>
          </a:bodyPr>
          <a:lstStyle/>
          <a:p>
            <a:pPr marL="0" marR="0" lvl="0" indent="0" algn="l" rtl="0">
              <a:lnSpc>
                <a:spcPct val="144000"/>
              </a:lnSpc>
              <a:spcBef>
                <a:spcPts val="0"/>
              </a:spcBef>
              <a:spcAft>
                <a:spcPts val="0"/>
              </a:spcAft>
              <a:buClr>
                <a:srgbClr val="0F1B33"/>
              </a:buClr>
              <a:buSzPts val="1250"/>
              <a:buFont typeface="Calibri"/>
              <a:buNone/>
            </a:pPr>
            <a:r>
              <a:rPr lang="en-US" sz="1250" b="1" i="0" u="none" strike="noStrike" cap="none">
                <a:solidFill>
                  <a:srgbClr val="0F1B33"/>
                </a:solidFill>
                <a:latin typeface="Calibri"/>
                <a:ea typeface="Calibri"/>
                <a:cs typeface="Calibri"/>
                <a:sym typeface="Calibri"/>
              </a:rPr>
              <a:t>L1 adalah nilai paling rendah, bukan nilai netral.</a:t>
            </a:r>
            <a:endParaRPr sz="1250" b="0" i="0" u="none" strike="noStrike" cap="none">
              <a:solidFill>
                <a:schemeClr val="dk1"/>
              </a:solidFill>
              <a:latin typeface="Calibri"/>
              <a:ea typeface="Calibri"/>
              <a:cs typeface="Calibri"/>
              <a:sym typeface="Calibri"/>
            </a:endParaRPr>
          </a:p>
          <a:p>
            <a:pPr marL="0" marR="0" lvl="0" indent="0" algn="l" rtl="0">
              <a:lnSpc>
                <a:spcPct val="300000"/>
              </a:lnSpc>
              <a:spcBef>
                <a:spcPts val="0"/>
              </a:spcBef>
              <a:spcAft>
                <a:spcPts val="0"/>
              </a:spcAft>
              <a:buClr>
                <a:srgbClr val="0F1B33"/>
              </a:buClr>
              <a:buSzPts val="600"/>
              <a:buFont typeface="Calibri"/>
              <a:buNone/>
            </a:pPr>
            <a:r>
              <a:rPr lang="en-US" sz="600" b="0" i="0" u="none" strike="noStrike" cap="none">
                <a:solidFill>
                  <a:srgbClr val="0F1B33"/>
                </a:solidFill>
                <a:latin typeface="Calibri"/>
                <a:ea typeface="Calibri"/>
                <a:cs typeface="Calibri"/>
                <a:sym typeface="Calibri"/>
              </a:rPr>
              <a:t> </a:t>
            </a:r>
            <a:endParaRPr sz="1250" b="0" i="0" u="none" strike="noStrike" cap="none">
              <a:solidFill>
                <a:schemeClr val="dk1"/>
              </a:solidFill>
              <a:latin typeface="Calibri"/>
              <a:ea typeface="Calibri"/>
              <a:cs typeface="Calibri"/>
              <a:sym typeface="Calibri"/>
            </a:endParaRPr>
          </a:p>
          <a:p>
            <a:pPr marL="0" marR="0" lvl="0" indent="0" algn="l" rtl="0">
              <a:lnSpc>
                <a:spcPct val="144000"/>
              </a:lnSpc>
              <a:spcBef>
                <a:spcPts val="0"/>
              </a:spcBef>
              <a:spcAft>
                <a:spcPts val="0"/>
              </a:spcAft>
              <a:buClr>
                <a:srgbClr val="0F1B33"/>
              </a:buClr>
              <a:buSzPts val="1250"/>
              <a:buFont typeface="Calibri"/>
              <a:buNone/>
            </a:pPr>
            <a:r>
              <a:rPr lang="en-US" sz="1250" b="0" i="0" u="none" strike="noStrike" cap="none">
                <a:solidFill>
                  <a:srgbClr val="0F1B33"/>
                </a:solidFill>
                <a:latin typeface="Calibri"/>
                <a:ea typeface="Calibri"/>
                <a:cs typeface="Calibri"/>
                <a:sym typeface="Calibri"/>
              </a:rPr>
              <a:t>Kode lama mengubah “kami belum punya penilaian” menjadi “kandidat ini paling lemah”. Padahal kandidat tidak bisa melihat atau membantahnya.</a:t>
            </a:r>
            <a:endParaRPr sz="1250" b="0" i="0" u="none" strike="noStrike" cap="none">
              <a:solidFill>
                <a:schemeClr val="dk1"/>
              </a:solidFill>
              <a:latin typeface="Calibri"/>
              <a:ea typeface="Calibri"/>
              <a:cs typeface="Calibri"/>
              <a:sym typeface="Calibri"/>
            </a:endParaRPr>
          </a:p>
          <a:p>
            <a:pPr marL="0" marR="0" lvl="0" indent="0" algn="l" rtl="0">
              <a:lnSpc>
                <a:spcPct val="300000"/>
              </a:lnSpc>
              <a:spcBef>
                <a:spcPts val="0"/>
              </a:spcBef>
              <a:spcAft>
                <a:spcPts val="0"/>
              </a:spcAft>
              <a:buClr>
                <a:srgbClr val="0F1B33"/>
              </a:buClr>
              <a:buSzPts val="600"/>
              <a:buFont typeface="Calibri"/>
              <a:buNone/>
            </a:pPr>
            <a:r>
              <a:rPr lang="en-US" sz="600" b="0" i="0" u="none" strike="noStrike" cap="none">
                <a:solidFill>
                  <a:srgbClr val="0F1B33"/>
                </a:solidFill>
                <a:latin typeface="Calibri"/>
                <a:ea typeface="Calibri"/>
                <a:cs typeface="Calibri"/>
                <a:sym typeface="Calibri"/>
              </a:rPr>
              <a:t> </a:t>
            </a:r>
            <a:endParaRPr sz="1250" b="0" i="0" u="none" strike="noStrike" cap="none">
              <a:solidFill>
                <a:schemeClr val="dk1"/>
              </a:solidFill>
              <a:latin typeface="Calibri"/>
              <a:ea typeface="Calibri"/>
              <a:cs typeface="Calibri"/>
              <a:sym typeface="Calibri"/>
            </a:endParaRPr>
          </a:p>
          <a:p>
            <a:pPr marL="0" marR="0" lvl="0" indent="0" algn="l" rtl="0">
              <a:lnSpc>
                <a:spcPct val="144000"/>
              </a:lnSpc>
              <a:spcBef>
                <a:spcPts val="0"/>
              </a:spcBef>
              <a:spcAft>
                <a:spcPts val="0"/>
              </a:spcAft>
              <a:buClr>
                <a:srgbClr val="0F1B33"/>
              </a:buClr>
              <a:buSzPts val="1250"/>
              <a:buFont typeface="Calibri"/>
              <a:buNone/>
            </a:pPr>
            <a:r>
              <a:rPr lang="en-US" sz="1250" b="0" i="0" u="none" strike="noStrike" cap="none">
                <a:solidFill>
                  <a:srgbClr val="0F1B33"/>
                </a:solidFill>
                <a:latin typeface="Calibri"/>
                <a:ea typeface="Calibri"/>
                <a:cs typeface="Calibri"/>
                <a:sym typeface="Calibri"/>
              </a:rPr>
              <a:t>Sekarang, kalau belum ada nilai, yang tampil memang “belum ada nilai”.</a:t>
            </a:r>
            <a:endParaRPr sz="1250" b="0" i="0" u="none" strike="noStrike" cap="non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588" name="Shape 588"/>
        <p:cNvGrpSpPr/>
        <p:nvPr/>
      </p:nvGrpSpPr>
      <p:grpSpPr>
        <a:xfrm>
          <a:off x="0" y="0"/>
          <a:ext cx="0" cy="0"/>
          <a:chOff x="0" y="0"/>
          <a:chExt cx="0" cy="0"/>
        </a:xfrm>
      </p:grpSpPr>
      <p:sp>
        <p:nvSpPr>
          <p:cNvPr id="589" name="Google Shape;589;p25"/>
          <p:cNvSpPr txBox="1"/>
          <p:nvPr/>
        </p:nvSpPr>
        <p:spPr>
          <a:xfrm>
            <a:off x="11277295" y="6419088"/>
            <a:ext cx="457200"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A94A8"/>
              </a:buClr>
              <a:buSzPts val="1000"/>
              <a:buFont typeface="Calibri"/>
              <a:buNone/>
            </a:pPr>
            <a:r>
              <a:rPr lang="en-US" sz="1000" b="0" i="0" u="none" strike="noStrike" cap="none">
                <a:solidFill>
                  <a:srgbClr val="8A94A8"/>
                </a:solidFill>
                <a:latin typeface="Calibri"/>
                <a:ea typeface="Calibri"/>
                <a:cs typeface="Calibri"/>
                <a:sym typeface="Calibri"/>
              </a:rPr>
              <a:t>23</a:t>
            </a:r>
            <a:endParaRPr sz="1000" b="0" i="0" u="none" strike="noStrike" cap="none">
              <a:solidFill>
                <a:schemeClr val="dk1"/>
              </a:solidFill>
              <a:latin typeface="Calibri"/>
              <a:ea typeface="Calibri"/>
              <a:cs typeface="Calibri"/>
              <a:sym typeface="Calibri"/>
            </a:endParaRPr>
          </a:p>
        </p:txBody>
      </p:sp>
      <p:sp>
        <p:nvSpPr>
          <p:cNvPr id="590" name="Google Shape;590;p25"/>
          <p:cNvSpPr txBox="1"/>
          <p:nvPr/>
        </p:nvSpPr>
        <p:spPr>
          <a:xfrm>
            <a:off x="594360" y="6419088"/>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A94A8"/>
              </a:buClr>
              <a:buSzPts val="1000"/>
              <a:buFont typeface="Calibri"/>
              <a:buNone/>
            </a:pPr>
            <a:r>
              <a:rPr lang="en-US" sz="1000" b="0" i="0" u="none" strike="noStrike" cap="none">
                <a:solidFill>
                  <a:srgbClr val="8A94A8"/>
                </a:solidFill>
                <a:latin typeface="Calibri"/>
                <a:ea typeface="Calibri"/>
                <a:cs typeface="Calibri"/>
                <a:sym typeface="Calibri"/>
              </a:rPr>
              <a:t>Aulia Afriza  ·  Kandidat Fullstack · Frontend depth</a:t>
            </a:r>
            <a:endParaRPr sz="1000" b="0" i="0" u="none" strike="noStrike" cap="none">
              <a:solidFill>
                <a:schemeClr val="dk1"/>
              </a:solidFill>
              <a:latin typeface="Calibri"/>
              <a:ea typeface="Calibri"/>
              <a:cs typeface="Calibri"/>
              <a:sym typeface="Calibri"/>
            </a:endParaRPr>
          </a:p>
        </p:txBody>
      </p:sp>
      <p:sp>
        <p:nvSpPr>
          <p:cNvPr id="591" name="Google Shape;591;p25"/>
          <p:cNvSpPr txBox="1"/>
          <p:nvPr/>
        </p:nvSpPr>
        <p:spPr>
          <a:xfrm>
            <a:off x="594360" y="438912"/>
            <a:ext cx="11002975"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2800"/>
              <a:buFont typeface="Calibri"/>
              <a:buNone/>
            </a:pPr>
            <a:r>
              <a:rPr lang="en-US" sz="2800" b="1" i="0" u="none" strike="noStrike" cap="none">
                <a:solidFill>
                  <a:srgbClr val="0F1B33"/>
                </a:solidFill>
                <a:latin typeface="Calibri"/>
                <a:ea typeface="Calibri"/>
                <a:cs typeface="Calibri"/>
                <a:sym typeface="Calibri"/>
              </a:rPr>
              <a:t>Aksesibilitas dan tampilan di ponsel</a:t>
            </a:r>
            <a:endParaRPr sz="2800" b="0" i="0" u="none" strike="noStrike" cap="none">
              <a:solidFill>
                <a:schemeClr val="dk1"/>
              </a:solidFill>
              <a:latin typeface="Calibri"/>
              <a:ea typeface="Calibri"/>
              <a:cs typeface="Calibri"/>
              <a:sym typeface="Calibri"/>
            </a:endParaRPr>
          </a:p>
        </p:txBody>
      </p:sp>
      <p:sp>
        <p:nvSpPr>
          <p:cNvPr id="592" name="Google Shape;592;p25"/>
          <p:cNvSpPr txBox="1"/>
          <p:nvPr/>
        </p:nvSpPr>
        <p:spPr>
          <a:xfrm>
            <a:off x="594360" y="987552"/>
            <a:ext cx="11002975"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5617A"/>
              </a:buClr>
              <a:buSzPts val="1500"/>
              <a:buFont typeface="Calibri"/>
              <a:buNone/>
            </a:pPr>
            <a:r>
              <a:rPr lang="en-US" sz="1500" b="0" i="0" u="none" strike="noStrike" cap="none">
                <a:solidFill>
                  <a:srgbClr val="55617A"/>
                </a:solidFill>
                <a:latin typeface="Calibri"/>
                <a:ea typeface="Calibri"/>
                <a:cs typeface="Calibri"/>
                <a:sym typeface="Calibri"/>
              </a:rPr>
              <a:t>§3.4 · Status tidak cuma dibedakan warna, dan tabel tetap nyaman dipakai di ponsel.</a:t>
            </a:r>
            <a:endParaRPr sz="1500" b="0" i="0" u="none" strike="noStrike" cap="none">
              <a:solidFill>
                <a:schemeClr val="dk1"/>
              </a:solidFill>
              <a:latin typeface="Calibri"/>
              <a:ea typeface="Calibri"/>
              <a:cs typeface="Calibri"/>
              <a:sym typeface="Calibri"/>
            </a:endParaRPr>
          </a:p>
        </p:txBody>
      </p:sp>
      <p:sp>
        <p:nvSpPr>
          <p:cNvPr id="593" name="Google Shape;593;p25"/>
          <p:cNvSpPr txBox="1"/>
          <p:nvPr/>
        </p:nvSpPr>
        <p:spPr>
          <a:xfrm>
            <a:off x="594360" y="1536192"/>
            <a:ext cx="4937760" cy="2560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D14343"/>
              </a:buClr>
              <a:buSzPts val="1200"/>
              <a:buFont typeface="Calibri"/>
              <a:buNone/>
            </a:pPr>
            <a:r>
              <a:rPr lang="en-US" sz="1200" b="1" i="0" u="none" strike="noStrike" cap="none">
                <a:solidFill>
                  <a:srgbClr val="D14343"/>
                </a:solidFill>
                <a:latin typeface="Calibri"/>
                <a:ea typeface="Calibri"/>
                <a:cs typeface="Calibri"/>
                <a:sym typeface="Calibri"/>
              </a:rPr>
              <a:t>Sebelum: di simulasi buta warna, emoji jadi kotak abu-abu</a:t>
            </a:r>
            <a:endParaRPr sz="1200" b="0" i="0" u="none" strike="noStrike" cap="none">
              <a:solidFill>
                <a:schemeClr val="dk1"/>
              </a:solidFill>
              <a:latin typeface="Calibri"/>
              <a:ea typeface="Calibri"/>
              <a:cs typeface="Calibri"/>
              <a:sym typeface="Calibri"/>
            </a:endParaRPr>
          </a:p>
        </p:txBody>
      </p:sp>
      <p:pic>
        <p:nvPicPr>
          <p:cNvPr id="594" name="Google Shape;594;p25" descr="img/a11y_before.png"/>
          <p:cNvPicPr preferRelativeResize="0"/>
          <p:nvPr/>
        </p:nvPicPr>
        <p:blipFill rotWithShape="1">
          <a:blip r:embed="rId1"/>
          <a:srcRect/>
          <a:stretch>
            <a:fillRect/>
          </a:stretch>
        </p:blipFill>
        <p:spPr>
          <a:xfrm>
            <a:off x="594360" y="1810512"/>
            <a:ext cx="4937760" cy="1645920"/>
          </a:xfrm>
          <a:prstGeom prst="rect">
            <a:avLst/>
          </a:prstGeom>
          <a:noFill/>
          <a:ln>
            <a:noFill/>
          </a:ln>
        </p:spPr>
      </p:pic>
      <p:sp>
        <p:nvSpPr>
          <p:cNvPr id="595" name="Google Shape;595;p25"/>
          <p:cNvSpPr/>
          <p:nvPr/>
        </p:nvSpPr>
        <p:spPr>
          <a:xfrm>
            <a:off x="594360" y="1810512"/>
            <a:ext cx="4937760" cy="1645920"/>
          </a:xfrm>
          <a:prstGeom prst="rect">
            <a:avLst/>
          </a:prstGeom>
          <a:no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6" name="Google Shape;596;p25"/>
          <p:cNvSpPr txBox="1"/>
          <p:nvPr/>
        </p:nvSpPr>
        <p:spPr>
          <a:xfrm>
            <a:off x="594360" y="3712464"/>
            <a:ext cx="4937760" cy="2560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C6FF3"/>
              </a:buClr>
              <a:buSzPts val="1200"/>
              <a:buFont typeface="Calibri"/>
              <a:buNone/>
            </a:pPr>
            <a:r>
              <a:rPr lang="en-US" sz="1200" b="1" i="0" u="none" strike="noStrike" cap="none">
                <a:solidFill>
                  <a:srgbClr val="1C6FF3"/>
                </a:solidFill>
                <a:latin typeface="Calibri"/>
                <a:ea typeface="Calibri"/>
                <a:cs typeface="Calibri"/>
                <a:sym typeface="Calibri"/>
              </a:rPr>
              <a:t>Sesudah: simbol teks dan label tetap terbaca tanpa warna</a:t>
            </a:r>
            <a:endParaRPr sz="1200" b="0" i="0" u="none" strike="noStrike" cap="none">
              <a:solidFill>
                <a:schemeClr val="dk1"/>
              </a:solidFill>
              <a:latin typeface="Calibri"/>
              <a:ea typeface="Calibri"/>
              <a:cs typeface="Calibri"/>
              <a:sym typeface="Calibri"/>
            </a:endParaRPr>
          </a:p>
        </p:txBody>
      </p:sp>
      <p:pic>
        <p:nvPicPr>
          <p:cNvPr id="597" name="Google Shape;597;p25" descr="img/a11y_after.png"/>
          <p:cNvPicPr preferRelativeResize="0"/>
          <p:nvPr/>
        </p:nvPicPr>
        <p:blipFill rotWithShape="1">
          <a:blip r:embed="rId2"/>
          <a:srcRect/>
          <a:stretch>
            <a:fillRect/>
          </a:stretch>
        </p:blipFill>
        <p:spPr>
          <a:xfrm>
            <a:off x="594360" y="3986784"/>
            <a:ext cx="4937760" cy="2234281"/>
          </a:xfrm>
          <a:prstGeom prst="rect">
            <a:avLst/>
          </a:prstGeom>
          <a:noFill/>
          <a:ln>
            <a:noFill/>
          </a:ln>
        </p:spPr>
      </p:pic>
      <p:sp>
        <p:nvSpPr>
          <p:cNvPr id="598" name="Google Shape;598;p25"/>
          <p:cNvSpPr/>
          <p:nvPr/>
        </p:nvSpPr>
        <p:spPr>
          <a:xfrm>
            <a:off x="594360" y="3986784"/>
            <a:ext cx="4937760" cy="2234281"/>
          </a:xfrm>
          <a:prstGeom prst="rect">
            <a:avLst/>
          </a:prstGeom>
          <a:no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599" name="Google Shape;599;p25" descr="img/mobile375.png"/>
          <p:cNvPicPr preferRelativeResize="0"/>
          <p:nvPr/>
        </p:nvPicPr>
        <p:blipFill rotWithShape="1">
          <a:blip r:embed="rId3"/>
          <a:srcRect/>
          <a:stretch>
            <a:fillRect/>
          </a:stretch>
        </p:blipFill>
        <p:spPr>
          <a:xfrm>
            <a:off x="5852160" y="1536192"/>
            <a:ext cx="2313432" cy="4206240"/>
          </a:xfrm>
          <a:prstGeom prst="rect">
            <a:avLst/>
          </a:prstGeom>
          <a:noFill/>
          <a:ln>
            <a:noFill/>
          </a:ln>
        </p:spPr>
      </p:pic>
      <p:sp>
        <p:nvSpPr>
          <p:cNvPr id="600" name="Google Shape;600;p25"/>
          <p:cNvSpPr/>
          <p:nvPr/>
        </p:nvSpPr>
        <p:spPr>
          <a:xfrm>
            <a:off x="5852160" y="1536192"/>
            <a:ext cx="2313432" cy="4206240"/>
          </a:xfrm>
          <a:prstGeom prst="rect">
            <a:avLst/>
          </a:prstGeom>
          <a:no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1" name="Google Shape;601;p25"/>
          <p:cNvSpPr txBox="1"/>
          <p:nvPr/>
        </p:nvSpPr>
        <p:spPr>
          <a:xfrm>
            <a:off x="5852160" y="5797296"/>
            <a:ext cx="2313432" cy="457200"/>
          </a:xfrm>
          <a:prstGeom prst="rect">
            <a:avLst/>
          </a:prstGeom>
          <a:noFill/>
          <a:ln>
            <a:noFill/>
          </a:ln>
        </p:spPr>
        <p:txBody>
          <a:bodyPr spcFirstLastPara="1" wrap="square" lIns="0" tIns="0" rIns="0" bIns="0" anchor="t" anchorCtr="0">
            <a:noAutofit/>
          </a:bodyPr>
          <a:lstStyle/>
          <a:p>
            <a:pPr marL="0" marR="0" lvl="0" indent="0" algn="l" rtl="0">
              <a:lnSpc>
                <a:spcPct val="124000"/>
              </a:lnSpc>
              <a:spcBef>
                <a:spcPts val="0"/>
              </a:spcBef>
              <a:spcAft>
                <a:spcPts val="0"/>
              </a:spcAft>
              <a:buClr>
                <a:srgbClr val="8A94A8"/>
              </a:buClr>
              <a:buSzPts val="1050"/>
              <a:buFont typeface="Calibri"/>
              <a:buNone/>
            </a:pPr>
            <a:r>
              <a:rPr lang="en-US" sz="1050" b="0" i="1" u="none" strike="noStrike" cap="none">
                <a:solidFill>
                  <a:srgbClr val="8A94A8"/>
                </a:solidFill>
                <a:latin typeface="Calibri"/>
                <a:ea typeface="Calibri"/>
                <a:cs typeface="Calibri"/>
                <a:sym typeface="Calibri"/>
              </a:rPr>
              <a:t>Di layar 375px, tabelnya bisa digeser sendiri</a:t>
            </a:r>
            <a:endParaRPr sz="1050" b="0" i="0" u="none" strike="noStrike" cap="none">
              <a:solidFill>
                <a:schemeClr val="dk1"/>
              </a:solidFill>
              <a:latin typeface="Calibri"/>
              <a:ea typeface="Calibri"/>
              <a:cs typeface="Calibri"/>
              <a:sym typeface="Calibri"/>
            </a:endParaRPr>
          </a:p>
        </p:txBody>
      </p:sp>
      <p:sp>
        <p:nvSpPr>
          <p:cNvPr id="602" name="Google Shape;602;p25"/>
          <p:cNvSpPr txBox="1"/>
          <p:nvPr/>
        </p:nvSpPr>
        <p:spPr>
          <a:xfrm>
            <a:off x="8485632" y="1536192"/>
            <a:ext cx="3111703"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1350"/>
              <a:buFont typeface="Calibri"/>
              <a:buNone/>
            </a:pPr>
            <a:r>
              <a:rPr lang="en-US" sz="1350" b="1" i="0" u="none" strike="noStrike" cap="none">
                <a:solidFill>
                  <a:srgbClr val="0F1B33"/>
                </a:solidFill>
                <a:latin typeface="Calibri"/>
                <a:ea typeface="Calibri"/>
                <a:cs typeface="Calibri"/>
                <a:sym typeface="Calibri"/>
              </a:rPr>
              <a:t>Yang saya pastikan</a:t>
            </a:r>
            <a:endParaRPr sz="1350" b="0" i="0" u="none" strike="noStrike" cap="none">
              <a:solidFill>
                <a:schemeClr val="dk1"/>
              </a:solidFill>
              <a:latin typeface="Calibri"/>
              <a:ea typeface="Calibri"/>
              <a:cs typeface="Calibri"/>
              <a:sym typeface="Calibri"/>
            </a:endParaRPr>
          </a:p>
        </p:txBody>
      </p:sp>
      <p:sp>
        <p:nvSpPr>
          <p:cNvPr id="603" name="Google Shape;603;p25"/>
          <p:cNvSpPr txBox="1"/>
          <p:nvPr/>
        </p:nvSpPr>
        <p:spPr>
          <a:xfrm>
            <a:off x="8485632" y="1920240"/>
            <a:ext cx="3111703" cy="4114800"/>
          </a:xfrm>
          <a:prstGeom prst="rect">
            <a:avLst/>
          </a:prstGeom>
          <a:noFill/>
          <a:ln>
            <a:noFill/>
          </a:ln>
        </p:spPr>
        <p:txBody>
          <a:bodyPr spcFirstLastPara="1" wrap="square" lIns="0" tIns="0" rIns="0" bIns="0" anchor="t" anchorCtr="0">
            <a:noAutofit/>
          </a:bodyPr>
          <a:lstStyle/>
          <a:p>
            <a:pPr marL="342900" marR="0" lvl="0" indent="-342900" algn="l" rtl="0">
              <a:lnSpc>
                <a:spcPct val="136000"/>
              </a:lnSpc>
              <a:spcBef>
                <a:spcPts val="0"/>
              </a:spcBef>
              <a:spcAft>
                <a:spcPts val="0"/>
              </a:spcAft>
              <a:buClr>
                <a:srgbClr val="0F1B33"/>
              </a:buClr>
              <a:buSzPts val="1250"/>
              <a:buFont typeface="Calibri"/>
              <a:buChar char="•"/>
            </a:pPr>
            <a:r>
              <a:rPr lang="en-US" sz="1250" b="0" i="0" u="none" strike="noStrike" cap="none">
                <a:solidFill>
                  <a:srgbClr val="0F1B33"/>
                </a:solidFill>
                <a:latin typeface="Calibri"/>
                <a:ea typeface="Calibri"/>
                <a:cs typeface="Calibri"/>
                <a:sym typeface="Calibri"/>
              </a:rPr>
              <a:t>Setiap status punya label teks (WCAG 1.4.1)</a:t>
            </a:r>
            <a:endParaRPr sz="1250" b="0" i="0" u="none" strike="noStrike" cap="none">
              <a:solidFill>
                <a:schemeClr val="dk1"/>
              </a:solidFill>
              <a:latin typeface="Calibri"/>
              <a:ea typeface="Calibri"/>
              <a:cs typeface="Calibri"/>
              <a:sym typeface="Calibri"/>
            </a:endParaRPr>
          </a:p>
          <a:p>
            <a:pPr marL="342900" marR="0" lvl="0" indent="-342900" algn="l" rtl="0">
              <a:lnSpc>
                <a:spcPct val="136000"/>
              </a:lnSpc>
              <a:spcBef>
                <a:spcPts val="1000"/>
              </a:spcBef>
              <a:spcAft>
                <a:spcPts val="0"/>
              </a:spcAft>
              <a:buClr>
                <a:srgbClr val="0F1B33"/>
              </a:buClr>
              <a:buSzPts val="1250"/>
              <a:buFont typeface="Calibri"/>
              <a:buChar char="•"/>
            </a:pPr>
            <a:r>
              <a:rPr lang="en-US" sz="1250" b="0" i="0" u="none" strike="noStrike" cap="none">
                <a:solidFill>
                  <a:srgbClr val="0F1B33"/>
                </a:solidFill>
                <a:latin typeface="Calibri"/>
                <a:ea typeface="Calibri"/>
                <a:cs typeface="Calibri"/>
                <a:sym typeface="Calibri"/>
              </a:rPr>
              <a:t>Tabel punya judul dan header yang terbaca screen reader</a:t>
            </a:r>
            <a:endParaRPr sz="1250" b="0" i="0" u="none" strike="noStrike" cap="none">
              <a:solidFill>
                <a:schemeClr val="dk1"/>
              </a:solidFill>
              <a:latin typeface="Calibri"/>
              <a:ea typeface="Calibri"/>
              <a:cs typeface="Calibri"/>
              <a:sym typeface="Calibri"/>
            </a:endParaRPr>
          </a:p>
          <a:p>
            <a:pPr marL="342900" marR="0" lvl="0" indent="-342900" algn="l" rtl="0">
              <a:lnSpc>
                <a:spcPct val="136000"/>
              </a:lnSpc>
              <a:spcBef>
                <a:spcPts val="1000"/>
              </a:spcBef>
              <a:spcAft>
                <a:spcPts val="0"/>
              </a:spcAft>
              <a:buClr>
                <a:srgbClr val="0F1B33"/>
              </a:buClr>
              <a:buSzPts val="1250"/>
              <a:buFont typeface="Calibri"/>
              <a:buChar char="•"/>
            </a:pPr>
            <a:r>
              <a:rPr lang="en-US" sz="1250" b="0" i="0" u="none" strike="noStrike" cap="none">
                <a:solidFill>
                  <a:srgbClr val="0F1B33"/>
                </a:solidFill>
                <a:latin typeface="Calibri"/>
                <a:ea typeface="Calibri"/>
                <a:cs typeface="Calibri"/>
                <a:sym typeface="Calibri"/>
              </a:rPr>
              <a:t>Emoji diganti simbol teks. Dulu screen reader membacanya “check mark button Match”</a:t>
            </a:r>
            <a:endParaRPr sz="1250" b="0" i="0" u="none" strike="noStrike" cap="none">
              <a:solidFill>
                <a:schemeClr val="dk1"/>
              </a:solidFill>
              <a:latin typeface="Calibri"/>
              <a:ea typeface="Calibri"/>
              <a:cs typeface="Calibri"/>
              <a:sym typeface="Calibri"/>
            </a:endParaRPr>
          </a:p>
          <a:p>
            <a:pPr marL="342900" marR="0" lvl="0" indent="-342900" algn="l" rtl="0">
              <a:lnSpc>
                <a:spcPct val="136000"/>
              </a:lnSpc>
              <a:spcBef>
                <a:spcPts val="1000"/>
              </a:spcBef>
              <a:spcAft>
                <a:spcPts val="0"/>
              </a:spcAft>
              <a:buClr>
                <a:srgbClr val="0F1B33"/>
              </a:buClr>
              <a:buSzPts val="1250"/>
              <a:buFont typeface="Calibri"/>
              <a:buChar char="•"/>
            </a:pPr>
            <a:r>
              <a:rPr lang="en-US" sz="1250" b="0" i="0" u="none" strike="noStrike" cap="none">
                <a:solidFill>
                  <a:srgbClr val="0F1B33"/>
                </a:solidFill>
                <a:latin typeface="Calibri"/>
                <a:ea typeface="Calibri"/>
                <a:cs typeface="Calibri"/>
                <a:sym typeface="Calibri"/>
              </a:rPr>
              <a:t>Halaman tidak bergeser ke samping di ponsel</a:t>
            </a:r>
            <a:endParaRPr sz="1250" b="0" i="0" u="none" strike="noStrike" cap="non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608" name="Shape 608"/>
        <p:cNvGrpSpPr/>
        <p:nvPr/>
      </p:nvGrpSpPr>
      <p:grpSpPr>
        <a:xfrm>
          <a:off x="0" y="0"/>
          <a:ext cx="0" cy="0"/>
          <a:chOff x="0" y="0"/>
          <a:chExt cx="0" cy="0"/>
        </a:xfrm>
      </p:grpSpPr>
      <p:sp>
        <p:nvSpPr>
          <p:cNvPr id="609" name="Google Shape;609;p26"/>
          <p:cNvSpPr txBox="1"/>
          <p:nvPr/>
        </p:nvSpPr>
        <p:spPr>
          <a:xfrm>
            <a:off x="11277295" y="6419088"/>
            <a:ext cx="457200"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A94A8"/>
              </a:buClr>
              <a:buSzPts val="1000"/>
              <a:buFont typeface="Calibri"/>
              <a:buNone/>
            </a:pPr>
            <a:r>
              <a:rPr lang="en-US" sz="1000" b="0" i="0" u="none" strike="noStrike" cap="none">
                <a:solidFill>
                  <a:srgbClr val="8A94A8"/>
                </a:solidFill>
                <a:latin typeface="Calibri"/>
                <a:ea typeface="Calibri"/>
                <a:cs typeface="Calibri"/>
                <a:sym typeface="Calibri"/>
              </a:rPr>
              <a:t>24</a:t>
            </a:r>
            <a:endParaRPr sz="1000" b="0" i="0" u="none" strike="noStrike" cap="none">
              <a:solidFill>
                <a:schemeClr val="dk1"/>
              </a:solidFill>
              <a:latin typeface="Calibri"/>
              <a:ea typeface="Calibri"/>
              <a:cs typeface="Calibri"/>
              <a:sym typeface="Calibri"/>
            </a:endParaRPr>
          </a:p>
        </p:txBody>
      </p:sp>
      <p:sp>
        <p:nvSpPr>
          <p:cNvPr id="610" name="Google Shape;610;p26"/>
          <p:cNvSpPr txBox="1"/>
          <p:nvPr/>
        </p:nvSpPr>
        <p:spPr>
          <a:xfrm>
            <a:off x="594360" y="6419088"/>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A94A8"/>
              </a:buClr>
              <a:buSzPts val="1000"/>
              <a:buFont typeface="Calibri"/>
              <a:buNone/>
            </a:pPr>
            <a:r>
              <a:rPr lang="en-US" sz="1000" b="0" i="0" u="none" strike="noStrike" cap="none">
                <a:solidFill>
                  <a:srgbClr val="8A94A8"/>
                </a:solidFill>
                <a:latin typeface="Calibri"/>
                <a:ea typeface="Calibri"/>
                <a:cs typeface="Calibri"/>
                <a:sym typeface="Calibri"/>
              </a:rPr>
              <a:t>Aulia Afriza  ·  Kandidat Fullstack · Frontend depth</a:t>
            </a:r>
            <a:endParaRPr sz="1000" b="0" i="0" u="none" strike="noStrike" cap="none">
              <a:solidFill>
                <a:schemeClr val="dk1"/>
              </a:solidFill>
              <a:latin typeface="Calibri"/>
              <a:ea typeface="Calibri"/>
              <a:cs typeface="Calibri"/>
              <a:sym typeface="Calibri"/>
            </a:endParaRPr>
          </a:p>
        </p:txBody>
      </p:sp>
      <p:sp>
        <p:nvSpPr>
          <p:cNvPr id="611" name="Google Shape;611;p26"/>
          <p:cNvSpPr txBox="1"/>
          <p:nvPr/>
        </p:nvSpPr>
        <p:spPr>
          <a:xfrm>
            <a:off x="594360" y="438912"/>
            <a:ext cx="11002975"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2800"/>
              <a:buFont typeface="Calibri"/>
              <a:buNone/>
            </a:pPr>
            <a:r>
              <a:rPr lang="en-US" sz="2800" b="1" i="0" u="none" strike="noStrike" cap="none">
                <a:solidFill>
                  <a:srgbClr val="0F1B33"/>
                </a:solidFill>
                <a:latin typeface="Calibri"/>
                <a:ea typeface="Calibri"/>
                <a:cs typeface="Calibri"/>
                <a:sym typeface="Calibri"/>
              </a:rPr>
              <a:t>Bagian backend, dan satu celah keamanan</a:t>
            </a:r>
            <a:endParaRPr sz="2800" b="0" i="0" u="none" strike="noStrike" cap="none">
              <a:solidFill>
                <a:schemeClr val="dk1"/>
              </a:solidFill>
              <a:latin typeface="Calibri"/>
              <a:ea typeface="Calibri"/>
              <a:cs typeface="Calibri"/>
              <a:sym typeface="Calibri"/>
            </a:endParaRPr>
          </a:p>
        </p:txBody>
      </p:sp>
      <p:sp>
        <p:nvSpPr>
          <p:cNvPr id="612" name="Google Shape;612;p26"/>
          <p:cNvSpPr txBox="1"/>
          <p:nvPr/>
        </p:nvSpPr>
        <p:spPr>
          <a:xfrm>
            <a:off x="594360" y="987552"/>
            <a:ext cx="11002975"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5617A"/>
              </a:buClr>
              <a:buSzPts val="1500"/>
              <a:buFont typeface="Calibri"/>
              <a:buNone/>
            </a:pPr>
            <a:r>
              <a:rPr lang="en-US" sz="1500" b="0" i="0" u="none" strike="noStrike" cap="none">
                <a:solidFill>
                  <a:srgbClr val="55617A"/>
                </a:solidFill>
                <a:latin typeface="Calibri"/>
                <a:ea typeface="Calibri"/>
                <a:cs typeface="Calibri"/>
                <a:sym typeface="Calibri"/>
              </a:rPr>
              <a:t>Fokus saya frontend, tapi backend tetap saya kerjakan seperlunya.</a:t>
            </a:r>
            <a:endParaRPr sz="1500" b="0" i="0" u="none" strike="noStrike" cap="none">
              <a:solidFill>
                <a:schemeClr val="dk1"/>
              </a:solidFill>
              <a:latin typeface="Calibri"/>
              <a:ea typeface="Calibri"/>
              <a:cs typeface="Calibri"/>
              <a:sym typeface="Calibri"/>
            </a:endParaRPr>
          </a:p>
        </p:txBody>
      </p:sp>
      <p:pic>
        <p:nvPicPr>
          <p:cNvPr id="613" name="Google Shape;613;p26" descr="img/idor.png"/>
          <p:cNvPicPr preferRelativeResize="0"/>
          <p:nvPr/>
        </p:nvPicPr>
        <p:blipFill rotWithShape="1">
          <a:blip r:embed="rId1"/>
          <a:srcRect/>
          <a:stretch>
            <a:fillRect/>
          </a:stretch>
        </p:blipFill>
        <p:spPr>
          <a:xfrm>
            <a:off x="594360" y="1536192"/>
            <a:ext cx="6400800" cy="2319130"/>
          </a:xfrm>
          <a:prstGeom prst="rect">
            <a:avLst/>
          </a:prstGeom>
          <a:noFill/>
          <a:ln>
            <a:noFill/>
          </a:ln>
        </p:spPr>
      </p:pic>
      <p:sp>
        <p:nvSpPr>
          <p:cNvPr id="614" name="Google Shape;614;p26"/>
          <p:cNvSpPr/>
          <p:nvPr/>
        </p:nvSpPr>
        <p:spPr>
          <a:xfrm>
            <a:off x="594360" y="1536192"/>
            <a:ext cx="6400800" cy="2319130"/>
          </a:xfrm>
          <a:prstGeom prst="rect">
            <a:avLst/>
          </a:prstGeom>
          <a:no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15" name="Google Shape;615;p26"/>
          <p:cNvSpPr/>
          <p:nvPr/>
        </p:nvSpPr>
        <p:spPr>
          <a:xfrm>
            <a:off x="594360" y="4038202"/>
            <a:ext cx="6400800" cy="1951118"/>
          </a:xfrm>
          <a:prstGeom prst="roundRect">
            <a:avLst>
              <a:gd name="adj" fmla="val 3281"/>
            </a:avLst>
          </a:prstGeom>
          <a:solidFill>
            <a:srgbClr val="FDECEC"/>
          </a:solidFill>
          <a:ln w="9525" cap="flat" cmpd="sng">
            <a:solidFill>
              <a:srgbClr val="FDECE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16" name="Google Shape;616;p26"/>
          <p:cNvSpPr txBox="1"/>
          <p:nvPr/>
        </p:nvSpPr>
        <p:spPr>
          <a:xfrm>
            <a:off x="822960" y="4038202"/>
            <a:ext cx="5943600" cy="1951118"/>
          </a:xfrm>
          <a:prstGeom prst="rect">
            <a:avLst/>
          </a:prstGeom>
          <a:noFill/>
          <a:ln>
            <a:noFill/>
          </a:ln>
        </p:spPr>
        <p:txBody>
          <a:bodyPr spcFirstLastPara="1" wrap="square" lIns="0" tIns="0" rIns="0" bIns="0" anchor="ctr" anchorCtr="0">
            <a:noAutofit/>
          </a:bodyPr>
          <a:lstStyle/>
          <a:p>
            <a:pPr marL="0" marR="0" lvl="0" indent="0" algn="l" rtl="0">
              <a:lnSpc>
                <a:spcPct val="136000"/>
              </a:lnSpc>
              <a:spcBef>
                <a:spcPts val="0"/>
              </a:spcBef>
              <a:spcAft>
                <a:spcPts val="0"/>
              </a:spcAft>
              <a:buClr>
                <a:srgbClr val="D14343"/>
              </a:buClr>
              <a:buSzPts val="1250"/>
              <a:buFont typeface="Calibri"/>
              <a:buNone/>
            </a:pPr>
            <a:r>
              <a:rPr lang="en-US" sz="1250" b="1" i="0" u="none" strike="noStrike" cap="none">
                <a:solidFill>
                  <a:srgbClr val="D14343"/>
                </a:solidFill>
                <a:latin typeface="Calibri"/>
                <a:ea typeface="Calibri"/>
                <a:cs typeface="Calibri"/>
                <a:sym typeface="Calibri"/>
              </a:rPr>
              <a:t>P0-4 · Celah akses antar perusahaan. </a:t>
            </a:r>
            <a:r>
              <a:rPr lang="en-US" sz="1250" b="0" i="0" u="none" strike="noStrike" cap="none">
                <a:solidFill>
                  <a:srgbClr val="0F1B33"/>
                </a:solidFill>
                <a:latin typeface="Calibri"/>
                <a:ea typeface="Calibri"/>
                <a:cs typeface="Calibri"/>
                <a:sym typeface="Calibri"/>
              </a:rPr>
              <a:t>Portfolio bisa diakses hanya dengan id-nya di empat endpoint. Assessor perusahaan lain bisa mengunduh kutipan wawancara dan mengubah nilainya. Sekarang aksesnya dicek per perusahaan, dan dari perusahaan lain hasilnya 404.</a:t>
            </a:r>
            <a:endParaRPr sz="1250" b="0" i="0" u="none" strike="noStrike" cap="none">
              <a:solidFill>
                <a:schemeClr val="dk1"/>
              </a:solidFill>
              <a:latin typeface="Calibri"/>
              <a:ea typeface="Calibri"/>
              <a:cs typeface="Calibri"/>
              <a:sym typeface="Calibri"/>
            </a:endParaRPr>
          </a:p>
        </p:txBody>
      </p:sp>
      <p:sp>
        <p:nvSpPr>
          <p:cNvPr id="617" name="Google Shape;617;p26"/>
          <p:cNvSpPr txBox="1"/>
          <p:nvPr/>
        </p:nvSpPr>
        <p:spPr>
          <a:xfrm>
            <a:off x="7315200" y="1536192"/>
            <a:ext cx="4282135"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1450"/>
              <a:buFont typeface="Calibri"/>
              <a:buNone/>
            </a:pPr>
            <a:r>
              <a:rPr lang="en-US" sz="1450" b="1" i="0" u="none" strike="noStrike" cap="none">
                <a:solidFill>
                  <a:srgbClr val="0F1B33"/>
                </a:solidFill>
                <a:latin typeface="Calibri"/>
                <a:ea typeface="Calibri"/>
                <a:cs typeface="Calibri"/>
                <a:sym typeface="Calibri"/>
              </a:rPr>
              <a:t>Yang saya kerjakan di backend</a:t>
            </a:r>
            <a:endParaRPr sz="1450" b="0" i="0" u="none" strike="noStrike" cap="none">
              <a:solidFill>
                <a:schemeClr val="dk1"/>
              </a:solidFill>
              <a:latin typeface="Calibri"/>
              <a:ea typeface="Calibri"/>
              <a:cs typeface="Calibri"/>
              <a:sym typeface="Calibri"/>
            </a:endParaRPr>
          </a:p>
        </p:txBody>
      </p:sp>
      <p:sp>
        <p:nvSpPr>
          <p:cNvPr id="618" name="Google Shape;618;p26"/>
          <p:cNvSpPr txBox="1"/>
          <p:nvPr/>
        </p:nvSpPr>
        <p:spPr>
          <a:xfrm>
            <a:off x="7315200" y="1938528"/>
            <a:ext cx="4282135" cy="4069080"/>
          </a:xfrm>
          <a:prstGeom prst="rect">
            <a:avLst/>
          </a:prstGeom>
          <a:noFill/>
          <a:ln>
            <a:noFill/>
          </a:ln>
        </p:spPr>
        <p:txBody>
          <a:bodyPr spcFirstLastPara="1" wrap="square" lIns="0" tIns="0" rIns="0" bIns="0" anchor="t" anchorCtr="0">
            <a:noAutofit/>
          </a:bodyPr>
          <a:lstStyle/>
          <a:p>
            <a:pPr marL="342900" marR="0" lvl="0" indent="-342900" algn="l" rtl="0">
              <a:lnSpc>
                <a:spcPct val="128000"/>
              </a:lnSpc>
              <a:spcBef>
                <a:spcPts val="0"/>
              </a:spcBef>
              <a:spcAft>
                <a:spcPts val="0"/>
              </a:spcAft>
              <a:buClr>
                <a:srgbClr val="0F1B33"/>
              </a:buClr>
              <a:buSzPts val="1250"/>
              <a:buFont typeface="Calibri"/>
              <a:buChar char="•"/>
            </a:pPr>
            <a:r>
              <a:rPr lang="en-US" sz="1250" b="0" i="0" u="none" strike="noStrike" cap="none">
                <a:solidFill>
                  <a:srgbClr val="0F1B33"/>
                </a:solidFill>
                <a:latin typeface="Calibri"/>
                <a:ea typeface="Calibri"/>
                <a:cs typeface="Calibri"/>
                <a:sym typeface="Calibri"/>
              </a:rPr>
              <a:t>FitGap::Engine sekarang mengirim data yang lebih lengkap</a:t>
            </a:r>
            <a:endParaRPr sz="1250" b="0" i="0" u="none" strike="noStrike" cap="none">
              <a:solidFill>
                <a:schemeClr val="dk1"/>
              </a:solidFill>
              <a:latin typeface="Calibri"/>
              <a:ea typeface="Calibri"/>
              <a:cs typeface="Calibri"/>
              <a:sym typeface="Calibri"/>
            </a:endParaRPr>
          </a:p>
          <a:p>
            <a:pPr marL="342900" marR="0" lvl="0" indent="-342900" algn="l" rtl="0">
              <a:lnSpc>
                <a:spcPct val="128000"/>
              </a:lnSpc>
              <a:spcBef>
                <a:spcPts val="600"/>
              </a:spcBef>
              <a:spcAft>
                <a:spcPts val="0"/>
              </a:spcAft>
              <a:buClr>
                <a:srgbClr val="0F1B33"/>
              </a:buClr>
              <a:buSzPts val="1250"/>
              <a:buFont typeface="Calibri"/>
              <a:buChar char="•"/>
            </a:pPr>
            <a:r>
              <a:rPr lang="en-US" sz="1250" b="0" i="0" u="none" strike="noStrike" cap="none">
                <a:solidFill>
                  <a:srgbClr val="0F1B33"/>
                </a:solidFill>
                <a:latin typeface="Calibri"/>
                <a:ea typeface="Calibri"/>
                <a:cs typeface="Calibri"/>
                <a:sym typeface="Calibri"/>
              </a:rPr>
              <a:t>Kutipan bisa dilacak ke transkrip (evidence_turn_ids)</a:t>
            </a:r>
            <a:endParaRPr sz="1250" b="0" i="0" u="none" strike="noStrike" cap="none">
              <a:solidFill>
                <a:schemeClr val="dk1"/>
              </a:solidFill>
              <a:latin typeface="Calibri"/>
              <a:ea typeface="Calibri"/>
              <a:cs typeface="Calibri"/>
              <a:sym typeface="Calibri"/>
            </a:endParaRPr>
          </a:p>
          <a:p>
            <a:pPr marL="342900" marR="0" lvl="0" indent="-342900" algn="l" rtl="0">
              <a:lnSpc>
                <a:spcPct val="128000"/>
              </a:lnSpc>
              <a:spcBef>
                <a:spcPts val="600"/>
              </a:spcBef>
              <a:spcAft>
                <a:spcPts val="0"/>
              </a:spcAft>
              <a:buClr>
                <a:srgbClr val="0F1B33"/>
              </a:buClr>
              <a:buSzPts val="1250"/>
              <a:buFont typeface="Calibri"/>
              <a:buChar char="•"/>
            </a:pPr>
            <a:r>
              <a:rPr lang="en-US" sz="1250" b="0" i="0" u="none" strike="noStrike" cap="none">
                <a:solidFill>
                  <a:srgbClr val="0F1B33"/>
                </a:solidFill>
                <a:latin typeface="Calibri"/>
                <a:ea typeface="Calibri"/>
                <a:cs typeface="Calibri"/>
                <a:sym typeface="Calibri"/>
              </a:rPr>
              <a:t>Akses dibatasi per perusahaan di empat endpoint</a:t>
            </a:r>
            <a:endParaRPr sz="1250" b="0" i="0" u="none" strike="noStrike" cap="none">
              <a:solidFill>
                <a:schemeClr val="dk1"/>
              </a:solidFill>
              <a:latin typeface="Calibri"/>
              <a:ea typeface="Calibri"/>
              <a:cs typeface="Calibri"/>
              <a:sym typeface="Calibri"/>
            </a:endParaRPr>
          </a:p>
          <a:p>
            <a:pPr marL="342900" marR="0" lvl="0" indent="-342900" algn="l" rtl="0">
              <a:lnSpc>
                <a:spcPct val="128000"/>
              </a:lnSpc>
              <a:spcBef>
                <a:spcPts val="600"/>
              </a:spcBef>
              <a:spcAft>
                <a:spcPts val="0"/>
              </a:spcAft>
              <a:buClr>
                <a:srgbClr val="0F1B33"/>
              </a:buClr>
              <a:buSzPts val="1250"/>
              <a:buFont typeface="Calibri"/>
              <a:buChar char="•"/>
            </a:pPr>
            <a:r>
              <a:rPr lang="en-US" sz="1250" b="0" i="0" u="none" strike="noStrike" cap="none">
                <a:solidFill>
                  <a:srgbClr val="0F1B33"/>
                </a:solidFill>
                <a:latin typeface="Calibri"/>
                <a:ea typeface="Calibri"/>
                <a:cs typeface="Calibri"/>
                <a:sym typeface="Calibri"/>
              </a:rPr>
              <a:t>Mencegah proses fit/gap berjalan dobel</a:t>
            </a:r>
            <a:endParaRPr sz="1250" b="0" i="0" u="none" strike="noStrike" cap="none">
              <a:solidFill>
                <a:schemeClr val="dk1"/>
              </a:solidFill>
              <a:latin typeface="Calibri"/>
              <a:ea typeface="Calibri"/>
              <a:cs typeface="Calibri"/>
              <a:sym typeface="Calibri"/>
            </a:endParaRPr>
          </a:p>
          <a:p>
            <a:pPr marL="342900" marR="0" lvl="0" indent="-342900" algn="l" rtl="0">
              <a:lnSpc>
                <a:spcPct val="128000"/>
              </a:lnSpc>
              <a:spcBef>
                <a:spcPts val="600"/>
              </a:spcBef>
              <a:spcAft>
                <a:spcPts val="0"/>
              </a:spcAft>
              <a:buClr>
                <a:srgbClr val="0F1B33"/>
              </a:buClr>
              <a:buSzPts val="1250"/>
              <a:buFont typeface="Calibri"/>
              <a:buChar char="•"/>
            </a:pPr>
            <a:r>
              <a:rPr lang="en-US" sz="1250" b="0" i="0" u="none" strike="noStrike" cap="none">
                <a:solidFill>
                  <a:srgbClr val="0F1B33"/>
                </a:solidFill>
                <a:latin typeface="Calibri"/>
                <a:ea typeface="Calibri"/>
                <a:cs typeface="Calibri"/>
                <a:sym typeface="Calibri"/>
              </a:rPr>
              <a:t>Proses yang macet sekarang bisa dideteksi</a:t>
            </a:r>
            <a:endParaRPr sz="1250" b="0" i="0" u="none" strike="noStrike" cap="none">
              <a:solidFill>
                <a:schemeClr val="dk1"/>
              </a:solidFill>
              <a:latin typeface="Calibri"/>
              <a:ea typeface="Calibri"/>
              <a:cs typeface="Calibri"/>
              <a:sym typeface="Calibri"/>
            </a:endParaRPr>
          </a:p>
          <a:p>
            <a:pPr marL="342900" marR="0" lvl="0" indent="-342900" algn="l" rtl="0">
              <a:lnSpc>
                <a:spcPct val="128000"/>
              </a:lnSpc>
              <a:spcBef>
                <a:spcPts val="600"/>
              </a:spcBef>
              <a:spcAft>
                <a:spcPts val="0"/>
              </a:spcAft>
              <a:buClr>
                <a:srgbClr val="0F1B33"/>
              </a:buClr>
              <a:buSzPts val="1250"/>
              <a:buFont typeface="Calibri"/>
              <a:buChar char="•"/>
            </a:pPr>
            <a:r>
              <a:rPr lang="en-US" sz="1250" b="0" i="0" u="none" strike="noStrike" cap="none">
                <a:solidFill>
                  <a:srgbClr val="0F1B33"/>
                </a:solidFill>
                <a:latin typeface="Calibri"/>
                <a:ea typeface="Calibri"/>
                <a:cs typeface="Calibri"/>
                <a:sym typeface="Calibri"/>
              </a:rPr>
              <a:t>Pesan error dibersihkan sebelum dikirim ke browser</a:t>
            </a:r>
            <a:endParaRPr sz="1250" b="0" i="0" u="none" strike="noStrike" cap="none">
              <a:solidFill>
                <a:schemeClr val="dk1"/>
              </a:solidFill>
              <a:latin typeface="Calibri"/>
              <a:ea typeface="Calibri"/>
              <a:cs typeface="Calibri"/>
              <a:sym typeface="Calibri"/>
            </a:endParaRPr>
          </a:p>
          <a:p>
            <a:pPr marL="342900" marR="0" lvl="0" indent="-342900" algn="l" rtl="0">
              <a:lnSpc>
                <a:spcPct val="128000"/>
              </a:lnSpc>
              <a:spcBef>
                <a:spcPts val="600"/>
              </a:spcBef>
              <a:spcAft>
                <a:spcPts val="0"/>
              </a:spcAft>
              <a:buClr>
                <a:srgbClr val="0F1B33"/>
              </a:buClr>
              <a:buSzPts val="1250"/>
              <a:buFont typeface="Calibri"/>
              <a:buChar char="•"/>
            </a:pPr>
            <a:r>
              <a:rPr lang="en-US" sz="1250" b="0" i="0" u="none" strike="noStrike" cap="none">
                <a:solidFill>
                  <a:srgbClr val="0F1B33"/>
                </a:solidFill>
                <a:latin typeface="Calibri"/>
                <a:ea typeface="Calibri"/>
                <a:cs typeface="Calibri"/>
                <a:sym typeface="Calibri"/>
              </a:rPr>
              <a:t>Migrasi bisa di-rollback dan aman untuk data lama</a:t>
            </a:r>
            <a:endParaRPr sz="1250" b="0" i="0" u="none" strike="noStrike" cap="none">
              <a:solidFill>
                <a:schemeClr val="dk1"/>
              </a:solidFill>
              <a:latin typeface="Calibri"/>
              <a:ea typeface="Calibri"/>
              <a:cs typeface="Calibri"/>
              <a:sym typeface="Calibri"/>
            </a:endParaRPr>
          </a:p>
          <a:p>
            <a:pPr marL="342900" marR="0" lvl="0" indent="-342900" algn="l" rtl="0">
              <a:lnSpc>
                <a:spcPct val="128000"/>
              </a:lnSpc>
              <a:spcBef>
                <a:spcPts val="600"/>
              </a:spcBef>
              <a:spcAft>
                <a:spcPts val="0"/>
              </a:spcAft>
              <a:buClr>
                <a:srgbClr val="0F1B33"/>
              </a:buClr>
              <a:buSzPts val="1250"/>
              <a:buFont typeface="Calibri"/>
              <a:buChar char="•"/>
            </a:pPr>
            <a:r>
              <a:rPr lang="en-US" sz="1250" b="0" i="0" u="none" strike="noStrike" cap="none">
                <a:solidFill>
                  <a:srgbClr val="0F1B33"/>
                </a:solidFill>
                <a:latin typeface="Calibri"/>
                <a:ea typeface="Calibri"/>
                <a:cs typeface="Calibri"/>
                <a:sym typeface="Calibri"/>
              </a:rPr>
              <a:t>Test RSpec pertama di repo, termasuk test akses antar perusahaan</a:t>
            </a:r>
            <a:endParaRPr sz="1250" b="0" i="0" u="none" strike="noStrike" cap="non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623" name="Shape 623"/>
        <p:cNvGrpSpPr/>
        <p:nvPr/>
      </p:nvGrpSpPr>
      <p:grpSpPr>
        <a:xfrm>
          <a:off x="0" y="0"/>
          <a:ext cx="0" cy="0"/>
          <a:chOff x="0" y="0"/>
          <a:chExt cx="0" cy="0"/>
        </a:xfrm>
      </p:grpSpPr>
      <p:sp>
        <p:nvSpPr>
          <p:cNvPr id="624" name="Google Shape;624;p27"/>
          <p:cNvSpPr txBox="1"/>
          <p:nvPr/>
        </p:nvSpPr>
        <p:spPr>
          <a:xfrm>
            <a:off x="11277295" y="6419088"/>
            <a:ext cx="457200"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A94A8"/>
              </a:buClr>
              <a:buSzPts val="1000"/>
              <a:buFont typeface="Calibri"/>
              <a:buNone/>
            </a:pPr>
            <a:r>
              <a:rPr lang="en-US" sz="1000" b="0" i="0" u="none" strike="noStrike" cap="none">
                <a:solidFill>
                  <a:srgbClr val="8A94A8"/>
                </a:solidFill>
                <a:latin typeface="Calibri"/>
                <a:ea typeface="Calibri"/>
                <a:cs typeface="Calibri"/>
                <a:sym typeface="Calibri"/>
              </a:rPr>
              <a:t>25</a:t>
            </a:r>
            <a:endParaRPr sz="1000" b="0" i="0" u="none" strike="noStrike" cap="none">
              <a:solidFill>
                <a:schemeClr val="dk1"/>
              </a:solidFill>
              <a:latin typeface="Calibri"/>
              <a:ea typeface="Calibri"/>
              <a:cs typeface="Calibri"/>
              <a:sym typeface="Calibri"/>
            </a:endParaRPr>
          </a:p>
        </p:txBody>
      </p:sp>
      <p:sp>
        <p:nvSpPr>
          <p:cNvPr id="625" name="Google Shape;625;p27"/>
          <p:cNvSpPr txBox="1"/>
          <p:nvPr/>
        </p:nvSpPr>
        <p:spPr>
          <a:xfrm>
            <a:off x="594360" y="6419088"/>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A94A8"/>
              </a:buClr>
              <a:buSzPts val="1000"/>
              <a:buFont typeface="Calibri"/>
              <a:buNone/>
            </a:pPr>
            <a:r>
              <a:rPr lang="en-US" sz="1000" b="0" i="0" u="none" strike="noStrike" cap="none">
                <a:solidFill>
                  <a:srgbClr val="8A94A8"/>
                </a:solidFill>
                <a:latin typeface="Calibri"/>
                <a:ea typeface="Calibri"/>
                <a:cs typeface="Calibri"/>
                <a:sym typeface="Calibri"/>
              </a:rPr>
              <a:t>Aulia Afriza  ·  Kandidat Fullstack · Frontend depth</a:t>
            </a:r>
            <a:endParaRPr sz="1000" b="0" i="0" u="none" strike="noStrike" cap="none">
              <a:solidFill>
                <a:schemeClr val="dk1"/>
              </a:solidFill>
              <a:latin typeface="Calibri"/>
              <a:ea typeface="Calibri"/>
              <a:cs typeface="Calibri"/>
              <a:sym typeface="Calibri"/>
            </a:endParaRPr>
          </a:p>
        </p:txBody>
      </p:sp>
      <p:sp>
        <p:nvSpPr>
          <p:cNvPr id="626" name="Google Shape;626;p27"/>
          <p:cNvSpPr txBox="1"/>
          <p:nvPr/>
        </p:nvSpPr>
        <p:spPr>
          <a:xfrm>
            <a:off x="594360" y="438912"/>
            <a:ext cx="11002975"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2800"/>
              <a:buFont typeface="Calibri"/>
              <a:buNone/>
            </a:pPr>
            <a:r>
              <a:rPr lang="en-US" sz="2800" b="1" i="0" u="none" strike="noStrike" cap="none">
                <a:solidFill>
                  <a:srgbClr val="0F1B33"/>
                </a:solidFill>
                <a:latin typeface="Calibri"/>
                <a:ea typeface="Calibri"/>
                <a:cs typeface="Calibri"/>
                <a:sym typeface="Calibri"/>
              </a:rPr>
              <a:t>Kalau ada yang gagal, apa yang terjadi</a:t>
            </a:r>
            <a:endParaRPr sz="2800" b="0" i="0" u="none" strike="noStrike" cap="none">
              <a:solidFill>
                <a:schemeClr val="dk1"/>
              </a:solidFill>
              <a:latin typeface="Calibri"/>
              <a:ea typeface="Calibri"/>
              <a:cs typeface="Calibri"/>
              <a:sym typeface="Calibri"/>
            </a:endParaRPr>
          </a:p>
        </p:txBody>
      </p:sp>
      <p:sp>
        <p:nvSpPr>
          <p:cNvPr id="627" name="Google Shape;627;p27"/>
          <p:cNvSpPr txBox="1"/>
          <p:nvPr/>
        </p:nvSpPr>
        <p:spPr>
          <a:xfrm>
            <a:off x="594360" y="987552"/>
            <a:ext cx="11002975"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5617A"/>
              </a:buClr>
              <a:buSzPts val="1500"/>
              <a:buFont typeface="Calibri"/>
              <a:buNone/>
            </a:pPr>
            <a:r>
              <a:rPr lang="en-US" sz="1500" b="0" i="0" u="none" strike="noStrike" cap="none">
                <a:solidFill>
                  <a:srgbClr val="55617A"/>
                </a:solidFill>
                <a:latin typeface="Calibri"/>
                <a:ea typeface="Calibri"/>
                <a:cs typeface="Calibri"/>
                <a:sym typeface="Calibri"/>
              </a:rPr>
              <a:t>Timeout, error dari AI, dan proses dobel saya tangani satu per satu.</a:t>
            </a:r>
            <a:endParaRPr sz="1500" b="0" i="0" u="none" strike="noStrike" cap="none">
              <a:solidFill>
                <a:schemeClr val="dk1"/>
              </a:solidFill>
              <a:latin typeface="Calibri"/>
              <a:ea typeface="Calibri"/>
              <a:cs typeface="Calibri"/>
              <a:sym typeface="Calibri"/>
            </a:endParaRPr>
          </a:p>
        </p:txBody>
      </p:sp>
      <p:sp>
        <p:nvSpPr>
          <p:cNvPr id="628" name="Google Shape;628;p27"/>
          <p:cNvSpPr/>
          <p:nvPr/>
        </p:nvSpPr>
        <p:spPr>
          <a:xfrm>
            <a:off x="594360" y="1508760"/>
            <a:ext cx="5364328" cy="2148840"/>
          </a:xfrm>
          <a:prstGeom prst="roundRect">
            <a:avLst>
              <a:gd name="adj" fmla="val 2979"/>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9" name="Google Shape;629;p27"/>
          <p:cNvSpPr txBox="1"/>
          <p:nvPr/>
        </p:nvSpPr>
        <p:spPr>
          <a:xfrm>
            <a:off x="850392" y="1645920"/>
            <a:ext cx="4852264" cy="2926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1450"/>
              <a:buFont typeface="Calibri"/>
              <a:buNone/>
            </a:pPr>
            <a:r>
              <a:rPr lang="en-US" sz="1450" b="1" i="0" u="none" strike="noStrike" cap="none">
                <a:solidFill>
                  <a:srgbClr val="0F1B33"/>
                </a:solidFill>
                <a:latin typeface="Calibri"/>
                <a:ea typeface="Calibri"/>
                <a:cs typeface="Calibri"/>
                <a:sym typeface="Calibri"/>
              </a:rPr>
              <a:t>Proses generate macet</a:t>
            </a:r>
            <a:endParaRPr sz="1450" b="0" i="0" u="none" strike="noStrike" cap="none">
              <a:solidFill>
                <a:schemeClr val="dk1"/>
              </a:solidFill>
              <a:latin typeface="Calibri"/>
              <a:ea typeface="Calibri"/>
              <a:cs typeface="Calibri"/>
              <a:sym typeface="Calibri"/>
            </a:endParaRPr>
          </a:p>
        </p:txBody>
      </p:sp>
      <p:sp>
        <p:nvSpPr>
          <p:cNvPr id="630" name="Google Shape;630;p27"/>
          <p:cNvSpPr txBox="1"/>
          <p:nvPr/>
        </p:nvSpPr>
        <p:spPr>
          <a:xfrm>
            <a:off x="850392" y="2011680"/>
            <a:ext cx="4852264" cy="64008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D14343"/>
              </a:buClr>
              <a:buSzPts val="1200"/>
              <a:buFont typeface="Calibri"/>
              <a:buNone/>
            </a:pPr>
            <a:r>
              <a:rPr lang="en-US" sz="1200" b="1" i="0" u="none" strike="noStrike" cap="none">
                <a:solidFill>
                  <a:srgbClr val="D14343"/>
                </a:solidFill>
                <a:latin typeface="Calibri"/>
                <a:ea typeface="Calibri"/>
                <a:cs typeface="Calibri"/>
                <a:sym typeface="Calibri"/>
              </a:rPr>
              <a:t>Sebelum  </a:t>
            </a:r>
            <a:r>
              <a:rPr lang="en-US" sz="1200" b="0" i="0" u="none" strike="noStrike" cap="none">
                <a:solidFill>
                  <a:srgbClr val="55617A"/>
                </a:solidFill>
                <a:latin typeface="Calibri"/>
                <a:ea typeface="Calibri"/>
                <a:cs typeface="Calibri"/>
                <a:sym typeface="Calibri"/>
              </a:rPr>
              <a:t>Terus mengecek tiap 5 detik tanpa batas, dan tidak bisa dicoba ulang.</a:t>
            </a:r>
            <a:endParaRPr sz="1200" b="0" i="0" u="none" strike="noStrike" cap="none">
              <a:solidFill>
                <a:schemeClr val="dk1"/>
              </a:solidFill>
              <a:latin typeface="Calibri"/>
              <a:ea typeface="Calibri"/>
              <a:cs typeface="Calibri"/>
              <a:sym typeface="Calibri"/>
            </a:endParaRPr>
          </a:p>
        </p:txBody>
      </p:sp>
      <p:sp>
        <p:nvSpPr>
          <p:cNvPr id="631" name="Google Shape;631;p27"/>
          <p:cNvSpPr txBox="1"/>
          <p:nvPr/>
        </p:nvSpPr>
        <p:spPr>
          <a:xfrm>
            <a:off x="850392" y="2697480"/>
            <a:ext cx="4852264" cy="86868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0C2E6B"/>
              </a:buClr>
              <a:buSzPts val="1200"/>
              <a:buFont typeface="Calibri"/>
              <a:buNone/>
            </a:pPr>
            <a:r>
              <a:rPr lang="en-US" sz="1200" b="1" i="0" u="none" strike="noStrike" cap="none">
                <a:solidFill>
                  <a:srgbClr val="0C2E6B"/>
                </a:solidFill>
                <a:latin typeface="Calibri"/>
                <a:ea typeface="Calibri"/>
                <a:cs typeface="Calibri"/>
                <a:sym typeface="Calibri"/>
              </a:rPr>
              <a:t>Sekarang  </a:t>
            </a:r>
            <a:r>
              <a:rPr lang="en-US" sz="1200" b="0" i="0" u="none" strike="noStrike" cap="none">
                <a:solidFill>
                  <a:srgbClr val="0F1B33"/>
                </a:solidFill>
                <a:latin typeface="Calibri"/>
                <a:ea typeface="Calibri"/>
                <a:cs typeface="Calibri"/>
                <a:sym typeface="Calibri"/>
              </a:rPr>
              <a:t>Lebih dari 5 menit dianggap macet dan bisa dicoba ulang. Pengecekan berhenti saat tab tidak dibuka.</a:t>
            </a:r>
            <a:endParaRPr sz="1200" b="0" i="0" u="none" strike="noStrike" cap="none">
              <a:solidFill>
                <a:schemeClr val="dk1"/>
              </a:solidFill>
              <a:latin typeface="Calibri"/>
              <a:ea typeface="Calibri"/>
              <a:cs typeface="Calibri"/>
              <a:sym typeface="Calibri"/>
            </a:endParaRPr>
          </a:p>
        </p:txBody>
      </p:sp>
      <p:sp>
        <p:nvSpPr>
          <p:cNvPr id="632" name="Google Shape;632;p27"/>
          <p:cNvSpPr/>
          <p:nvPr/>
        </p:nvSpPr>
        <p:spPr>
          <a:xfrm>
            <a:off x="6233008" y="1508760"/>
            <a:ext cx="5364328" cy="2148840"/>
          </a:xfrm>
          <a:prstGeom prst="roundRect">
            <a:avLst>
              <a:gd name="adj" fmla="val 2979"/>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3" name="Google Shape;633;p27"/>
          <p:cNvSpPr txBox="1"/>
          <p:nvPr/>
        </p:nvSpPr>
        <p:spPr>
          <a:xfrm>
            <a:off x="6489040" y="1645920"/>
            <a:ext cx="4852264" cy="2926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1450"/>
              <a:buFont typeface="Calibri"/>
              <a:buNone/>
            </a:pPr>
            <a:r>
              <a:rPr lang="en-US" sz="1450" b="1" i="0" u="none" strike="noStrike" cap="none">
                <a:solidFill>
                  <a:srgbClr val="0F1B33"/>
                </a:solidFill>
                <a:latin typeface="Calibri"/>
                <a:ea typeface="Calibri"/>
                <a:cs typeface="Calibri"/>
                <a:sym typeface="Calibri"/>
              </a:rPr>
              <a:t>Proses fit/gap berjalan dobel</a:t>
            </a:r>
            <a:endParaRPr sz="1450" b="0" i="0" u="none" strike="noStrike" cap="none">
              <a:solidFill>
                <a:schemeClr val="dk1"/>
              </a:solidFill>
              <a:latin typeface="Calibri"/>
              <a:ea typeface="Calibri"/>
              <a:cs typeface="Calibri"/>
              <a:sym typeface="Calibri"/>
            </a:endParaRPr>
          </a:p>
        </p:txBody>
      </p:sp>
      <p:sp>
        <p:nvSpPr>
          <p:cNvPr id="634" name="Google Shape;634;p27"/>
          <p:cNvSpPr txBox="1"/>
          <p:nvPr/>
        </p:nvSpPr>
        <p:spPr>
          <a:xfrm>
            <a:off x="6489040" y="2011680"/>
            <a:ext cx="4852264" cy="64008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D14343"/>
              </a:buClr>
              <a:buSzPts val="1200"/>
              <a:buFont typeface="Calibri"/>
              <a:buNone/>
            </a:pPr>
            <a:r>
              <a:rPr lang="en-US" sz="1200" b="1" i="0" u="none" strike="noStrike" cap="none">
                <a:solidFill>
                  <a:srgbClr val="D14343"/>
                </a:solidFill>
                <a:latin typeface="Calibri"/>
                <a:ea typeface="Calibri"/>
                <a:cs typeface="Calibri"/>
                <a:sym typeface="Calibri"/>
              </a:rPr>
              <a:t>Sebelum  </a:t>
            </a:r>
            <a:r>
              <a:rPr lang="en-US" sz="1200" b="0" i="0" u="none" strike="noStrike" cap="none">
                <a:solidFill>
                  <a:srgbClr val="55617A"/>
                </a:solidFill>
                <a:latin typeface="Calibri"/>
                <a:ea typeface="Calibri"/>
                <a:cs typeface="Calibri"/>
                <a:sym typeface="Calibri"/>
              </a:rPr>
              <a:t>Dua pemicu berbeda menjalankan proses yang sama, jadi AI dipanggil dua kali.</a:t>
            </a:r>
            <a:endParaRPr sz="1200" b="0" i="0" u="none" strike="noStrike" cap="none">
              <a:solidFill>
                <a:schemeClr val="dk1"/>
              </a:solidFill>
              <a:latin typeface="Calibri"/>
              <a:ea typeface="Calibri"/>
              <a:cs typeface="Calibri"/>
              <a:sym typeface="Calibri"/>
            </a:endParaRPr>
          </a:p>
        </p:txBody>
      </p:sp>
      <p:sp>
        <p:nvSpPr>
          <p:cNvPr id="635" name="Google Shape;635;p27"/>
          <p:cNvSpPr txBox="1"/>
          <p:nvPr/>
        </p:nvSpPr>
        <p:spPr>
          <a:xfrm>
            <a:off x="6489040" y="2697480"/>
            <a:ext cx="4852264" cy="86868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0C2E6B"/>
              </a:buClr>
              <a:buSzPts val="1200"/>
              <a:buFont typeface="Calibri"/>
              <a:buNone/>
            </a:pPr>
            <a:r>
              <a:rPr lang="en-US" sz="1200" b="1" i="0" u="none" strike="noStrike" cap="none">
                <a:solidFill>
                  <a:srgbClr val="0C2E6B"/>
                </a:solidFill>
                <a:latin typeface="Calibri"/>
                <a:ea typeface="Calibri"/>
                <a:cs typeface="Calibri"/>
                <a:sym typeface="Calibri"/>
              </a:rPr>
              <a:t>Sekarang  </a:t>
            </a:r>
            <a:r>
              <a:rPr lang="en-US" sz="1200" b="0" i="0" u="none" strike="noStrike" cap="none">
                <a:solidFill>
                  <a:srgbClr val="0F1B33"/>
                </a:solidFill>
                <a:latin typeface="Calibri"/>
                <a:ea typeface="Calibri"/>
                <a:cs typeface="Calibri"/>
                <a:sym typeface="Calibri"/>
              </a:rPr>
              <a:t>Ada penjaga di Redis. Kalau Redis mati, fitur tetap jalan; paling buruk ada satu proses dobel yang ditahan database.</a:t>
            </a:r>
            <a:endParaRPr sz="1200" b="0" i="0" u="none" strike="noStrike" cap="none">
              <a:solidFill>
                <a:schemeClr val="dk1"/>
              </a:solidFill>
              <a:latin typeface="Calibri"/>
              <a:ea typeface="Calibri"/>
              <a:cs typeface="Calibri"/>
              <a:sym typeface="Calibri"/>
            </a:endParaRPr>
          </a:p>
        </p:txBody>
      </p:sp>
      <p:sp>
        <p:nvSpPr>
          <p:cNvPr id="636" name="Google Shape;636;p27"/>
          <p:cNvSpPr/>
          <p:nvPr/>
        </p:nvSpPr>
        <p:spPr>
          <a:xfrm>
            <a:off x="594360" y="3858768"/>
            <a:ext cx="5364328" cy="2148840"/>
          </a:xfrm>
          <a:prstGeom prst="roundRect">
            <a:avLst>
              <a:gd name="adj" fmla="val 2979"/>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7" name="Google Shape;637;p27"/>
          <p:cNvSpPr txBox="1"/>
          <p:nvPr/>
        </p:nvSpPr>
        <p:spPr>
          <a:xfrm>
            <a:off x="850392" y="3995928"/>
            <a:ext cx="4852264" cy="2926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1450"/>
              <a:buFont typeface="Calibri"/>
              <a:buNone/>
            </a:pPr>
            <a:r>
              <a:rPr lang="en-US" sz="1450" b="1" i="0" u="none" strike="noStrike" cap="none">
                <a:solidFill>
                  <a:srgbClr val="0F1B33"/>
                </a:solidFill>
                <a:latin typeface="Calibri"/>
                <a:ea typeface="Calibri"/>
                <a:cs typeface="Calibri"/>
                <a:sym typeface="Calibri"/>
              </a:rPr>
              <a:t>Isi error bocor ke browser</a:t>
            </a:r>
            <a:endParaRPr sz="1450" b="0" i="0" u="none" strike="noStrike" cap="none">
              <a:solidFill>
                <a:schemeClr val="dk1"/>
              </a:solidFill>
              <a:latin typeface="Calibri"/>
              <a:ea typeface="Calibri"/>
              <a:cs typeface="Calibri"/>
              <a:sym typeface="Calibri"/>
            </a:endParaRPr>
          </a:p>
        </p:txBody>
      </p:sp>
      <p:sp>
        <p:nvSpPr>
          <p:cNvPr id="638" name="Google Shape;638;p27"/>
          <p:cNvSpPr txBox="1"/>
          <p:nvPr/>
        </p:nvSpPr>
        <p:spPr>
          <a:xfrm>
            <a:off x="850392" y="4361688"/>
            <a:ext cx="4852264" cy="64008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D14343"/>
              </a:buClr>
              <a:buSzPts val="1200"/>
              <a:buFont typeface="Calibri"/>
              <a:buNone/>
            </a:pPr>
            <a:r>
              <a:rPr lang="en-US" sz="1200" b="1" i="0" u="none" strike="noStrike" cap="none">
                <a:solidFill>
                  <a:srgbClr val="D14343"/>
                </a:solidFill>
                <a:latin typeface="Calibri"/>
                <a:ea typeface="Calibri"/>
                <a:cs typeface="Calibri"/>
                <a:sym typeface="Calibri"/>
              </a:rPr>
              <a:t>Sebelum  </a:t>
            </a:r>
            <a:r>
              <a:rPr lang="en-US" sz="1200" b="0" i="0" u="none" strike="noStrike" cap="none">
                <a:solidFill>
                  <a:srgbClr val="55617A"/>
                </a:solidFill>
                <a:latin typeface="Calibri"/>
                <a:ea typeface="Calibri"/>
                <a:cs typeface="Calibri"/>
                <a:sym typeface="Calibri"/>
              </a:rPr>
              <a:t>Pesan error mentah dari AI berisi potongan transkrip.</a:t>
            </a:r>
            <a:endParaRPr sz="1200" b="0" i="0" u="none" strike="noStrike" cap="none">
              <a:solidFill>
                <a:schemeClr val="dk1"/>
              </a:solidFill>
              <a:latin typeface="Calibri"/>
              <a:ea typeface="Calibri"/>
              <a:cs typeface="Calibri"/>
              <a:sym typeface="Calibri"/>
            </a:endParaRPr>
          </a:p>
        </p:txBody>
      </p:sp>
      <p:sp>
        <p:nvSpPr>
          <p:cNvPr id="639" name="Google Shape;639;p27"/>
          <p:cNvSpPr txBox="1"/>
          <p:nvPr/>
        </p:nvSpPr>
        <p:spPr>
          <a:xfrm>
            <a:off x="850392" y="5047488"/>
            <a:ext cx="4852264" cy="86868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0C2E6B"/>
              </a:buClr>
              <a:buSzPts val="1200"/>
              <a:buFont typeface="Calibri"/>
              <a:buNone/>
            </a:pPr>
            <a:r>
              <a:rPr lang="en-US" sz="1200" b="1" i="0" u="none" strike="noStrike" cap="none">
                <a:solidFill>
                  <a:srgbClr val="0C2E6B"/>
                </a:solidFill>
                <a:latin typeface="Calibri"/>
                <a:ea typeface="Calibri"/>
                <a:cs typeface="Calibri"/>
                <a:sym typeface="Calibri"/>
              </a:rPr>
              <a:t>Sekarang  </a:t>
            </a:r>
            <a:r>
              <a:rPr lang="en-US" sz="1200" b="0" i="0" u="none" strike="noStrike" cap="none">
                <a:solidFill>
                  <a:srgbClr val="0F1B33"/>
                </a:solidFill>
                <a:latin typeface="Calibri"/>
                <a:ea typeface="Calibri"/>
                <a:cs typeface="Calibri"/>
                <a:sym typeface="Calibri"/>
              </a:rPr>
              <a:t>Pesan error dibersihkan sebelum dikirim.</a:t>
            </a:r>
            <a:endParaRPr sz="1200" b="0" i="0" u="none" strike="noStrike" cap="none">
              <a:solidFill>
                <a:schemeClr val="dk1"/>
              </a:solidFill>
              <a:latin typeface="Calibri"/>
              <a:ea typeface="Calibri"/>
              <a:cs typeface="Calibri"/>
              <a:sym typeface="Calibri"/>
            </a:endParaRPr>
          </a:p>
        </p:txBody>
      </p:sp>
      <p:sp>
        <p:nvSpPr>
          <p:cNvPr id="640" name="Google Shape;640;p27"/>
          <p:cNvSpPr/>
          <p:nvPr/>
        </p:nvSpPr>
        <p:spPr>
          <a:xfrm>
            <a:off x="6233008" y="3858768"/>
            <a:ext cx="5364328" cy="2148840"/>
          </a:xfrm>
          <a:prstGeom prst="roundRect">
            <a:avLst>
              <a:gd name="adj" fmla="val 2979"/>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41" name="Google Shape;641;p27"/>
          <p:cNvSpPr txBox="1"/>
          <p:nvPr/>
        </p:nvSpPr>
        <p:spPr>
          <a:xfrm>
            <a:off x="6489040" y="3995928"/>
            <a:ext cx="4852264" cy="2926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1450"/>
              <a:buFont typeface="Calibri"/>
              <a:buNone/>
            </a:pPr>
            <a:r>
              <a:rPr lang="en-US" sz="1450" b="1" i="0" u="none" strike="noStrike" cap="none">
                <a:solidFill>
                  <a:srgbClr val="0F1B33"/>
                </a:solidFill>
                <a:latin typeface="Calibri"/>
                <a:ea typeface="Calibri"/>
                <a:cs typeface="Calibri"/>
                <a:sym typeface="Calibri"/>
              </a:rPr>
              <a:t>Export gagal tanpa pesan</a:t>
            </a:r>
            <a:endParaRPr sz="1450" b="0" i="0" u="none" strike="noStrike" cap="none">
              <a:solidFill>
                <a:schemeClr val="dk1"/>
              </a:solidFill>
              <a:latin typeface="Calibri"/>
              <a:ea typeface="Calibri"/>
              <a:cs typeface="Calibri"/>
              <a:sym typeface="Calibri"/>
            </a:endParaRPr>
          </a:p>
        </p:txBody>
      </p:sp>
      <p:sp>
        <p:nvSpPr>
          <p:cNvPr id="642" name="Google Shape;642;p27"/>
          <p:cNvSpPr txBox="1"/>
          <p:nvPr/>
        </p:nvSpPr>
        <p:spPr>
          <a:xfrm>
            <a:off x="6489040" y="4361688"/>
            <a:ext cx="4852264" cy="64008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D14343"/>
              </a:buClr>
              <a:buSzPts val="1200"/>
              <a:buFont typeface="Calibri"/>
              <a:buNone/>
            </a:pPr>
            <a:r>
              <a:rPr lang="en-US" sz="1200" b="1" i="0" u="none" strike="noStrike" cap="none">
                <a:solidFill>
                  <a:srgbClr val="D14343"/>
                </a:solidFill>
                <a:latin typeface="Calibri"/>
                <a:ea typeface="Calibri"/>
                <a:cs typeface="Calibri"/>
                <a:sym typeface="Calibri"/>
              </a:rPr>
              <a:t>Sebelum  </a:t>
            </a:r>
            <a:r>
              <a:rPr lang="en-US" sz="1200" b="0" i="0" u="none" strike="noStrike" cap="none">
                <a:solidFill>
                  <a:srgbClr val="55617A"/>
                </a:solidFill>
                <a:latin typeface="Calibri"/>
                <a:ea typeface="Calibri"/>
                <a:cs typeface="Calibri"/>
                <a:sym typeface="Calibri"/>
              </a:rPr>
              <a:t>Error tidak ditangkap, dan pesannya tidak terbaca.</a:t>
            </a:r>
            <a:endParaRPr sz="1200" b="0" i="0" u="none" strike="noStrike" cap="none">
              <a:solidFill>
                <a:schemeClr val="dk1"/>
              </a:solidFill>
              <a:latin typeface="Calibri"/>
              <a:ea typeface="Calibri"/>
              <a:cs typeface="Calibri"/>
              <a:sym typeface="Calibri"/>
            </a:endParaRPr>
          </a:p>
        </p:txBody>
      </p:sp>
      <p:sp>
        <p:nvSpPr>
          <p:cNvPr id="643" name="Google Shape;643;p27"/>
          <p:cNvSpPr txBox="1"/>
          <p:nvPr/>
        </p:nvSpPr>
        <p:spPr>
          <a:xfrm>
            <a:off x="6489040" y="5047488"/>
            <a:ext cx="4852264" cy="86868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0C2E6B"/>
              </a:buClr>
              <a:buSzPts val="1200"/>
              <a:buFont typeface="Calibri"/>
              <a:buNone/>
            </a:pPr>
            <a:r>
              <a:rPr lang="en-US" sz="1200" b="1" i="0" u="none" strike="noStrike" cap="none">
                <a:solidFill>
                  <a:srgbClr val="0C2E6B"/>
                </a:solidFill>
                <a:latin typeface="Calibri"/>
                <a:ea typeface="Calibri"/>
                <a:cs typeface="Calibri"/>
                <a:sym typeface="Calibri"/>
              </a:rPr>
              <a:t>Sekarang  </a:t>
            </a:r>
            <a:r>
              <a:rPr lang="en-US" sz="1200" b="0" i="0" u="none" strike="noStrike" cap="none">
                <a:solidFill>
                  <a:srgbClr val="0F1B33"/>
                </a:solidFill>
                <a:latin typeface="Calibri"/>
                <a:ea typeface="Calibri"/>
                <a:cs typeface="Calibri"/>
                <a:sym typeface="Calibri"/>
              </a:rPr>
              <a:t>Pesan error dari server sekarang ditampilkan ke user.</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C2E6B"/>
        </a:solidFill>
        <a:effectLst/>
      </p:bgPr>
    </p:bg>
    <p:spTree>
      <p:nvGrpSpPr>
        <p:cNvPr id="648" name="Shape 648"/>
        <p:cNvGrpSpPr/>
        <p:nvPr/>
      </p:nvGrpSpPr>
      <p:grpSpPr>
        <a:xfrm>
          <a:off x="0" y="0"/>
          <a:ext cx="0" cy="0"/>
          <a:chOff x="0" y="0"/>
          <a:chExt cx="0" cy="0"/>
        </a:xfrm>
      </p:grpSpPr>
      <p:sp>
        <p:nvSpPr>
          <p:cNvPr id="649" name="Google Shape;649;p28"/>
          <p:cNvSpPr txBox="1"/>
          <p:nvPr/>
        </p:nvSpPr>
        <p:spPr>
          <a:xfrm>
            <a:off x="594360" y="2103120"/>
            <a:ext cx="274320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9CC5FF"/>
              </a:buClr>
              <a:buSzPts val="2000"/>
              <a:buFont typeface="Calibri"/>
              <a:buNone/>
            </a:pPr>
            <a:r>
              <a:rPr lang="en-US" sz="2000" b="1" i="0" u="none" strike="noStrike" cap="none">
                <a:solidFill>
                  <a:srgbClr val="9CC5FF"/>
                </a:solidFill>
                <a:latin typeface="Calibri"/>
                <a:ea typeface="Calibri"/>
                <a:cs typeface="Calibri"/>
                <a:sym typeface="Calibri"/>
              </a:rPr>
              <a:t>05</a:t>
            </a:r>
            <a:endParaRPr sz="2000" b="0" i="0" u="none" strike="noStrike" cap="none">
              <a:solidFill>
                <a:schemeClr val="dk1"/>
              </a:solidFill>
              <a:latin typeface="Calibri"/>
              <a:ea typeface="Calibri"/>
              <a:cs typeface="Calibri"/>
              <a:sym typeface="Calibri"/>
            </a:endParaRPr>
          </a:p>
        </p:txBody>
      </p:sp>
      <p:sp>
        <p:nvSpPr>
          <p:cNvPr id="650" name="Google Shape;650;p28"/>
          <p:cNvSpPr txBox="1"/>
          <p:nvPr/>
        </p:nvSpPr>
        <p:spPr>
          <a:xfrm>
            <a:off x="594360" y="2651760"/>
            <a:ext cx="11002975" cy="914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FFFFFF"/>
              </a:buClr>
              <a:buSzPts val="3800"/>
              <a:buFont typeface="Calibri"/>
              <a:buNone/>
            </a:pPr>
            <a:r>
              <a:rPr lang="en-US" sz="3800" b="1" i="0" u="none" strike="noStrike" cap="none">
                <a:solidFill>
                  <a:srgbClr val="FFFFFF"/>
                </a:solidFill>
                <a:latin typeface="Calibri"/>
                <a:ea typeface="Calibri"/>
                <a:cs typeface="Calibri"/>
                <a:sym typeface="Calibri"/>
              </a:rPr>
              <a:t>Pembuktian</a:t>
            </a:r>
            <a:endParaRPr sz="3800" b="0" i="0" u="none" strike="noStrike" cap="none">
              <a:solidFill>
                <a:schemeClr val="dk1"/>
              </a:solidFill>
              <a:latin typeface="Calibri"/>
              <a:ea typeface="Calibri"/>
              <a:cs typeface="Calibri"/>
              <a:sym typeface="Calibri"/>
            </a:endParaRPr>
          </a:p>
        </p:txBody>
      </p:sp>
      <p:sp>
        <p:nvSpPr>
          <p:cNvPr id="651" name="Google Shape;651;p28"/>
          <p:cNvSpPr txBox="1"/>
          <p:nvPr/>
        </p:nvSpPr>
        <p:spPr>
          <a:xfrm>
            <a:off x="594360" y="3611880"/>
            <a:ext cx="9144000" cy="73152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AFCBFF"/>
              </a:buClr>
              <a:buSzPts val="1700"/>
              <a:buFont typeface="Calibri"/>
              <a:buNone/>
            </a:pPr>
            <a:r>
              <a:rPr lang="en-US" sz="1700" b="0" i="0" u="none" strike="noStrike" cap="none">
                <a:solidFill>
                  <a:srgbClr val="AFCBFF"/>
                </a:solidFill>
                <a:latin typeface="Calibri"/>
                <a:ea typeface="Calibri"/>
                <a:cs typeface="Calibri"/>
                <a:sym typeface="Calibri"/>
              </a:rPr>
              <a:t>Saya tulis test dulu, pastikan gagal, lalu sengaja merusak kode saya sendiri.</a:t>
            </a:r>
            <a:endParaRPr sz="1700" b="0" i="0" u="none" strike="noStrike" cap="non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656" name="Shape 656"/>
        <p:cNvGrpSpPr/>
        <p:nvPr/>
      </p:nvGrpSpPr>
      <p:grpSpPr>
        <a:xfrm>
          <a:off x="0" y="0"/>
          <a:ext cx="0" cy="0"/>
          <a:chOff x="0" y="0"/>
          <a:chExt cx="0" cy="0"/>
        </a:xfrm>
      </p:grpSpPr>
      <p:sp>
        <p:nvSpPr>
          <p:cNvPr id="657" name="Google Shape;657;p29"/>
          <p:cNvSpPr txBox="1"/>
          <p:nvPr/>
        </p:nvSpPr>
        <p:spPr>
          <a:xfrm>
            <a:off x="11277295" y="6419088"/>
            <a:ext cx="457200"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A94A8"/>
              </a:buClr>
              <a:buSzPts val="1000"/>
              <a:buFont typeface="Calibri"/>
              <a:buNone/>
            </a:pPr>
            <a:r>
              <a:rPr lang="en-US" sz="1000" b="0" i="0" u="none" strike="noStrike" cap="none">
                <a:solidFill>
                  <a:srgbClr val="8A94A8"/>
                </a:solidFill>
                <a:latin typeface="Calibri"/>
                <a:ea typeface="Calibri"/>
                <a:cs typeface="Calibri"/>
                <a:sym typeface="Calibri"/>
              </a:rPr>
              <a:t>36</a:t>
            </a:r>
            <a:endParaRPr sz="1000" b="0" i="0" u="none" strike="noStrike" cap="none">
              <a:solidFill>
                <a:schemeClr val="dk1"/>
              </a:solidFill>
              <a:latin typeface="Calibri"/>
              <a:ea typeface="Calibri"/>
              <a:cs typeface="Calibri"/>
              <a:sym typeface="Calibri"/>
            </a:endParaRPr>
          </a:p>
        </p:txBody>
      </p:sp>
      <p:sp>
        <p:nvSpPr>
          <p:cNvPr id="658" name="Google Shape;658;p29"/>
          <p:cNvSpPr txBox="1"/>
          <p:nvPr/>
        </p:nvSpPr>
        <p:spPr>
          <a:xfrm>
            <a:off x="594360" y="6419088"/>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A94A8"/>
              </a:buClr>
              <a:buSzPts val="1000"/>
              <a:buFont typeface="Calibri"/>
              <a:buNone/>
            </a:pPr>
            <a:r>
              <a:rPr lang="en-US" sz="1000" b="0" i="0" u="none" strike="noStrike" cap="none">
                <a:solidFill>
                  <a:srgbClr val="8A94A8"/>
                </a:solidFill>
                <a:latin typeface="Calibri"/>
                <a:ea typeface="Calibri"/>
                <a:cs typeface="Calibri"/>
                <a:sym typeface="Calibri"/>
              </a:rPr>
              <a:t>Aulia Afriza  ·  Kandidat Fullstack · Frontend depth</a:t>
            </a:r>
            <a:endParaRPr sz="1000" b="0" i="0" u="none" strike="noStrike" cap="none">
              <a:solidFill>
                <a:schemeClr val="dk1"/>
              </a:solidFill>
              <a:latin typeface="Calibri"/>
              <a:ea typeface="Calibri"/>
              <a:cs typeface="Calibri"/>
              <a:sym typeface="Calibri"/>
            </a:endParaRPr>
          </a:p>
        </p:txBody>
      </p:sp>
      <p:sp>
        <p:nvSpPr>
          <p:cNvPr id="659" name="Google Shape;659;p29"/>
          <p:cNvSpPr txBox="1"/>
          <p:nvPr/>
        </p:nvSpPr>
        <p:spPr>
          <a:xfrm>
            <a:off x="594360" y="438912"/>
            <a:ext cx="11002975"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2800"/>
              <a:buFont typeface="Calibri"/>
              <a:buNone/>
            </a:pPr>
            <a:r>
              <a:rPr lang="en-US" sz="2800" b="1" i="0" u="none" strike="noStrike" cap="none">
                <a:solidFill>
                  <a:srgbClr val="0F1B33"/>
                </a:solidFill>
                <a:latin typeface="Calibri"/>
                <a:ea typeface="Calibri"/>
                <a:cs typeface="Calibri"/>
                <a:sym typeface="Calibri"/>
              </a:rPr>
              <a:t>Cara saya memastikan hasilnya benar</a:t>
            </a:r>
            <a:endParaRPr sz="2800" b="0" i="0" u="none" strike="noStrike" cap="none">
              <a:solidFill>
                <a:schemeClr val="dk1"/>
              </a:solidFill>
              <a:latin typeface="Calibri"/>
              <a:ea typeface="Calibri"/>
              <a:cs typeface="Calibri"/>
              <a:sym typeface="Calibri"/>
            </a:endParaRPr>
          </a:p>
        </p:txBody>
      </p:sp>
      <p:sp>
        <p:nvSpPr>
          <p:cNvPr id="660" name="Google Shape;660;p29"/>
          <p:cNvSpPr txBox="1"/>
          <p:nvPr/>
        </p:nvSpPr>
        <p:spPr>
          <a:xfrm>
            <a:off x="594360" y="987552"/>
            <a:ext cx="11002975"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5617A"/>
              </a:buClr>
              <a:buSzPts val="1500"/>
              <a:buFont typeface="Calibri"/>
              <a:buNone/>
            </a:pPr>
            <a:r>
              <a:rPr lang="en-US" sz="1500" b="0" i="0" u="none" strike="noStrike" cap="none">
                <a:solidFill>
                  <a:srgbClr val="55617A"/>
                </a:solidFill>
                <a:latin typeface="Calibri"/>
                <a:ea typeface="Calibri"/>
                <a:cs typeface="Calibri"/>
                <a:sym typeface="Calibri"/>
              </a:rPr>
              <a:t>§2.5 · Test saya tulis dulu, lalu saya jalankan ke kode lama sampai gagal.</a:t>
            </a:r>
            <a:endParaRPr sz="1500" b="0" i="0" u="none" strike="noStrike" cap="none">
              <a:solidFill>
                <a:schemeClr val="dk1"/>
              </a:solidFill>
              <a:latin typeface="Calibri"/>
              <a:ea typeface="Calibri"/>
              <a:cs typeface="Calibri"/>
              <a:sym typeface="Calibri"/>
            </a:endParaRPr>
          </a:p>
        </p:txBody>
      </p:sp>
      <p:sp>
        <p:nvSpPr>
          <p:cNvPr id="661" name="Google Shape;661;p29"/>
          <p:cNvSpPr/>
          <p:nvPr/>
        </p:nvSpPr>
        <p:spPr>
          <a:xfrm>
            <a:off x="594360" y="1536192"/>
            <a:ext cx="2613584" cy="1645920"/>
          </a:xfrm>
          <a:prstGeom prst="roundRect">
            <a:avLst>
              <a:gd name="adj" fmla="val 3889"/>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2" name="Google Shape;662;p29"/>
          <p:cNvSpPr txBox="1"/>
          <p:nvPr/>
        </p:nvSpPr>
        <p:spPr>
          <a:xfrm>
            <a:off x="822960" y="1645920"/>
            <a:ext cx="2156384"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C2E6B"/>
              </a:buClr>
              <a:buSzPts val="2800"/>
              <a:buFont typeface="Calibri"/>
              <a:buNone/>
            </a:pPr>
            <a:r>
              <a:rPr lang="en-US" sz="2800" b="1" i="0" u="none" strike="noStrike" cap="none">
                <a:solidFill>
                  <a:srgbClr val="0C2E6B"/>
                </a:solidFill>
                <a:latin typeface="Calibri"/>
                <a:ea typeface="Calibri"/>
                <a:cs typeface="Calibri"/>
                <a:sym typeface="Calibri"/>
              </a:rPr>
              <a:t>0 → 34</a:t>
            </a:r>
            <a:endParaRPr sz="2800" b="0" i="0" u="none" strike="noStrike" cap="none">
              <a:solidFill>
                <a:schemeClr val="dk1"/>
              </a:solidFill>
              <a:latin typeface="Calibri"/>
              <a:ea typeface="Calibri"/>
              <a:cs typeface="Calibri"/>
              <a:sym typeface="Calibri"/>
            </a:endParaRPr>
          </a:p>
        </p:txBody>
      </p:sp>
      <p:sp>
        <p:nvSpPr>
          <p:cNvPr id="663" name="Google Shape;663;p29"/>
          <p:cNvSpPr txBox="1"/>
          <p:nvPr/>
        </p:nvSpPr>
        <p:spPr>
          <a:xfrm>
            <a:off x="822960" y="2212848"/>
            <a:ext cx="2156384"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1300"/>
              <a:buFont typeface="Calibri"/>
              <a:buNone/>
            </a:pPr>
            <a:r>
              <a:rPr lang="en-US" sz="1300" b="1" i="0" u="none" strike="noStrike" cap="none">
                <a:solidFill>
                  <a:srgbClr val="0F1B33"/>
                </a:solidFill>
                <a:latin typeface="Calibri"/>
                <a:ea typeface="Calibri"/>
                <a:cs typeface="Calibri"/>
                <a:sym typeface="Calibri"/>
              </a:rPr>
              <a:t>test frontend</a:t>
            </a:r>
            <a:endParaRPr sz="1300" b="0" i="0" u="none" strike="noStrike" cap="none">
              <a:solidFill>
                <a:schemeClr val="dk1"/>
              </a:solidFill>
              <a:latin typeface="Calibri"/>
              <a:ea typeface="Calibri"/>
              <a:cs typeface="Calibri"/>
              <a:sym typeface="Calibri"/>
            </a:endParaRPr>
          </a:p>
        </p:txBody>
      </p:sp>
      <p:sp>
        <p:nvSpPr>
          <p:cNvPr id="664" name="Google Shape;664;p29"/>
          <p:cNvSpPr txBox="1"/>
          <p:nvPr/>
        </p:nvSpPr>
        <p:spPr>
          <a:xfrm>
            <a:off x="822960" y="2542032"/>
            <a:ext cx="2156384" cy="548640"/>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55617A"/>
              </a:buClr>
              <a:buSzPts val="1150"/>
              <a:buFont typeface="Calibri"/>
              <a:buNone/>
            </a:pPr>
            <a:r>
              <a:rPr lang="en-US" sz="1150" b="0" i="0" u="none" strike="noStrike" cap="none">
                <a:solidFill>
                  <a:srgbClr val="55617A"/>
                </a:solidFill>
                <a:latin typeface="Calibri"/>
                <a:ea typeface="Calibri"/>
                <a:cs typeface="Calibri"/>
                <a:sym typeface="Calibri"/>
              </a:rPr>
              <a:t>Sebelumnya frontend belum punya test</a:t>
            </a:r>
            <a:endParaRPr sz="1150" b="0" i="0" u="none" strike="noStrike" cap="none">
              <a:solidFill>
                <a:schemeClr val="dk1"/>
              </a:solidFill>
              <a:latin typeface="Calibri"/>
              <a:ea typeface="Calibri"/>
              <a:cs typeface="Calibri"/>
              <a:sym typeface="Calibri"/>
            </a:endParaRPr>
          </a:p>
        </p:txBody>
      </p:sp>
      <p:sp>
        <p:nvSpPr>
          <p:cNvPr id="665" name="Google Shape;665;p29"/>
          <p:cNvSpPr/>
          <p:nvPr/>
        </p:nvSpPr>
        <p:spPr>
          <a:xfrm>
            <a:off x="3390824" y="1536192"/>
            <a:ext cx="2613584" cy="1645920"/>
          </a:xfrm>
          <a:prstGeom prst="roundRect">
            <a:avLst>
              <a:gd name="adj" fmla="val 3889"/>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6" name="Google Shape;666;p29"/>
          <p:cNvSpPr txBox="1"/>
          <p:nvPr/>
        </p:nvSpPr>
        <p:spPr>
          <a:xfrm>
            <a:off x="3619424" y="1645920"/>
            <a:ext cx="2156384"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D14343"/>
              </a:buClr>
              <a:buSzPts val="2800"/>
              <a:buFont typeface="Calibri"/>
              <a:buNone/>
            </a:pPr>
            <a:r>
              <a:rPr lang="en-US" sz="2800" b="1" i="0" u="none" strike="noStrike" cap="none">
                <a:solidFill>
                  <a:srgbClr val="D14343"/>
                </a:solidFill>
                <a:latin typeface="Calibri"/>
                <a:ea typeface="Calibri"/>
                <a:cs typeface="Calibri"/>
                <a:sym typeface="Calibri"/>
              </a:rPr>
              <a:t>8 / 1</a:t>
            </a:r>
            <a:endParaRPr sz="2800" b="0" i="0" u="none" strike="noStrike" cap="none">
              <a:solidFill>
                <a:schemeClr val="dk1"/>
              </a:solidFill>
              <a:latin typeface="Calibri"/>
              <a:ea typeface="Calibri"/>
              <a:cs typeface="Calibri"/>
              <a:sym typeface="Calibri"/>
            </a:endParaRPr>
          </a:p>
        </p:txBody>
      </p:sp>
      <p:sp>
        <p:nvSpPr>
          <p:cNvPr id="667" name="Google Shape;667;p29"/>
          <p:cNvSpPr txBox="1"/>
          <p:nvPr/>
        </p:nvSpPr>
        <p:spPr>
          <a:xfrm>
            <a:off x="3619424" y="2212848"/>
            <a:ext cx="2156384"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1300"/>
              <a:buFont typeface="Calibri"/>
              <a:buNone/>
            </a:pPr>
            <a:r>
              <a:rPr lang="en-US" sz="1300" b="1" i="0" u="none" strike="noStrike" cap="none">
                <a:solidFill>
                  <a:srgbClr val="0F1B33"/>
                </a:solidFill>
                <a:latin typeface="Calibri"/>
                <a:ea typeface="Calibri"/>
                <a:cs typeface="Calibri"/>
                <a:sym typeface="Calibri"/>
              </a:rPr>
              <a:t>gagal / lulus di kode lama</a:t>
            </a:r>
            <a:endParaRPr sz="1300" b="0" i="0" u="none" strike="noStrike" cap="none">
              <a:solidFill>
                <a:schemeClr val="dk1"/>
              </a:solidFill>
              <a:latin typeface="Calibri"/>
              <a:ea typeface="Calibri"/>
              <a:cs typeface="Calibri"/>
              <a:sym typeface="Calibri"/>
            </a:endParaRPr>
          </a:p>
        </p:txBody>
      </p:sp>
      <p:sp>
        <p:nvSpPr>
          <p:cNvPr id="668" name="Google Shape;668;p29"/>
          <p:cNvSpPr txBox="1"/>
          <p:nvPr/>
        </p:nvSpPr>
        <p:spPr>
          <a:xfrm>
            <a:off x="3619424" y="2542032"/>
            <a:ext cx="2156384" cy="548640"/>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55617A"/>
              </a:buClr>
              <a:buSzPts val="1150"/>
              <a:buFont typeface="Calibri"/>
              <a:buNone/>
            </a:pPr>
            <a:r>
              <a:rPr lang="en-US" sz="1150" b="0" i="0" u="none" strike="noStrike" cap="none">
                <a:solidFill>
                  <a:srgbClr val="55617A"/>
                </a:solidFill>
                <a:latin typeface="Calibri"/>
                <a:ea typeface="Calibri"/>
                <a:cs typeface="Calibri"/>
                <a:sym typeface="Calibri"/>
              </a:rPr>
              <a:t>Hasilnya dilampirkan di report</a:t>
            </a:r>
            <a:endParaRPr sz="1150" b="0" i="0" u="none" strike="noStrike" cap="none">
              <a:solidFill>
                <a:schemeClr val="dk1"/>
              </a:solidFill>
              <a:latin typeface="Calibri"/>
              <a:ea typeface="Calibri"/>
              <a:cs typeface="Calibri"/>
              <a:sym typeface="Calibri"/>
            </a:endParaRPr>
          </a:p>
        </p:txBody>
      </p:sp>
      <p:sp>
        <p:nvSpPr>
          <p:cNvPr id="669" name="Google Shape;669;p29"/>
          <p:cNvSpPr/>
          <p:nvPr/>
        </p:nvSpPr>
        <p:spPr>
          <a:xfrm>
            <a:off x="6187288" y="1536192"/>
            <a:ext cx="2613584" cy="1645920"/>
          </a:xfrm>
          <a:prstGeom prst="roundRect">
            <a:avLst>
              <a:gd name="adj" fmla="val 3889"/>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0" name="Google Shape;670;p29"/>
          <p:cNvSpPr txBox="1"/>
          <p:nvPr/>
        </p:nvSpPr>
        <p:spPr>
          <a:xfrm>
            <a:off x="6415888" y="1645920"/>
            <a:ext cx="2156384"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B26A00"/>
              </a:buClr>
              <a:buSzPts val="2800"/>
              <a:buFont typeface="Calibri"/>
              <a:buNone/>
            </a:pPr>
            <a:r>
              <a:rPr lang="en-US" sz="2800" b="1" i="0" u="none" strike="noStrike" cap="none">
                <a:solidFill>
                  <a:srgbClr val="B26A00"/>
                </a:solidFill>
                <a:latin typeface="Calibri"/>
                <a:ea typeface="Calibri"/>
                <a:cs typeface="Calibri"/>
                <a:sym typeface="Calibri"/>
              </a:rPr>
              <a:t>2 · 3 · 2</a:t>
            </a:r>
            <a:endParaRPr sz="2800" b="0" i="0" u="none" strike="noStrike" cap="none">
              <a:solidFill>
                <a:schemeClr val="dk1"/>
              </a:solidFill>
              <a:latin typeface="Calibri"/>
              <a:ea typeface="Calibri"/>
              <a:cs typeface="Calibri"/>
              <a:sym typeface="Calibri"/>
            </a:endParaRPr>
          </a:p>
        </p:txBody>
      </p:sp>
      <p:sp>
        <p:nvSpPr>
          <p:cNvPr id="671" name="Google Shape;671;p29"/>
          <p:cNvSpPr txBox="1"/>
          <p:nvPr/>
        </p:nvSpPr>
        <p:spPr>
          <a:xfrm>
            <a:off x="6415888" y="2212848"/>
            <a:ext cx="2156384"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1300"/>
              <a:buFont typeface="Calibri"/>
              <a:buNone/>
            </a:pPr>
            <a:r>
              <a:rPr lang="en-US" sz="1300" b="1" i="0" u="none" strike="noStrike" cap="none">
                <a:solidFill>
                  <a:srgbClr val="0F1B33"/>
                </a:solidFill>
                <a:latin typeface="Calibri"/>
                <a:ea typeface="Calibri"/>
                <a:cs typeface="Calibri"/>
                <a:sym typeface="Calibri"/>
              </a:rPr>
              <a:t>test gagal saat dirusak</a:t>
            </a:r>
            <a:endParaRPr sz="1300" b="0" i="0" u="none" strike="noStrike" cap="none">
              <a:solidFill>
                <a:schemeClr val="dk1"/>
              </a:solidFill>
              <a:latin typeface="Calibri"/>
              <a:ea typeface="Calibri"/>
              <a:cs typeface="Calibri"/>
              <a:sym typeface="Calibri"/>
            </a:endParaRPr>
          </a:p>
        </p:txBody>
      </p:sp>
      <p:sp>
        <p:nvSpPr>
          <p:cNvPr id="672" name="Google Shape;672;p29"/>
          <p:cNvSpPr txBox="1"/>
          <p:nvPr/>
        </p:nvSpPr>
        <p:spPr>
          <a:xfrm>
            <a:off x="6415888" y="2542032"/>
            <a:ext cx="2156384" cy="548640"/>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55617A"/>
              </a:buClr>
              <a:buSzPts val="1150"/>
              <a:buFont typeface="Calibri"/>
              <a:buNone/>
            </a:pPr>
            <a:r>
              <a:rPr lang="en-US" sz="1150" b="0" i="0" u="none" strike="noStrike" cap="none">
                <a:solidFill>
                  <a:srgbClr val="55617A"/>
                </a:solidFill>
                <a:latin typeface="Calibri"/>
                <a:ea typeface="Calibri"/>
                <a:cs typeface="Calibri"/>
                <a:sym typeface="Calibri"/>
              </a:rPr>
              <a:t>Setiap percobaan tercatat di git</a:t>
            </a:r>
            <a:endParaRPr sz="1150" b="0" i="0" u="none" strike="noStrike" cap="none">
              <a:solidFill>
                <a:schemeClr val="dk1"/>
              </a:solidFill>
              <a:latin typeface="Calibri"/>
              <a:ea typeface="Calibri"/>
              <a:cs typeface="Calibri"/>
              <a:sym typeface="Calibri"/>
            </a:endParaRPr>
          </a:p>
        </p:txBody>
      </p:sp>
      <p:sp>
        <p:nvSpPr>
          <p:cNvPr id="673" name="Google Shape;673;p29"/>
          <p:cNvSpPr/>
          <p:nvPr/>
        </p:nvSpPr>
        <p:spPr>
          <a:xfrm>
            <a:off x="8983751" y="1536192"/>
            <a:ext cx="2613584" cy="1645920"/>
          </a:xfrm>
          <a:prstGeom prst="roundRect">
            <a:avLst>
              <a:gd name="adj" fmla="val 3889"/>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4" name="Google Shape;674;p29"/>
          <p:cNvSpPr txBox="1"/>
          <p:nvPr/>
        </p:nvSpPr>
        <p:spPr>
          <a:xfrm>
            <a:off x="9212351" y="1645920"/>
            <a:ext cx="2156384"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C2E6B"/>
              </a:buClr>
              <a:buSzPts val="2800"/>
              <a:buFont typeface="Calibri"/>
              <a:buNone/>
            </a:pPr>
            <a:r>
              <a:rPr lang="en-US" sz="2800" b="1" i="0" u="none" strike="noStrike" cap="none">
                <a:solidFill>
                  <a:srgbClr val="0C2E6B"/>
                </a:solidFill>
                <a:latin typeface="Calibri"/>
                <a:ea typeface="Calibri"/>
                <a:cs typeface="Calibri"/>
                <a:sym typeface="Calibri"/>
              </a:rPr>
              <a:t>RSpec</a:t>
            </a:r>
            <a:endParaRPr sz="2800" b="0" i="0" u="none" strike="noStrike" cap="none">
              <a:solidFill>
                <a:schemeClr val="dk1"/>
              </a:solidFill>
              <a:latin typeface="Calibri"/>
              <a:ea typeface="Calibri"/>
              <a:cs typeface="Calibri"/>
              <a:sym typeface="Calibri"/>
            </a:endParaRPr>
          </a:p>
        </p:txBody>
      </p:sp>
      <p:sp>
        <p:nvSpPr>
          <p:cNvPr id="675" name="Google Shape;675;p29"/>
          <p:cNvSpPr txBox="1"/>
          <p:nvPr/>
        </p:nvSpPr>
        <p:spPr>
          <a:xfrm>
            <a:off x="9212351" y="2212848"/>
            <a:ext cx="2156384"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1300"/>
              <a:buFont typeface="Calibri"/>
              <a:buNone/>
            </a:pPr>
            <a:r>
              <a:rPr lang="en-US" sz="1300" b="1" i="0" u="none" strike="noStrike" cap="none">
                <a:solidFill>
                  <a:srgbClr val="0F1B33"/>
                </a:solidFill>
                <a:latin typeface="Calibri"/>
                <a:ea typeface="Calibri"/>
                <a:cs typeface="Calibri"/>
                <a:sym typeface="Calibri"/>
              </a:rPr>
              <a:t>test pertama di backend</a:t>
            </a:r>
            <a:endParaRPr sz="1300" b="0" i="0" u="none" strike="noStrike" cap="none">
              <a:solidFill>
                <a:schemeClr val="dk1"/>
              </a:solidFill>
              <a:latin typeface="Calibri"/>
              <a:ea typeface="Calibri"/>
              <a:cs typeface="Calibri"/>
              <a:sym typeface="Calibri"/>
            </a:endParaRPr>
          </a:p>
        </p:txBody>
      </p:sp>
      <p:sp>
        <p:nvSpPr>
          <p:cNvPr id="676" name="Google Shape;676;p29"/>
          <p:cNvSpPr txBox="1"/>
          <p:nvPr/>
        </p:nvSpPr>
        <p:spPr>
          <a:xfrm>
            <a:off x="9212351" y="2542032"/>
            <a:ext cx="2156384" cy="548640"/>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55617A"/>
              </a:buClr>
              <a:buSzPts val="1150"/>
              <a:buFont typeface="Calibri"/>
              <a:buNone/>
            </a:pPr>
            <a:r>
              <a:rPr lang="en-US" sz="1150" b="0" i="0" u="none" strike="noStrike" cap="none">
                <a:solidFill>
                  <a:srgbClr val="55617A"/>
                </a:solidFill>
                <a:latin typeface="Calibri"/>
                <a:ea typeface="Calibri"/>
                <a:cs typeface="Calibri"/>
                <a:sym typeface="Calibri"/>
              </a:rPr>
              <a:t>Engine, generator, tenancy</a:t>
            </a:r>
            <a:endParaRPr sz="1150" b="0" i="0" u="none" strike="noStrike" cap="none">
              <a:solidFill>
                <a:schemeClr val="dk1"/>
              </a:solidFill>
              <a:latin typeface="Calibri"/>
              <a:ea typeface="Calibri"/>
              <a:cs typeface="Calibri"/>
              <a:sym typeface="Calibri"/>
            </a:endParaRPr>
          </a:p>
        </p:txBody>
      </p:sp>
      <p:graphicFrame>
        <p:nvGraphicFramePr>
          <p:cNvPr id="677" name="Google Shape;677;p29"/>
          <p:cNvGraphicFramePr/>
          <p:nvPr/>
        </p:nvGraphicFramePr>
        <p:xfrm>
          <a:off x="594360" y="3429000"/>
          <a:ext cx="11000225" cy="3000000"/>
        </p:xfrm>
        <a:graphic>
          <a:graphicData uri="http://schemas.openxmlformats.org/drawingml/2006/table">
            <a:tbl>
              <a:tblPr>
                <a:noFill/>
                <a:tableStyleId>{569AB0A4-A050-44F2-8EE5-55170C1F6B93}</a:tableStyleId>
              </a:tblPr>
              <a:tblGrid>
                <a:gridCol w="4754875"/>
                <a:gridCol w="1280150"/>
                <a:gridCol w="4965200"/>
              </a:tblGrid>
              <a:tr h="384050">
                <a:tc>
                  <a:txBody>
                    <a:bodyPr/>
                    <a:lstStyle/>
                    <a:p>
                      <a:pPr marL="0" marR="0" lvl="0" indent="0" algn="l" rtl="0">
                        <a:spcBef>
                          <a:spcPts val="0"/>
                        </a:spcBef>
                        <a:spcAft>
                          <a:spcPts val="0"/>
                        </a:spcAft>
                        <a:buClr>
                          <a:srgbClr val="0F1B33"/>
                        </a:buClr>
                        <a:buSzPts val="1250"/>
                        <a:buFont typeface="Calibri"/>
                        <a:buNone/>
                      </a:pPr>
                      <a:r>
                        <a:rPr lang="en-US" sz="1250" b="1" u="none" strike="noStrike" cap="none">
                          <a:solidFill>
                            <a:srgbClr val="0F1B33"/>
                          </a:solidFill>
                          <a:latin typeface="Calibri"/>
                          <a:ea typeface="Calibri"/>
                          <a:cs typeface="Calibri"/>
                          <a:sym typeface="Calibri"/>
                        </a:rPr>
                        <a:t>Bagian yang sengaja saya rusak</a:t>
                      </a:r>
                      <a:endParaRPr sz="1250" u="none" strike="noStrike" cap="none">
                        <a:latin typeface="Calibri"/>
                        <a:ea typeface="Calibri"/>
                        <a:cs typeface="Calibri"/>
                        <a:sym typeface="Calibri"/>
                      </a:endParaRPr>
                    </a:p>
                  </a:txBody>
                  <a:tcPr marL="128025" marR="128025" marT="64000" marB="64000" anchor="ctr">
                    <a:lnL w="9525" cap="flat" cmpd="sng">
                      <a:solidFill>
                        <a:srgbClr val="DCE4F0"/>
                      </a:solidFill>
                      <a:prstDash val="solid"/>
                      <a:round/>
                      <a:headEnd type="none" w="sm" len="sm"/>
                      <a:tailEnd type="none" w="sm" len="sm"/>
                    </a:lnL>
                    <a:lnR w="9525" cap="flat" cmpd="sng">
                      <a:solidFill>
                        <a:srgbClr val="DCE4F0"/>
                      </a:solidFill>
                      <a:prstDash val="solid"/>
                      <a:round/>
                      <a:headEnd type="none" w="sm" len="sm"/>
                      <a:tailEnd type="none" w="sm" len="sm"/>
                    </a:lnR>
                    <a:lnT w="9525" cap="flat" cmpd="sng">
                      <a:solidFill>
                        <a:srgbClr val="DCE4F0"/>
                      </a:solidFill>
                      <a:prstDash val="solid"/>
                      <a:round/>
                      <a:headEnd type="none" w="sm" len="sm"/>
                      <a:tailEnd type="none" w="sm" len="sm"/>
                    </a:lnT>
                    <a:lnB w="9525" cap="flat" cmpd="sng">
                      <a:solidFill>
                        <a:srgbClr val="DCE4F0"/>
                      </a:solidFill>
                      <a:prstDash val="solid"/>
                      <a:round/>
                      <a:headEnd type="none" w="sm" len="sm"/>
                      <a:tailEnd type="none" w="sm" len="sm"/>
                    </a:lnB>
                    <a:solidFill>
                      <a:srgbClr val="F6F9FE"/>
                    </a:solidFill>
                  </a:tcPr>
                </a:tc>
                <a:tc>
                  <a:txBody>
                    <a:bodyPr/>
                    <a:lstStyle/>
                    <a:p>
                      <a:pPr marL="0" marR="0" lvl="0" indent="0" algn="ctr" rtl="0">
                        <a:spcBef>
                          <a:spcPts val="0"/>
                        </a:spcBef>
                        <a:spcAft>
                          <a:spcPts val="0"/>
                        </a:spcAft>
                        <a:buClr>
                          <a:srgbClr val="0F1B33"/>
                        </a:buClr>
                        <a:buSzPts val="1250"/>
                        <a:buFont typeface="Calibri"/>
                        <a:buNone/>
                      </a:pPr>
                      <a:r>
                        <a:rPr lang="en-US" sz="1250" b="1" u="none" strike="noStrike" cap="none">
                          <a:solidFill>
                            <a:srgbClr val="0F1B33"/>
                          </a:solidFill>
                          <a:latin typeface="Calibri"/>
                          <a:ea typeface="Calibri"/>
                          <a:cs typeface="Calibri"/>
                          <a:sym typeface="Calibri"/>
                        </a:rPr>
                        <a:t>Test gagal</a:t>
                      </a:r>
                      <a:endParaRPr sz="1250" u="none" strike="noStrike" cap="none">
                        <a:latin typeface="Calibri"/>
                        <a:ea typeface="Calibri"/>
                        <a:cs typeface="Calibri"/>
                        <a:sym typeface="Calibri"/>
                      </a:endParaRPr>
                    </a:p>
                  </a:txBody>
                  <a:tcPr marL="128025" marR="128025" marT="64000" marB="64000" anchor="ctr">
                    <a:lnL w="9525" cap="flat" cmpd="sng">
                      <a:solidFill>
                        <a:srgbClr val="DCE4F0"/>
                      </a:solidFill>
                      <a:prstDash val="solid"/>
                      <a:round/>
                      <a:headEnd type="none" w="sm" len="sm"/>
                      <a:tailEnd type="none" w="sm" len="sm"/>
                    </a:lnL>
                    <a:lnR w="9525" cap="flat" cmpd="sng">
                      <a:solidFill>
                        <a:srgbClr val="DCE4F0"/>
                      </a:solidFill>
                      <a:prstDash val="solid"/>
                      <a:round/>
                      <a:headEnd type="none" w="sm" len="sm"/>
                      <a:tailEnd type="none" w="sm" len="sm"/>
                    </a:lnR>
                    <a:lnT w="9525" cap="flat" cmpd="sng">
                      <a:solidFill>
                        <a:srgbClr val="DCE4F0"/>
                      </a:solidFill>
                      <a:prstDash val="solid"/>
                      <a:round/>
                      <a:headEnd type="none" w="sm" len="sm"/>
                      <a:tailEnd type="none" w="sm" len="sm"/>
                    </a:lnT>
                    <a:lnB w="9525" cap="flat" cmpd="sng">
                      <a:solidFill>
                        <a:srgbClr val="DCE4F0"/>
                      </a:solidFill>
                      <a:prstDash val="solid"/>
                      <a:round/>
                      <a:headEnd type="none" w="sm" len="sm"/>
                      <a:tailEnd type="none" w="sm" len="sm"/>
                    </a:lnB>
                    <a:solidFill>
                      <a:srgbClr val="F6F9FE"/>
                    </a:solidFill>
                  </a:tcPr>
                </a:tc>
                <a:tc>
                  <a:txBody>
                    <a:bodyPr/>
                    <a:lstStyle/>
                    <a:p>
                      <a:pPr marL="0" marR="0" lvl="0" indent="0" algn="l" rtl="0">
                        <a:spcBef>
                          <a:spcPts val="0"/>
                        </a:spcBef>
                        <a:spcAft>
                          <a:spcPts val="0"/>
                        </a:spcAft>
                        <a:buClr>
                          <a:srgbClr val="0F1B33"/>
                        </a:buClr>
                        <a:buSzPts val="1250"/>
                        <a:buFont typeface="Calibri"/>
                        <a:buNone/>
                      </a:pPr>
                      <a:r>
                        <a:rPr lang="en-US" sz="1250" b="1" u="none" strike="noStrike" cap="none">
                          <a:solidFill>
                            <a:srgbClr val="0F1B33"/>
                          </a:solidFill>
                          <a:latin typeface="Calibri"/>
                          <a:ea typeface="Calibri"/>
                          <a:cs typeface="Calibri"/>
                          <a:sym typeface="Calibri"/>
                        </a:rPr>
                        <a:t>Kenapa bagian ini</a:t>
                      </a:r>
                      <a:endParaRPr sz="1250" u="none" strike="noStrike" cap="none">
                        <a:latin typeface="Calibri"/>
                        <a:ea typeface="Calibri"/>
                        <a:cs typeface="Calibri"/>
                        <a:sym typeface="Calibri"/>
                      </a:endParaRPr>
                    </a:p>
                  </a:txBody>
                  <a:tcPr marL="128025" marR="128025" marT="64000" marB="64000" anchor="ctr">
                    <a:lnL w="9525" cap="flat" cmpd="sng">
                      <a:solidFill>
                        <a:srgbClr val="DCE4F0"/>
                      </a:solidFill>
                      <a:prstDash val="solid"/>
                      <a:round/>
                      <a:headEnd type="none" w="sm" len="sm"/>
                      <a:tailEnd type="none" w="sm" len="sm"/>
                    </a:lnL>
                    <a:lnR w="9525" cap="flat" cmpd="sng">
                      <a:solidFill>
                        <a:srgbClr val="DCE4F0"/>
                      </a:solidFill>
                      <a:prstDash val="solid"/>
                      <a:round/>
                      <a:headEnd type="none" w="sm" len="sm"/>
                      <a:tailEnd type="none" w="sm" len="sm"/>
                    </a:lnR>
                    <a:lnT w="9525" cap="flat" cmpd="sng">
                      <a:solidFill>
                        <a:srgbClr val="DCE4F0"/>
                      </a:solidFill>
                      <a:prstDash val="solid"/>
                      <a:round/>
                      <a:headEnd type="none" w="sm" len="sm"/>
                      <a:tailEnd type="none" w="sm" len="sm"/>
                    </a:lnT>
                    <a:lnB w="9525" cap="flat" cmpd="sng">
                      <a:solidFill>
                        <a:srgbClr val="DCE4F0"/>
                      </a:solidFill>
                      <a:prstDash val="solid"/>
                      <a:round/>
                      <a:headEnd type="none" w="sm" len="sm"/>
                      <a:tailEnd type="none" w="sm" len="sm"/>
                    </a:lnB>
                    <a:solidFill>
                      <a:srgbClr val="F6F9FE"/>
                    </a:solidFill>
                  </a:tcPr>
                </a:tc>
              </a:tr>
              <a:tr h="402325">
                <a:tc>
                  <a:txBody>
                    <a:bodyPr/>
                    <a:lstStyle/>
                    <a:p>
                      <a:pPr marL="0" marR="0" lvl="0" indent="0" algn="l" rtl="0">
                        <a:spcBef>
                          <a:spcPts val="0"/>
                        </a:spcBef>
                        <a:spcAft>
                          <a:spcPts val="0"/>
                        </a:spcAft>
                        <a:buClr>
                          <a:srgbClr val="0F1B33"/>
                        </a:buClr>
                        <a:buSzPts val="1250"/>
                        <a:buFont typeface="Calibri"/>
                        <a:buNone/>
                      </a:pPr>
                      <a:r>
                        <a:rPr lang="en-US" sz="1250" u="none" strike="noStrike" cap="none">
                          <a:solidFill>
                            <a:srgbClr val="0F1B33"/>
                          </a:solidFill>
                          <a:latin typeface="Calibri"/>
                          <a:ea typeface="Calibri"/>
                          <a:cs typeface="Calibri"/>
                          <a:sym typeface="Calibri"/>
                        </a:rPr>
                        <a:t>Hapus mapping expected_level → required_level</a:t>
                      </a:r>
                      <a:endParaRPr sz="1250" u="none" strike="noStrike" cap="none">
                        <a:latin typeface="Calibri"/>
                        <a:ea typeface="Calibri"/>
                        <a:cs typeface="Calibri"/>
                        <a:sym typeface="Calibri"/>
                      </a:endParaRPr>
                    </a:p>
                  </a:txBody>
                  <a:tcPr marL="128025" marR="128025" marT="64000" marB="64000" anchor="ctr">
                    <a:lnL w="9525" cap="flat" cmpd="sng">
                      <a:solidFill>
                        <a:srgbClr val="DCE4F0"/>
                      </a:solidFill>
                      <a:prstDash val="solid"/>
                      <a:round/>
                      <a:headEnd type="none" w="sm" len="sm"/>
                      <a:tailEnd type="none" w="sm" len="sm"/>
                    </a:lnL>
                    <a:lnR w="9525" cap="flat" cmpd="sng">
                      <a:solidFill>
                        <a:srgbClr val="DCE4F0"/>
                      </a:solidFill>
                      <a:prstDash val="solid"/>
                      <a:round/>
                      <a:headEnd type="none" w="sm" len="sm"/>
                      <a:tailEnd type="none" w="sm" len="sm"/>
                    </a:lnR>
                    <a:lnT w="9525" cap="flat" cmpd="sng">
                      <a:solidFill>
                        <a:srgbClr val="DCE4F0"/>
                      </a:solidFill>
                      <a:prstDash val="solid"/>
                      <a:round/>
                      <a:headEnd type="none" w="sm" len="sm"/>
                      <a:tailEnd type="none" w="sm" len="sm"/>
                    </a:lnT>
                    <a:lnB w="9525" cap="flat" cmpd="sng">
                      <a:solidFill>
                        <a:srgbClr val="DCE4F0"/>
                      </a:solidFill>
                      <a:prstDash val="solid"/>
                      <a:round/>
                      <a:headEnd type="none" w="sm" len="sm"/>
                      <a:tailEnd type="none" w="sm" len="sm"/>
                    </a:lnB>
                  </a:tcPr>
                </a:tc>
                <a:tc>
                  <a:txBody>
                    <a:bodyPr/>
                    <a:lstStyle/>
                    <a:p>
                      <a:pPr marL="0" marR="0" lvl="0" indent="0" algn="ctr" rtl="0">
                        <a:spcBef>
                          <a:spcPts val="0"/>
                        </a:spcBef>
                        <a:spcAft>
                          <a:spcPts val="0"/>
                        </a:spcAft>
                        <a:buClr>
                          <a:srgbClr val="D14343"/>
                        </a:buClr>
                        <a:buSzPts val="1250"/>
                        <a:buFont typeface="Calibri"/>
                        <a:buNone/>
                      </a:pPr>
                      <a:r>
                        <a:rPr lang="en-US" sz="1250" b="1" u="none" strike="noStrike" cap="none">
                          <a:solidFill>
                            <a:srgbClr val="D14343"/>
                          </a:solidFill>
                          <a:latin typeface="Calibri"/>
                          <a:ea typeface="Calibri"/>
                          <a:cs typeface="Calibri"/>
                          <a:sym typeface="Calibri"/>
                        </a:rPr>
                        <a:t>2</a:t>
                      </a:r>
                      <a:endParaRPr sz="1250" u="none" strike="noStrike" cap="none">
                        <a:latin typeface="Calibri"/>
                        <a:ea typeface="Calibri"/>
                        <a:cs typeface="Calibri"/>
                        <a:sym typeface="Calibri"/>
                      </a:endParaRPr>
                    </a:p>
                  </a:txBody>
                  <a:tcPr marL="128025" marR="128025" marT="64000" marB="64000" anchor="ctr">
                    <a:lnL w="9525" cap="flat" cmpd="sng">
                      <a:solidFill>
                        <a:srgbClr val="DCE4F0"/>
                      </a:solidFill>
                      <a:prstDash val="solid"/>
                      <a:round/>
                      <a:headEnd type="none" w="sm" len="sm"/>
                      <a:tailEnd type="none" w="sm" len="sm"/>
                    </a:lnL>
                    <a:lnR w="9525" cap="flat" cmpd="sng">
                      <a:solidFill>
                        <a:srgbClr val="DCE4F0"/>
                      </a:solidFill>
                      <a:prstDash val="solid"/>
                      <a:round/>
                      <a:headEnd type="none" w="sm" len="sm"/>
                      <a:tailEnd type="none" w="sm" len="sm"/>
                    </a:lnR>
                    <a:lnT w="9525" cap="flat" cmpd="sng">
                      <a:solidFill>
                        <a:srgbClr val="DCE4F0"/>
                      </a:solidFill>
                      <a:prstDash val="solid"/>
                      <a:round/>
                      <a:headEnd type="none" w="sm" len="sm"/>
                      <a:tailEnd type="none" w="sm" len="sm"/>
                    </a:lnT>
                    <a:lnB w="9525" cap="flat" cmpd="sng">
                      <a:solidFill>
                        <a:srgbClr val="DCE4F0"/>
                      </a:solidFill>
                      <a:prstDash val="solid"/>
                      <a:round/>
                      <a:headEnd type="none" w="sm" len="sm"/>
                      <a:tailEnd type="none" w="sm" len="sm"/>
                    </a:lnB>
                  </a:tcPr>
                </a:tc>
                <a:tc>
                  <a:txBody>
                    <a:bodyPr/>
                    <a:lstStyle/>
                    <a:p>
                      <a:pPr marL="0" marR="0" lvl="0" indent="0" algn="l" rtl="0">
                        <a:spcBef>
                          <a:spcPts val="0"/>
                        </a:spcBef>
                        <a:spcAft>
                          <a:spcPts val="0"/>
                        </a:spcAft>
                        <a:buClr>
                          <a:srgbClr val="0F1B33"/>
                        </a:buClr>
                        <a:buSzPts val="1250"/>
                        <a:buFont typeface="Calibri"/>
                        <a:buNone/>
                      </a:pPr>
                      <a:r>
                        <a:rPr lang="en-US" sz="1250" u="none" strike="noStrike" cap="none">
                          <a:solidFill>
                            <a:srgbClr val="0F1B33"/>
                          </a:solidFill>
                          <a:latin typeface="Calibri"/>
                          <a:ea typeface="Calibri"/>
                          <a:cs typeface="Calibri"/>
                          <a:sym typeface="Calibri"/>
                        </a:rPr>
                        <a:t>Ini persis penyebab bug P0-1</a:t>
                      </a:r>
                      <a:endParaRPr sz="1250" u="none" strike="noStrike" cap="none">
                        <a:latin typeface="Calibri"/>
                        <a:ea typeface="Calibri"/>
                        <a:cs typeface="Calibri"/>
                        <a:sym typeface="Calibri"/>
                      </a:endParaRPr>
                    </a:p>
                  </a:txBody>
                  <a:tcPr marL="128025" marR="128025" marT="64000" marB="64000" anchor="ctr">
                    <a:lnL w="9525" cap="flat" cmpd="sng">
                      <a:solidFill>
                        <a:srgbClr val="DCE4F0"/>
                      </a:solidFill>
                      <a:prstDash val="solid"/>
                      <a:round/>
                      <a:headEnd type="none" w="sm" len="sm"/>
                      <a:tailEnd type="none" w="sm" len="sm"/>
                    </a:lnL>
                    <a:lnR w="9525" cap="flat" cmpd="sng">
                      <a:solidFill>
                        <a:srgbClr val="DCE4F0"/>
                      </a:solidFill>
                      <a:prstDash val="solid"/>
                      <a:round/>
                      <a:headEnd type="none" w="sm" len="sm"/>
                      <a:tailEnd type="none" w="sm" len="sm"/>
                    </a:lnR>
                    <a:lnT w="9525" cap="flat" cmpd="sng">
                      <a:solidFill>
                        <a:srgbClr val="DCE4F0"/>
                      </a:solidFill>
                      <a:prstDash val="solid"/>
                      <a:round/>
                      <a:headEnd type="none" w="sm" len="sm"/>
                      <a:tailEnd type="none" w="sm" len="sm"/>
                    </a:lnT>
                    <a:lnB w="9525" cap="flat" cmpd="sng">
                      <a:solidFill>
                        <a:srgbClr val="DCE4F0"/>
                      </a:solidFill>
                      <a:prstDash val="solid"/>
                      <a:round/>
                      <a:headEnd type="none" w="sm" len="sm"/>
                      <a:tailEnd type="none" w="sm" len="sm"/>
                    </a:lnB>
                  </a:tcPr>
                </a:tc>
              </a:tr>
              <a:tr h="402325">
                <a:tc>
                  <a:txBody>
                    <a:bodyPr/>
                    <a:lstStyle/>
                    <a:p>
                      <a:pPr marL="0" marR="0" lvl="0" indent="0" algn="l" rtl="0">
                        <a:spcBef>
                          <a:spcPts val="0"/>
                        </a:spcBef>
                        <a:spcAft>
                          <a:spcPts val="0"/>
                        </a:spcAft>
                        <a:buClr>
                          <a:srgbClr val="0F1B33"/>
                        </a:buClr>
                        <a:buSzPts val="1250"/>
                        <a:buFont typeface="Calibri"/>
                        <a:buNone/>
                      </a:pPr>
                      <a:r>
                        <a:rPr lang="en-US" sz="1250" u="none" strike="noStrike" cap="none">
                          <a:solidFill>
                            <a:srgbClr val="0F1B33"/>
                          </a:solidFill>
                          <a:latin typeface="Calibri"/>
                          <a:ea typeface="Calibri"/>
                          <a:cs typeface="Calibri"/>
                          <a:sym typeface="Calibri"/>
                        </a:rPr>
                        <a:t>Kembalikan fallback parseLevel ke L1</a:t>
                      </a:r>
                      <a:endParaRPr sz="1250" u="none" strike="noStrike" cap="none">
                        <a:latin typeface="Calibri"/>
                        <a:ea typeface="Calibri"/>
                        <a:cs typeface="Calibri"/>
                        <a:sym typeface="Calibri"/>
                      </a:endParaRPr>
                    </a:p>
                  </a:txBody>
                  <a:tcPr marL="128025" marR="128025" marT="64000" marB="64000" anchor="ctr">
                    <a:lnL w="9525" cap="flat" cmpd="sng">
                      <a:solidFill>
                        <a:srgbClr val="DCE4F0"/>
                      </a:solidFill>
                      <a:prstDash val="solid"/>
                      <a:round/>
                      <a:headEnd type="none" w="sm" len="sm"/>
                      <a:tailEnd type="none" w="sm" len="sm"/>
                    </a:lnL>
                    <a:lnR w="9525" cap="flat" cmpd="sng">
                      <a:solidFill>
                        <a:srgbClr val="DCE4F0"/>
                      </a:solidFill>
                      <a:prstDash val="solid"/>
                      <a:round/>
                      <a:headEnd type="none" w="sm" len="sm"/>
                      <a:tailEnd type="none" w="sm" len="sm"/>
                    </a:lnR>
                    <a:lnT w="9525" cap="flat" cmpd="sng">
                      <a:solidFill>
                        <a:srgbClr val="DCE4F0"/>
                      </a:solidFill>
                      <a:prstDash val="solid"/>
                      <a:round/>
                      <a:headEnd type="none" w="sm" len="sm"/>
                      <a:tailEnd type="none" w="sm" len="sm"/>
                    </a:lnT>
                    <a:lnB w="9525" cap="flat" cmpd="sng">
                      <a:solidFill>
                        <a:srgbClr val="DCE4F0"/>
                      </a:solidFill>
                      <a:prstDash val="solid"/>
                      <a:round/>
                      <a:headEnd type="none" w="sm" len="sm"/>
                      <a:tailEnd type="none" w="sm" len="sm"/>
                    </a:lnB>
                  </a:tcPr>
                </a:tc>
                <a:tc>
                  <a:txBody>
                    <a:bodyPr/>
                    <a:lstStyle/>
                    <a:p>
                      <a:pPr marL="0" marR="0" lvl="0" indent="0" algn="ctr" rtl="0">
                        <a:spcBef>
                          <a:spcPts val="0"/>
                        </a:spcBef>
                        <a:spcAft>
                          <a:spcPts val="0"/>
                        </a:spcAft>
                        <a:buClr>
                          <a:srgbClr val="D14343"/>
                        </a:buClr>
                        <a:buSzPts val="1250"/>
                        <a:buFont typeface="Calibri"/>
                        <a:buNone/>
                      </a:pPr>
                      <a:r>
                        <a:rPr lang="en-US" sz="1250" b="1" u="none" strike="noStrike" cap="none">
                          <a:solidFill>
                            <a:srgbClr val="D14343"/>
                          </a:solidFill>
                          <a:latin typeface="Calibri"/>
                          <a:ea typeface="Calibri"/>
                          <a:cs typeface="Calibri"/>
                          <a:sym typeface="Calibri"/>
                        </a:rPr>
                        <a:t>3</a:t>
                      </a:r>
                      <a:endParaRPr sz="1250" u="none" strike="noStrike" cap="none">
                        <a:latin typeface="Calibri"/>
                        <a:ea typeface="Calibri"/>
                        <a:cs typeface="Calibri"/>
                        <a:sym typeface="Calibri"/>
                      </a:endParaRPr>
                    </a:p>
                  </a:txBody>
                  <a:tcPr marL="128025" marR="128025" marT="64000" marB="64000" anchor="ctr">
                    <a:lnL w="9525" cap="flat" cmpd="sng">
                      <a:solidFill>
                        <a:srgbClr val="DCE4F0"/>
                      </a:solidFill>
                      <a:prstDash val="solid"/>
                      <a:round/>
                      <a:headEnd type="none" w="sm" len="sm"/>
                      <a:tailEnd type="none" w="sm" len="sm"/>
                    </a:lnL>
                    <a:lnR w="9525" cap="flat" cmpd="sng">
                      <a:solidFill>
                        <a:srgbClr val="DCE4F0"/>
                      </a:solidFill>
                      <a:prstDash val="solid"/>
                      <a:round/>
                      <a:headEnd type="none" w="sm" len="sm"/>
                      <a:tailEnd type="none" w="sm" len="sm"/>
                    </a:lnR>
                    <a:lnT w="9525" cap="flat" cmpd="sng">
                      <a:solidFill>
                        <a:srgbClr val="DCE4F0"/>
                      </a:solidFill>
                      <a:prstDash val="solid"/>
                      <a:round/>
                      <a:headEnd type="none" w="sm" len="sm"/>
                      <a:tailEnd type="none" w="sm" len="sm"/>
                    </a:lnT>
                    <a:lnB w="9525" cap="flat" cmpd="sng">
                      <a:solidFill>
                        <a:srgbClr val="DCE4F0"/>
                      </a:solidFill>
                      <a:prstDash val="solid"/>
                      <a:round/>
                      <a:headEnd type="none" w="sm" len="sm"/>
                      <a:tailEnd type="none" w="sm" len="sm"/>
                    </a:lnB>
                  </a:tcPr>
                </a:tc>
                <a:tc>
                  <a:txBody>
                    <a:bodyPr/>
                    <a:lstStyle/>
                    <a:p>
                      <a:pPr marL="0" marR="0" lvl="0" indent="0" algn="l" rtl="0">
                        <a:spcBef>
                          <a:spcPts val="0"/>
                        </a:spcBef>
                        <a:spcAft>
                          <a:spcPts val="0"/>
                        </a:spcAft>
                        <a:buClr>
                          <a:srgbClr val="0F1B33"/>
                        </a:buClr>
                        <a:buSzPts val="1250"/>
                        <a:buFont typeface="Calibri"/>
                        <a:buNone/>
                      </a:pPr>
                      <a:r>
                        <a:rPr lang="en-US" sz="1250" u="none" strike="noStrike" cap="none">
                          <a:solidFill>
                            <a:srgbClr val="0F1B33"/>
                          </a:solidFill>
                          <a:latin typeface="Calibri"/>
                          <a:ea typeface="Calibri"/>
                          <a:cs typeface="Calibri"/>
                          <a:sym typeface="Calibri"/>
                        </a:rPr>
                        <a:t>Nilai default yang merugikan kandidat</a:t>
                      </a:r>
                      <a:endParaRPr sz="1250" u="none" strike="noStrike" cap="none">
                        <a:latin typeface="Calibri"/>
                        <a:ea typeface="Calibri"/>
                        <a:cs typeface="Calibri"/>
                        <a:sym typeface="Calibri"/>
                      </a:endParaRPr>
                    </a:p>
                  </a:txBody>
                  <a:tcPr marL="128025" marR="128025" marT="64000" marB="64000" anchor="ctr">
                    <a:lnL w="9525" cap="flat" cmpd="sng">
                      <a:solidFill>
                        <a:srgbClr val="DCE4F0"/>
                      </a:solidFill>
                      <a:prstDash val="solid"/>
                      <a:round/>
                      <a:headEnd type="none" w="sm" len="sm"/>
                      <a:tailEnd type="none" w="sm" len="sm"/>
                    </a:lnL>
                    <a:lnR w="9525" cap="flat" cmpd="sng">
                      <a:solidFill>
                        <a:srgbClr val="DCE4F0"/>
                      </a:solidFill>
                      <a:prstDash val="solid"/>
                      <a:round/>
                      <a:headEnd type="none" w="sm" len="sm"/>
                      <a:tailEnd type="none" w="sm" len="sm"/>
                    </a:lnR>
                    <a:lnT w="9525" cap="flat" cmpd="sng">
                      <a:solidFill>
                        <a:srgbClr val="DCE4F0"/>
                      </a:solidFill>
                      <a:prstDash val="solid"/>
                      <a:round/>
                      <a:headEnd type="none" w="sm" len="sm"/>
                      <a:tailEnd type="none" w="sm" len="sm"/>
                    </a:lnT>
                    <a:lnB w="9525" cap="flat" cmpd="sng">
                      <a:solidFill>
                        <a:srgbClr val="DCE4F0"/>
                      </a:solidFill>
                      <a:prstDash val="solid"/>
                      <a:round/>
                      <a:headEnd type="none" w="sm" len="sm"/>
                      <a:tailEnd type="none" w="sm" len="sm"/>
                    </a:lnB>
                  </a:tcPr>
                </a:tc>
              </a:tr>
              <a:tr h="402325">
                <a:tc>
                  <a:txBody>
                    <a:bodyPr/>
                    <a:lstStyle/>
                    <a:p>
                      <a:pPr marL="0" marR="0" lvl="0" indent="0" algn="l" rtl="0">
                        <a:spcBef>
                          <a:spcPts val="0"/>
                        </a:spcBef>
                        <a:spcAft>
                          <a:spcPts val="0"/>
                        </a:spcAft>
                        <a:buClr>
                          <a:srgbClr val="0F1B33"/>
                        </a:buClr>
                        <a:buSzPts val="1250"/>
                        <a:buFont typeface="Calibri"/>
                        <a:buNone/>
                      </a:pPr>
                      <a:r>
                        <a:rPr lang="en-US" sz="1250" u="none" strike="noStrike" cap="none">
                          <a:solidFill>
                            <a:srgbClr val="0F1B33"/>
                          </a:solidFill>
                          <a:latin typeface="Calibri"/>
                          <a:ea typeface="Calibri"/>
                          <a:cs typeface="Calibri"/>
                          <a:sym typeface="Calibri"/>
                        </a:rPr>
                        <a:t>Petakan confidence tak dikenal ke LOW</a:t>
                      </a:r>
                      <a:endParaRPr sz="1250" u="none" strike="noStrike" cap="none">
                        <a:latin typeface="Calibri"/>
                        <a:ea typeface="Calibri"/>
                        <a:cs typeface="Calibri"/>
                        <a:sym typeface="Calibri"/>
                      </a:endParaRPr>
                    </a:p>
                  </a:txBody>
                  <a:tcPr marL="128025" marR="128025" marT="64000" marB="64000" anchor="ctr">
                    <a:lnL w="9525" cap="flat" cmpd="sng">
                      <a:solidFill>
                        <a:srgbClr val="DCE4F0"/>
                      </a:solidFill>
                      <a:prstDash val="solid"/>
                      <a:round/>
                      <a:headEnd type="none" w="sm" len="sm"/>
                      <a:tailEnd type="none" w="sm" len="sm"/>
                    </a:lnL>
                    <a:lnR w="9525" cap="flat" cmpd="sng">
                      <a:solidFill>
                        <a:srgbClr val="DCE4F0"/>
                      </a:solidFill>
                      <a:prstDash val="solid"/>
                      <a:round/>
                      <a:headEnd type="none" w="sm" len="sm"/>
                      <a:tailEnd type="none" w="sm" len="sm"/>
                    </a:lnR>
                    <a:lnT w="9525" cap="flat" cmpd="sng">
                      <a:solidFill>
                        <a:srgbClr val="DCE4F0"/>
                      </a:solidFill>
                      <a:prstDash val="solid"/>
                      <a:round/>
                      <a:headEnd type="none" w="sm" len="sm"/>
                      <a:tailEnd type="none" w="sm" len="sm"/>
                    </a:lnT>
                    <a:lnB w="9525" cap="flat" cmpd="sng">
                      <a:solidFill>
                        <a:srgbClr val="DCE4F0"/>
                      </a:solidFill>
                      <a:prstDash val="solid"/>
                      <a:round/>
                      <a:headEnd type="none" w="sm" len="sm"/>
                      <a:tailEnd type="none" w="sm" len="sm"/>
                    </a:lnB>
                  </a:tcPr>
                </a:tc>
                <a:tc>
                  <a:txBody>
                    <a:bodyPr/>
                    <a:lstStyle/>
                    <a:p>
                      <a:pPr marL="0" marR="0" lvl="0" indent="0" algn="ctr" rtl="0">
                        <a:spcBef>
                          <a:spcPts val="0"/>
                        </a:spcBef>
                        <a:spcAft>
                          <a:spcPts val="0"/>
                        </a:spcAft>
                        <a:buClr>
                          <a:srgbClr val="D14343"/>
                        </a:buClr>
                        <a:buSzPts val="1250"/>
                        <a:buFont typeface="Calibri"/>
                        <a:buNone/>
                      </a:pPr>
                      <a:r>
                        <a:rPr lang="en-US" sz="1250" b="1" u="none" strike="noStrike" cap="none">
                          <a:solidFill>
                            <a:srgbClr val="D14343"/>
                          </a:solidFill>
                          <a:latin typeface="Calibri"/>
                          <a:ea typeface="Calibri"/>
                          <a:cs typeface="Calibri"/>
                          <a:sym typeface="Calibri"/>
                        </a:rPr>
                        <a:t>2</a:t>
                      </a:r>
                      <a:endParaRPr sz="1250" u="none" strike="noStrike" cap="none">
                        <a:latin typeface="Calibri"/>
                        <a:ea typeface="Calibri"/>
                        <a:cs typeface="Calibri"/>
                        <a:sym typeface="Calibri"/>
                      </a:endParaRPr>
                    </a:p>
                  </a:txBody>
                  <a:tcPr marL="128025" marR="128025" marT="64000" marB="64000" anchor="ctr">
                    <a:lnL w="9525" cap="flat" cmpd="sng">
                      <a:solidFill>
                        <a:srgbClr val="DCE4F0"/>
                      </a:solidFill>
                      <a:prstDash val="solid"/>
                      <a:round/>
                      <a:headEnd type="none" w="sm" len="sm"/>
                      <a:tailEnd type="none" w="sm" len="sm"/>
                    </a:lnL>
                    <a:lnR w="9525" cap="flat" cmpd="sng">
                      <a:solidFill>
                        <a:srgbClr val="DCE4F0"/>
                      </a:solidFill>
                      <a:prstDash val="solid"/>
                      <a:round/>
                      <a:headEnd type="none" w="sm" len="sm"/>
                      <a:tailEnd type="none" w="sm" len="sm"/>
                    </a:lnR>
                    <a:lnT w="9525" cap="flat" cmpd="sng">
                      <a:solidFill>
                        <a:srgbClr val="DCE4F0"/>
                      </a:solidFill>
                      <a:prstDash val="solid"/>
                      <a:round/>
                      <a:headEnd type="none" w="sm" len="sm"/>
                      <a:tailEnd type="none" w="sm" len="sm"/>
                    </a:lnT>
                    <a:lnB w="9525" cap="flat" cmpd="sng">
                      <a:solidFill>
                        <a:srgbClr val="DCE4F0"/>
                      </a:solidFill>
                      <a:prstDash val="solid"/>
                      <a:round/>
                      <a:headEnd type="none" w="sm" len="sm"/>
                      <a:tailEnd type="none" w="sm" len="sm"/>
                    </a:lnB>
                  </a:tcPr>
                </a:tc>
                <a:tc>
                  <a:txBody>
                    <a:bodyPr/>
                    <a:lstStyle/>
                    <a:p>
                      <a:pPr marL="0" marR="0" lvl="0" indent="0" algn="l" rtl="0">
                        <a:spcBef>
                          <a:spcPts val="0"/>
                        </a:spcBef>
                        <a:spcAft>
                          <a:spcPts val="0"/>
                        </a:spcAft>
                        <a:buClr>
                          <a:srgbClr val="0F1B33"/>
                        </a:buClr>
                        <a:buSzPts val="1250"/>
                        <a:buFont typeface="Calibri"/>
                        <a:buNone/>
                      </a:pPr>
                      <a:r>
                        <a:rPr lang="en-US" sz="1250" u="none" strike="noStrike" cap="none">
                          <a:solidFill>
                            <a:srgbClr val="0F1B33"/>
                          </a:solidFill>
                          <a:latin typeface="Calibri"/>
                          <a:ea typeface="Calibri"/>
                          <a:cs typeface="Calibri"/>
                          <a:sym typeface="Calibri"/>
                        </a:rPr>
                        <a:t>“Belum terukur” jadi terlihat seperti kelemahan kandidat</a:t>
                      </a:r>
                      <a:endParaRPr sz="1250" u="none" strike="noStrike" cap="none">
                        <a:latin typeface="Calibri"/>
                        <a:ea typeface="Calibri"/>
                        <a:cs typeface="Calibri"/>
                        <a:sym typeface="Calibri"/>
                      </a:endParaRPr>
                    </a:p>
                  </a:txBody>
                  <a:tcPr marL="128025" marR="128025" marT="64000" marB="64000" anchor="ctr">
                    <a:lnL w="9525" cap="flat" cmpd="sng">
                      <a:solidFill>
                        <a:srgbClr val="DCE4F0"/>
                      </a:solidFill>
                      <a:prstDash val="solid"/>
                      <a:round/>
                      <a:headEnd type="none" w="sm" len="sm"/>
                      <a:tailEnd type="none" w="sm" len="sm"/>
                    </a:lnL>
                    <a:lnR w="9525" cap="flat" cmpd="sng">
                      <a:solidFill>
                        <a:srgbClr val="DCE4F0"/>
                      </a:solidFill>
                      <a:prstDash val="solid"/>
                      <a:round/>
                      <a:headEnd type="none" w="sm" len="sm"/>
                      <a:tailEnd type="none" w="sm" len="sm"/>
                    </a:lnR>
                    <a:lnT w="9525" cap="flat" cmpd="sng">
                      <a:solidFill>
                        <a:srgbClr val="DCE4F0"/>
                      </a:solidFill>
                      <a:prstDash val="solid"/>
                      <a:round/>
                      <a:headEnd type="none" w="sm" len="sm"/>
                      <a:tailEnd type="none" w="sm" len="sm"/>
                    </a:lnT>
                    <a:lnB w="9525" cap="flat" cmpd="sng">
                      <a:solidFill>
                        <a:srgbClr val="DCE4F0"/>
                      </a:solidFill>
                      <a:prstDash val="solid"/>
                      <a:round/>
                      <a:headEnd type="none" w="sm" len="sm"/>
                      <a:tailEnd type="none" w="sm" len="sm"/>
                    </a:lnB>
                  </a:tcPr>
                </a:tc>
              </a:tr>
            </a:tbl>
          </a:graphicData>
        </a:graphic>
      </p:graphicFrame>
      <p:sp>
        <p:nvSpPr>
          <p:cNvPr id="678" name="Google Shape;678;p29"/>
          <p:cNvSpPr txBox="1"/>
          <p:nvPr/>
        </p:nvSpPr>
        <p:spPr>
          <a:xfrm>
            <a:off x="594360" y="5212080"/>
            <a:ext cx="11002975" cy="640080"/>
          </a:xfrm>
          <a:prstGeom prst="rect">
            <a:avLst/>
          </a:prstGeom>
          <a:noFill/>
          <a:ln>
            <a:noFill/>
          </a:ln>
        </p:spPr>
        <p:txBody>
          <a:bodyPr spcFirstLastPara="1" wrap="square" lIns="0" tIns="0" rIns="0" bIns="0" anchor="t" anchorCtr="0">
            <a:noAutofit/>
          </a:bodyPr>
          <a:lstStyle/>
          <a:p>
            <a:pPr marL="0" marR="0" lvl="0" indent="0" algn="l" rtl="0">
              <a:lnSpc>
                <a:spcPct val="138000"/>
              </a:lnSpc>
              <a:spcBef>
                <a:spcPts val="0"/>
              </a:spcBef>
              <a:spcAft>
                <a:spcPts val="0"/>
              </a:spcAft>
              <a:buClr>
                <a:srgbClr val="55617A"/>
              </a:buClr>
              <a:buSzPts val="1300"/>
              <a:buFont typeface="Calibri"/>
              <a:buNone/>
            </a:pPr>
            <a:r>
              <a:rPr lang="en-US" sz="1300" b="0" i="0" u="none" strike="noStrike" cap="none">
                <a:solidFill>
                  <a:srgbClr val="55617A"/>
                </a:solidFill>
                <a:latin typeface="Calibri"/>
                <a:ea typeface="Calibri"/>
                <a:cs typeface="Calibri"/>
                <a:sym typeface="Calibri"/>
              </a:rPr>
              <a:t>Saya pilih tiga bagian ini karena ketiganya adalah perbaikan yang saya klaim. Jadi test-nya membuktikan klaim saya sendiri.</a:t>
            </a:r>
            <a:endParaRPr sz="1300" b="0" i="0" u="none" strike="noStrike" cap="non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683" name="Shape 683"/>
        <p:cNvGrpSpPr/>
        <p:nvPr/>
      </p:nvGrpSpPr>
      <p:grpSpPr>
        <a:xfrm>
          <a:off x="0" y="0"/>
          <a:ext cx="0" cy="0"/>
          <a:chOff x="0" y="0"/>
          <a:chExt cx="0" cy="0"/>
        </a:xfrm>
      </p:grpSpPr>
      <p:sp>
        <p:nvSpPr>
          <p:cNvPr id="684" name="Google Shape;684;p30"/>
          <p:cNvSpPr txBox="1"/>
          <p:nvPr/>
        </p:nvSpPr>
        <p:spPr>
          <a:xfrm>
            <a:off x="11277295" y="6419088"/>
            <a:ext cx="457200"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A94A8"/>
              </a:buClr>
              <a:buSzPts val="1000"/>
              <a:buFont typeface="Calibri"/>
              <a:buNone/>
            </a:pPr>
            <a:r>
              <a:rPr lang="en-US" sz="1000" b="0" i="0" u="none" strike="noStrike" cap="none">
                <a:solidFill>
                  <a:srgbClr val="8A94A8"/>
                </a:solidFill>
                <a:latin typeface="Calibri"/>
                <a:ea typeface="Calibri"/>
                <a:cs typeface="Calibri"/>
                <a:sym typeface="Calibri"/>
              </a:rPr>
              <a:t>37</a:t>
            </a:r>
            <a:endParaRPr sz="1000" b="0" i="0" u="none" strike="noStrike" cap="none">
              <a:solidFill>
                <a:schemeClr val="dk1"/>
              </a:solidFill>
              <a:latin typeface="Calibri"/>
              <a:ea typeface="Calibri"/>
              <a:cs typeface="Calibri"/>
              <a:sym typeface="Calibri"/>
            </a:endParaRPr>
          </a:p>
        </p:txBody>
      </p:sp>
      <p:sp>
        <p:nvSpPr>
          <p:cNvPr id="685" name="Google Shape;685;p30"/>
          <p:cNvSpPr txBox="1"/>
          <p:nvPr/>
        </p:nvSpPr>
        <p:spPr>
          <a:xfrm>
            <a:off x="594360" y="6419088"/>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A94A8"/>
              </a:buClr>
              <a:buSzPts val="1000"/>
              <a:buFont typeface="Calibri"/>
              <a:buNone/>
            </a:pPr>
            <a:r>
              <a:rPr lang="en-US" sz="1000" b="0" i="0" u="none" strike="noStrike" cap="none">
                <a:solidFill>
                  <a:srgbClr val="8A94A8"/>
                </a:solidFill>
                <a:latin typeface="Calibri"/>
                <a:ea typeface="Calibri"/>
                <a:cs typeface="Calibri"/>
                <a:sym typeface="Calibri"/>
              </a:rPr>
              <a:t>Aulia Afriza  ·  Kandidat Fullstack · Frontend depth</a:t>
            </a:r>
            <a:endParaRPr sz="1000" b="0" i="0" u="none" strike="noStrike" cap="none">
              <a:solidFill>
                <a:schemeClr val="dk1"/>
              </a:solidFill>
              <a:latin typeface="Calibri"/>
              <a:ea typeface="Calibri"/>
              <a:cs typeface="Calibri"/>
              <a:sym typeface="Calibri"/>
            </a:endParaRPr>
          </a:p>
        </p:txBody>
      </p:sp>
      <p:sp>
        <p:nvSpPr>
          <p:cNvPr id="686" name="Google Shape;686;p30"/>
          <p:cNvSpPr txBox="1"/>
          <p:nvPr/>
        </p:nvSpPr>
        <p:spPr>
          <a:xfrm>
            <a:off x="594360" y="438912"/>
            <a:ext cx="11002975"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2800"/>
              <a:buFont typeface="Calibri"/>
              <a:buNone/>
            </a:pPr>
            <a:r>
              <a:rPr lang="en-US" sz="2800" b="1" i="0" u="none" strike="noStrike" cap="none">
                <a:solidFill>
                  <a:srgbClr val="0F1B33"/>
                </a:solidFill>
                <a:latin typeface="Calibri"/>
                <a:ea typeface="Calibri"/>
                <a:cs typeface="Calibri"/>
                <a:sym typeface="Calibri"/>
              </a:rPr>
              <a:t>Dua kali saya salah, dan test yang menangkapnya</a:t>
            </a:r>
            <a:endParaRPr sz="2800" b="0" i="0" u="none" strike="noStrike" cap="none">
              <a:solidFill>
                <a:schemeClr val="dk1"/>
              </a:solidFill>
              <a:latin typeface="Calibri"/>
              <a:ea typeface="Calibri"/>
              <a:cs typeface="Calibri"/>
              <a:sym typeface="Calibri"/>
            </a:endParaRPr>
          </a:p>
        </p:txBody>
      </p:sp>
      <p:sp>
        <p:nvSpPr>
          <p:cNvPr id="687" name="Google Shape;687;p30"/>
          <p:cNvSpPr txBox="1"/>
          <p:nvPr/>
        </p:nvSpPr>
        <p:spPr>
          <a:xfrm>
            <a:off x="594360" y="987552"/>
            <a:ext cx="11002975"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5617A"/>
              </a:buClr>
              <a:buSzPts val="1500"/>
              <a:buFont typeface="Calibri"/>
              <a:buNone/>
            </a:pPr>
            <a:r>
              <a:rPr lang="en-US" sz="1500" b="0" i="0" u="none" strike="noStrike" cap="none">
                <a:solidFill>
                  <a:srgbClr val="55617A"/>
                </a:solidFill>
                <a:latin typeface="Calibri"/>
                <a:ea typeface="Calibri"/>
                <a:cs typeface="Calibri"/>
                <a:sym typeface="Calibri"/>
              </a:rPr>
              <a:t>§2.5 · Verifikasi hasil AI. Brief minta satu contoh, saya punya dua.</a:t>
            </a:r>
            <a:endParaRPr sz="1500" b="0" i="0" u="none" strike="noStrike" cap="none">
              <a:solidFill>
                <a:schemeClr val="dk1"/>
              </a:solidFill>
              <a:latin typeface="Calibri"/>
              <a:ea typeface="Calibri"/>
              <a:cs typeface="Calibri"/>
              <a:sym typeface="Calibri"/>
            </a:endParaRPr>
          </a:p>
        </p:txBody>
      </p:sp>
      <p:sp>
        <p:nvSpPr>
          <p:cNvPr id="688" name="Google Shape;688;p30"/>
          <p:cNvSpPr/>
          <p:nvPr/>
        </p:nvSpPr>
        <p:spPr>
          <a:xfrm>
            <a:off x="594360" y="1536192"/>
            <a:ext cx="5318608" cy="3840480"/>
          </a:xfrm>
          <a:prstGeom prst="roundRect">
            <a:avLst>
              <a:gd name="adj" fmla="val 1667"/>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9" name="Google Shape;689;p30"/>
          <p:cNvSpPr txBox="1"/>
          <p:nvPr/>
        </p:nvSpPr>
        <p:spPr>
          <a:xfrm>
            <a:off x="868680" y="1700784"/>
            <a:ext cx="4769968" cy="34747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1600"/>
              <a:buFont typeface="Calibri"/>
              <a:buNone/>
            </a:pPr>
            <a:r>
              <a:rPr lang="en-US" sz="1600" b="1" i="0" u="none" strike="noStrike" cap="none">
                <a:solidFill>
                  <a:srgbClr val="0F1B33"/>
                </a:solidFill>
                <a:latin typeface="Calibri"/>
                <a:ea typeface="Calibri"/>
                <a:cs typeface="Calibri"/>
                <a:sym typeface="Calibri"/>
              </a:rPr>
              <a:t>Dugaan saya salah</a:t>
            </a:r>
            <a:endParaRPr sz="1600" b="0" i="0" u="none" strike="noStrike" cap="none">
              <a:solidFill>
                <a:schemeClr val="dk1"/>
              </a:solidFill>
              <a:latin typeface="Calibri"/>
              <a:ea typeface="Calibri"/>
              <a:cs typeface="Calibri"/>
              <a:sym typeface="Calibri"/>
            </a:endParaRPr>
          </a:p>
        </p:txBody>
      </p:sp>
      <p:sp>
        <p:nvSpPr>
          <p:cNvPr id="690" name="Google Shape;690;p30"/>
          <p:cNvSpPr txBox="1"/>
          <p:nvPr/>
        </p:nvSpPr>
        <p:spPr>
          <a:xfrm>
            <a:off x="868680" y="2066544"/>
            <a:ext cx="4769968"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5617A"/>
              </a:buClr>
              <a:buSzPts val="1150"/>
              <a:buFont typeface="Courier New" panose="02070609020205020404"/>
              <a:buNone/>
            </a:pPr>
            <a:r>
              <a:rPr lang="en-US" sz="1150" b="0" i="0" u="none" strike="noStrike" cap="none">
                <a:solidFill>
                  <a:srgbClr val="55617A"/>
                </a:solidFill>
                <a:latin typeface="Courier New" panose="02070609020205020404"/>
                <a:ea typeface="Courier New" panose="02070609020205020404"/>
                <a:cs typeface="Courier New" panose="02070609020205020404"/>
                <a:sym typeface="Courier New" panose="02070609020205020404"/>
              </a:rPr>
              <a:t>ConfidenceIndicator.tsx</a:t>
            </a:r>
            <a:endParaRPr sz="1150" b="0" i="0" u="none" strike="noStrike" cap="none">
              <a:solidFill>
                <a:schemeClr val="dk1"/>
              </a:solidFill>
              <a:latin typeface="Calibri"/>
              <a:ea typeface="Calibri"/>
              <a:cs typeface="Calibri"/>
              <a:sym typeface="Calibri"/>
            </a:endParaRPr>
          </a:p>
        </p:txBody>
      </p:sp>
      <p:sp>
        <p:nvSpPr>
          <p:cNvPr id="691" name="Google Shape;691;p30"/>
          <p:cNvSpPr txBox="1"/>
          <p:nvPr/>
        </p:nvSpPr>
        <p:spPr>
          <a:xfrm>
            <a:off x="868680" y="2468880"/>
            <a:ext cx="4769968" cy="1737360"/>
          </a:xfrm>
          <a:prstGeom prst="rect">
            <a:avLst/>
          </a:prstGeom>
          <a:noFill/>
          <a:ln>
            <a:noFill/>
          </a:ln>
        </p:spPr>
        <p:txBody>
          <a:bodyPr spcFirstLastPara="1" wrap="square" lIns="0" tIns="0" rIns="0" bIns="0" anchor="t" anchorCtr="0">
            <a:noAutofit/>
          </a:bodyPr>
          <a:lstStyle/>
          <a:p>
            <a:pPr marL="0" marR="0" lvl="0" indent="0" algn="l" rtl="0">
              <a:lnSpc>
                <a:spcPct val="146000"/>
              </a:lnSpc>
              <a:spcBef>
                <a:spcPts val="0"/>
              </a:spcBef>
              <a:spcAft>
                <a:spcPts val="0"/>
              </a:spcAft>
              <a:buClr>
                <a:srgbClr val="0F1B33"/>
              </a:buClr>
              <a:buSzPts val="1300"/>
              <a:buFont typeface="Calibri"/>
              <a:buNone/>
            </a:pPr>
            <a:r>
              <a:rPr lang="en-US" sz="1300" b="0" i="0" u="none" strike="noStrike" cap="none">
                <a:solidFill>
                  <a:srgbClr val="0F1B33"/>
                </a:solidFill>
                <a:latin typeface="Calibri"/>
                <a:ea typeface="Calibri"/>
                <a:cs typeface="Calibri"/>
                <a:sym typeface="Calibri"/>
              </a:rPr>
              <a:t>Saya kira getLabel salah membaca “High” yang berhuruf besar dan menampilkannya sebagai LOW. Saya tulis test-nya, ternyata lulus. Baris 6 sudah memanggil toLowerCase(). Saya yang kurang teliti.</a:t>
            </a:r>
            <a:endParaRPr sz="1300" b="0" i="0" u="none" strike="noStrike" cap="none">
              <a:solidFill>
                <a:schemeClr val="dk1"/>
              </a:solidFill>
              <a:latin typeface="Calibri"/>
              <a:ea typeface="Calibri"/>
              <a:cs typeface="Calibri"/>
              <a:sym typeface="Calibri"/>
            </a:endParaRPr>
          </a:p>
        </p:txBody>
      </p:sp>
      <p:sp>
        <p:nvSpPr>
          <p:cNvPr id="692" name="Google Shape;692;p30"/>
          <p:cNvSpPr/>
          <p:nvPr/>
        </p:nvSpPr>
        <p:spPr>
          <a:xfrm>
            <a:off x="868680" y="4279392"/>
            <a:ext cx="4769968" cy="914400"/>
          </a:xfrm>
          <a:prstGeom prst="roundRect">
            <a:avLst>
              <a:gd name="adj" fmla="val 7000"/>
            </a:avLst>
          </a:prstGeom>
          <a:solidFill>
            <a:srgbClr val="E7F1FF"/>
          </a:solidFill>
          <a:ln w="9525" cap="flat" cmpd="sng">
            <a:solidFill>
              <a:srgbClr val="E7F1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3" name="Google Shape;693;p30"/>
          <p:cNvSpPr txBox="1"/>
          <p:nvPr/>
        </p:nvSpPr>
        <p:spPr>
          <a:xfrm>
            <a:off x="1051560" y="4279392"/>
            <a:ext cx="4404208" cy="914400"/>
          </a:xfrm>
          <a:prstGeom prst="rect">
            <a:avLst/>
          </a:prstGeom>
          <a:noFill/>
          <a:ln>
            <a:noFill/>
          </a:ln>
        </p:spPr>
        <p:txBody>
          <a:bodyPr spcFirstLastPara="1" wrap="square" lIns="0" tIns="0" rIns="0" bIns="0" anchor="ctr" anchorCtr="0">
            <a:noAutofit/>
          </a:bodyPr>
          <a:lstStyle/>
          <a:p>
            <a:pPr marL="0" marR="0" lvl="0" indent="0" algn="l" rtl="0">
              <a:lnSpc>
                <a:spcPct val="136000"/>
              </a:lnSpc>
              <a:spcBef>
                <a:spcPts val="0"/>
              </a:spcBef>
              <a:spcAft>
                <a:spcPts val="0"/>
              </a:spcAft>
              <a:buClr>
                <a:srgbClr val="0C2E6B"/>
              </a:buClr>
              <a:buSzPts val="1250"/>
              <a:buFont typeface="Calibri"/>
              <a:buNone/>
            </a:pPr>
            <a:r>
              <a:rPr lang="en-US" sz="1250" b="0" i="0" u="none" strike="noStrike" cap="none">
                <a:solidFill>
                  <a:srgbClr val="0C2E6B"/>
                </a:solidFill>
                <a:latin typeface="Calibri"/>
                <a:ea typeface="Calibri"/>
                <a:cs typeface="Calibri"/>
                <a:sym typeface="Calibri"/>
              </a:rPr>
              <a:t>Temuannya saya hapus dari laporan, test-nya tetap saya simpan.</a:t>
            </a:r>
            <a:endParaRPr sz="1250" b="0" i="0" u="none" strike="noStrike" cap="none">
              <a:solidFill>
                <a:schemeClr val="dk1"/>
              </a:solidFill>
              <a:latin typeface="Calibri"/>
              <a:ea typeface="Calibri"/>
              <a:cs typeface="Calibri"/>
              <a:sym typeface="Calibri"/>
            </a:endParaRPr>
          </a:p>
        </p:txBody>
      </p:sp>
      <p:sp>
        <p:nvSpPr>
          <p:cNvPr id="694" name="Google Shape;694;p30"/>
          <p:cNvSpPr/>
          <p:nvPr/>
        </p:nvSpPr>
        <p:spPr>
          <a:xfrm>
            <a:off x="6278728" y="1536192"/>
            <a:ext cx="5318608" cy="3840480"/>
          </a:xfrm>
          <a:prstGeom prst="roundRect">
            <a:avLst>
              <a:gd name="adj" fmla="val 1667"/>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5" name="Google Shape;695;p30"/>
          <p:cNvSpPr txBox="1"/>
          <p:nvPr/>
        </p:nvSpPr>
        <p:spPr>
          <a:xfrm>
            <a:off x="6553048" y="1700784"/>
            <a:ext cx="4769968" cy="34747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1600"/>
              <a:buFont typeface="Calibri"/>
              <a:buNone/>
            </a:pPr>
            <a:r>
              <a:rPr lang="en-US" sz="1600" b="1" i="0" u="none" strike="noStrike" cap="none">
                <a:solidFill>
                  <a:srgbClr val="0F1B33"/>
                </a:solidFill>
                <a:latin typeface="Calibri"/>
                <a:ea typeface="Calibri"/>
                <a:cs typeface="Calibri"/>
                <a:sym typeface="Calibri"/>
              </a:rPr>
              <a:t>Kode saya sendiri punya bug</a:t>
            </a:r>
            <a:endParaRPr sz="1600" b="0" i="0" u="none" strike="noStrike" cap="none">
              <a:solidFill>
                <a:schemeClr val="dk1"/>
              </a:solidFill>
              <a:latin typeface="Calibri"/>
              <a:ea typeface="Calibri"/>
              <a:cs typeface="Calibri"/>
              <a:sym typeface="Calibri"/>
            </a:endParaRPr>
          </a:p>
        </p:txBody>
      </p:sp>
      <p:sp>
        <p:nvSpPr>
          <p:cNvPr id="696" name="Google Shape;696;p30"/>
          <p:cNvSpPr txBox="1"/>
          <p:nvPr/>
        </p:nvSpPr>
        <p:spPr>
          <a:xfrm>
            <a:off x="6553048" y="2066544"/>
            <a:ext cx="4769968"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5617A"/>
              </a:buClr>
              <a:buSzPts val="1150"/>
              <a:buFont typeface="Courier New" panose="02070609020205020404"/>
              <a:buNone/>
            </a:pPr>
            <a:r>
              <a:rPr lang="en-US" sz="1150" b="0" i="0" u="none" strike="noStrike" cap="none">
                <a:solidFill>
                  <a:srgbClr val="55617A"/>
                </a:solidFill>
                <a:latin typeface="Courier New" panose="02070609020205020404"/>
                <a:ea typeface="Courier New" panose="02070609020205020404"/>
                <a:cs typeface="Courier New" panose="02070609020205020404"/>
                <a:sym typeface="Courier New" panose="02070609020205020404"/>
              </a:rPr>
              <a:t>hooks/usePolling.ts</a:t>
            </a:r>
            <a:endParaRPr sz="1150" b="0" i="0" u="none" strike="noStrike" cap="none">
              <a:solidFill>
                <a:schemeClr val="dk1"/>
              </a:solidFill>
              <a:latin typeface="Calibri"/>
              <a:ea typeface="Calibri"/>
              <a:cs typeface="Calibri"/>
              <a:sym typeface="Calibri"/>
            </a:endParaRPr>
          </a:p>
        </p:txBody>
      </p:sp>
      <p:sp>
        <p:nvSpPr>
          <p:cNvPr id="697" name="Google Shape;697;p30"/>
          <p:cNvSpPr txBox="1"/>
          <p:nvPr/>
        </p:nvSpPr>
        <p:spPr>
          <a:xfrm>
            <a:off x="6553048" y="2468880"/>
            <a:ext cx="4769968" cy="1737360"/>
          </a:xfrm>
          <a:prstGeom prst="rect">
            <a:avLst/>
          </a:prstGeom>
          <a:noFill/>
          <a:ln>
            <a:noFill/>
          </a:ln>
        </p:spPr>
        <p:txBody>
          <a:bodyPr spcFirstLastPara="1" wrap="square" lIns="0" tIns="0" rIns="0" bIns="0" anchor="t" anchorCtr="0">
            <a:noAutofit/>
          </a:bodyPr>
          <a:lstStyle/>
          <a:p>
            <a:pPr marL="0" marR="0" lvl="0" indent="0" algn="l" rtl="0">
              <a:lnSpc>
                <a:spcPct val="146000"/>
              </a:lnSpc>
              <a:spcBef>
                <a:spcPts val="0"/>
              </a:spcBef>
              <a:spcAft>
                <a:spcPts val="0"/>
              </a:spcAft>
              <a:buClr>
                <a:srgbClr val="0F1B33"/>
              </a:buClr>
              <a:buSzPts val="1300"/>
              <a:buFont typeface="Calibri"/>
              <a:buNone/>
            </a:pPr>
            <a:r>
              <a:rPr lang="en-US" sz="1300" b="0" i="0" u="none" strike="noStrike" cap="none">
                <a:solidFill>
                  <a:srgbClr val="0F1B33"/>
                </a:solidFill>
                <a:latin typeface="Calibri"/>
                <a:ea typeface="Calibri"/>
                <a:cs typeface="Calibri"/>
                <a:sym typeface="Calibri"/>
              </a:rPr>
              <a:t>Hook polling yang saya tulis memanggil onTimeout dua kali, karena update state React tidak langsung terjadi sementara interval terus berjalan.</a:t>
            </a:r>
            <a:endParaRPr sz="1300" b="0" i="0" u="none" strike="noStrike" cap="none">
              <a:solidFill>
                <a:schemeClr val="dk1"/>
              </a:solidFill>
              <a:latin typeface="Calibri"/>
              <a:ea typeface="Calibri"/>
              <a:cs typeface="Calibri"/>
              <a:sym typeface="Calibri"/>
            </a:endParaRPr>
          </a:p>
        </p:txBody>
      </p:sp>
      <p:sp>
        <p:nvSpPr>
          <p:cNvPr id="698" name="Google Shape;698;p30"/>
          <p:cNvSpPr/>
          <p:nvPr/>
        </p:nvSpPr>
        <p:spPr>
          <a:xfrm>
            <a:off x="6553048" y="4279392"/>
            <a:ext cx="4769968" cy="914400"/>
          </a:xfrm>
          <a:prstGeom prst="roundRect">
            <a:avLst>
              <a:gd name="adj" fmla="val 7000"/>
            </a:avLst>
          </a:prstGeom>
          <a:solidFill>
            <a:srgbClr val="E7F1FF"/>
          </a:solidFill>
          <a:ln w="9525" cap="flat" cmpd="sng">
            <a:solidFill>
              <a:srgbClr val="E7F1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9" name="Google Shape;699;p30"/>
          <p:cNvSpPr txBox="1"/>
          <p:nvPr/>
        </p:nvSpPr>
        <p:spPr>
          <a:xfrm>
            <a:off x="6735928" y="4279392"/>
            <a:ext cx="4404208" cy="914400"/>
          </a:xfrm>
          <a:prstGeom prst="rect">
            <a:avLst/>
          </a:prstGeom>
          <a:noFill/>
          <a:ln>
            <a:noFill/>
          </a:ln>
        </p:spPr>
        <p:txBody>
          <a:bodyPr spcFirstLastPara="1" wrap="square" lIns="0" tIns="0" rIns="0" bIns="0" anchor="ctr" anchorCtr="0">
            <a:noAutofit/>
          </a:bodyPr>
          <a:lstStyle/>
          <a:p>
            <a:pPr marL="0" marR="0" lvl="0" indent="0" algn="l" rtl="0">
              <a:lnSpc>
                <a:spcPct val="136000"/>
              </a:lnSpc>
              <a:spcBef>
                <a:spcPts val="0"/>
              </a:spcBef>
              <a:spcAft>
                <a:spcPts val="0"/>
              </a:spcAft>
              <a:buClr>
                <a:srgbClr val="0C2E6B"/>
              </a:buClr>
              <a:buSzPts val="1250"/>
              <a:buFont typeface="Calibri"/>
              <a:buNone/>
            </a:pPr>
            <a:r>
              <a:rPr lang="en-US" sz="1250" b="0" i="0" u="none" strike="noStrike" cap="none">
                <a:solidFill>
                  <a:srgbClr val="0C2E6B"/>
                </a:solidFill>
                <a:latin typeface="Calibri"/>
                <a:ea typeface="Calibri"/>
                <a:cs typeface="Calibri"/>
                <a:sym typeface="Calibri"/>
              </a:rPr>
              <a:t>Saya perbaiki dengan penanda di dalam effect. Bug ini ketahuan dari test, sebelum kodenya dijalankan di browser.</a:t>
            </a:r>
            <a:endParaRPr sz="1250" b="0" i="0" u="none" strike="noStrike" cap="none">
              <a:solidFill>
                <a:schemeClr val="dk1"/>
              </a:solidFill>
              <a:latin typeface="Calibri"/>
              <a:ea typeface="Calibri"/>
              <a:cs typeface="Calibri"/>
              <a:sym typeface="Calibri"/>
            </a:endParaRPr>
          </a:p>
        </p:txBody>
      </p:sp>
      <p:sp>
        <p:nvSpPr>
          <p:cNvPr id="700" name="Google Shape;700;p30"/>
          <p:cNvSpPr txBox="1"/>
          <p:nvPr/>
        </p:nvSpPr>
        <p:spPr>
          <a:xfrm>
            <a:off x="594360" y="5559552"/>
            <a:ext cx="11002975" cy="548640"/>
          </a:xfrm>
          <a:prstGeom prst="rect">
            <a:avLst/>
          </a:prstGeom>
          <a:noFill/>
          <a:ln>
            <a:noFill/>
          </a:ln>
        </p:spPr>
        <p:txBody>
          <a:bodyPr spcFirstLastPara="1" wrap="square" lIns="0" tIns="0" rIns="0" bIns="0" anchor="t" anchorCtr="0">
            <a:noAutofit/>
          </a:bodyPr>
          <a:lstStyle/>
          <a:p>
            <a:pPr marL="0" marR="0" lvl="0" indent="0" algn="l" rtl="0">
              <a:lnSpc>
                <a:spcPct val="141000"/>
              </a:lnSpc>
              <a:spcBef>
                <a:spcPts val="0"/>
              </a:spcBef>
              <a:spcAft>
                <a:spcPts val="0"/>
              </a:spcAft>
              <a:buClr>
                <a:srgbClr val="55617A"/>
              </a:buClr>
              <a:buSzPts val="1350"/>
              <a:buFont typeface="Calibri"/>
              <a:buNone/>
            </a:pPr>
            <a:r>
              <a:rPr lang="en-US" sz="1350" b="0" i="0" u="none" strike="noStrike" cap="none">
                <a:solidFill>
                  <a:srgbClr val="55617A"/>
                </a:solidFill>
                <a:latin typeface="Calibri"/>
                <a:ea typeface="Calibri"/>
                <a:cs typeface="Calibri"/>
                <a:sym typeface="Calibri"/>
              </a:rPr>
              <a:t>Saya pakai AI untuk membantu, tapi hasilnya selalu saya cek. Kalau buktinya berbeda, laporannya saya perbaiki.</a:t>
            </a:r>
            <a:endParaRPr sz="1350" b="0" i="0" u="none" strike="noStrike" cap="non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C2E6B"/>
        </a:solidFill>
        <a:effectLst/>
      </p:bgPr>
    </p:bg>
    <p:spTree>
      <p:nvGrpSpPr>
        <p:cNvPr id="705" name="Shape 705"/>
        <p:cNvGrpSpPr/>
        <p:nvPr/>
      </p:nvGrpSpPr>
      <p:grpSpPr>
        <a:xfrm>
          <a:off x="0" y="0"/>
          <a:ext cx="0" cy="0"/>
          <a:chOff x="0" y="0"/>
          <a:chExt cx="0" cy="0"/>
        </a:xfrm>
      </p:grpSpPr>
      <p:sp>
        <p:nvSpPr>
          <p:cNvPr id="706" name="Google Shape;706;p31"/>
          <p:cNvSpPr txBox="1"/>
          <p:nvPr/>
        </p:nvSpPr>
        <p:spPr>
          <a:xfrm>
            <a:off x="594360" y="2103120"/>
            <a:ext cx="274320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9CC5FF"/>
              </a:buClr>
              <a:buSzPts val="2000"/>
              <a:buFont typeface="Calibri"/>
              <a:buNone/>
            </a:pPr>
            <a:r>
              <a:rPr lang="en-US" sz="2000" b="1" i="0" u="none" strike="noStrike" cap="none">
                <a:solidFill>
                  <a:srgbClr val="9CC5FF"/>
                </a:solidFill>
                <a:latin typeface="Calibri"/>
                <a:ea typeface="Calibri"/>
                <a:cs typeface="Calibri"/>
                <a:sym typeface="Calibri"/>
              </a:rPr>
              <a:t>06</a:t>
            </a:r>
            <a:endParaRPr sz="2000" b="0" i="0" u="none" strike="noStrike" cap="none">
              <a:solidFill>
                <a:schemeClr val="dk1"/>
              </a:solidFill>
              <a:latin typeface="Calibri"/>
              <a:ea typeface="Calibri"/>
              <a:cs typeface="Calibri"/>
              <a:sym typeface="Calibri"/>
            </a:endParaRPr>
          </a:p>
        </p:txBody>
      </p:sp>
      <p:sp>
        <p:nvSpPr>
          <p:cNvPr id="707" name="Google Shape;707;p31"/>
          <p:cNvSpPr txBox="1"/>
          <p:nvPr/>
        </p:nvSpPr>
        <p:spPr>
          <a:xfrm>
            <a:off x="594360" y="2651760"/>
            <a:ext cx="11002975" cy="914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FFFFFF"/>
              </a:buClr>
              <a:buSzPts val="3800"/>
              <a:buFont typeface="Calibri"/>
              <a:buNone/>
            </a:pPr>
            <a:r>
              <a:rPr lang="en-US" sz="3800" b="1" i="0" u="none" strike="noStrike" cap="none">
                <a:solidFill>
                  <a:srgbClr val="FFFFFF"/>
                </a:solidFill>
                <a:latin typeface="Calibri"/>
                <a:ea typeface="Calibri"/>
                <a:cs typeface="Calibri"/>
                <a:sym typeface="Calibri"/>
              </a:rPr>
              <a:t>Ke depan</a:t>
            </a:r>
            <a:endParaRPr sz="3800" b="0" i="0" u="none" strike="noStrike" cap="none">
              <a:solidFill>
                <a:schemeClr val="dk1"/>
              </a:solidFill>
              <a:latin typeface="Calibri"/>
              <a:ea typeface="Calibri"/>
              <a:cs typeface="Calibri"/>
              <a:sym typeface="Calibri"/>
            </a:endParaRPr>
          </a:p>
        </p:txBody>
      </p:sp>
      <p:sp>
        <p:nvSpPr>
          <p:cNvPr id="708" name="Google Shape;708;p31"/>
          <p:cNvSpPr txBox="1"/>
          <p:nvPr/>
        </p:nvSpPr>
        <p:spPr>
          <a:xfrm>
            <a:off x="594360" y="3611880"/>
            <a:ext cx="9144000" cy="731520"/>
          </a:xfrm>
          <a:prstGeom prst="rect">
            <a:avLst/>
          </a:prstGeom>
          <a:noFill/>
          <a:ln>
            <a:noFill/>
          </a:ln>
        </p:spPr>
        <p:txBody>
          <a:bodyPr spcFirstLastPara="1" wrap="square" lIns="0" tIns="0" rIns="0" bIns="0" anchor="t" anchorCtr="0">
            <a:noAutofit/>
          </a:bodyPr>
          <a:lstStyle/>
          <a:p>
            <a:pPr marL="0" marR="0" lvl="0" indent="0" algn="l" rtl="0">
              <a:lnSpc>
                <a:spcPct val="135000"/>
              </a:lnSpc>
              <a:spcBef>
                <a:spcPts val="0"/>
              </a:spcBef>
              <a:spcAft>
                <a:spcPts val="0"/>
              </a:spcAft>
              <a:buClr>
                <a:srgbClr val="AFCBFF"/>
              </a:buClr>
              <a:buSzPts val="1700"/>
              <a:buFont typeface="Calibri"/>
              <a:buNone/>
            </a:pPr>
            <a:r>
              <a:rPr lang="en-US" sz="1700" b="0" i="0" u="none" strike="noStrike" cap="none">
                <a:solidFill>
                  <a:srgbClr val="AFCBFF"/>
                </a:solidFill>
                <a:latin typeface="Calibri"/>
                <a:ea typeface="Calibri"/>
                <a:cs typeface="Calibri"/>
                <a:sym typeface="Calibri"/>
              </a:rPr>
              <a:t>Yang belum selesai, apa yang saya pelajari, dan rencana saya kalau bergabung.</a:t>
            </a:r>
            <a:endParaRPr sz="1700" b="0" i="0" u="none" strike="noStrike" cap="non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713" name="Shape 713"/>
        <p:cNvGrpSpPr/>
        <p:nvPr/>
      </p:nvGrpSpPr>
      <p:grpSpPr>
        <a:xfrm>
          <a:off x="0" y="0"/>
          <a:ext cx="0" cy="0"/>
          <a:chOff x="0" y="0"/>
          <a:chExt cx="0" cy="0"/>
        </a:xfrm>
      </p:grpSpPr>
      <p:sp>
        <p:nvSpPr>
          <p:cNvPr id="714" name="Google Shape;714;p32"/>
          <p:cNvSpPr txBox="1"/>
          <p:nvPr/>
        </p:nvSpPr>
        <p:spPr>
          <a:xfrm>
            <a:off x="11277295" y="6419088"/>
            <a:ext cx="457200"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A94A8"/>
              </a:buClr>
              <a:buSzPts val="1000"/>
              <a:buFont typeface="Calibri"/>
              <a:buNone/>
            </a:pPr>
            <a:r>
              <a:rPr lang="en-US" sz="1000" b="0" i="0" u="none" strike="noStrike" cap="none">
                <a:solidFill>
                  <a:srgbClr val="8A94A8"/>
                </a:solidFill>
                <a:latin typeface="Calibri"/>
                <a:ea typeface="Calibri"/>
                <a:cs typeface="Calibri"/>
                <a:sym typeface="Calibri"/>
              </a:rPr>
              <a:t>39</a:t>
            </a:r>
            <a:endParaRPr sz="1000" b="0" i="0" u="none" strike="noStrike" cap="none">
              <a:solidFill>
                <a:schemeClr val="dk1"/>
              </a:solidFill>
              <a:latin typeface="Calibri"/>
              <a:ea typeface="Calibri"/>
              <a:cs typeface="Calibri"/>
              <a:sym typeface="Calibri"/>
            </a:endParaRPr>
          </a:p>
        </p:txBody>
      </p:sp>
      <p:sp>
        <p:nvSpPr>
          <p:cNvPr id="715" name="Google Shape;715;p32"/>
          <p:cNvSpPr txBox="1"/>
          <p:nvPr/>
        </p:nvSpPr>
        <p:spPr>
          <a:xfrm>
            <a:off x="594360" y="6419088"/>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A94A8"/>
              </a:buClr>
              <a:buSzPts val="1000"/>
              <a:buFont typeface="Calibri"/>
              <a:buNone/>
            </a:pPr>
            <a:r>
              <a:rPr lang="en-US" sz="1000" b="0" i="0" u="none" strike="noStrike" cap="none">
                <a:solidFill>
                  <a:srgbClr val="8A94A8"/>
                </a:solidFill>
                <a:latin typeface="Calibri"/>
                <a:ea typeface="Calibri"/>
                <a:cs typeface="Calibri"/>
                <a:sym typeface="Calibri"/>
              </a:rPr>
              <a:t>Aulia Afriza  ·  Kandidat Fullstack · Frontend depth</a:t>
            </a:r>
            <a:endParaRPr sz="1000" b="0" i="0" u="none" strike="noStrike" cap="none">
              <a:solidFill>
                <a:schemeClr val="dk1"/>
              </a:solidFill>
              <a:latin typeface="Calibri"/>
              <a:ea typeface="Calibri"/>
              <a:cs typeface="Calibri"/>
              <a:sym typeface="Calibri"/>
            </a:endParaRPr>
          </a:p>
        </p:txBody>
      </p:sp>
      <p:sp>
        <p:nvSpPr>
          <p:cNvPr id="716" name="Google Shape;716;p32"/>
          <p:cNvSpPr txBox="1"/>
          <p:nvPr/>
        </p:nvSpPr>
        <p:spPr>
          <a:xfrm>
            <a:off x="594360" y="438912"/>
            <a:ext cx="11002975"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2800"/>
              <a:buFont typeface="Calibri"/>
              <a:buNone/>
            </a:pPr>
            <a:r>
              <a:rPr lang="en-US" sz="2800" b="1" i="0" u="none" strike="noStrike" cap="none">
                <a:solidFill>
                  <a:srgbClr val="0F1B33"/>
                </a:solidFill>
                <a:latin typeface="Calibri"/>
                <a:ea typeface="Calibri"/>
                <a:cs typeface="Calibri"/>
                <a:sym typeface="Calibri"/>
              </a:rPr>
              <a:t>Masalah besar yang belum saya perbaiki</a:t>
            </a:r>
            <a:endParaRPr sz="2800" b="0" i="0" u="none" strike="noStrike" cap="none">
              <a:solidFill>
                <a:schemeClr val="dk1"/>
              </a:solidFill>
              <a:latin typeface="Calibri"/>
              <a:ea typeface="Calibri"/>
              <a:cs typeface="Calibri"/>
              <a:sym typeface="Calibri"/>
            </a:endParaRPr>
          </a:p>
        </p:txBody>
      </p:sp>
      <p:sp>
        <p:nvSpPr>
          <p:cNvPr id="717" name="Google Shape;717;p32"/>
          <p:cNvSpPr txBox="1"/>
          <p:nvPr/>
        </p:nvSpPr>
        <p:spPr>
          <a:xfrm>
            <a:off x="594360" y="987552"/>
            <a:ext cx="11002975"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5617A"/>
              </a:buClr>
              <a:buSzPts val="1500"/>
              <a:buFont typeface="Calibri"/>
              <a:buNone/>
            </a:pPr>
            <a:r>
              <a:rPr lang="en-US" sz="1500" b="0" i="0" u="none" strike="noStrike" cap="none">
                <a:solidFill>
                  <a:srgbClr val="55617A"/>
                </a:solidFill>
                <a:latin typeface="Calibri"/>
                <a:ea typeface="Calibri"/>
                <a:cs typeface="Calibri"/>
                <a:sym typeface="Calibri"/>
              </a:rPr>
              <a:t>Semuanya P0, dan beberapa lebih berat dari yang sudah saya perbaiki.</a:t>
            </a:r>
            <a:endParaRPr sz="1500" b="0" i="0" u="none" strike="noStrike" cap="none">
              <a:solidFill>
                <a:schemeClr val="dk1"/>
              </a:solidFill>
              <a:latin typeface="Calibri"/>
              <a:ea typeface="Calibri"/>
              <a:cs typeface="Calibri"/>
              <a:sym typeface="Calibri"/>
            </a:endParaRPr>
          </a:p>
        </p:txBody>
      </p:sp>
      <p:graphicFrame>
        <p:nvGraphicFramePr>
          <p:cNvPr id="718" name="Google Shape;718;p32"/>
          <p:cNvGraphicFramePr/>
          <p:nvPr/>
        </p:nvGraphicFramePr>
        <p:xfrm>
          <a:off x="594360" y="1508760"/>
          <a:ext cx="11000225" cy="3529575"/>
        </p:xfrm>
        <a:graphic>
          <a:graphicData uri="http://schemas.openxmlformats.org/drawingml/2006/table">
            <a:tbl>
              <a:tblPr>
                <a:noFill/>
                <a:tableStyleId>{569AB0A4-A050-44F2-8EE5-55170C1F6B93}</a:tableStyleId>
              </a:tblPr>
              <a:tblGrid>
                <a:gridCol w="3840475"/>
                <a:gridCol w="3200400"/>
                <a:gridCol w="3959350"/>
              </a:tblGrid>
              <a:tr h="347475">
                <a:tc>
                  <a:txBody>
                    <a:bodyPr/>
                    <a:lstStyle/>
                    <a:p>
                      <a:pPr marL="0" marR="0" lvl="0" indent="0" algn="l" rtl="0">
                        <a:spcBef>
                          <a:spcPts val="0"/>
                        </a:spcBef>
                        <a:spcAft>
                          <a:spcPts val="0"/>
                        </a:spcAft>
                        <a:buClr>
                          <a:srgbClr val="0F1B33"/>
                        </a:buClr>
                        <a:buSzPts val="1200"/>
                        <a:buFont typeface="Calibri"/>
                        <a:buNone/>
                      </a:pPr>
                      <a:r>
                        <a:rPr lang="en-US" sz="1200" b="1" u="none" strike="noStrike" cap="none">
                          <a:solidFill>
                            <a:srgbClr val="0F1B33"/>
                          </a:solidFill>
                          <a:latin typeface="Calibri"/>
                          <a:ea typeface="Calibri"/>
                          <a:cs typeface="Calibri"/>
                          <a:sym typeface="Calibri"/>
                        </a:rPr>
                        <a:t>Temuan</a:t>
                      </a:r>
                      <a:endParaRPr sz="1200" u="none" strike="noStrike" cap="none">
                        <a:latin typeface="Calibri"/>
                        <a:ea typeface="Calibri"/>
                        <a:cs typeface="Calibri"/>
                        <a:sym typeface="Calibri"/>
                      </a:endParaRPr>
                    </a:p>
                  </a:txBody>
                  <a:tcPr marL="109725" marR="109725" marT="54875" marB="54875" anchor="ctr">
                    <a:lnL w="9525" cap="flat" cmpd="sng">
                      <a:solidFill>
                        <a:srgbClr val="DCE4F0"/>
                      </a:solidFill>
                      <a:prstDash val="solid"/>
                      <a:round/>
                      <a:headEnd type="none" w="sm" len="sm"/>
                      <a:tailEnd type="none" w="sm" len="sm"/>
                    </a:lnL>
                    <a:lnR w="9525" cap="flat" cmpd="sng">
                      <a:solidFill>
                        <a:srgbClr val="DCE4F0"/>
                      </a:solidFill>
                      <a:prstDash val="solid"/>
                      <a:round/>
                      <a:headEnd type="none" w="sm" len="sm"/>
                      <a:tailEnd type="none" w="sm" len="sm"/>
                    </a:lnR>
                    <a:lnT w="9525" cap="flat" cmpd="sng">
                      <a:solidFill>
                        <a:srgbClr val="DCE4F0"/>
                      </a:solidFill>
                      <a:prstDash val="solid"/>
                      <a:round/>
                      <a:headEnd type="none" w="sm" len="sm"/>
                      <a:tailEnd type="none" w="sm" len="sm"/>
                    </a:lnT>
                    <a:lnB w="9525" cap="flat" cmpd="sng">
                      <a:solidFill>
                        <a:srgbClr val="DCE4F0"/>
                      </a:solidFill>
                      <a:prstDash val="solid"/>
                      <a:round/>
                      <a:headEnd type="none" w="sm" len="sm"/>
                      <a:tailEnd type="none" w="sm" len="sm"/>
                    </a:lnB>
                    <a:solidFill>
                      <a:srgbClr val="F6F9FE"/>
                    </a:solidFill>
                  </a:tcPr>
                </a:tc>
                <a:tc>
                  <a:txBody>
                    <a:bodyPr/>
                    <a:lstStyle/>
                    <a:p>
                      <a:pPr marL="0" marR="0" lvl="0" indent="0" algn="l" rtl="0">
                        <a:spcBef>
                          <a:spcPts val="0"/>
                        </a:spcBef>
                        <a:spcAft>
                          <a:spcPts val="0"/>
                        </a:spcAft>
                        <a:buClr>
                          <a:srgbClr val="0F1B33"/>
                        </a:buClr>
                        <a:buSzPts val="1200"/>
                        <a:buFont typeface="Calibri"/>
                        <a:buNone/>
                      </a:pPr>
                      <a:r>
                        <a:rPr lang="en-US" sz="1200" b="1" u="none" strike="noStrike" cap="none">
                          <a:solidFill>
                            <a:srgbClr val="0F1B33"/>
                          </a:solidFill>
                          <a:latin typeface="Calibri"/>
                          <a:ea typeface="Calibri"/>
                          <a:cs typeface="Calibri"/>
                          <a:sym typeface="Calibri"/>
                        </a:rPr>
                        <a:t>Lokasi</a:t>
                      </a:r>
                      <a:endParaRPr sz="1200" u="none" strike="noStrike" cap="none">
                        <a:latin typeface="Calibri"/>
                        <a:ea typeface="Calibri"/>
                        <a:cs typeface="Calibri"/>
                        <a:sym typeface="Calibri"/>
                      </a:endParaRPr>
                    </a:p>
                  </a:txBody>
                  <a:tcPr marL="109725" marR="109725" marT="54875" marB="54875" anchor="ctr">
                    <a:lnL w="9525" cap="flat" cmpd="sng">
                      <a:solidFill>
                        <a:srgbClr val="DCE4F0"/>
                      </a:solidFill>
                      <a:prstDash val="solid"/>
                      <a:round/>
                      <a:headEnd type="none" w="sm" len="sm"/>
                      <a:tailEnd type="none" w="sm" len="sm"/>
                    </a:lnL>
                    <a:lnR w="9525" cap="flat" cmpd="sng">
                      <a:solidFill>
                        <a:srgbClr val="DCE4F0"/>
                      </a:solidFill>
                      <a:prstDash val="solid"/>
                      <a:round/>
                      <a:headEnd type="none" w="sm" len="sm"/>
                      <a:tailEnd type="none" w="sm" len="sm"/>
                    </a:lnR>
                    <a:lnT w="9525" cap="flat" cmpd="sng">
                      <a:solidFill>
                        <a:srgbClr val="DCE4F0"/>
                      </a:solidFill>
                      <a:prstDash val="solid"/>
                      <a:round/>
                      <a:headEnd type="none" w="sm" len="sm"/>
                      <a:tailEnd type="none" w="sm" len="sm"/>
                    </a:lnT>
                    <a:lnB w="9525" cap="flat" cmpd="sng">
                      <a:solidFill>
                        <a:srgbClr val="DCE4F0"/>
                      </a:solidFill>
                      <a:prstDash val="solid"/>
                      <a:round/>
                      <a:headEnd type="none" w="sm" len="sm"/>
                      <a:tailEnd type="none" w="sm" len="sm"/>
                    </a:lnB>
                    <a:solidFill>
                      <a:srgbClr val="F6F9FE"/>
                    </a:solidFill>
                  </a:tcPr>
                </a:tc>
                <a:tc>
                  <a:txBody>
                    <a:bodyPr/>
                    <a:lstStyle/>
                    <a:p>
                      <a:pPr marL="0" marR="0" lvl="0" indent="0" algn="l" rtl="0">
                        <a:spcBef>
                          <a:spcPts val="0"/>
                        </a:spcBef>
                        <a:spcAft>
                          <a:spcPts val="0"/>
                        </a:spcAft>
                        <a:buClr>
                          <a:srgbClr val="0F1B33"/>
                        </a:buClr>
                        <a:buSzPts val="1200"/>
                        <a:buFont typeface="Calibri"/>
                        <a:buNone/>
                      </a:pPr>
                      <a:r>
                        <a:rPr lang="en-US" sz="1200" b="1" u="none" strike="noStrike" cap="none">
                          <a:solidFill>
                            <a:srgbClr val="0F1B33"/>
                          </a:solidFill>
                          <a:latin typeface="Calibri"/>
                          <a:ea typeface="Calibri"/>
                          <a:cs typeface="Calibri"/>
                          <a:sym typeface="Calibri"/>
                        </a:rPr>
                        <a:t>Dampak</a:t>
                      </a:r>
                      <a:endParaRPr sz="1200" u="none" strike="noStrike" cap="none">
                        <a:latin typeface="Calibri"/>
                        <a:ea typeface="Calibri"/>
                        <a:cs typeface="Calibri"/>
                        <a:sym typeface="Calibri"/>
                      </a:endParaRPr>
                    </a:p>
                  </a:txBody>
                  <a:tcPr marL="109725" marR="109725" marT="54875" marB="54875" anchor="ctr">
                    <a:lnL w="9525" cap="flat" cmpd="sng">
                      <a:solidFill>
                        <a:srgbClr val="DCE4F0"/>
                      </a:solidFill>
                      <a:prstDash val="solid"/>
                      <a:round/>
                      <a:headEnd type="none" w="sm" len="sm"/>
                      <a:tailEnd type="none" w="sm" len="sm"/>
                    </a:lnL>
                    <a:lnR w="9525" cap="flat" cmpd="sng">
                      <a:solidFill>
                        <a:srgbClr val="DCE4F0"/>
                      </a:solidFill>
                      <a:prstDash val="solid"/>
                      <a:round/>
                      <a:headEnd type="none" w="sm" len="sm"/>
                      <a:tailEnd type="none" w="sm" len="sm"/>
                    </a:lnR>
                    <a:lnT w="9525" cap="flat" cmpd="sng">
                      <a:solidFill>
                        <a:srgbClr val="DCE4F0"/>
                      </a:solidFill>
                      <a:prstDash val="solid"/>
                      <a:round/>
                      <a:headEnd type="none" w="sm" len="sm"/>
                      <a:tailEnd type="none" w="sm" len="sm"/>
                    </a:lnT>
                    <a:lnB w="9525" cap="flat" cmpd="sng">
                      <a:solidFill>
                        <a:srgbClr val="DCE4F0"/>
                      </a:solidFill>
                      <a:prstDash val="solid"/>
                      <a:round/>
                      <a:headEnd type="none" w="sm" len="sm"/>
                      <a:tailEnd type="none" w="sm" len="sm"/>
                    </a:lnB>
                    <a:solidFill>
                      <a:srgbClr val="F6F9FE"/>
                    </a:solidFill>
                  </a:tcPr>
                </a:tc>
              </a:tr>
              <a:tr h="530350">
                <a:tc>
                  <a:txBody>
                    <a:bodyPr/>
                    <a:lstStyle/>
                    <a:p>
                      <a:pPr marL="0" marR="0" lvl="0" indent="0" algn="l" rtl="0">
                        <a:spcBef>
                          <a:spcPts val="0"/>
                        </a:spcBef>
                        <a:spcAft>
                          <a:spcPts val="0"/>
                        </a:spcAft>
                        <a:buClr>
                          <a:srgbClr val="0F1B33"/>
                        </a:buClr>
                        <a:buSzPts val="1200"/>
                        <a:buFont typeface="Calibri"/>
                        <a:buNone/>
                      </a:pPr>
                      <a:r>
                        <a:rPr lang="en-US" sz="1200" u="none" strike="noStrike" cap="none">
                          <a:solidFill>
                            <a:srgbClr val="0F1B33"/>
                          </a:solidFill>
                          <a:latin typeface="Calibri"/>
                          <a:ea typeface="Calibri"/>
                          <a:cs typeface="Calibri"/>
                          <a:sym typeface="Calibri"/>
                        </a:rPr>
                        <a:t>Perusahaan ditentukan dari header request</a:t>
                      </a:r>
                      <a:endParaRPr sz="1200" u="none" strike="noStrike" cap="none">
                        <a:latin typeface="Calibri"/>
                        <a:ea typeface="Calibri"/>
                        <a:cs typeface="Calibri"/>
                        <a:sym typeface="Calibri"/>
                      </a:endParaRPr>
                    </a:p>
                  </a:txBody>
                  <a:tcPr marL="109725" marR="109725" marT="54875" marB="54875" anchor="ctr">
                    <a:lnL w="9525" cap="flat" cmpd="sng">
                      <a:solidFill>
                        <a:srgbClr val="DCE4F0"/>
                      </a:solidFill>
                      <a:prstDash val="solid"/>
                      <a:round/>
                      <a:headEnd type="none" w="sm" len="sm"/>
                      <a:tailEnd type="none" w="sm" len="sm"/>
                    </a:lnL>
                    <a:lnR w="9525" cap="flat" cmpd="sng">
                      <a:solidFill>
                        <a:srgbClr val="DCE4F0"/>
                      </a:solidFill>
                      <a:prstDash val="solid"/>
                      <a:round/>
                      <a:headEnd type="none" w="sm" len="sm"/>
                      <a:tailEnd type="none" w="sm" len="sm"/>
                    </a:lnR>
                    <a:lnT w="9525" cap="flat" cmpd="sng">
                      <a:solidFill>
                        <a:srgbClr val="DCE4F0"/>
                      </a:solidFill>
                      <a:prstDash val="solid"/>
                      <a:round/>
                      <a:headEnd type="none" w="sm" len="sm"/>
                      <a:tailEnd type="none" w="sm" len="sm"/>
                    </a:lnT>
                    <a:lnB w="9525" cap="flat" cmpd="sng">
                      <a:solidFill>
                        <a:srgbClr val="DCE4F0"/>
                      </a:solidFill>
                      <a:prstDash val="solid"/>
                      <a:round/>
                      <a:headEnd type="none" w="sm" len="sm"/>
                      <a:tailEnd type="none" w="sm" len="sm"/>
                    </a:lnB>
                  </a:tcPr>
                </a:tc>
                <a:tc>
                  <a:txBody>
                    <a:bodyPr/>
                    <a:lstStyle/>
                    <a:p>
                      <a:pPr marL="0" marR="0" lvl="0" indent="0" algn="l" rtl="0">
                        <a:spcBef>
                          <a:spcPts val="0"/>
                        </a:spcBef>
                        <a:spcAft>
                          <a:spcPts val="0"/>
                        </a:spcAft>
                        <a:buClr>
                          <a:srgbClr val="55617A"/>
                        </a:buClr>
                        <a:buSzPts val="1000"/>
                        <a:buFont typeface="Courier New" panose="02070609020205020404"/>
                        <a:buNone/>
                      </a:pPr>
                      <a:r>
                        <a:rPr lang="en-US" sz="1000" u="none" strike="noStrike" cap="none">
                          <a:solidFill>
                            <a:srgbClr val="55617A"/>
                          </a:solidFill>
                          <a:latin typeface="Courier New" panose="02070609020205020404"/>
                          <a:ea typeface="Courier New" panose="02070609020205020404"/>
                          <a:cs typeface="Courier New" panose="02070609020205020404"/>
                          <a:sym typeface="Courier New" panose="02070609020205020404"/>
                        </a:rPr>
                        <a:t>authentication_controller.rb:24-29</a:t>
                      </a:r>
                      <a:endParaRPr sz="1000" u="none" strike="noStrike" cap="none">
                        <a:latin typeface="Courier New" panose="02070609020205020404"/>
                        <a:ea typeface="Courier New" panose="02070609020205020404"/>
                        <a:cs typeface="Courier New" panose="02070609020205020404"/>
                        <a:sym typeface="Courier New" panose="02070609020205020404"/>
                      </a:endParaRPr>
                    </a:p>
                  </a:txBody>
                  <a:tcPr marL="109725" marR="109725" marT="54875" marB="54875" anchor="ctr">
                    <a:lnL w="9525" cap="flat" cmpd="sng">
                      <a:solidFill>
                        <a:srgbClr val="DCE4F0"/>
                      </a:solidFill>
                      <a:prstDash val="solid"/>
                      <a:round/>
                      <a:headEnd type="none" w="sm" len="sm"/>
                      <a:tailEnd type="none" w="sm" len="sm"/>
                    </a:lnL>
                    <a:lnR w="9525" cap="flat" cmpd="sng">
                      <a:solidFill>
                        <a:srgbClr val="DCE4F0"/>
                      </a:solidFill>
                      <a:prstDash val="solid"/>
                      <a:round/>
                      <a:headEnd type="none" w="sm" len="sm"/>
                      <a:tailEnd type="none" w="sm" len="sm"/>
                    </a:lnR>
                    <a:lnT w="9525" cap="flat" cmpd="sng">
                      <a:solidFill>
                        <a:srgbClr val="DCE4F0"/>
                      </a:solidFill>
                      <a:prstDash val="solid"/>
                      <a:round/>
                      <a:headEnd type="none" w="sm" len="sm"/>
                      <a:tailEnd type="none" w="sm" len="sm"/>
                    </a:lnT>
                    <a:lnB w="9525" cap="flat" cmpd="sng">
                      <a:solidFill>
                        <a:srgbClr val="DCE4F0"/>
                      </a:solidFill>
                      <a:prstDash val="solid"/>
                      <a:round/>
                      <a:headEnd type="none" w="sm" len="sm"/>
                      <a:tailEnd type="none" w="sm" len="sm"/>
                    </a:lnB>
                  </a:tcPr>
                </a:tc>
                <a:tc>
                  <a:txBody>
                    <a:bodyPr/>
                    <a:lstStyle/>
                    <a:p>
                      <a:pPr marL="0" marR="0" lvl="0" indent="0" algn="l" rtl="0">
                        <a:spcBef>
                          <a:spcPts val="0"/>
                        </a:spcBef>
                        <a:spcAft>
                          <a:spcPts val="0"/>
                        </a:spcAft>
                        <a:buClr>
                          <a:srgbClr val="0F1B33"/>
                        </a:buClr>
                        <a:buSzPts val="1200"/>
                        <a:buFont typeface="Calibri"/>
                        <a:buNone/>
                      </a:pPr>
                      <a:r>
                        <a:rPr lang="en-US" sz="1200" u="none" strike="noStrike" cap="none">
                          <a:solidFill>
                            <a:srgbClr val="0F1B33"/>
                          </a:solidFill>
                          <a:latin typeface="Calibri"/>
                          <a:ea typeface="Calibri"/>
                          <a:cs typeface="Calibri"/>
                          <a:sym typeface="Calibri"/>
                        </a:rPr>
                        <a:t>Satu akun admin bisa masuk ke perusahaan mana pun</a:t>
                      </a:r>
                      <a:endParaRPr sz="1200" u="none" strike="noStrike" cap="none">
                        <a:latin typeface="Calibri"/>
                        <a:ea typeface="Calibri"/>
                        <a:cs typeface="Calibri"/>
                        <a:sym typeface="Calibri"/>
                      </a:endParaRPr>
                    </a:p>
                  </a:txBody>
                  <a:tcPr marL="109725" marR="109725" marT="54875" marB="54875" anchor="ctr">
                    <a:lnL w="9525" cap="flat" cmpd="sng">
                      <a:solidFill>
                        <a:srgbClr val="DCE4F0"/>
                      </a:solidFill>
                      <a:prstDash val="solid"/>
                      <a:round/>
                      <a:headEnd type="none" w="sm" len="sm"/>
                      <a:tailEnd type="none" w="sm" len="sm"/>
                    </a:lnL>
                    <a:lnR w="9525" cap="flat" cmpd="sng">
                      <a:solidFill>
                        <a:srgbClr val="DCE4F0"/>
                      </a:solidFill>
                      <a:prstDash val="solid"/>
                      <a:round/>
                      <a:headEnd type="none" w="sm" len="sm"/>
                      <a:tailEnd type="none" w="sm" len="sm"/>
                    </a:lnR>
                    <a:lnT w="9525" cap="flat" cmpd="sng">
                      <a:solidFill>
                        <a:srgbClr val="DCE4F0"/>
                      </a:solidFill>
                      <a:prstDash val="solid"/>
                      <a:round/>
                      <a:headEnd type="none" w="sm" len="sm"/>
                      <a:tailEnd type="none" w="sm" len="sm"/>
                    </a:lnT>
                    <a:lnB w="9525" cap="flat" cmpd="sng">
                      <a:solidFill>
                        <a:srgbClr val="DCE4F0"/>
                      </a:solidFill>
                      <a:prstDash val="solid"/>
                      <a:round/>
                      <a:headEnd type="none" w="sm" len="sm"/>
                      <a:tailEnd type="none" w="sm" len="sm"/>
                    </a:lnB>
                  </a:tcPr>
                </a:tc>
              </a:tr>
              <a:tr h="530350">
                <a:tc>
                  <a:txBody>
                    <a:bodyPr/>
                    <a:lstStyle/>
                    <a:p>
                      <a:pPr marL="0" marR="0" lvl="0" indent="0" algn="l" rtl="0">
                        <a:spcBef>
                          <a:spcPts val="0"/>
                        </a:spcBef>
                        <a:spcAft>
                          <a:spcPts val="0"/>
                        </a:spcAft>
                        <a:buClr>
                          <a:srgbClr val="0F1B33"/>
                        </a:buClr>
                        <a:buSzPts val="1200"/>
                        <a:buFont typeface="Calibri"/>
                        <a:buNone/>
                      </a:pPr>
                      <a:r>
                        <a:rPr lang="en-US" sz="1200" u="none" strike="noStrike" cap="none">
                          <a:solidFill>
                            <a:srgbClr val="0F1B33"/>
                          </a:solidFill>
                          <a:latin typeface="Calibri"/>
                          <a:ea typeface="Calibri"/>
                          <a:cs typeface="Calibri"/>
                          <a:sym typeface="Calibri"/>
                        </a:rPr>
                        <a:t>Token login tidak pernah dicek ulang</a:t>
                      </a:r>
                      <a:endParaRPr sz="1200" u="none" strike="noStrike" cap="none">
                        <a:latin typeface="Calibri"/>
                        <a:ea typeface="Calibri"/>
                        <a:cs typeface="Calibri"/>
                        <a:sym typeface="Calibri"/>
                      </a:endParaRPr>
                    </a:p>
                  </a:txBody>
                  <a:tcPr marL="109725" marR="109725" marT="54875" marB="54875" anchor="ctr">
                    <a:lnL w="9525" cap="flat" cmpd="sng">
                      <a:solidFill>
                        <a:srgbClr val="DCE4F0"/>
                      </a:solidFill>
                      <a:prstDash val="solid"/>
                      <a:round/>
                      <a:headEnd type="none" w="sm" len="sm"/>
                      <a:tailEnd type="none" w="sm" len="sm"/>
                    </a:lnL>
                    <a:lnR w="9525" cap="flat" cmpd="sng">
                      <a:solidFill>
                        <a:srgbClr val="DCE4F0"/>
                      </a:solidFill>
                      <a:prstDash val="solid"/>
                      <a:round/>
                      <a:headEnd type="none" w="sm" len="sm"/>
                      <a:tailEnd type="none" w="sm" len="sm"/>
                    </a:lnR>
                    <a:lnT w="9525" cap="flat" cmpd="sng">
                      <a:solidFill>
                        <a:srgbClr val="DCE4F0"/>
                      </a:solidFill>
                      <a:prstDash val="solid"/>
                      <a:round/>
                      <a:headEnd type="none" w="sm" len="sm"/>
                      <a:tailEnd type="none" w="sm" len="sm"/>
                    </a:lnT>
                    <a:lnB w="9525" cap="flat" cmpd="sng">
                      <a:solidFill>
                        <a:srgbClr val="DCE4F0"/>
                      </a:solidFill>
                      <a:prstDash val="solid"/>
                      <a:round/>
                      <a:headEnd type="none" w="sm" len="sm"/>
                      <a:tailEnd type="none" w="sm" len="sm"/>
                    </a:lnB>
                  </a:tcPr>
                </a:tc>
                <a:tc>
                  <a:txBody>
                    <a:bodyPr/>
                    <a:lstStyle/>
                    <a:p>
                      <a:pPr marL="0" marR="0" lvl="0" indent="0" algn="l" rtl="0">
                        <a:spcBef>
                          <a:spcPts val="0"/>
                        </a:spcBef>
                        <a:spcAft>
                          <a:spcPts val="0"/>
                        </a:spcAft>
                        <a:buClr>
                          <a:srgbClr val="55617A"/>
                        </a:buClr>
                        <a:buSzPts val="1000"/>
                        <a:buFont typeface="Courier New" panose="02070609020205020404"/>
                        <a:buNone/>
                      </a:pPr>
                      <a:r>
                        <a:rPr lang="en-US" sz="1000" u="none" strike="noStrike" cap="none">
                          <a:solidFill>
                            <a:srgbClr val="55617A"/>
                          </a:solidFill>
                          <a:latin typeface="Courier New" panose="02070609020205020404"/>
                          <a:ea typeface="Courier New" panose="02070609020205020404"/>
                          <a:cs typeface="Courier New" panose="02070609020205020404"/>
                          <a:sym typeface="Courier New" panose="02070609020205020404"/>
                        </a:rPr>
                        <a:t>authorize_api_request.rb:33-39</a:t>
                      </a:r>
                      <a:endParaRPr sz="1000" u="none" strike="noStrike" cap="none">
                        <a:latin typeface="Courier New" panose="02070609020205020404"/>
                        <a:ea typeface="Courier New" panose="02070609020205020404"/>
                        <a:cs typeface="Courier New" panose="02070609020205020404"/>
                        <a:sym typeface="Courier New" panose="02070609020205020404"/>
                      </a:endParaRPr>
                    </a:p>
                  </a:txBody>
                  <a:tcPr marL="109725" marR="109725" marT="54875" marB="54875" anchor="ctr">
                    <a:lnL w="9525" cap="flat" cmpd="sng">
                      <a:solidFill>
                        <a:srgbClr val="DCE4F0"/>
                      </a:solidFill>
                      <a:prstDash val="solid"/>
                      <a:round/>
                      <a:headEnd type="none" w="sm" len="sm"/>
                      <a:tailEnd type="none" w="sm" len="sm"/>
                    </a:lnL>
                    <a:lnR w="9525" cap="flat" cmpd="sng">
                      <a:solidFill>
                        <a:srgbClr val="DCE4F0"/>
                      </a:solidFill>
                      <a:prstDash val="solid"/>
                      <a:round/>
                      <a:headEnd type="none" w="sm" len="sm"/>
                      <a:tailEnd type="none" w="sm" len="sm"/>
                    </a:lnR>
                    <a:lnT w="9525" cap="flat" cmpd="sng">
                      <a:solidFill>
                        <a:srgbClr val="DCE4F0"/>
                      </a:solidFill>
                      <a:prstDash val="solid"/>
                      <a:round/>
                      <a:headEnd type="none" w="sm" len="sm"/>
                      <a:tailEnd type="none" w="sm" len="sm"/>
                    </a:lnT>
                    <a:lnB w="9525" cap="flat" cmpd="sng">
                      <a:solidFill>
                        <a:srgbClr val="DCE4F0"/>
                      </a:solidFill>
                      <a:prstDash val="solid"/>
                      <a:round/>
                      <a:headEnd type="none" w="sm" len="sm"/>
                      <a:tailEnd type="none" w="sm" len="sm"/>
                    </a:lnB>
                  </a:tcPr>
                </a:tc>
                <a:tc>
                  <a:txBody>
                    <a:bodyPr/>
                    <a:lstStyle/>
                    <a:p>
                      <a:pPr marL="0" marR="0" lvl="0" indent="0" algn="l" rtl="0">
                        <a:spcBef>
                          <a:spcPts val="0"/>
                        </a:spcBef>
                        <a:spcAft>
                          <a:spcPts val="0"/>
                        </a:spcAft>
                        <a:buClr>
                          <a:srgbClr val="0F1B33"/>
                        </a:buClr>
                        <a:buSzPts val="1200"/>
                        <a:buFont typeface="Calibri"/>
                        <a:buNone/>
                      </a:pPr>
                      <a:r>
                        <a:rPr lang="en-US" sz="1200" u="none" strike="noStrike" cap="none">
                          <a:solidFill>
                            <a:srgbClr val="0F1B33"/>
                          </a:solidFill>
                          <a:latin typeface="Calibri"/>
                          <a:ea typeface="Calibri"/>
                          <a:cs typeface="Calibri"/>
                          <a:sym typeface="Calibri"/>
                        </a:rPr>
                        <a:t>Admin yang aksesnya dicabut masih bisa masuk sampai 3 hari</a:t>
                      </a:r>
                      <a:endParaRPr sz="1200" u="none" strike="noStrike" cap="none">
                        <a:latin typeface="Calibri"/>
                        <a:ea typeface="Calibri"/>
                        <a:cs typeface="Calibri"/>
                        <a:sym typeface="Calibri"/>
                      </a:endParaRPr>
                    </a:p>
                  </a:txBody>
                  <a:tcPr marL="109725" marR="109725" marT="54875" marB="54875" anchor="ctr">
                    <a:lnL w="9525" cap="flat" cmpd="sng">
                      <a:solidFill>
                        <a:srgbClr val="DCE4F0"/>
                      </a:solidFill>
                      <a:prstDash val="solid"/>
                      <a:round/>
                      <a:headEnd type="none" w="sm" len="sm"/>
                      <a:tailEnd type="none" w="sm" len="sm"/>
                    </a:lnL>
                    <a:lnR w="9525" cap="flat" cmpd="sng">
                      <a:solidFill>
                        <a:srgbClr val="DCE4F0"/>
                      </a:solidFill>
                      <a:prstDash val="solid"/>
                      <a:round/>
                      <a:headEnd type="none" w="sm" len="sm"/>
                      <a:tailEnd type="none" w="sm" len="sm"/>
                    </a:lnR>
                    <a:lnT w="9525" cap="flat" cmpd="sng">
                      <a:solidFill>
                        <a:srgbClr val="DCE4F0"/>
                      </a:solidFill>
                      <a:prstDash val="solid"/>
                      <a:round/>
                      <a:headEnd type="none" w="sm" len="sm"/>
                      <a:tailEnd type="none" w="sm" len="sm"/>
                    </a:lnT>
                    <a:lnB w="9525" cap="flat" cmpd="sng">
                      <a:solidFill>
                        <a:srgbClr val="DCE4F0"/>
                      </a:solidFill>
                      <a:prstDash val="solid"/>
                      <a:round/>
                      <a:headEnd type="none" w="sm" len="sm"/>
                      <a:tailEnd type="none" w="sm" len="sm"/>
                    </a:lnB>
                  </a:tcPr>
                </a:tc>
              </a:tr>
              <a:tr h="530350">
                <a:tc>
                  <a:txBody>
                    <a:bodyPr/>
                    <a:lstStyle/>
                    <a:p>
                      <a:pPr marL="0" marR="0" lvl="0" indent="0" algn="l" rtl="0">
                        <a:spcBef>
                          <a:spcPts val="0"/>
                        </a:spcBef>
                        <a:spcAft>
                          <a:spcPts val="0"/>
                        </a:spcAft>
                        <a:buClr>
                          <a:srgbClr val="0F1B33"/>
                        </a:buClr>
                        <a:buSzPts val="1200"/>
                        <a:buFont typeface="Calibri"/>
                        <a:buNone/>
                      </a:pPr>
                      <a:r>
                        <a:rPr lang="en-US" sz="1200" u="none" strike="noStrike" cap="none">
                          <a:solidFill>
                            <a:srgbClr val="0F1B33"/>
                          </a:solidFill>
                          <a:latin typeface="Calibri"/>
                          <a:ea typeface="Calibri"/>
                          <a:cs typeface="Calibri"/>
                          <a:sym typeface="Calibri"/>
                        </a:rPr>
                        <a:t>Koneksi real-time mati kalau server pakai beberapa worker</a:t>
                      </a:r>
                      <a:endParaRPr sz="1200" u="none" strike="noStrike" cap="none">
                        <a:latin typeface="Calibri"/>
                        <a:ea typeface="Calibri"/>
                        <a:cs typeface="Calibri"/>
                        <a:sym typeface="Calibri"/>
                      </a:endParaRPr>
                    </a:p>
                  </a:txBody>
                  <a:tcPr marL="109725" marR="109725" marT="54875" marB="54875" anchor="ctr">
                    <a:lnL w="9525" cap="flat" cmpd="sng">
                      <a:solidFill>
                        <a:srgbClr val="DCE4F0"/>
                      </a:solidFill>
                      <a:prstDash val="solid"/>
                      <a:round/>
                      <a:headEnd type="none" w="sm" len="sm"/>
                      <a:tailEnd type="none" w="sm" len="sm"/>
                    </a:lnL>
                    <a:lnR w="9525" cap="flat" cmpd="sng">
                      <a:solidFill>
                        <a:srgbClr val="DCE4F0"/>
                      </a:solidFill>
                      <a:prstDash val="solid"/>
                      <a:round/>
                      <a:headEnd type="none" w="sm" len="sm"/>
                      <a:tailEnd type="none" w="sm" len="sm"/>
                    </a:lnR>
                    <a:lnT w="9525" cap="flat" cmpd="sng">
                      <a:solidFill>
                        <a:srgbClr val="DCE4F0"/>
                      </a:solidFill>
                      <a:prstDash val="solid"/>
                      <a:round/>
                      <a:headEnd type="none" w="sm" len="sm"/>
                      <a:tailEnd type="none" w="sm" len="sm"/>
                    </a:lnT>
                    <a:lnB w="9525" cap="flat" cmpd="sng">
                      <a:solidFill>
                        <a:srgbClr val="DCE4F0"/>
                      </a:solidFill>
                      <a:prstDash val="solid"/>
                      <a:round/>
                      <a:headEnd type="none" w="sm" len="sm"/>
                      <a:tailEnd type="none" w="sm" len="sm"/>
                    </a:lnB>
                  </a:tcPr>
                </a:tc>
                <a:tc>
                  <a:txBody>
                    <a:bodyPr/>
                    <a:lstStyle/>
                    <a:p>
                      <a:pPr marL="0" marR="0" lvl="0" indent="0" algn="l" rtl="0">
                        <a:spcBef>
                          <a:spcPts val="0"/>
                        </a:spcBef>
                        <a:spcAft>
                          <a:spcPts val="0"/>
                        </a:spcAft>
                        <a:buClr>
                          <a:srgbClr val="55617A"/>
                        </a:buClr>
                        <a:buSzPts val="1000"/>
                        <a:buFont typeface="Courier New" panose="02070609020205020404"/>
                        <a:buNone/>
                      </a:pPr>
                      <a:r>
                        <a:rPr lang="en-US" sz="1000" u="none" strike="noStrike" cap="none">
                          <a:solidFill>
                            <a:srgbClr val="55617A"/>
                          </a:solidFill>
                          <a:latin typeface="Courier New" panose="02070609020205020404"/>
                          <a:ea typeface="Courier New" panose="02070609020205020404"/>
                          <a:cs typeface="Courier New" panose="02070609020205020404"/>
                          <a:sym typeface="Courier New" panose="02070609020205020404"/>
                        </a:rPr>
                        <a:t>config/puma.rb:27-38</a:t>
                      </a:r>
                      <a:endParaRPr sz="1000" u="none" strike="noStrike" cap="none">
                        <a:latin typeface="Courier New" panose="02070609020205020404"/>
                        <a:ea typeface="Courier New" panose="02070609020205020404"/>
                        <a:cs typeface="Courier New" panose="02070609020205020404"/>
                        <a:sym typeface="Courier New" panose="02070609020205020404"/>
                      </a:endParaRPr>
                    </a:p>
                  </a:txBody>
                  <a:tcPr marL="109725" marR="109725" marT="54875" marB="54875" anchor="ctr">
                    <a:lnL w="9525" cap="flat" cmpd="sng">
                      <a:solidFill>
                        <a:srgbClr val="DCE4F0"/>
                      </a:solidFill>
                      <a:prstDash val="solid"/>
                      <a:round/>
                      <a:headEnd type="none" w="sm" len="sm"/>
                      <a:tailEnd type="none" w="sm" len="sm"/>
                    </a:lnL>
                    <a:lnR w="9525" cap="flat" cmpd="sng">
                      <a:solidFill>
                        <a:srgbClr val="DCE4F0"/>
                      </a:solidFill>
                      <a:prstDash val="solid"/>
                      <a:round/>
                      <a:headEnd type="none" w="sm" len="sm"/>
                      <a:tailEnd type="none" w="sm" len="sm"/>
                    </a:lnR>
                    <a:lnT w="9525" cap="flat" cmpd="sng">
                      <a:solidFill>
                        <a:srgbClr val="DCE4F0"/>
                      </a:solidFill>
                      <a:prstDash val="solid"/>
                      <a:round/>
                      <a:headEnd type="none" w="sm" len="sm"/>
                      <a:tailEnd type="none" w="sm" len="sm"/>
                    </a:lnT>
                    <a:lnB w="9525" cap="flat" cmpd="sng">
                      <a:solidFill>
                        <a:srgbClr val="DCE4F0"/>
                      </a:solidFill>
                      <a:prstDash val="solid"/>
                      <a:round/>
                      <a:headEnd type="none" w="sm" len="sm"/>
                      <a:tailEnd type="none" w="sm" len="sm"/>
                    </a:lnB>
                  </a:tcPr>
                </a:tc>
                <a:tc>
                  <a:txBody>
                    <a:bodyPr/>
                    <a:lstStyle/>
                    <a:p>
                      <a:pPr marL="0" marR="0" lvl="0" indent="0" algn="l" rtl="0">
                        <a:spcBef>
                          <a:spcPts val="0"/>
                        </a:spcBef>
                        <a:spcAft>
                          <a:spcPts val="0"/>
                        </a:spcAft>
                        <a:buClr>
                          <a:srgbClr val="0F1B33"/>
                        </a:buClr>
                        <a:buSzPts val="1200"/>
                        <a:buFont typeface="Calibri"/>
                        <a:buNone/>
                      </a:pPr>
                      <a:r>
                        <a:rPr lang="en-US" sz="1200" u="none" strike="noStrike" cap="none">
                          <a:solidFill>
                            <a:srgbClr val="0F1B33"/>
                          </a:solidFill>
                          <a:latin typeface="Calibri"/>
                          <a:ea typeface="Calibri"/>
                          <a:cs typeface="Calibri"/>
                          <a:sym typeface="Calibri"/>
                        </a:rPr>
                        <a:t>Audio dan update coverage tidak berjalan</a:t>
                      </a:r>
                      <a:endParaRPr sz="1200" u="none" strike="noStrike" cap="none">
                        <a:latin typeface="Calibri"/>
                        <a:ea typeface="Calibri"/>
                        <a:cs typeface="Calibri"/>
                        <a:sym typeface="Calibri"/>
                      </a:endParaRPr>
                    </a:p>
                  </a:txBody>
                  <a:tcPr marL="109725" marR="109725" marT="54875" marB="54875" anchor="ctr">
                    <a:lnL w="9525" cap="flat" cmpd="sng">
                      <a:solidFill>
                        <a:srgbClr val="DCE4F0"/>
                      </a:solidFill>
                      <a:prstDash val="solid"/>
                      <a:round/>
                      <a:headEnd type="none" w="sm" len="sm"/>
                      <a:tailEnd type="none" w="sm" len="sm"/>
                    </a:lnL>
                    <a:lnR w="9525" cap="flat" cmpd="sng">
                      <a:solidFill>
                        <a:srgbClr val="DCE4F0"/>
                      </a:solidFill>
                      <a:prstDash val="solid"/>
                      <a:round/>
                      <a:headEnd type="none" w="sm" len="sm"/>
                      <a:tailEnd type="none" w="sm" len="sm"/>
                    </a:lnR>
                    <a:lnT w="9525" cap="flat" cmpd="sng">
                      <a:solidFill>
                        <a:srgbClr val="DCE4F0"/>
                      </a:solidFill>
                      <a:prstDash val="solid"/>
                      <a:round/>
                      <a:headEnd type="none" w="sm" len="sm"/>
                      <a:tailEnd type="none" w="sm" len="sm"/>
                    </a:lnT>
                    <a:lnB w="9525" cap="flat" cmpd="sng">
                      <a:solidFill>
                        <a:srgbClr val="DCE4F0"/>
                      </a:solidFill>
                      <a:prstDash val="solid"/>
                      <a:round/>
                      <a:headEnd type="none" w="sm" len="sm"/>
                      <a:tailEnd type="none" w="sm" len="sm"/>
                    </a:lnB>
                  </a:tcPr>
                </a:tc>
              </a:tr>
              <a:tr h="530350">
                <a:tc>
                  <a:txBody>
                    <a:bodyPr/>
                    <a:lstStyle/>
                    <a:p>
                      <a:pPr marL="0" marR="0" lvl="0" indent="0" algn="l" rtl="0">
                        <a:spcBef>
                          <a:spcPts val="0"/>
                        </a:spcBef>
                        <a:spcAft>
                          <a:spcPts val="0"/>
                        </a:spcAft>
                        <a:buClr>
                          <a:srgbClr val="0F1B33"/>
                        </a:buClr>
                        <a:buSzPts val="1200"/>
                        <a:buFont typeface="Calibri"/>
                        <a:buNone/>
                      </a:pPr>
                      <a:r>
                        <a:rPr lang="en-US" sz="1200" u="none" strike="noStrike" cap="none">
                          <a:solidFill>
                            <a:srgbClr val="0F1B33"/>
                          </a:solidFill>
                          <a:latin typeface="Calibri"/>
                          <a:ea typeface="Calibri"/>
                          <a:cs typeface="Calibri"/>
                          <a:sym typeface="Calibri"/>
                        </a:rPr>
                        <a:t>Refresh halaman mengakhiri wawancara</a:t>
                      </a:r>
                      <a:endParaRPr sz="1200" u="none" strike="noStrike" cap="none">
                        <a:latin typeface="Calibri"/>
                        <a:ea typeface="Calibri"/>
                        <a:cs typeface="Calibri"/>
                        <a:sym typeface="Calibri"/>
                      </a:endParaRPr>
                    </a:p>
                  </a:txBody>
                  <a:tcPr marL="109725" marR="109725" marT="54875" marB="54875" anchor="ctr">
                    <a:lnL w="9525" cap="flat" cmpd="sng">
                      <a:solidFill>
                        <a:srgbClr val="DCE4F0"/>
                      </a:solidFill>
                      <a:prstDash val="solid"/>
                      <a:round/>
                      <a:headEnd type="none" w="sm" len="sm"/>
                      <a:tailEnd type="none" w="sm" len="sm"/>
                    </a:lnL>
                    <a:lnR w="9525" cap="flat" cmpd="sng">
                      <a:solidFill>
                        <a:srgbClr val="DCE4F0"/>
                      </a:solidFill>
                      <a:prstDash val="solid"/>
                      <a:round/>
                      <a:headEnd type="none" w="sm" len="sm"/>
                      <a:tailEnd type="none" w="sm" len="sm"/>
                    </a:lnR>
                    <a:lnT w="9525" cap="flat" cmpd="sng">
                      <a:solidFill>
                        <a:srgbClr val="DCE4F0"/>
                      </a:solidFill>
                      <a:prstDash val="solid"/>
                      <a:round/>
                      <a:headEnd type="none" w="sm" len="sm"/>
                      <a:tailEnd type="none" w="sm" len="sm"/>
                    </a:lnT>
                    <a:lnB w="9525" cap="flat" cmpd="sng">
                      <a:solidFill>
                        <a:srgbClr val="DCE4F0"/>
                      </a:solidFill>
                      <a:prstDash val="solid"/>
                      <a:round/>
                      <a:headEnd type="none" w="sm" len="sm"/>
                      <a:tailEnd type="none" w="sm" len="sm"/>
                    </a:lnB>
                  </a:tcPr>
                </a:tc>
                <a:tc>
                  <a:txBody>
                    <a:bodyPr/>
                    <a:lstStyle/>
                    <a:p>
                      <a:pPr marL="0" marR="0" lvl="0" indent="0" algn="l" rtl="0">
                        <a:spcBef>
                          <a:spcPts val="0"/>
                        </a:spcBef>
                        <a:spcAft>
                          <a:spcPts val="0"/>
                        </a:spcAft>
                        <a:buClr>
                          <a:srgbClr val="55617A"/>
                        </a:buClr>
                        <a:buSzPts val="1000"/>
                        <a:buFont typeface="Courier New" panose="02070609020205020404"/>
                        <a:buNone/>
                      </a:pPr>
                      <a:r>
                        <a:rPr lang="en-US" sz="1000" u="none" strike="noStrike" cap="none">
                          <a:solidFill>
                            <a:srgbClr val="55617A"/>
                          </a:solidFill>
                          <a:latin typeface="Courier New" panose="02070609020205020404"/>
                          <a:ea typeface="Courier New" panose="02070609020205020404"/>
                          <a:cs typeface="Courier New" panose="02070609020205020404"/>
                          <a:sym typeface="Courier New" panose="02070609020205020404"/>
                        </a:rPr>
                        <a:t>audio_websocket_middleware.rb:38-47</a:t>
                      </a:r>
                      <a:endParaRPr sz="1000" u="none" strike="noStrike" cap="none">
                        <a:latin typeface="Courier New" panose="02070609020205020404"/>
                        <a:ea typeface="Courier New" panose="02070609020205020404"/>
                        <a:cs typeface="Courier New" panose="02070609020205020404"/>
                        <a:sym typeface="Courier New" panose="02070609020205020404"/>
                      </a:endParaRPr>
                    </a:p>
                  </a:txBody>
                  <a:tcPr marL="109725" marR="109725" marT="54875" marB="54875" anchor="ctr">
                    <a:lnL w="9525" cap="flat" cmpd="sng">
                      <a:solidFill>
                        <a:srgbClr val="DCE4F0"/>
                      </a:solidFill>
                      <a:prstDash val="solid"/>
                      <a:round/>
                      <a:headEnd type="none" w="sm" len="sm"/>
                      <a:tailEnd type="none" w="sm" len="sm"/>
                    </a:lnL>
                    <a:lnR w="9525" cap="flat" cmpd="sng">
                      <a:solidFill>
                        <a:srgbClr val="DCE4F0"/>
                      </a:solidFill>
                      <a:prstDash val="solid"/>
                      <a:round/>
                      <a:headEnd type="none" w="sm" len="sm"/>
                      <a:tailEnd type="none" w="sm" len="sm"/>
                    </a:lnR>
                    <a:lnT w="9525" cap="flat" cmpd="sng">
                      <a:solidFill>
                        <a:srgbClr val="DCE4F0"/>
                      </a:solidFill>
                      <a:prstDash val="solid"/>
                      <a:round/>
                      <a:headEnd type="none" w="sm" len="sm"/>
                      <a:tailEnd type="none" w="sm" len="sm"/>
                    </a:lnT>
                    <a:lnB w="9525" cap="flat" cmpd="sng">
                      <a:solidFill>
                        <a:srgbClr val="DCE4F0"/>
                      </a:solidFill>
                      <a:prstDash val="solid"/>
                      <a:round/>
                      <a:headEnd type="none" w="sm" len="sm"/>
                      <a:tailEnd type="none" w="sm" len="sm"/>
                    </a:lnB>
                  </a:tcPr>
                </a:tc>
                <a:tc>
                  <a:txBody>
                    <a:bodyPr/>
                    <a:lstStyle/>
                    <a:p>
                      <a:pPr marL="0" marR="0" lvl="0" indent="0" algn="l" rtl="0">
                        <a:spcBef>
                          <a:spcPts val="0"/>
                        </a:spcBef>
                        <a:spcAft>
                          <a:spcPts val="0"/>
                        </a:spcAft>
                        <a:buClr>
                          <a:srgbClr val="0F1B33"/>
                        </a:buClr>
                        <a:buSzPts val="1200"/>
                        <a:buFont typeface="Calibri"/>
                        <a:buNone/>
                      </a:pPr>
                      <a:r>
                        <a:rPr lang="en-US" sz="1200" u="none" strike="noStrike" cap="none">
                          <a:solidFill>
                            <a:srgbClr val="0F1B33"/>
                          </a:solidFill>
                          <a:latin typeface="Calibri"/>
                          <a:ea typeface="Calibri"/>
                          <a:cs typeface="Calibri"/>
                          <a:sym typeface="Calibri"/>
                        </a:rPr>
                        <a:t>Wawancara yang sudah tersambung lagi tetap diakhiri</a:t>
                      </a:r>
                      <a:endParaRPr sz="1200" u="none" strike="noStrike" cap="none">
                        <a:latin typeface="Calibri"/>
                        <a:ea typeface="Calibri"/>
                        <a:cs typeface="Calibri"/>
                        <a:sym typeface="Calibri"/>
                      </a:endParaRPr>
                    </a:p>
                  </a:txBody>
                  <a:tcPr marL="109725" marR="109725" marT="54875" marB="54875" anchor="ctr">
                    <a:lnL w="9525" cap="flat" cmpd="sng">
                      <a:solidFill>
                        <a:srgbClr val="DCE4F0"/>
                      </a:solidFill>
                      <a:prstDash val="solid"/>
                      <a:round/>
                      <a:headEnd type="none" w="sm" len="sm"/>
                      <a:tailEnd type="none" w="sm" len="sm"/>
                    </a:lnL>
                    <a:lnR w="9525" cap="flat" cmpd="sng">
                      <a:solidFill>
                        <a:srgbClr val="DCE4F0"/>
                      </a:solidFill>
                      <a:prstDash val="solid"/>
                      <a:round/>
                      <a:headEnd type="none" w="sm" len="sm"/>
                      <a:tailEnd type="none" w="sm" len="sm"/>
                    </a:lnR>
                    <a:lnT w="9525" cap="flat" cmpd="sng">
                      <a:solidFill>
                        <a:srgbClr val="DCE4F0"/>
                      </a:solidFill>
                      <a:prstDash val="solid"/>
                      <a:round/>
                      <a:headEnd type="none" w="sm" len="sm"/>
                      <a:tailEnd type="none" w="sm" len="sm"/>
                    </a:lnT>
                    <a:lnB w="9525" cap="flat" cmpd="sng">
                      <a:solidFill>
                        <a:srgbClr val="DCE4F0"/>
                      </a:solidFill>
                      <a:prstDash val="solid"/>
                      <a:round/>
                      <a:headEnd type="none" w="sm" len="sm"/>
                      <a:tailEnd type="none" w="sm" len="sm"/>
                    </a:lnB>
                  </a:tcPr>
                </a:tc>
              </a:tr>
              <a:tr h="530350">
                <a:tc>
                  <a:txBody>
                    <a:bodyPr/>
                    <a:lstStyle/>
                    <a:p>
                      <a:pPr marL="0" marR="0" lvl="0" indent="0" algn="l" rtl="0">
                        <a:spcBef>
                          <a:spcPts val="0"/>
                        </a:spcBef>
                        <a:spcAft>
                          <a:spcPts val="0"/>
                        </a:spcAft>
                        <a:buClr>
                          <a:srgbClr val="0F1B33"/>
                        </a:buClr>
                        <a:buSzPts val="1200"/>
                        <a:buFont typeface="Calibri"/>
                        <a:buNone/>
                      </a:pPr>
                      <a:r>
                        <a:rPr lang="en-US" sz="1200" u="none" strike="noStrike" cap="none">
                          <a:solidFill>
                            <a:srgbClr val="0F1B33"/>
                          </a:solidFill>
                          <a:latin typeface="Calibri"/>
                          <a:ea typeface="Calibri"/>
                          <a:cs typeface="Calibri"/>
                          <a:sym typeface="Calibri"/>
                        </a:rPr>
                        <a:t>Transkrip masuk ke prompt penilaian tanpa pembatas</a:t>
                      </a:r>
                      <a:endParaRPr sz="1200" u="none" strike="noStrike" cap="none">
                        <a:latin typeface="Calibri"/>
                        <a:ea typeface="Calibri"/>
                        <a:cs typeface="Calibri"/>
                        <a:sym typeface="Calibri"/>
                      </a:endParaRPr>
                    </a:p>
                  </a:txBody>
                  <a:tcPr marL="109725" marR="109725" marT="54875" marB="54875" anchor="ctr">
                    <a:lnL w="9525" cap="flat" cmpd="sng">
                      <a:solidFill>
                        <a:srgbClr val="DCE4F0"/>
                      </a:solidFill>
                      <a:prstDash val="solid"/>
                      <a:round/>
                      <a:headEnd type="none" w="sm" len="sm"/>
                      <a:tailEnd type="none" w="sm" len="sm"/>
                    </a:lnL>
                    <a:lnR w="9525" cap="flat" cmpd="sng">
                      <a:solidFill>
                        <a:srgbClr val="DCE4F0"/>
                      </a:solidFill>
                      <a:prstDash val="solid"/>
                      <a:round/>
                      <a:headEnd type="none" w="sm" len="sm"/>
                      <a:tailEnd type="none" w="sm" len="sm"/>
                    </a:lnR>
                    <a:lnT w="9525" cap="flat" cmpd="sng">
                      <a:solidFill>
                        <a:srgbClr val="DCE4F0"/>
                      </a:solidFill>
                      <a:prstDash val="solid"/>
                      <a:round/>
                      <a:headEnd type="none" w="sm" len="sm"/>
                      <a:tailEnd type="none" w="sm" len="sm"/>
                    </a:lnT>
                    <a:lnB w="9525" cap="flat" cmpd="sng">
                      <a:solidFill>
                        <a:srgbClr val="DCE4F0"/>
                      </a:solidFill>
                      <a:prstDash val="solid"/>
                      <a:round/>
                      <a:headEnd type="none" w="sm" len="sm"/>
                      <a:tailEnd type="none" w="sm" len="sm"/>
                    </a:lnB>
                  </a:tcPr>
                </a:tc>
                <a:tc>
                  <a:txBody>
                    <a:bodyPr/>
                    <a:lstStyle/>
                    <a:p>
                      <a:pPr marL="0" marR="0" lvl="0" indent="0" algn="l" rtl="0">
                        <a:spcBef>
                          <a:spcPts val="0"/>
                        </a:spcBef>
                        <a:spcAft>
                          <a:spcPts val="0"/>
                        </a:spcAft>
                        <a:buClr>
                          <a:srgbClr val="55617A"/>
                        </a:buClr>
                        <a:buSzPts val="1000"/>
                        <a:buFont typeface="Courier New" panose="02070609020205020404"/>
                        <a:buNone/>
                      </a:pPr>
                      <a:r>
                        <a:rPr lang="en-US" sz="1000" u="none" strike="noStrike" cap="none">
                          <a:solidFill>
                            <a:srgbClr val="55617A"/>
                          </a:solidFill>
                          <a:latin typeface="Courier New" panose="02070609020205020404"/>
                          <a:ea typeface="Courier New" panose="02070609020205020404"/>
                          <a:cs typeface="Courier New" panose="02070609020205020404"/>
                          <a:sym typeface="Courier New" panose="02070609020205020404"/>
                        </a:rPr>
                        <a:t>portfolios/generator.rb:41-74</a:t>
                      </a:r>
                      <a:endParaRPr sz="1000" u="none" strike="noStrike" cap="none">
                        <a:latin typeface="Courier New" panose="02070609020205020404"/>
                        <a:ea typeface="Courier New" panose="02070609020205020404"/>
                        <a:cs typeface="Courier New" panose="02070609020205020404"/>
                        <a:sym typeface="Courier New" panose="02070609020205020404"/>
                      </a:endParaRPr>
                    </a:p>
                  </a:txBody>
                  <a:tcPr marL="109725" marR="109725" marT="54875" marB="54875" anchor="ctr">
                    <a:lnL w="9525" cap="flat" cmpd="sng">
                      <a:solidFill>
                        <a:srgbClr val="DCE4F0"/>
                      </a:solidFill>
                      <a:prstDash val="solid"/>
                      <a:round/>
                      <a:headEnd type="none" w="sm" len="sm"/>
                      <a:tailEnd type="none" w="sm" len="sm"/>
                    </a:lnL>
                    <a:lnR w="9525" cap="flat" cmpd="sng">
                      <a:solidFill>
                        <a:srgbClr val="DCE4F0"/>
                      </a:solidFill>
                      <a:prstDash val="solid"/>
                      <a:round/>
                      <a:headEnd type="none" w="sm" len="sm"/>
                      <a:tailEnd type="none" w="sm" len="sm"/>
                    </a:lnR>
                    <a:lnT w="9525" cap="flat" cmpd="sng">
                      <a:solidFill>
                        <a:srgbClr val="DCE4F0"/>
                      </a:solidFill>
                      <a:prstDash val="solid"/>
                      <a:round/>
                      <a:headEnd type="none" w="sm" len="sm"/>
                      <a:tailEnd type="none" w="sm" len="sm"/>
                    </a:lnT>
                    <a:lnB w="9525" cap="flat" cmpd="sng">
                      <a:solidFill>
                        <a:srgbClr val="DCE4F0"/>
                      </a:solidFill>
                      <a:prstDash val="solid"/>
                      <a:round/>
                      <a:headEnd type="none" w="sm" len="sm"/>
                      <a:tailEnd type="none" w="sm" len="sm"/>
                    </a:lnB>
                  </a:tcPr>
                </a:tc>
                <a:tc>
                  <a:txBody>
                    <a:bodyPr/>
                    <a:lstStyle/>
                    <a:p>
                      <a:pPr marL="0" marR="0" lvl="0" indent="0" algn="l" rtl="0">
                        <a:spcBef>
                          <a:spcPts val="0"/>
                        </a:spcBef>
                        <a:spcAft>
                          <a:spcPts val="0"/>
                        </a:spcAft>
                        <a:buClr>
                          <a:srgbClr val="0F1B33"/>
                        </a:buClr>
                        <a:buSzPts val="1200"/>
                        <a:buFont typeface="Calibri"/>
                        <a:buNone/>
                      </a:pPr>
                      <a:r>
                        <a:rPr lang="en-US" sz="1200" u="none" strike="noStrike" cap="none">
                          <a:solidFill>
                            <a:srgbClr val="0F1B33"/>
                          </a:solidFill>
                          <a:latin typeface="Calibri"/>
                          <a:ea typeface="Calibri"/>
                          <a:cs typeface="Calibri"/>
                          <a:sym typeface="Calibri"/>
                        </a:rPr>
                        <a:t>Kandidat bisa memengaruhi nilainya sendiri</a:t>
                      </a:r>
                      <a:endParaRPr sz="1200" u="none" strike="noStrike" cap="none">
                        <a:latin typeface="Calibri"/>
                        <a:ea typeface="Calibri"/>
                        <a:cs typeface="Calibri"/>
                        <a:sym typeface="Calibri"/>
                      </a:endParaRPr>
                    </a:p>
                  </a:txBody>
                  <a:tcPr marL="109725" marR="109725" marT="54875" marB="54875" anchor="ctr">
                    <a:lnL w="9525" cap="flat" cmpd="sng">
                      <a:solidFill>
                        <a:srgbClr val="DCE4F0"/>
                      </a:solidFill>
                      <a:prstDash val="solid"/>
                      <a:round/>
                      <a:headEnd type="none" w="sm" len="sm"/>
                      <a:tailEnd type="none" w="sm" len="sm"/>
                    </a:lnL>
                    <a:lnR w="9525" cap="flat" cmpd="sng">
                      <a:solidFill>
                        <a:srgbClr val="DCE4F0"/>
                      </a:solidFill>
                      <a:prstDash val="solid"/>
                      <a:round/>
                      <a:headEnd type="none" w="sm" len="sm"/>
                      <a:tailEnd type="none" w="sm" len="sm"/>
                    </a:lnR>
                    <a:lnT w="9525" cap="flat" cmpd="sng">
                      <a:solidFill>
                        <a:srgbClr val="DCE4F0"/>
                      </a:solidFill>
                      <a:prstDash val="solid"/>
                      <a:round/>
                      <a:headEnd type="none" w="sm" len="sm"/>
                      <a:tailEnd type="none" w="sm" len="sm"/>
                    </a:lnT>
                    <a:lnB w="9525" cap="flat" cmpd="sng">
                      <a:solidFill>
                        <a:srgbClr val="DCE4F0"/>
                      </a:solidFill>
                      <a:prstDash val="solid"/>
                      <a:round/>
                      <a:headEnd type="none" w="sm" len="sm"/>
                      <a:tailEnd type="none" w="sm" len="sm"/>
                    </a:lnB>
                  </a:tcPr>
                </a:tc>
              </a:tr>
              <a:tr h="530350">
                <a:tc>
                  <a:txBody>
                    <a:bodyPr/>
                    <a:lstStyle/>
                    <a:p>
                      <a:pPr marL="0" marR="0" lvl="0" indent="0" algn="l" rtl="0">
                        <a:spcBef>
                          <a:spcPts val="0"/>
                        </a:spcBef>
                        <a:spcAft>
                          <a:spcPts val="0"/>
                        </a:spcAft>
                        <a:buClr>
                          <a:srgbClr val="0F1B33"/>
                        </a:buClr>
                        <a:buSzPts val="1200"/>
                        <a:buFont typeface="Calibri"/>
                        <a:buNone/>
                      </a:pPr>
                      <a:r>
                        <a:rPr lang="en-US" sz="1200" u="none" strike="noStrike" cap="none">
                          <a:solidFill>
                            <a:srgbClr val="0F1B33"/>
                          </a:solidFill>
                          <a:latin typeface="Calibri"/>
                          <a:ea typeface="Calibri"/>
                          <a:cs typeface="Calibri"/>
                          <a:sym typeface="Calibri"/>
                        </a:rPr>
                        <a:t>Putus 7 detik dianggap wawancara selesai</a:t>
                      </a:r>
                      <a:endParaRPr sz="1200" u="none" strike="noStrike" cap="none">
                        <a:latin typeface="Calibri"/>
                        <a:ea typeface="Calibri"/>
                        <a:cs typeface="Calibri"/>
                        <a:sym typeface="Calibri"/>
                      </a:endParaRPr>
                    </a:p>
                  </a:txBody>
                  <a:tcPr marL="109725" marR="109725" marT="54875" marB="54875" anchor="ctr">
                    <a:lnL w="9525" cap="flat" cmpd="sng">
                      <a:solidFill>
                        <a:srgbClr val="DCE4F0"/>
                      </a:solidFill>
                      <a:prstDash val="solid"/>
                      <a:round/>
                      <a:headEnd type="none" w="sm" len="sm"/>
                      <a:tailEnd type="none" w="sm" len="sm"/>
                    </a:lnL>
                    <a:lnR w="9525" cap="flat" cmpd="sng">
                      <a:solidFill>
                        <a:srgbClr val="DCE4F0"/>
                      </a:solidFill>
                      <a:prstDash val="solid"/>
                      <a:round/>
                      <a:headEnd type="none" w="sm" len="sm"/>
                      <a:tailEnd type="none" w="sm" len="sm"/>
                    </a:lnR>
                    <a:lnT w="9525" cap="flat" cmpd="sng">
                      <a:solidFill>
                        <a:srgbClr val="DCE4F0"/>
                      </a:solidFill>
                      <a:prstDash val="solid"/>
                      <a:round/>
                      <a:headEnd type="none" w="sm" len="sm"/>
                      <a:tailEnd type="none" w="sm" len="sm"/>
                    </a:lnT>
                    <a:lnB w="9525" cap="flat" cmpd="sng">
                      <a:solidFill>
                        <a:srgbClr val="DCE4F0"/>
                      </a:solidFill>
                      <a:prstDash val="solid"/>
                      <a:round/>
                      <a:headEnd type="none" w="sm" len="sm"/>
                      <a:tailEnd type="none" w="sm" len="sm"/>
                    </a:lnB>
                  </a:tcPr>
                </a:tc>
                <a:tc>
                  <a:txBody>
                    <a:bodyPr/>
                    <a:lstStyle/>
                    <a:p>
                      <a:pPr marL="0" marR="0" lvl="0" indent="0" algn="l" rtl="0">
                        <a:spcBef>
                          <a:spcPts val="0"/>
                        </a:spcBef>
                        <a:spcAft>
                          <a:spcPts val="0"/>
                        </a:spcAft>
                        <a:buClr>
                          <a:srgbClr val="55617A"/>
                        </a:buClr>
                        <a:buSzPts val="1000"/>
                        <a:buFont typeface="Courier New" panose="02070609020205020404"/>
                        <a:buNone/>
                      </a:pPr>
                      <a:r>
                        <a:rPr lang="en-US" sz="1000" u="none" strike="noStrike" cap="none">
                          <a:solidFill>
                            <a:srgbClr val="55617A"/>
                          </a:solidFill>
                          <a:latin typeface="Courier New" panose="02070609020205020404"/>
                          <a:ea typeface="Courier New" panose="02070609020205020404"/>
                          <a:cs typeface="Courier New" panose="02070609020205020404"/>
                          <a:sym typeface="Courier New" panose="02070609020205020404"/>
                        </a:rPr>
                        <a:t>report §3.1, Figure 2</a:t>
                      </a:r>
                      <a:endParaRPr sz="1000" u="none" strike="noStrike" cap="none">
                        <a:latin typeface="Courier New" panose="02070609020205020404"/>
                        <a:ea typeface="Courier New" panose="02070609020205020404"/>
                        <a:cs typeface="Courier New" panose="02070609020205020404"/>
                        <a:sym typeface="Courier New" panose="02070609020205020404"/>
                      </a:endParaRPr>
                    </a:p>
                  </a:txBody>
                  <a:tcPr marL="109725" marR="109725" marT="54875" marB="54875" anchor="ctr">
                    <a:lnL w="9525" cap="flat" cmpd="sng">
                      <a:solidFill>
                        <a:srgbClr val="DCE4F0"/>
                      </a:solidFill>
                      <a:prstDash val="solid"/>
                      <a:round/>
                      <a:headEnd type="none" w="sm" len="sm"/>
                      <a:tailEnd type="none" w="sm" len="sm"/>
                    </a:lnL>
                    <a:lnR w="9525" cap="flat" cmpd="sng">
                      <a:solidFill>
                        <a:srgbClr val="DCE4F0"/>
                      </a:solidFill>
                      <a:prstDash val="solid"/>
                      <a:round/>
                      <a:headEnd type="none" w="sm" len="sm"/>
                      <a:tailEnd type="none" w="sm" len="sm"/>
                    </a:lnR>
                    <a:lnT w="9525" cap="flat" cmpd="sng">
                      <a:solidFill>
                        <a:srgbClr val="DCE4F0"/>
                      </a:solidFill>
                      <a:prstDash val="solid"/>
                      <a:round/>
                      <a:headEnd type="none" w="sm" len="sm"/>
                      <a:tailEnd type="none" w="sm" len="sm"/>
                    </a:lnT>
                    <a:lnB w="9525" cap="flat" cmpd="sng">
                      <a:solidFill>
                        <a:srgbClr val="DCE4F0"/>
                      </a:solidFill>
                      <a:prstDash val="solid"/>
                      <a:round/>
                      <a:headEnd type="none" w="sm" len="sm"/>
                      <a:tailEnd type="none" w="sm" len="sm"/>
                    </a:lnB>
                  </a:tcPr>
                </a:tc>
                <a:tc>
                  <a:txBody>
                    <a:bodyPr/>
                    <a:lstStyle/>
                    <a:p>
                      <a:pPr marL="0" marR="0" lvl="0" indent="0" algn="l" rtl="0">
                        <a:spcBef>
                          <a:spcPts val="0"/>
                        </a:spcBef>
                        <a:spcAft>
                          <a:spcPts val="0"/>
                        </a:spcAft>
                        <a:buClr>
                          <a:srgbClr val="0F1B33"/>
                        </a:buClr>
                        <a:buSzPts val="1200"/>
                        <a:buFont typeface="Calibri"/>
                        <a:buNone/>
                      </a:pPr>
                      <a:r>
                        <a:rPr lang="en-US" sz="1200" u="none" strike="noStrike" cap="none">
                          <a:solidFill>
                            <a:srgbClr val="0F1B33"/>
                          </a:solidFill>
                          <a:latin typeface="Calibri"/>
                          <a:ea typeface="Calibri"/>
                          <a:cs typeface="Calibri"/>
                          <a:sym typeface="Calibri"/>
                        </a:rPr>
                        <a:t>Kandidat melihat “Interview Complete” padahal wawancaranya terpotong</a:t>
                      </a:r>
                      <a:endParaRPr sz="1200" u="none" strike="noStrike" cap="none">
                        <a:latin typeface="Calibri"/>
                        <a:ea typeface="Calibri"/>
                        <a:cs typeface="Calibri"/>
                        <a:sym typeface="Calibri"/>
                      </a:endParaRPr>
                    </a:p>
                  </a:txBody>
                  <a:tcPr marL="109725" marR="109725" marT="54875" marB="54875" anchor="ctr">
                    <a:lnL w="9525" cap="flat" cmpd="sng">
                      <a:solidFill>
                        <a:srgbClr val="DCE4F0"/>
                      </a:solidFill>
                      <a:prstDash val="solid"/>
                      <a:round/>
                      <a:headEnd type="none" w="sm" len="sm"/>
                      <a:tailEnd type="none" w="sm" len="sm"/>
                    </a:lnL>
                    <a:lnR w="9525" cap="flat" cmpd="sng">
                      <a:solidFill>
                        <a:srgbClr val="DCE4F0"/>
                      </a:solidFill>
                      <a:prstDash val="solid"/>
                      <a:round/>
                      <a:headEnd type="none" w="sm" len="sm"/>
                      <a:tailEnd type="none" w="sm" len="sm"/>
                    </a:lnR>
                    <a:lnT w="9525" cap="flat" cmpd="sng">
                      <a:solidFill>
                        <a:srgbClr val="DCE4F0"/>
                      </a:solidFill>
                      <a:prstDash val="solid"/>
                      <a:round/>
                      <a:headEnd type="none" w="sm" len="sm"/>
                      <a:tailEnd type="none" w="sm" len="sm"/>
                    </a:lnT>
                    <a:lnB w="9525" cap="flat" cmpd="sng">
                      <a:solidFill>
                        <a:srgbClr val="DCE4F0"/>
                      </a:solidFill>
                      <a:prstDash val="solid"/>
                      <a:round/>
                      <a:headEnd type="none" w="sm" len="sm"/>
                      <a:tailEnd type="none" w="sm" len="sm"/>
                    </a:lnB>
                  </a:tcPr>
                </a:tc>
              </a:tr>
            </a:tbl>
          </a:graphicData>
        </a:graphic>
      </p:graphicFrame>
      <p:sp>
        <p:nvSpPr>
          <p:cNvPr id="719" name="Google Shape;719;p32"/>
          <p:cNvSpPr/>
          <p:nvPr/>
        </p:nvSpPr>
        <p:spPr>
          <a:xfrm>
            <a:off x="594360" y="5440680"/>
            <a:ext cx="11002975" cy="566928"/>
          </a:xfrm>
          <a:prstGeom prst="roundRect">
            <a:avLst>
              <a:gd name="adj" fmla="val 11290"/>
            </a:avLst>
          </a:prstGeom>
          <a:solidFill>
            <a:srgbClr val="FFF4E3"/>
          </a:solidFill>
          <a:ln w="9525" cap="flat" cmpd="sng">
            <a:solidFill>
              <a:srgbClr val="FFF4E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0" name="Google Shape;720;p32"/>
          <p:cNvSpPr txBox="1"/>
          <p:nvPr/>
        </p:nvSpPr>
        <p:spPr>
          <a:xfrm>
            <a:off x="868680" y="5440680"/>
            <a:ext cx="10454335"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1B33"/>
              </a:buClr>
              <a:buSzPts val="1250"/>
              <a:buFont typeface="Calibri"/>
              <a:buNone/>
            </a:pPr>
            <a:r>
              <a:rPr lang="en-US" sz="1250" b="0" i="0" u="none" strike="noStrike" cap="none">
                <a:solidFill>
                  <a:srgbClr val="0F1B33"/>
                </a:solidFill>
                <a:latin typeface="Calibri"/>
                <a:ea typeface="Calibri"/>
                <a:cs typeface="Calibri"/>
                <a:sym typeface="Calibri"/>
              </a:rPr>
              <a:t>Belum saya perbaiki karena butuh migrasi data dan keputusan soal struktur user dan perusahaan. Ini perlu saya diskusikan dulu dengan tim.</a:t>
            </a:r>
            <a:endParaRPr sz="1250" b="0" i="0" u="none" strike="noStrike" cap="non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725" name="Shape 725"/>
        <p:cNvGrpSpPr/>
        <p:nvPr/>
      </p:nvGrpSpPr>
      <p:grpSpPr>
        <a:xfrm>
          <a:off x="0" y="0"/>
          <a:ext cx="0" cy="0"/>
          <a:chOff x="0" y="0"/>
          <a:chExt cx="0" cy="0"/>
        </a:xfrm>
      </p:grpSpPr>
      <p:sp>
        <p:nvSpPr>
          <p:cNvPr id="726" name="Google Shape;726;p33"/>
          <p:cNvSpPr txBox="1"/>
          <p:nvPr/>
        </p:nvSpPr>
        <p:spPr>
          <a:xfrm>
            <a:off x="11277295" y="6419088"/>
            <a:ext cx="457200"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A94A8"/>
              </a:buClr>
              <a:buSzPts val="1000"/>
              <a:buFont typeface="Calibri"/>
              <a:buNone/>
            </a:pPr>
            <a:r>
              <a:rPr lang="en-US" sz="1000" b="0" i="0" u="none" strike="noStrike" cap="none">
                <a:solidFill>
                  <a:srgbClr val="8A94A8"/>
                </a:solidFill>
                <a:latin typeface="Calibri"/>
                <a:ea typeface="Calibri"/>
                <a:cs typeface="Calibri"/>
                <a:sym typeface="Calibri"/>
              </a:rPr>
              <a:t>40</a:t>
            </a:r>
            <a:endParaRPr sz="1000" b="0" i="0" u="none" strike="noStrike" cap="none">
              <a:solidFill>
                <a:schemeClr val="dk1"/>
              </a:solidFill>
              <a:latin typeface="Calibri"/>
              <a:ea typeface="Calibri"/>
              <a:cs typeface="Calibri"/>
              <a:sym typeface="Calibri"/>
            </a:endParaRPr>
          </a:p>
        </p:txBody>
      </p:sp>
      <p:sp>
        <p:nvSpPr>
          <p:cNvPr id="727" name="Google Shape;727;p33"/>
          <p:cNvSpPr txBox="1"/>
          <p:nvPr/>
        </p:nvSpPr>
        <p:spPr>
          <a:xfrm>
            <a:off x="594360" y="6419088"/>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A94A8"/>
              </a:buClr>
              <a:buSzPts val="1000"/>
              <a:buFont typeface="Calibri"/>
              <a:buNone/>
            </a:pPr>
            <a:r>
              <a:rPr lang="en-US" sz="1000" b="0" i="0" u="none" strike="noStrike" cap="none">
                <a:solidFill>
                  <a:srgbClr val="8A94A8"/>
                </a:solidFill>
                <a:latin typeface="Calibri"/>
                <a:ea typeface="Calibri"/>
                <a:cs typeface="Calibri"/>
                <a:sym typeface="Calibri"/>
              </a:rPr>
              <a:t>Aulia Afriza  ·  Kandidat Fullstack · Frontend depth</a:t>
            </a:r>
            <a:endParaRPr sz="1000" b="0" i="0" u="none" strike="noStrike" cap="none">
              <a:solidFill>
                <a:schemeClr val="dk1"/>
              </a:solidFill>
              <a:latin typeface="Calibri"/>
              <a:ea typeface="Calibri"/>
              <a:cs typeface="Calibri"/>
              <a:sym typeface="Calibri"/>
            </a:endParaRPr>
          </a:p>
        </p:txBody>
      </p:sp>
      <p:sp>
        <p:nvSpPr>
          <p:cNvPr id="728" name="Google Shape;728;p33"/>
          <p:cNvSpPr txBox="1"/>
          <p:nvPr/>
        </p:nvSpPr>
        <p:spPr>
          <a:xfrm>
            <a:off x="594360" y="438912"/>
            <a:ext cx="11002975"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2800"/>
              <a:buFont typeface="Calibri"/>
              <a:buNone/>
            </a:pPr>
            <a:r>
              <a:rPr lang="en-US" sz="2800" b="1" i="0" u="none" strike="noStrike" cap="none">
                <a:solidFill>
                  <a:srgbClr val="0F1B33"/>
                </a:solidFill>
                <a:latin typeface="Calibri"/>
                <a:ea typeface="Calibri"/>
                <a:cs typeface="Calibri"/>
                <a:sym typeface="Calibri"/>
              </a:rPr>
              <a:t>Yang ingin saya tunjukkan dari cara saya bekerja</a:t>
            </a:r>
            <a:endParaRPr sz="2800" b="0" i="0" u="none" strike="noStrike" cap="none">
              <a:solidFill>
                <a:schemeClr val="dk1"/>
              </a:solidFill>
              <a:latin typeface="Calibri"/>
              <a:ea typeface="Calibri"/>
              <a:cs typeface="Calibri"/>
              <a:sym typeface="Calibri"/>
            </a:endParaRPr>
          </a:p>
        </p:txBody>
      </p:sp>
      <p:sp>
        <p:nvSpPr>
          <p:cNvPr id="729" name="Google Shape;729;p33"/>
          <p:cNvSpPr/>
          <p:nvPr/>
        </p:nvSpPr>
        <p:spPr>
          <a:xfrm>
            <a:off x="594360" y="1280160"/>
            <a:ext cx="5364328" cy="2011680"/>
          </a:xfrm>
          <a:prstGeom prst="roundRect">
            <a:avLst>
              <a:gd name="adj" fmla="val 3182"/>
            </a:avLst>
          </a:prstGeom>
          <a:solidFill>
            <a:srgbClr val="E7F1FF"/>
          </a:solidFill>
          <a:ln w="9525" cap="flat" cmpd="sng">
            <a:solidFill>
              <a:srgbClr val="E7F1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0" name="Google Shape;730;p33"/>
          <p:cNvSpPr/>
          <p:nvPr/>
        </p:nvSpPr>
        <p:spPr>
          <a:xfrm>
            <a:off x="868680" y="1554480"/>
            <a:ext cx="402336" cy="402336"/>
          </a:xfrm>
          <a:prstGeom prst="ellipse">
            <a:avLst/>
          </a:prstGeom>
          <a:solidFill>
            <a:srgbClr val="1C6FF3"/>
          </a:solidFill>
          <a:ln w="12700" cap="flat" cmpd="sng">
            <a:solidFill>
              <a:srgbClr val="1C6F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1" name="Google Shape;731;p33"/>
          <p:cNvSpPr txBox="1"/>
          <p:nvPr/>
        </p:nvSpPr>
        <p:spPr>
          <a:xfrm>
            <a:off x="868680" y="1554480"/>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1</a:t>
            </a:r>
            <a:endParaRPr sz="1400" b="0" i="0" u="none" strike="noStrike" cap="none">
              <a:solidFill>
                <a:schemeClr val="dk1"/>
              </a:solidFill>
              <a:latin typeface="Calibri"/>
              <a:ea typeface="Calibri"/>
              <a:cs typeface="Calibri"/>
              <a:sym typeface="Calibri"/>
            </a:endParaRPr>
          </a:p>
        </p:txBody>
      </p:sp>
      <p:sp>
        <p:nvSpPr>
          <p:cNvPr id="732" name="Google Shape;732;p33"/>
          <p:cNvSpPr txBox="1"/>
          <p:nvPr/>
        </p:nvSpPr>
        <p:spPr>
          <a:xfrm>
            <a:off x="1463040" y="1581912"/>
            <a:ext cx="4221328"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C2E6B"/>
              </a:buClr>
              <a:buSzPts val="1700"/>
              <a:buFont typeface="Calibri"/>
              <a:buNone/>
            </a:pPr>
            <a:r>
              <a:rPr lang="en-US" sz="1700" b="1" i="0" u="none" strike="noStrike" cap="none">
                <a:solidFill>
                  <a:srgbClr val="0C2E6B"/>
                </a:solidFill>
                <a:latin typeface="Calibri"/>
                <a:ea typeface="Calibri"/>
                <a:cs typeface="Calibri"/>
                <a:sym typeface="Calibri"/>
              </a:rPr>
              <a:t>Mulai dari user, bukan dari kode</a:t>
            </a:r>
            <a:endParaRPr sz="1700" b="0" i="0" u="none" strike="noStrike" cap="none">
              <a:solidFill>
                <a:schemeClr val="dk1"/>
              </a:solidFill>
              <a:latin typeface="Calibri"/>
              <a:ea typeface="Calibri"/>
              <a:cs typeface="Calibri"/>
              <a:sym typeface="Calibri"/>
            </a:endParaRPr>
          </a:p>
        </p:txBody>
      </p:sp>
      <p:sp>
        <p:nvSpPr>
          <p:cNvPr id="733" name="Google Shape;733;p33"/>
          <p:cNvSpPr txBox="1"/>
          <p:nvPr/>
        </p:nvSpPr>
        <p:spPr>
          <a:xfrm>
            <a:off x="1463040" y="2057400"/>
            <a:ext cx="4221328" cy="1097280"/>
          </a:xfrm>
          <a:prstGeom prst="rect">
            <a:avLst/>
          </a:prstGeom>
          <a:noFill/>
          <a:ln>
            <a:noFill/>
          </a:ln>
        </p:spPr>
        <p:txBody>
          <a:bodyPr spcFirstLastPara="1" wrap="square" lIns="0" tIns="0" rIns="0" bIns="0" anchor="t" anchorCtr="0">
            <a:noAutofit/>
          </a:bodyPr>
          <a:lstStyle/>
          <a:p>
            <a:pPr marL="0" marR="0" lvl="0" indent="0" algn="l" rtl="0">
              <a:lnSpc>
                <a:spcPct val="143000"/>
              </a:lnSpc>
              <a:spcBef>
                <a:spcPts val="0"/>
              </a:spcBef>
              <a:spcAft>
                <a:spcPts val="0"/>
              </a:spcAft>
              <a:buClr>
                <a:srgbClr val="0F1B33"/>
              </a:buClr>
              <a:buSzPts val="1400"/>
              <a:buFont typeface="Calibri"/>
              <a:buNone/>
            </a:pPr>
            <a:r>
              <a:rPr lang="en-US" sz="1400" b="0" i="0" u="none" strike="noStrike" cap="none">
                <a:solidFill>
                  <a:srgbClr val="0F1B33"/>
                </a:solidFill>
                <a:latin typeface="Calibri"/>
                <a:ea typeface="Calibri"/>
                <a:cs typeface="Calibri"/>
                <a:sym typeface="Calibri"/>
              </a:rPr>
              <a:t>Saya coba aplikasinya dulu, lalu mengurutkan prioritas dari siapa yang paling dirugikan.</a:t>
            </a:r>
            <a:endParaRPr sz="1400" b="0" i="0" u="none" strike="noStrike" cap="none">
              <a:solidFill>
                <a:schemeClr val="dk1"/>
              </a:solidFill>
              <a:latin typeface="Calibri"/>
              <a:ea typeface="Calibri"/>
              <a:cs typeface="Calibri"/>
              <a:sym typeface="Calibri"/>
            </a:endParaRPr>
          </a:p>
        </p:txBody>
      </p:sp>
      <p:sp>
        <p:nvSpPr>
          <p:cNvPr id="734" name="Google Shape;734;p33"/>
          <p:cNvSpPr/>
          <p:nvPr/>
        </p:nvSpPr>
        <p:spPr>
          <a:xfrm>
            <a:off x="6233008" y="1280160"/>
            <a:ext cx="5364328" cy="2011680"/>
          </a:xfrm>
          <a:prstGeom prst="roundRect">
            <a:avLst>
              <a:gd name="adj" fmla="val 3182"/>
            </a:avLst>
          </a:prstGeom>
          <a:solidFill>
            <a:srgbClr val="E7F1FF"/>
          </a:solidFill>
          <a:ln w="9525" cap="flat" cmpd="sng">
            <a:solidFill>
              <a:srgbClr val="E7F1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5" name="Google Shape;735;p33"/>
          <p:cNvSpPr/>
          <p:nvPr/>
        </p:nvSpPr>
        <p:spPr>
          <a:xfrm>
            <a:off x="6507328" y="1554480"/>
            <a:ext cx="402336" cy="402336"/>
          </a:xfrm>
          <a:prstGeom prst="ellipse">
            <a:avLst/>
          </a:prstGeom>
          <a:solidFill>
            <a:srgbClr val="1C6FF3"/>
          </a:solidFill>
          <a:ln w="12700" cap="flat" cmpd="sng">
            <a:solidFill>
              <a:srgbClr val="1C6F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6" name="Google Shape;736;p33"/>
          <p:cNvSpPr txBox="1"/>
          <p:nvPr/>
        </p:nvSpPr>
        <p:spPr>
          <a:xfrm>
            <a:off x="6507328" y="1554480"/>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2</a:t>
            </a:r>
            <a:endParaRPr sz="1400" b="0" i="0" u="none" strike="noStrike" cap="none">
              <a:solidFill>
                <a:schemeClr val="dk1"/>
              </a:solidFill>
              <a:latin typeface="Calibri"/>
              <a:ea typeface="Calibri"/>
              <a:cs typeface="Calibri"/>
              <a:sym typeface="Calibri"/>
            </a:endParaRPr>
          </a:p>
        </p:txBody>
      </p:sp>
      <p:sp>
        <p:nvSpPr>
          <p:cNvPr id="737" name="Google Shape;737;p33"/>
          <p:cNvSpPr txBox="1"/>
          <p:nvPr/>
        </p:nvSpPr>
        <p:spPr>
          <a:xfrm>
            <a:off x="7101688" y="1581912"/>
            <a:ext cx="4221328"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C2E6B"/>
              </a:buClr>
              <a:buSzPts val="1700"/>
              <a:buFont typeface="Calibri"/>
              <a:buNone/>
            </a:pPr>
            <a:r>
              <a:rPr lang="en-US" sz="1700" b="1" i="0" u="none" strike="noStrike" cap="none">
                <a:solidFill>
                  <a:srgbClr val="0C2E6B"/>
                </a:solidFill>
                <a:latin typeface="Calibri"/>
                <a:ea typeface="Calibri"/>
                <a:cs typeface="Calibri"/>
                <a:sym typeface="Calibri"/>
              </a:rPr>
              <a:t>Serius dengan frontend</a:t>
            </a:r>
            <a:endParaRPr sz="1700" b="0" i="0" u="none" strike="noStrike" cap="none">
              <a:solidFill>
                <a:schemeClr val="dk1"/>
              </a:solidFill>
              <a:latin typeface="Calibri"/>
              <a:ea typeface="Calibri"/>
              <a:cs typeface="Calibri"/>
              <a:sym typeface="Calibri"/>
            </a:endParaRPr>
          </a:p>
        </p:txBody>
      </p:sp>
      <p:sp>
        <p:nvSpPr>
          <p:cNvPr id="738" name="Google Shape;738;p33"/>
          <p:cNvSpPr txBox="1"/>
          <p:nvPr/>
        </p:nvSpPr>
        <p:spPr>
          <a:xfrm>
            <a:off x="7101688" y="2057400"/>
            <a:ext cx="4221328" cy="1097280"/>
          </a:xfrm>
          <a:prstGeom prst="rect">
            <a:avLst/>
          </a:prstGeom>
          <a:noFill/>
          <a:ln>
            <a:noFill/>
          </a:ln>
        </p:spPr>
        <p:txBody>
          <a:bodyPr spcFirstLastPara="1" wrap="square" lIns="0" tIns="0" rIns="0" bIns="0" anchor="t" anchorCtr="0">
            <a:noAutofit/>
          </a:bodyPr>
          <a:lstStyle/>
          <a:p>
            <a:pPr marL="0" marR="0" lvl="0" indent="0" algn="l" rtl="0">
              <a:lnSpc>
                <a:spcPct val="143000"/>
              </a:lnSpc>
              <a:spcBef>
                <a:spcPts val="0"/>
              </a:spcBef>
              <a:spcAft>
                <a:spcPts val="0"/>
              </a:spcAft>
              <a:buClr>
                <a:srgbClr val="0F1B33"/>
              </a:buClr>
              <a:buSzPts val="1400"/>
              <a:buFont typeface="Calibri"/>
              <a:buNone/>
            </a:pPr>
            <a:r>
              <a:rPr lang="en-US" sz="1400" b="0" i="0" u="none" strike="noStrike" cap="none">
                <a:solidFill>
                  <a:srgbClr val="0F1B33"/>
                </a:solidFill>
                <a:latin typeface="Calibri"/>
                <a:ea typeface="Calibri"/>
                <a:cs typeface="Calibri"/>
                <a:sym typeface="Calibri"/>
              </a:rPr>
              <a:t>Buat saya, layar ini tempat orang mengambil keputusan tentang kandidat. Jadi yang tampil harus benar.</a:t>
            </a:r>
            <a:endParaRPr sz="1400" b="0" i="0" u="none" strike="noStrike" cap="none">
              <a:solidFill>
                <a:schemeClr val="dk1"/>
              </a:solidFill>
              <a:latin typeface="Calibri"/>
              <a:ea typeface="Calibri"/>
              <a:cs typeface="Calibri"/>
              <a:sym typeface="Calibri"/>
            </a:endParaRPr>
          </a:p>
        </p:txBody>
      </p:sp>
      <p:sp>
        <p:nvSpPr>
          <p:cNvPr id="739" name="Google Shape;739;p33"/>
          <p:cNvSpPr/>
          <p:nvPr/>
        </p:nvSpPr>
        <p:spPr>
          <a:xfrm>
            <a:off x="594360" y="3566160"/>
            <a:ext cx="5364328" cy="2011680"/>
          </a:xfrm>
          <a:prstGeom prst="roundRect">
            <a:avLst>
              <a:gd name="adj" fmla="val 3182"/>
            </a:avLst>
          </a:prstGeom>
          <a:solidFill>
            <a:srgbClr val="E7F1FF"/>
          </a:solidFill>
          <a:ln w="9525" cap="flat" cmpd="sng">
            <a:solidFill>
              <a:srgbClr val="E7F1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40" name="Google Shape;740;p33"/>
          <p:cNvSpPr/>
          <p:nvPr/>
        </p:nvSpPr>
        <p:spPr>
          <a:xfrm>
            <a:off x="868680" y="3840480"/>
            <a:ext cx="402336" cy="402336"/>
          </a:xfrm>
          <a:prstGeom prst="ellipse">
            <a:avLst/>
          </a:prstGeom>
          <a:solidFill>
            <a:srgbClr val="1C6FF3"/>
          </a:solidFill>
          <a:ln w="12700" cap="flat" cmpd="sng">
            <a:solidFill>
              <a:srgbClr val="1C6F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41" name="Google Shape;741;p33"/>
          <p:cNvSpPr txBox="1"/>
          <p:nvPr/>
        </p:nvSpPr>
        <p:spPr>
          <a:xfrm>
            <a:off x="868680" y="3840480"/>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3</a:t>
            </a:r>
            <a:endParaRPr sz="1400" b="0" i="0" u="none" strike="noStrike" cap="none">
              <a:solidFill>
                <a:schemeClr val="dk1"/>
              </a:solidFill>
              <a:latin typeface="Calibri"/>
              <a:ea typeface="Calibri"/>
              <a:cs typeface="Calibri"/>
              <a:sym typeface="Calibri"/>
            </a:endParaRPr>
          </a:p>
        </p:txBody>
      </p:sp>
      <p:sp>
        <p:nvSpPr>
          <p:cNvPr id="742" name="Google Shape;742;p33"/>
          <p:cNvSpPr txBox="1"/>
          <p:nvPr/>
        </p:nvSpPr>
        <p:spPr>
          <a:xfrm>
            <a:off x="1463040" y="3867912"/>
            <a:ext cx="4221328"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C2E6B"/>
              </a:buClr>
              <a:buSzPts val="1700"/>
              <a:buFont typeface="Calibri"/>
              <a:buNone/>
            </a:pPr>
            <a:r>
              <a:rPr lang="en-US" sz="1700" b="1" i="0" u="none" strike="noStrike" cap="none">
                <a:solidFill>
                  <a:srgbClr val="0C2E6B"/>
                </a:solidFill>
                <a:latin typeface="Calibri"/>
                <a:ea typeface="Calibri"/>
                <a:cs typeface="Calibri"/>
                <a:sym typeface="Calibri"/>
              </a:rPr>
              <a:t>Jujur soal kesalahan</a:t>
            </a:r>
            <a:endParaRPr sz="1700" b="0" i="0" u="none" strike="noStrike" cap="none">
              <a:solidFill>
                <a:schemeClr val="dk1"/>
              </a:solidFill>
              <a:latin typeface="Calibri"/>
              <a:ea typeface="Calibri"/>
              <a:cs typeface="Calibri"/>
              <a:sym typeface="Calibri"/>
            </a:endParaRPr>
          </a:p>
        </p:txBody>
      </p:sp>
      <p:sp>
        <p:nvSpPr>
          <p:cNvPr id="743" name="Google Shape;743;p33"/>
          <p:cNvSpPr txBox="1"/>
          <p:nvPr/>
        </p:nvSpPr>
        <p:spPr>
          <a:xfrm>
            <a:off x="1463040" y="4343400"/>
            <a:ext cx="4221328" cy="1097280"/>
          </a:xfrm>
          <a:prstGeom prst="rect">
            <a:avLst/>
          </a:prstGeom>
          <a:noFill/>
          <a:ln>
            <a:noFill/>
          </a:ln>
        </p:spPr>
        <p:txBody>
          <a:bodyPr spcFirstLastPara="1" wrap="square" lIns="0" tIns="0" rIns="0" bIns="0" anchor="t" anchorCtr="0">
            <a:noAutofit/>
          </a:bodyPr>
          <a:lstStyle/>
          <a:p>
            <a:pPr marL="0" marR="0" lvl="0" indent="0" algn="l" rtl="0">
              <a:lnSpc>
                <a:spcPct val="143000"/>
              </a:lnSpc>
              <a:spcBef>
                <a:spcPts val="0"/>
              </a:spcBef>
              <a:spcAft>
                <a:spcPts val="0"/>
              </a:spcAft>
              <a:buClr>
                <a:srgbClr val="0F1B33"/>
              </a:buClr>
              <a:buSzPts val="1400"/>
              <a:buFont typeface="Calibri"/>
              <a:buNone/>
            </a:pPr>
            <a:r>
              <a:rPr lang="en-US" sz="1400" b="0" i="0" u="none" strike="noStrike" cap="none">
                <a:solidFill>
                  <a:srgbClr val="0F1B33"/>
                </a:solidFill>
                <a:latin typeface="Calibri"/>
                <a:ea typeface="Calibri"/>
                <a:cs typeface="Calibri"/>
                <a:sym typeface="Calibri"/>
              </a:rPr>
              <a:t>Dugaan yang salah saya hapus dari laporan. Bug di kode saya sendiri saya akui dan saya perbaiki.</a:t>
            </a:r>
            <a:endParaRPr sz="1400" b="0" i="0" u="none" strike="noStrike" cap="none">
              <a:solidFill>
                <a:schemeClr val="dk1"/>
              </a:solidFill>
              <a:latin typeface="Calibri"/>
              <a:ea typeface="Calibri"/>
              <a:cs typeface="Calibri"/>
              <a:sym typeface="Calibri"/>
            </a:endParaRPr>
          </a:p>
        </p:txBody>
      </p:sp>
      <p:sp>
        <p:nvSpPr>
          <p:cNvPr id="744" name="Google Shape;744;p33"/>
          <p:cNvSpPr/>
          <p:nvPr/>
        </p:nvSpPr>
        <p:spPr>
          <a:xfrm>
            <a:off x="6233008" y="3566160"/>
            <a:ext cx="5364328" cy="2011680"/>
          </a:xfrm>
          <a:prstGeom prst="roundRect">
            <a:avLst>
              <a:gd name="adj" fmla="val 3182"/>
            </a:avLst>
          </a:prstGeom>
          <a:solidFill>
            <a:srgbClr val="E7F1FF"/>
          </a:solidFill>
          <a:ln w="9525" cap="flat" cmpd="sng">
            <a:solidFill>
              <a:srgbClr val="E7F1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45" name="Google Shape;745;p33"/>
          <p:cNvSpPr/>
          <p:nvPr/>
        </p:nvSpPr>
        <p:spPr>
          <a:xfrm>
            <a:off x="6507328" y="3840480"/>
            <a:ext cx="402336" cy="402336"/>
          </a:xfrm>
          <a:prstGeom prst="ellipse">
            <a:avLst/>
          </a:prstGeom>
          <a:solidFill>
            <a:srgbClr val="1C6FF3"/>
          </a:solidFill>
          <a:ln w="12700" cap="flat" cmpd="sng">
            <a:solidFill>
              <a:srgbClr val="1C6F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46" name="Google Shape;746;p33"/>
          <p:cNvSpPr txBox="1"/>
          <p:nvPr/>
        </p:nvSpPr>
        <p:spPr>
          <a:xfrm>
            <a:off x="6507328" y="3840480"/>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Calibri"/>
              <a:buNone/>
            </a:pPr>
            <a:r>
              <a:rPr lang="en-US" sz="1400" b="1" i="0" u="none" strike="noStrike" cap="none">
                <a:solidFill>
                  <a:srgbClr val="FFFFFF"/>
                </a:solidFill>
                <a:latin typeface="Calibri"/>
                <a:ea typeface="Calibri"/>
                <a:cs typeface="Calibri"/>
                <a:sym typeface="Calibri"/>
              </a:rPr>
              <a:t>4</a:t>
            </a:r>
            <a:endParaRPr sz="1400" b="0" i="0" u="none" strike="noStrike" cap="none">
              <a:solidFill>
                <a:schemeClr val="dk1"/>
              </a:solidFill>
              <a:latin typeface="Calibri"/>
              <a:ea typeface="Calibri"/>
              <a:cs typeface="Calibri"/>
              <a:sym typeface="Calibri"/>
            </a:endParaRPr>
          </a:p>
        </p:txBody>
      </p:sp>
      <p:sp>
        <p:nvSpPr>
          <p:cNvPr id="747" name="Google Shape;747;p33"/>
          <p:cNvSpPr txBox="1"/>
          <p:nvPr/>
        </p:nvSpPr>
        <p:spPr>
          <a:xfrm>
            <a:off x="7101688" y="3867912"/>
            <a:ext cx="4221328"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C2E6B"/>
              </a:buClr>
              <a:buSzPts val="1700"/>
              <a:buFont typeface="Calibri"/>
              <a:buNone/>
            </a:pPr>
            <a:r>
              <a:rPr lang="en-US" sz="1700" b="1" i="0" u="none" strike="noStrike" cap="none">
                <a:solidFill>
                  <a:srgbClr val="0C2E6B"/>
                </a:solidFill>
                <a:latin typeface="Calibri"/>
                <a:ea typeface="Calibri"/>
                <a:cs typeface="Calibri"/>
                <a:sym typeface="Calibri"/>
              </a:rPr>
              <a:t>Tidak berhenti di frontend</a:t>
            </a:r>
            <a:endParaRPr sz="1700" b="0" i="0" u="none" strike="noStrike" cap="none">
              <a:solidFill>
                <a:schemeClr val="dk1"/>
              </a:solidFill>
              <a:latin typeface="Calibri"/>
              <a:ea typeface="Calibri"/>
              <a:cs typeface="Calibri"/>
              <a:sym typeface="Calibri"/>
            </a:endParaRPr>
          </a:p>
        </p:txBody>
      </p:sp>
      <p:sp>
        <p:nvSpPr>
          <p:cNvPr id="748" name="Google Shape;748;p33"/>
          <p:cNvSpPr txBox="1"/>
          <p:nvPr/>
        </p:nvSpPr>
        <p:spPr>
          <a:xfrm>
            <a:off x="7101688" y="4343400"/>
            <a:ext cx="4221328" cy="1097280"/>
          </a:xfrm>
          <a:prstGeom prst="rect">
            <a:avLst/>
          </a:prstGeom>
          <a:noFill/>
          <a:ln>
            <a:noFill/>
          </a:ln>
        </p:spPr>
        <p:txBody>
          <a:bodyPr spcFirstLastPara="1" wrap="square" lIns="0" tIns="0" rIns="0" bIns="0" anchor="t" anchorCtr="0">
            <a:noAutofit/>
          </a:bodyPr>
          <a:lstStyle/>
          <a:p>
            <a:pPr marL="0" marR="0" lvl="0" indent="0" algn="l" rtl="0">
              <a:lnSpc>
                <a:spcPct val="143000"/>
              </a:lnSpc>
              <a:spcBef>
                <a:spcPts val="0"/>
              </a:spcBef>
              <a:spcAft>
                <a:spcPts val="0"/>
              </a:spcAft>
              <a:buClr>
                <a:srgbClr val="0F1B33"/>
              </a:buClr>
              <a:buSzPts val="1400"/>
              <a:buFont typeface="Calibri"/>
              <a:buNone/>
            </a:pPr>
            <a:r>
              <a:rPr lang="en-US" sz="1400" b="0" i="0" u="none" strike="noStrike" cap="none">
                <a:solidFill>
                  <a:srgbClr val="0F1B33"/>
                </a:solidFill>
                <a:latin typeface="Calibri"/>
                <a:ea typeface="Calibri"/>
                <a:cs typeface="Calibri"/>
                <a:sym typeface="Calibri"/>
              </a:rPr>
              <a:t>Fokus saya frontend, tapi celah keamanan di backend tetap saya perbaiki, lengkap dengan test.</a:t>
            </a:r>
            <a:endParaRPr sz="1400" b="0" i="0" u="none" strike="noStrike" cap="non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753" name="Shape 753"/>
        <p:cNvGrpSpPr/>
        <p:nvPr/>
      </p:nvGrpSpPr>
      <p:grpSpPr>
        <a:xfrm>
          <a:off x="0" y="0"/>
          <a:ext cx="0" cy="0"/>
          <a:chOff x="0" y="0"/>
          <a:chExt cx="0" cy="0"/>
        </a:xfrm>
      </p:grpSpPr>
      <p:sp>
        <p:nvSpPr>
          <p:cNvPr id="754" name="Google Shape;754;p34"/>
          <p:cNvSpPr txBox="1"/>
          <p:nvPr/>
        </p:nvSpPr>
        <p:spPr>
          <a:xfrm>
            <a:off x="11277295" y="6419088"/>
            <a:ext cx="457200"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8A94A8"/>
              </a:buClr>
              <a:buSzPts val="1000"/>
              <a:buFont typeface="Calibri"/>
              <a:buNone/>
            </a:pPr>
            <a:r>
              <a:rPr lang="en-US" sz="1000" b="0" i="0" u="none" strike="noStrike" cap="none">
                <a:solidFill>
                  <a:srgbClr val="8A94A8"/>
                </a:solidFill>
                <a:latin typeface="Calibri"/>
                <a:ea typeface="Calibri"/>
                <a:cs typeface="Calibri"/>
                <a:sym typeface="Calibri"/>
              </a:rPr>
              <a:t>41</a:t>
            </a:r>
            <a:endParaRPr sz="1000" b="0" i="0" u="none" strike="noStrike" cap="none">
              <a:solidFill>
                <a:schemeClr val="dk1"/>
              </a:solidFill>
              <a:latin typeface="Calibri"/>
              <a:ea typeface="Calibri"/>
              <a:cs typeface="Calibri"/>
              <a:sym typeface="Calibri"/>
            </a:endParaRPr>
          </a:p>
        </p:txBody>
      </p:sp>
      <p:sp>
        <p:nvSpPr>
          <p:cNvPr id="755" name="Google Shape;755;p34"/>
          <p:cNvSpPr txBox="1"/>
          <p:nvPr/>
        </p:nvSpPr>
        <p:spPr>
          <a:xfrm>
            <a:off x="594360" y="6419088"/>
            <a:ext cx="45720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A94A8"/>
              </a:buClr>
              <a:buSzPts val="1000"/>
              <a:buFont typeface="Calibri"/>
              <a:buNone/>
            </a:pPr>
            <a:r>
              <a:rPr lang="en-US" sz="1000" b="0" i="0" u="none" strike="noStrike" cap="none">
                <a:solidFill>
                  <a:srgbClr val="8A94A8"/>
                </a:solidFill>
                <a:latin typeface="Calibri"/>
                <a:ea typeface="Calibri"/>
                <a:cs typeface="Calibri"/>
                <a:sym typeface="Calibri"/>
              </a:rPr>
              <a:t>Aulia Afriza  ·  Kandidat Fullstack · Frontend depth</a:t>
            </a:r>
            <a:endParaRPr sz="1000" b="0" i="0" u="none" strike="noStrike" cap="none">
              <a:solidFill>
                <a:schemeClr val="dk1"/>
              </a:solidFill>
              <a:latin typeface="Calibri"/>
              <a:ea typeface="Calibri"/>
              <a:cs typeface="Calibri"/>
              <a:sym typeface="Calibri"/>
            </a:endParaRPr>
          </a:p>
        </p:txBody>
      </p:sp>
      <p:sp>
        <p:nvSpPr>
          <p:cNvPr id="756" name="Google Shape;756;p34"/>
          <p:cNvSpPr txBox="1"/>
          <p:nvPr/>
        </p:nvSpPr>
        <p:spPr>
          <a:xfrm>
            <a:off x="594360" y="438912"/>
            <a:ext cx="11002975" cy="5669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2800"/>
              <a:buFont typeface="Calibri"/>
              <a:buNone/>
            </a:pPr>
            <a:r>
              <a:rPr lang="en-US" sz="2800" b="1" i="0" u="none" strike="noStrike" cap="none">
                <a:solidFill>
                  <a:srgbClr val="0F1B33"/>
                </a:solidFill>
                <a:latin typeface="Calibri"/>
                <a:ea typeface="Calibri"/>
                <a:cs typeface="Calibri"/>
                <a:sym typeface="Calibri"/>
              </a:rPr>
              <a:t>Kalau saya bergabung</a:t>
            </a:r>
            <a:endParaRPr sz="2800" b="0" i="0" u="none" strike="noStrike" cap="none">
              <a:solidFill>
                <a:schemeClr val="dk1"/>
              </a:solidFill>
              <a:latin typeface="Calibri"/>
              <a:ea typeface="Calibri"/>
              <a:cs typeface="Calibri"/>
              <a:sym typeface="Calibri"/>
            </a:endParaRPr>
          </a:p>
        </p:txBody>
      </p:sp>
      <p:sp>
        <p:nvSpPr>
          <p:cNvPr id="757" name="Google Shape;757;p34"/>
          <p:cNvSpPr txBox="1"/>
          <p:nvPr/>
        </p:nvSpPr>
        <p:spPr>
          <a:xfrm>
            <a:off x="594360" y="987552"/>
            <a:ext cx="11002975" cy="38404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55617A"/>
              </a:buClr>
              <a:buSzPts val="1500"/>
              <a:buFont typeface="Calibri"/>
              <a:buNone/>
            </a:pPr>
            <a:r>
              <a:rPr lang="en-US" sz="1500" b="0" i="0" u="none" strike="noStrike" cap="none">
                <a:solidFill>
                  <a:srgbClr val="55617A"/>
                </a:solidFill>
                <a:latin typeface="Calibri"/>
                <a:ea typeface="Calibri"/>
                <a:cs typeface="Calibri"/>
                <a:sym typeface="Calibri"/>
              </a:rPr>
              <a:t>Rencana saya di bulan-bulan pertama, tentu menyesuaikan prioritas tim.</a:t>
            </a:r>
            <a:endParaRPr sz="1500" b="0" i="0" u="none" strike="noStrike" cap="none">
              <a:solidFill>
                <a:schemeClr val="dk1"/>
              </a:solidFill>
              <a:latin typeface="Calibri"/>
              <a:ea typeface="Calibri"/>
              <a:cs typeface="Calibri"/>
              <a:sym typeface="Calibri"/>
            </a:endParaRPr>
          </a:p>
        </p:txBody>
      </p:sp>
      <p:sp>
        <p:nvSpPr>
          <p:cNvPr id="758" name="Google Shape;758;p34"/>
          <p:cNvSpPr/>
          <p:nvPr/>
        </p:nvSpPr>
        <p:spPr>
          <a:xfrm>
            <a:off x="594360" y="1536192"/>
            <a:ext cx="3484778" cy="3566160"/>
          </a:xfrm>
          <a:prstGeom prst="roundRect">
            <a:avLst>
              <a:gd name="adj" fmla="val 1837"/>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9" name="Google Shape;759;p34"/>
          <p:cNvSpPr/>
          <p:nvPr/>
        </p:nvSpPr>
        <p:spPr>
          <a:xfrm>
            <a:off x="850392" y="1719072"/>
            <a:ext cx="1097280" cy="274320"/>
          </a:xfrm>
          <a:prstGeom prst="roundRect">
            <a:avLst>
              <a:gd name="adj" fmla="val 20000"/>
            </a:avLst>
          </a:prstGeom>
          <a:solidFill>
            <a:srgbClr val="D14343"/>
          </a:solidFill>
          <a:ln w="12700" cap="flat" cmpd="sng">
            <a:solidFill>
              <a:srgbClr val="D143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0" name="Google Shape;760;p34"/>
          <p:cNvSpPr txBox="1"/>
          <p:nvPr/>
        </p:nvSpPr>
        <p:spPr>
          <a:xfrm>
            <a:off x="850392" y="1719072"/>
            <a:ext cx="109728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30 hari</a:t>
            </a:r>
            <a:endParaRPr sz="1100" b="0" i="0" u="none" strike="noStrike" cap="none">
              <a:solidFill>
                <a:schemeClr val="dk1"/>
              </a:solidFill>
              <a:latin typeface="Calibri"/>
              <a:ea typeface="Calibri"/>
              <a:cs typeface="Calibri"/>
              <a:sym typeface="Calibri"/>
            </a:endParaRPr>
          </a:p>
        </p:txBody>
      </p:sp>
      <p:sp>
        <p:nvSpPr>
          <p:cNvPr id="761" name="Google Shape;761;p34"/>
          <p:cNvSpPr txBox="1"/>
          <p:nvPr/>
        </p:nvSpPr>
        <p:spPr>
          <a:xfrm>
            <a:off x="850392" y="2130552"/>
            <a:ext cx="2972714"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1650"/>
              <a:buFont typeface="Calibri"/>
              <a:buNone/>
            </a:pPr>
            <a:r>
              <a:rPr lang="en-US" sz="1650" b="1" i="0" u="none" strike="noStrike" cap="none">
                <a:solidFill>
                  <a:srgbClr val="0F1B33"/>
                </a:solidFill>
                <a:latin typeface="Calibri"/>
                <a:ea typeface="Calibri"/>
                <a:cs typeface="Calibri"/>
                <a:sym typeface="Calibri"/>
              </a:rPr>
              <a:t>Mengenal tim dan menutup celah</a:t>
            </a:r>
            <a:endParaRPr sz="1650" b="0" i="0" u="none" strike="noStrike" cap="none">
              <a:solidFill>
                <a:schemeClr val="dk1"/>
              </a:solidFill>
              <a:latin typeface="Calibri"/>
              <a:ea typeface="Calibri"/>
              <a:cs typeface="Calibri"/>
              <a:sym typeface="Calibri"/>
            </a:endParaRPr>
          </a:p>
        </p:txBody>
      </p:sp>
      <p:sp>
        <p:nvSpPr>
          <p:cNvPr id="762" name="Google Shape;762;p34"/>
          <p:cNvSpPr txBox="1"/>
          <p:nvPr/>
        </p:nvSpPr>
        <p:spPr>
          <a:xfrm>
            <a:off x="850392" y="2606040"/>
            <a:ext cx="2972714" cy="2286000"/>
          </a:xfrm>
          <a:prstGeom prst="rect">
            <a:avLst/>
          </a:prstGeom>
          <a:noFill/>
          <a:ln>
            <a:noFill/>
          </a:ln>
        </p:spPr>
        <p:txBody>
          <a:bodyPr spcFirstLastPara="1" wrap="square" lIns="0" tIns="0" rIns="0" bIns="0" anchor="t" anchorCtr="0">
            <a:noAutofit/>
          </a:bodyPr>
          <a:lstStyle/>
          <a:p>
            <a:pPr marL="342900" marR="0" lvl="0" indent="-342900" algn="l" rtl="0">
              <a:lnSpc>
                <a:spcPct val="141000"/>
              </a:lnSpc>
              <a:spcBef>
                <a:spcPts val="0"/>
              </a:spcBef>
              <a:spcAft>
                <a:spcPts val="0"/>
              </a:spcAft>
              <a:buClr>
                <a:srgbClr val="0F1B33"/>
              </a:buClr>
              <a:buSzPts val="1350"/>
              <a:buFont typeface="Calibri"/>
              <a:buChar char="•"/>
            </a:pPr>
            <a:r>
              <a:rPr lang="en-US" sz="1350" b="0" i="0" u="none" strike="noStrike" cap="none">
                <a:solidFill>
                  <a:srgbClr val="0F1B33"/>
                </a:solidFill>
                <a:latin typeface="Calibri"/>
                <a:ea typeface="Calibri"/>
                <a:cs typeface="Calibri"/>
                <a:sym typeface="Calibri"/>
              </a:rPr>
              <a:t>Belajar produk, user, dan cara tim bekerja</a:t>
            </a:r>
            <a:endParaRPr sz="1350" b="0" i="0" u="none" strike="noStrike" cap="none">
              <a:solidFill>
                <a:schemeClr val="dk1"/>
              </a:solidFill>
              <a:latin typeface="Calibri"/>
              <a:ea typeface="Calibri"/>
              <a:cs typeface="Calibri"/>
              <a:sym typeface="Calibri"/>
            </a:endParaRPr>
          </a:p>
          <a:p>
            <a:pPr marL="342900" marR="0" lvl="0" indent="-342900" algn="l" rtl="0">
              <a:lnSpc>
                <a:spcPct val="141000"/>
              </a:lnSpc>
              <a:spcBef>
                <a:spcPts val="1000"/>
              </a:spcBef>
              <a:spcAft>
                <a:spcPts val="0"/>
              </a:spcAft>
              <a:buClr>
                <a:srgbClr val="0F1B33"/>
              </a:buClr>
              <a:buSzPts val="1350"/>
              <a:buFont typeface="Calibri"/>
              <a:buChar char="•"/>
            </a:pPr>
            <a:r>
              <a:rPr lang="en-US" sz="1350" b="0" i="0" u="none" strike="noStrike" cap="none">
                <a:solidFill>
                  <a:srgbClr val="0F1B33"/>
                </a:solidFill>
                <a:latin typeface="Calibri"/>
                <a:ea typeface="Calibri"/>
                <a:cs typeface="Calibri"/>
                <a:sym typeface="Calibri"/>
              </a:rPr>
              <a:t>Membantu menutup celah akses bersama tim</a:t>
            </a:r>
            <a:endParaRPr sz="1350" b="0" i="0" u="none" strike="noStrike" cap="none">
              <a:solidFill>
                <a:schemeClr val="dk1"/>
              </a:solidFill>
              <a:latin typeface="Calibri"/>
              <a:ea typeface="Calibri"/>
              <a:cs typeface="Calibri"/>
              <a:sym typeface="Calibri"/>
            </a:endParaRPr>
          </a:p>
          <a:p>
            <a:pPr marL="342900" marR="0" lvl="0" indent="-342900" algn="l" rtl="0">
              <a:lnSpc>
                <a:spcPct val="141000"/>
              </a:lnSpc>
              <a:spcBef>
                <a:spcPts val="1000"/>
              </a:spcBef>
              <a:spcAft>
                <a:spcPts val="0"/>
              </a:spcAft>
              <a:buClr>
                <a:srgbClr val="0F1B33"/>
              </a:buClr>
              <a:buSzPts val="1350"/>
              <a:buFont typeface="Calibri"/>
              <a:buChar char="•"/>
            </a:pPr>
            <a:r>
              <a:rPr lang="en-US" sz="1350" b="0" i="0" u="none" strike="noStrike" cap="none">
                <a:solidFill>
                  <a:srgbClr val="0F1B33"/>
                </a:solidFill>
                <a:latin typeface="Calibri"/>
                <a:ea typeface="Calibri"/>
                <a:cs typeface="Calibri"/>
                <a:sym typeface="Calibri"/>
              </a:rPr>
              <a:t>Menjalankan test yang sudah saya buat di CI</a:t>
            </a:r>
            <a:endParaRPr sz="1350" b="0" i="0" u="none" strike="noStrike" cap="none">
              <a:solidFill>
                <a:schemeClr val="dk1"/>
              </a:solidFill>
              <a:latin typeface="Calibri"/>
              <a:ea typeface="Calibri"/>
              <a:cs typeface="Calibri"/>
              <a:sym typeface="Calibri"/>
            </a:endParaRPr>
          </a:p>
        </p:txBody>
      </p:sp>
      <p:sp>
        <p:nvSpPr>
          <p:cNvPr id="763" name="Google Shape;763;p34"/>
          <p:cNvSpPr/>
          <p:nvPr/>
        </p:nvSpPr>
        <p:spPr>
          <a:xfrm>
            <a:off x="4353458" y="1536192"/>
            <a:ext cx="3484778" cy="3566160"/>
          </a:xfrm>
          <a:prstGeom prst="roundRect">
            <a:avLst>
              <a:gd name="adj" fmla="val 1837"/>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4" name="Google Shape;764;p34"/>
          <p:cNvSpPr/>
          <p:nvPr/>
        </p:nvSpPr>
        <p:spPr>
          <a:xfrm>
            <a:off x="4609490" y="1719072"/>
            <a:ext cx="1097280" cy="274320"/>
          </a:xfrm>
          <a:prstGeom prst="roundRect">
            <a:avLst>
              <a:gd name="adj" fmla="val 20000"/>
            </a:avLst>
          </a:prstGeom>
          <a:solidFill>
            <a:srgbClr val="B26A00"/>
          </a:solidFill>
          <a:ln w="12700" cap="flat" cmpd="sng">
            <a:solidFill>
              <a:srgbClr val="B26A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5" name="Google Shape;765;p34"/>
          <p:cNvSpPr txBox="1"/>
          <p:nvPr/>
        </p:nvSpPr>
        <p:spPr>
          <a:xfrm>
            <a:off x="4609490" y="1719072"/>
            <a:ext cx="109728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60 hari</a:t>
            </a:r>
            <a:endParaRPr sz="1100" b="0" i="0" u="none" strike="noStrike" cap="none">
              <a:solidFill>
                <a:schemeClr val="dk1"/>
              </a:solidFill>
              <a:latin typeface="Calibri"/>
              <a:ea typeface="Calibri"/>
              <a:cs typeface="Calibri"/>
              <a:sym typeface="Calibri"/>
            </a:endParaRPr>
          </a:p>
        </p:txBody>
      </p:sp>
      <p:sp>
        <p:nvSpPr>
          <p:cNvPr id="766" name="Google Shape;766;p34"/>
          <p:cNvSpPr txBox="1"/>
          <p:nvPr/>
        </p:nvSpPr>
        <p:spPr>
          <a:xfrm>
            <a:off x="4609490" y="2130552"/>
            <a:ext cx="2972714"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1650"/>
              <a:buFont typeface="Calibri"/>
              <a:buNone/>
            </a:pPr>
            <a:r>
              <a:rPr lang="en-US" sz="1650" b="1" i="0" u="none" strike="noStrike" cap="none">
                <a:solidFill>
                  <a:srgbClr val="0F1B33"/>
                </a:solidFill>
                <a:latin typeface="Calibri"/>
                <a:ea typeface="Calibri"/>
                <a:cs typeface="Calibri"/>
                <a:sym typeface="Calibri"/>
              </a:rPr>
              <a:t>Wawancara live yang stabil</a:t>
            </a:r>
            <a:endParaRPr sz="1650" b="0" i="0" u="none" strike="noStrike" cap="none">
              <a:solidFill>
                <a:schemeClr val="dk1"/>
              </a:solidFill>
              <a:latin typeface="Calibri"/>
              <a:ea typeface="Calibri"/>
              <a:cs typeface="Calibri"/>
              <a:sym typeface="Calibri"/>
            </a:endParaRPr>
          </a:p>
        </p:txBody>
      </p:sp>
      <p:sp>
        <p:nvSpPr>
          <p:cNvPr id="767" name="Google Shape;767;p34"/>
          <p:cNvSpPr txBox="1"/>
          <p:nvPr/>
        </p:nvSpPr>
        <p:spPr>
          <a:xfrm>
            <a:off x="4609490" y="2606040"/>
            <a:ext cx="2972714" cy="2286000"/>
          </a:xfrm>
          <a:prstGeom prst="rect">
            <a:avLst/>
          </a:prstGeom>
          <a:noFill/>
          <a:ln>
            <a:noFill/>
          </a:ln>
        </p:spPr>
        <p:txBody>
          <a:bodyPr spcFirstLastPara="1" wrap="square" lIns="0" tIns="0" rIns="0" bIns="0" anchor="t" anchorCtr="0">
            <a:noAutofit/>
          </a:bodyPr>
          <a:lstStyle/>
          <a:p>
            <a:pPr marL="342900" marR="0" lvl="0" indent="-342900" algn="l" rtl="0">
              <a:lnSpc>
                <a:spcPct val="141000"/>
              </a:lnSpc>
              <a:spcBef>
                <a:spcPts val="0"/>
              </a:spcBef>
              <a:spcAft>
                <a:spcPts val="0"/>
              </a:spcAft>
              <a:buClr>
                <a:srgbClr val="0F1B33"/>
              </a:buClr>
              <a:buSzPts val="1350"/>
              <a:buFont typeface="Calibri"/>
              <a:buChar char="•"/>
            </a:pPr>
            <a:r>
              <a:rPr lang="en-US" sz="1350" b="0" i="0" u="none" strike="noStrike" cap="none">
                <a:solidFill>
                  <a:srgbClr val="0F1B33"/>
                </a:solidFill>
                <a:latin typeface="Calibri"/>
                <a:ea typeface="Calibri"/>
                <a:cs typeface="Calibri"/>
                <a:sym typeface="Calibri"/>
              </a:rPr>
              <a:t>Refresh halaman tidak lagi mengakhiri wawancara</a:t>
            </a:r>
            <a:endParaRPr sz="1350" b="0" i="0" u="none" strike="noStrike" cap="none">
              <a:solidFill>
                <a:schemeClr val="dk1"/>
              </a:solidFill>
              <a:latin typeface="Calibri"/>
              <a:ea typeface="Calibri"/>
              <a:cs typeface="Calibri"/>
              <a:sym typeface="Calibri"/>
            </a:endParaRPr>
          </a:p>
          <a:p>
            <a:pPr marL="342900" marR="0" lvl="0" indent="-342900" algn="l" rtl="0">
              <a:lnSpc>
                <a:spcPct val="141000"/>
              </a:lnSpc>
              <a:spcBef>
                <a:spcPts val="1000"/>
              </a:spcBef>
              <a:spcAft>
                <a:spcPts val="0"/>
              </a:spcAft>
              <a:buClr>
                <a:srgbClr val="0F1B33"/>
              </a:buClr>
              <a:buSzPts val="1350"/>
              <a:buFont typeface="Calibri"/>
              <a:buChar char="•"/>
            </a:pPr>
            <a:r>
              <a:rPr lang="en-US" sz="1350" b="0" i="0" u="none" strike="noStrike" cap="none">
                <a:solidFill>
                  <a:srgbClr val="0F1B33"/>
                </a:solidFill>
                <a:latin typeface="Calibri"/>
                <a:ea typeface="Calibri"/>
                <a:cs typeface="Calibri"/>
                <a:sym typeface="Calibri"/>
              </a:rPr>
              <a:t>Audio kandidat tidak hilang saat koneksi terputus</a:t>
            </a:r>
            <a:endParaRPr sz="1350" b="0" i="0" u="none" strike="noStrike" cap="none">
              <a:solidFill>
                <a:schemeClr val="dk1"/>
              </a:solidFill>
              <a:latin typeface="Calibri"/>
              <a:ea typeface="Calibri"/>
              <a:cs typeface="Calibri"/>
              <a:sym typeface="Calibri"/>
            </a:endParaRPr>
          </a:p>
          <a:p>
            <a:pPr marL="342900" marR="0" lvl="0" indent="-342900" algn="l" rtl="0">
              <a:lnSpc>
                <a:spcPct val="141000"/>
              </a:lnSpc>
              <a:spcBef>
                <a:spcPts val="1000"/>
              </a:spcBef>
              <a:spcAft>
                <a:spcPts val="0"/>
              </a:spcAft>
              <a:buClr>
                <a:srgbClr val="0F1B33"/>
              </a:buClr>
              <a:buSzPts val="1350"/>
              <a:buFont typeface="Calibri"/>
              <a:buChar char="•"/>
            </a:pPr>
            <a:r>
              <a:rPr lang="en-US" sz="1350" b="0" i="0" u="none" strike="noStrike" cap="none">
                <a:solidFill>
                  <a:srgbClr val="0F1B33"/>
                </a:solidFill>
                <a:latin typeface="Calibri"/>
                <a:ea typeface="Calibri"/>
                <a:cs typeface="Calibri"/>
                <a:sym typeface="Calibri"/>
              </a:rPr>
              <a:t>Status koneksi yang jelas di layar kandidat</a:t>
            </a:r>
            <a:endParaRPr sz="1350" b="0" i="0" u="none" strike="noStrike" cap="none">
              <a:solidFill>
                <a:schemeClr val="dk1"/>
              </a:solidFill>
              <a:latin typeface="Calibri"/>
              <a:ea typeface="Calibri"/>
              <a:cs typeface="Calibri"/>
              <a:sym typeface="Calibri"/>
            </a:endParaRPr>
          </a:p>
        </p:txBody>
      </p:sp>
      <p:sp>
        <p:nvSpPr>
          <p:cNvPr id="768" name="Google Shape;768;p34"/>
          <p:cNvSpPr/>
          <p:nvPr/>
        </p:nvSpPr>
        <p:spPr>
          <a:xfrm>
            <a:off x="8112557" y="1536192"/>
            <a:ext cx="3484778" cy="3566160"/>
          </a:xfrm>
          <a:prstGeom prst="roundRect">
            <a:avLst>
              <a:gd name="adj" fmla="val 1837"/>
            </a:avLst>
          </a:prstGeom>
          <a:solidFill>
            <a:srgbClr val="F6F9FE"/>
          </a:solidFill>
          <a:ln w="9525" cap="flat" cmpd="sng">
            <a:solidFill>
              <a:srgbClr val="DCE4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9" name="Google Shape;769;p34"/>
          <p:cNvSpPr/>
          <p:nvPr/>
        </p:nvSpPr>
        <p:spPr>
          <a:xfrm>
            <a:off x="8368589" y="1719072"/>
            <a:ext cx="1097280" cy="274320"/>
          </a:xfrm>
          <a:prstGeom prst="roundRect">
            <a:avLst>
              <a:gd name="adj" fmla="val 20000"/>
            </a:avLst>
          </a:prstGeom>
          <a:solidFill>
            <a:srgbClr val="1C6FF3"/>
          </a:solidFill>
          <a:ln w="12700" cap="flat" cmpd="sng">
            <a:solidFill>
              <a:srgbClr val="1C6FF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70" name="Google Shape;770;p34"/>
          <p:cNvSpPr txBox="1"/>
          <p:nvPr/>
        </p:nvSpPr>
        <p:spPr>
          <a:xfrm>
            <a:off x="8368589" y="1719072"/>
            <a:ext cx="109728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90 hari</a:t>
            </a:r>
            <a:endParaRPr sz="1100" b="0" i="0" u="none" strike="noStrike" cap="none">
              <a:solidFill>
                <a:schemeClr val="dk1"/>
              </a:solidFill>
              <a:latin typeface="Calibri"/>
              <a:ea typeface="Calibri"/>
              <a:cs typeface="Calibri"/>
              <a:sym typeface="Calibri"/>
            </a:endParaRPr>
          </a:p>
        </p:txBody>
      </p:sp>
      <p:sp>
        <p:nvSpPr>
          <p:cNvPr id="771" name="Google Shape;771;p34"/>
          <p:cNvSpPr txBox="1"/>
          <p:nvPr/>
        </p:nvSpPr>
        <p:spPr>
          <a:xfrm>
            <a:off x="8368589" y="2130552"/>
            <a:ext cx="2972714"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F1B33"/>
              </a:buClr>
              <a:buSzPts val="1650"/>
              <a:buFont typeface="Calibri"/>
              <a:buNone/>
            </a:pPr>
            <a:r>
              <a:rPr lang="en-US" sz="1650" b="1" i="0" u="none" strike="noStrike" cap="none">
                <a:solidFill>
                  <a:srgbClr val="0F1B33"/>
                </a:solidFill>
                <a:latin typeface="Calibri"/>
                <a:ea typeface="Calibri"/>
                <a:cs typeface="Calibri"/>
                <a:sym typeface="Calibri"/>
              </a:rPr>
              <a:t>Data yang konsisten</a:t>
            </a:r>
            <a:endParaRPr sz="1650" b="0" i="0" u="none" strike="noStrike" cap="none">
              <a:solidFill>
                <a:schemeClr val="dk1"/>
              </a:solidFill>
              <a:latin typeface="Calibri"/>
              <a:ea typeface="Calibri"/>
              <a:cs typeface="Calibri"/>
              <a:sym typeface="Calibri"/>
            </a:endParaRPr>
          </a:p>
        </p:txBody>
      </p:sp>
      <p:sp>
        <p:nvSpPr>
          <p:cNvPr id="772" name="Google Shape;772;p34"/>
          <p:cNvSpPr txBox="1"/>
          <p:nvPr/>
        </p:nvSpPr>
        <p:spPr>
          <a:xfrm>
            <a:off x="8368589" y="2606040"/>
            <a:ext cx="2972714" cy="2286000"/>
          </a:xfrm>
          <a:prstGeom prst="rect">
            <a:avLst/>
          </a:prstGeom>
          <a:noFill/>
          <a:ln>
            <a:noFill/>
          </a:ln>
        </p:spPr>
        <p:txBody>
          <a:bodyPr spcFirstLastPara="1" wrap="square" lIns="0" tIns="0" rIns="0" bIns="0" anchor="t" anchorCtr="0">
            <a:noAutofit/>
          </a:bodyPr>
          <a:lstStyle/>
          <a:p>
            <a:pPr marL="342900" marR="0" lvl="0" indent="-342900" algn="l" rtl="0">
              <a:lnSpc>
                <a:spcPct val="141000"/>
              </a:lnSpc>
              <a:spcBef>
                <a:spcPts val="0"/>
              </a:spcBef>
              <a:spcAft>
                <a:spcPts val="0"/>
              </a:spcAft>
              <a:buClr>
                <a:srgbClr val="0F1B33"/>
              </a:buClr>
              <a:buSzPts val="1350"/>
              <a:buFont typeface="Calibri"/>
              <a:buChar char="•"/>
            </a:pPr>
            <a:r>
              <a:rPr lang="en-US" sz="1350" b="0" i="0" u="none" strike="noStrike" cap="none">
                <a:solidFill>
                  <a:srgbClr val="0F1B33"/>
                </a:solidFill>
                <a:latin typeface="Calibri"/>
                <a:ea typeface="Calibri"/>
                <a:cs typeface="Calibri"/>
                <a:sym typeface="Calibri"/>
              </a:rPr>
              <a:t>Satu definisi level L1–L5 untuk semua bagian</a:t>
            </a:r>
            <a:endParaRPr sz="1350" b="0" i="0" u="none" strike="noStrike" cap="none">
              <a:solidFill>
                <a:schemeClr val="dk1"/>
              </a:solidFill>
              <a:latin typeface="Calibri"/>
              <a:ea typeface="Calibri"/>
              <a:cs typeface="Calibri"/>
              <a:sym typeface="Calibri"/>
            </a:endParaRPr>
          </a:p>
          <a:p>
            <a:pPr marL="342900" marR="0" lvl="0" indent="-342900" algn="l" rtl="0">
              <a:lnSpc>
                <a:spcPct val="141000"/>
              </a:lnSpc>
              <a:spcBef>
                <a:spcPts val="1000"/>
              </a:spcBef>
              <a:spcAft>
                <a:spcPts val="0"/>
              </a:spcAft>
              <a:buClr>
                <a:srgbClr val="0F1B33"/>
              </a:buClr>
              <a:buSzPts val="1350"/>
              <a:buFont typeface="Calibri"/>
              <a:buChar char="•"/>
            </a:pPr>
            <a:r>
              <a:rPr lang="en-US" sz="1350" b="0" i="0" u="none" strike="noStrike" cap="none">
                <a:solidFill>
                  <a:srgbClr val="0F1B33"/>
                </a:solidFill>
                <a:latin typeface="Calibri"/>
                <a:ea typeface="Calibri"/>
                <a:cs typeface="Calibri"/>
                <a:sym typeface="Calibri"/>
              </a:rPr>
              <a:t>Kontrak API formal antara backend dan frontend</a:t>
            </a:r>
            <a:endParaRPr sz="1350" b="0" i="0" u="none" strike="noStrike" cap="none">
              <a:solidFill>
                <a:schemeClr val="dk1"/>
              </a:solidFill>
              <a:latin typeface="Calibri"/>
              <a:ea typeface="Calibri"/>
              <a:cs typeface="Calibri"/>
              <a:sym typeface="Calibri"/>
            </a:endParaRPr>
          </a:p>
        </p:txBody>
      </p:sp>
      <p:sp>
        <p:nvSpPr>
          <p:cNvPr id="773" name="Google Shape;773;p34"/>
          <p:cNvSpPr txBox="1"/>
          <p:nvPr/>
        </p:nvSpPr>
        <p:spPr>
          <a:xfrm>
            <a:off x="594360" y="5349240"/>
            <a:ext cx="11002975" cy="640080"/>
          </a:xfrm>
          <a:prstGeom prst="rect">
            <a:avLst/>
          </a:prstGeom>
          <a:noFill/>
          <a:ln>
            <a:noFill/>
          </a:ln>
        </p:spPr>
        <p:txBody>
          <a:bodyPr spcFirstLastPara="1" wrap="square" lIns="0" tIns="0" rIns="0" bIns="0" anchor="t" anchorCtr="0">
            <a:noAutofit/>
          </a:bodyPr>
          <a:lstStyle/>
          <a:p>
            <a:pPr marL="0" marR="0" lvl="0" indent="0" algn="l" rtl="0">
              <a:lnSpc>
                <a:spcPct val="141000"/>
              </a:lnSpc>
              <a:spcBef>
                <a:spcPts val="0"/>
              </a:spcBef>
              <a:spcAft>
                <a:spcPts val="0"/>
              </a:spcAft>
              <a:buClr>
                <a:srgbClr val="55617A"/>
              </a:buClr>
              <a:buSzPts val="1350"/>
              <a:buFont typeface="Calibri"/>
              <a:buNone/>
            </a:pPr>
            <a:r>
              <a:rPr lang="en-US" sz="1350" b="0" i="0" u="none" strike="noStrike" cap="none">
                <a:solidFill>
                  <a:srgbClr val="55617A"/>
                </a:solidFill>
                <a:latin typeface="Calibri"/>
                <a:ea typeface="Calibri"/>
                <a:cs typeface="Calibri"/>
                <a:sym typeface="Calibri"/>
              </a:rPr>
              <a:t>Urutannya: keamanan data dulu, lalu pengalaman kandidat saat wawancara, lalu fondasi supaya bug yang sama tidak terulang.</a:t>
            </a:r>
            <a:endParaRPr sz="1350" b="0" i="0" u="none" strike="noStrike" cap="non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1C6FF3"/>
        </a:solidFill>
        <a:effectLst/>
      </p:bgPr>
    </p:bg>
    <p:spTree>
      <p:nvGrpSpPr>
        <p:cNvPr id="778" name="Shape 778"/>
        <p:cNvGrpSpPr/>
        <p:nvPr/>
      </p:nvGrpSpPr>
      <p:grpSpPr>
        <a:xfrm>
          <a:off x="0" y="0"/>
          <a:ext cx="0" cy="0"/>
          <a:chOff x="0" y="0"/>
          <a:chExt cx="0" cy="0"/>
        </a:xfrm>
      </p:grpSpPr>
      <p:sp>
        <p:nvSpPr>
          <p:cNvPr id="779" name="Google Shape;779;p35"/>
          <p:cNvSpPr txBox="1"/>
          <p:nvPr/>
        </p:nvSpPr>
        <p:spPr>
          <a:xfrm>
            <a:off x="551180" y="3213100"/>
            <a:ext cx="11002975" cy="8229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FFFFFF"/>
              </a:buClr>
              <a:buSzPts val="4400"/>
              <a:buFont typeface="Calibri"/>
              <a:buNone/>
            </a:pPr>
            <a:r>
              <a:rPr lang="en-US" sz="4400" b="1" i="0" u="none" strike="noStrike" cap="none">
                <a:solidFill>
                  <a:srgbClr val="FFFFFF"/>
                </a:solidFill>
                <a:latin typeface="Calibri"/>
                <a:ea typeface="Calibri"/>
                <a:cs typeface="Calibri"/>
                <a:sym typeface="Calibri"/>
              </a:rPr>
              <a:t>Terima kasih</a:t>
            </a:r>
            <a:endParaRPr sz="4400" b="0" i="0" u="none" strike="noStrike" cap="none">
              <a:solidFill>
                <a:schemeClr val="dk1"/>
              </a:solidFill>
              <a:latin typeface="Calibri"/>
              <a:ea typeface="Calibri"/>
              <a:cs typeface="Calibri"/>
              <a:sym typeface="Calibri"/>
            </a:endParaRPr>
          </a:p>
        </p:txBody>
      </p:sp>
      <p:sp>
        <p:nvSpPr>
          <p:cNvPr id="785" name="Google Shape;785;p35"/>
          <p:cNvSpPr txBox="1"/>
          <p:nvPr/>
        </p:nvSpPr>
        <p:spPr>
          <a:xfrm>
            <a:off x="594360" y="5486400"/>
            <a:ext cx="11002975"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AFCBFF"/>
              </a:buClr>
              <a:buSzPts val="1400"/>
              <a:buFont typeface="Calibri"/>
              <a:buNone/>
            </a:pPr>
            <a:r>
              <a:rPr lang="en-US" sz="1400" b="0" i="0" u="none" strike="noStrike" cap="none">
                <a:solidFill>
                  <a:srgbClr val="AFCBFF"/>
                </a:solidFill>
                <a:latin typeface="Calibri"/>
                <a:ea typeface="Calibri"/>
                <a:cs typeface="Calibri"/>
                <a:sym typeface="Calibri"/>
              </a:rPr>
              <a:t>Aulia Afriza  ·  github.com/auliaafriza/code-challenge-rakamin</a:t>
            </a:r>
            <a:endParaRPr sz="1400" b="0" i="0" u="none" strike="noStrike" cap="non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38912"/>
            <a:ext cx="11002975" cy="566928"/>
          </a:xfrm>
          <a:prstGeom prst="rect">
            <a:avLst/>
          </a:prstGeom>
          <a:noFill/>
        </p:spPr>
        <p:txBody>
          <a:bodyPr wrap="square" lIns="0" rIns="0" tIns="0" bIns="0" anchor="t">
            <a:spAutoFit/>
          </a:bodyPr>
          <a:lstStyle/>
          <a:p>
            <a:pPr algn="l"/>
            <a:r>
              <a:rPr sz="2800" b="1" i="0">
                <a:solidFill>
                  <a:srgbClr val="0F1B33"/>
                </a:solidFill>
                <a:latin typeface="Calibri"/>
              </a:rPr>
              <a:t>File yang saya ubah</a:t>
            </a:r>
          </a:p>
        </p:txBody>
      </p:sp>
      <p:sp>
        <p:nvSpPr>
          <p:cNvPr id="3" name="TextBox 2"/>
          <p:cNvSpPr txBox="1"/>
          <p:nvPr/>
        </p:nvSpPr>
        <p:spPr>
          <a:xfrm>
            <a:off x="594360" y="987552"/>
            <a:ext cx="11002975" cy="384048"/>
          </a:xfrm>
          <a:prstGeom prst="rect">
            <a:avLst/>
          </a:prstGeom>
          <a:noFill/>
        </p:spPr>
        <p:txBody>
          <a:bodyPr wrap="square" lIns="0" rIns="0" tIns="0" bIns="0" anchor="t">
            <a:spAutoFit/>
          </a:bodyPr>
          <a:lstStyle/>
          <a:p>
            <a:pPr algn="l"/>
            <a:r>
              <a:rPr sz="1500" b="0" i="0">
                <a:solidFill>
                  <a:srgbClr val="55617A"/>
                </a:solidFill>
                <a:latin typeface="Calibri"/>
              </a:rPr>
              <a:t>Commit 290f56a (alur Portfolio → Fit/Gap) dan 000f7d9 (perbaikan form dari walkthrough).</a:t>
            </a:r>
          </a:p>
        </p:txBody>
      </p:sp>
      <p:sp>
        <p:nvSpPr>
          <p:cNvPr id="4" name="TextBox 3"/>
          <p:cNvSpPr txBox="1"/>
          <p:nvPr/>
        </p:nvSpPr>
        <p:spPr>
          <a:xfrm>
            <a:off x="594360" y="6419088"/>
            <a:ext cx="4572000" cy="256032"/>
          </a:xfrm>
          <a:prstGeom prst="rect">
            <a:avLst/>
          </a:prstGeom>
          <a:noFill/>
        </p:spPr>
        <p:txBody>
          <a:bodyPr wrap="square" lIns="0" rIns="0" tIns="0" bIns="0" anchor="t">
            <a:spAutoFit/>
          </a:bodyPr>
          <a:lstStyle/>
          <a:p>
            <a:pPr algn="l"/>
            <a:r>
              <a:rPr sz="1000" b="0" i="0">
                <a:solidFill>
                  <a:srgbClr val="8A94A8"/>
                </a:solidFill>
                <a:latin typeface="Calibri"/>
              </a:rPr>
              <a:t>Aulia Afriza  ·  Kandidat Fullstack · Frontend depth</a:t>
            </a:r>
          </a:p>
        </p:txBody>
      </p:sp>
      <p:sp>
        <p:nvSpPr>
          <p:cNvPr id="5" name="TextBox 4"/>
          <p:cNvSpPr txBox="1"/>
          <p:nvPr/>
        </p:nvSpPr>
        <p:spPr>
          <a:xfrm>
            <a:off x="11277295" y="6419088"/>
            <a:ext cx="457200" cy="256032"/>
          </a:xfrm>
          <a:prstGeom prst="rect">
            <a:avLst/>
          </a:prstGeom>
          <a:noFill/>
        </p:spPr>
        <p:txBody>
          <a:bodyPr wrap="square" lIns="0" rIns="0" tIns="0" bIns="0" anchor="t">
            <a:spAutoFit/>
          </a:bodyPr>
          <a:lstStyle/>
          <a:p>
            <a:pPr algn="r"/>
            <a:r>
              <a:rPr sz="1000" b="0" i="0">
                <a:solidFill>
                  <a:srgbClr val="8A94A8"/>
                </a:solidFill>
                <a:latin typeface="Calibri"/>
              </a:rPr>
              <a:t>26</a:t>
            </a:r>
          </a:p>
        </p:txBody>
      </p:sp>
      <p:graphicFrame>
        <p:nvGraphicFramePr>
          <p:cNvPr id="6" name="Table 5"/>
          <p:cNvGraphicFramePr>
            <a:graphicFrameLocks noGrp="1"/>
          </p:cNvGraphicFramePr>
          <p:nvPr/>
        </p:nvGraphicFramePr>
        <p:xfrm>
          <a:off x="594360" y="1481328"/>
          <a:ext cx="11002975" cy="4279392"/>
        </p:xfrm>
        <a:graphic>
          <a:graphicData uri="http://schemas.openxmlformats.org/drawingml/2006/table">
            <a:tbl>
              <a:tblPr firstRow="1" bandRow="1">
                <a:tableStyleId>{5C22544A-7EE6-4342-B048-85BDC9FD1C3A}</a:tableStyleId>
              </a:tblPr>
              <a:tblGrid>
                <a:gridCol w="1463040"/>
                <a:gridCol w="5120640"/>
                <a:gridCol w="4419295"/>
              </a:tblGrid>
              <a:tr h="329184">
                <a:tc>
                  <a:txBody>
                    <a:bodyPr wrap="square"/>
                    <a:lstStyle/>
                    <a:p>
                      <a:r>
                        <a:rPr sz="1100" b="1">
                          <a:solidFill>
                            <a:srgbClr val="0F1B33"/>
                          </a:solidFill>
                          <a:latin typeface="Calibri"/>
                        </a:rPr>
                        <a:t>Area</a:t>
                      </a:r>
                    </a:p>
                  </a:txBody>
                  <a:tcPr marL="91440" marR="91440" marT="27432" marB="27432" anchor="ctr">
                    <a:solidFill>
                      <a:srgbClr val="F6F9FE"/>
                    </a:solidFill>
                  </a:tcPr>
                </a:tc>
                <a:tc>
                  <a:txBody>
                    <a:bodyPr wrap="square"/>
                    <a:lstStyle/>
                    <a:p>
                      <a:r>
                        <a:rPr sz="1100" b="1">
                          <a:solidFill>
                            <a:srgbClr val="0F1B33"/>
                          </a:solidFill>
                          <a:latin typeface="Calibri"/>
                        </a:rPr>
                        <a:t>File</a:t>
                      </a:r>
                    </a:p>
                  </a:txBody>
                  <a:tcPr marL="91440" marR="91440" marT="27432" marB="27432" anchor="ctr">
                    <a:solidFill>
                      <a:srgbClr val="F6F9FE"/>
                    </a:solidFill>
                  </a:tcPr>
                </a:tc>
                <a:tc>
                  <a:txBody>
                    <a:bodyPr wrap="square"/>
                    <a:lstStyle/>
                    <a:p>
                      <a:r>
                        <a:rPr sz="1100" b="1">
                          <a:solidFill>
                            <a:srgbClr val="0F1B33"/>
                          </a:solidFill>
                          <a:latin typeface="Calibri"/>
                        </a:rPr>
                        <a:t>Yang diubah</a:t>
                      </a:r>
                    </a:p>
                  </a:txBody>
                  <a:tcPr marL="91440" marR="91440" marT="27432" marB="27432" anchor="ctr">
                    <a:solidFill>
                      <a:srgbClr val="F6F9FE"/>
                    </a:solidFill>
                  </a:tcPr>
                </a:tc>
              </a:tr>
              <a:tr h="329184">
                <a:tc>
                  <a:txBody>
                    <a:bodyPr wrap="square"/>
                    <a:lstStyle/>
                    <a:p>
                      <a:r>
                        <a:rPr sz="1050" b="1">
                          <a:solidFill>
                            <a:srgbClr val="0C2E6B"/>
                          </a:solidFill>
                          <a:latin typeface="Calibri"/>
                        </a:rPr>
                        <a:t>Kontrak data</a:t>
                      </a:r>
                    </a:p>
                  </a:txBody>
                  <a:tcPr marL="91440" marR="91440" marT="27432" marB="27432" anchor="ctr">
                    <a:solidFill>
                      <a:srgbClr val="FFFFFF"/>
                    </a:solidFill>
                  </a:tcPr>
                </a:tc>
                <a:tc>
                  <a:txBody>
                    <a:bodyPr wrap="square"/>
                    <a:lstStyle/>
                    <a:p>
                      <a:r>
                        <a:rPr sz="1050" b="0">
                          <a:solidFill>
                            <a:srgbClr val="0F1B33"/>
                          </a:solidFill>
                          <a:latin typeface="Courier New"/>
                        </a:rPr>
                        <a:t>web/src/services/schemas.ts  (baru)</a:t>
                      </a:r>
                    </a:p>
                  </a:txBody>
                  <a:tcPr marL="91440" marR="91440" marT="27432" marB="27432" anchor="ctr">
                    <a:solidFill>
                      <a:srgbClr val="FFFFFF"/>
                    </a:solidFill>
                  </a:tcPr>
                </a:tc>
                <a:tc>
                  <a:txBody>
                    <a:bodyPr wrap="square"/>
                    <a:lstStyle/>
                    <a:p>
                      <a:r>
                        <a:rPr sz="1050" b="0">
                          <a:solidFill>
                            <a:srgbClr val="0F1B33"/>
                          </a:solidFill>
                          <a:latin typeface="Calibri"/>
                        </a:rPr>
                        <a:t>Validasi Zod untuk data Portfolio dan Fit/Gap</a:t>
                      </a:r>
                    </a:p>
                  </a:txBody>
                  <a:tcPr marL="91440" marR="91440" marT="27432" marB="27432" anchor="ctr">
                    <a:solidFill>
                      <a:srgbClr val="FFFFFF"/>
                    </a:solidFill>
                  </a:tcPr>
                </a:tc>
              </a:tr>
              <a:tr h="329184">
                <a:tc>
                  <a:txBody>
                    <a:bodyPr wrap="square"/>
                    <a:lstStyle/>
                    <a:p>
                      <a:r>
                        <a:rPr sz="1050" b="1">
                          <a:solidFill>
                            <a:srgbClr val="0C2E6B"/>
                          </a:solidFill>
                          <a:latin typeface="Calibri"/>
                        </a:rPr>
                        <a:t>Kontrak data</a:t>
                      </a:r>
                    </a:p>
                  </a:txBody>
                  <a:tcPr marL="91440" marR="91440" marT="27432" marB="27432" anchor="ctr">
                    <a:solidFill>
                      <a:srgbClr val="FFFFFF"/>
                    </a:solidFill>
                  </a:tcPr>
                </a:tc>
                <a:tc>
                  <a:txBody>
                    <a:bodyPr wrap="square"/>
                    <a:lstStyle/>
                    <a:p>
                      <a:r>
                        <a:rPr sz="1050" b="0">
                          <a:solidFill>
                            <a:srgbClr val="0F1B33"/>
                          </a:solidFill>
                          <a:latin typeface="Courier New"/>
                        </a:rPr>
                        <a:t>web/src/types/index.ts</a:t>
                      </a:r>
                    </a:p>
                  </a:txBody>
                  <a:tcPr marL="91440" marR="91440" marT="27432" marB="27432" anchor="ctr">
                    <a:solidFill>
                      <a:srgbClr val="FFFFFF"/>
                    </a:solidFill>
                  </a:tcPr>
                </a:tc>
                <a:tc>
                  <a:txBody>
                    <a:bodyPr wrap="square"/>
                    <a:lstStyle/>
                    <a:p>
                      <a:r>
                        <a:rPr sz="1050" b="0">
                          <a:solidFill>
                            <a:srgbClr val="0F1B33"/>
                          </a:solidFill>
                          <a:latin typeface="Calibri"/>
                        </a:rPr>
                        <a:t>Type dibuat dari schema, tidak lagi ditulis manual</a:t>
                      </a:r>
                    </a:p>
                  </a:txBody>
                  <a:tcPr marL="91440" marR="91440" marT="27432" marB="27432" anchor="ctr">
                    <a:solidFill>
                      <a:srgbClr val="FFFFFF"/>
                    </a:solidFill>
                  </a:tcPr>
                </a:tc>
              </a:tr>
              <a:tr h="329184">
                <a:tc>
                  <a:txBody>
                    <a:bodyPr wrap="square"/>
                    <a:lstStyle/>
                    <a:p>
                      <a:r>
                        <a:rPr sz="1050" b="1">
                          <a:solidFill>
                            <a:srgbClr val="0C2E6B"/>
                          </a:solidFill>
                          <a:latin typeface="Calibri"/>
                        </a:rPr>
                        <a:t>Tampilan</a:t>
                      </a:r>
                    </a:p>
                  </a:txBody>
                  <a:tcPr marL="91440" marR="91440" marT="27432" marB="27432" anchor="ctr">
                    <a:solidFill>
                      <a:srgbClr val="FFFFFF"/>
                    </a:solidFill>
                  </a:tcPr>
                </a:tc>
                <a:tc>
                  <a:txBody>
                    <a:bodyPr wrap="square"/>
                    <a:lstStyle/>
                    <a:p>
                      <a:r>
                        <a:rPr sz="1050" b="0">
                          <a:solidFill>
                            <a:srgbClr val="0F1B33"/>
                          </a:solidFill>
                          <a:latin typeface="Courier New"/>
                        </a:rPr>
                        <a:t>web/src/components/fitgap/ComparisonTable.tsx</a:t>
                      </a:r>
                    </a:p>
                  </a:txBody>
                  <a:tcPr marL="91440" marR="91440" marT="27432" marB="27432" anchor="ctr">
                    <a:solidFill>
                      <a:srgbClr val="FFFFFF"/>
                    </a:solidFill>
                  </a:tcPr>
                </a:tc>
                <a:tc>
                  <a:txBody>
                    <a:bodyPr wrap="square"/>
                    <a:lstStyle/>
                    <a:p>
                      <a:r>
                        <a:rPr sz="1050" b="0">
                          <a:solidFill>
                            <a:srgbClr val="0F1B33"/>
                          </a:solidFill>
                          <a:latin typeface="Calibri"/>
                        </a:rPr>
                        <a:t>Kolom Required, siapa yang menilai, tingkat keyakinan</a:t>
                      </a:r>
                    </a:p>
                  </a:txBody>
                  <a:tcPr marL="91440" marR="91440" marT="27432" marB="27432" anchor="ctr">
                    <a:solidFill>
                      <a:srgbClr val="FFFFFF"/>
                    </a:solidFill>
                  </a:tcPr>
                </a:tc>
              </a:tr>
              <a:tr h="329184">
                <a:tc>
                  <a:txBody>
                    <a:bodyPr wrap="square"/>
                    <a:lstStyle/>
                    <a:p>
                      <a:r>
                        <a:rPr sz="1050" b="1">
                          <a:solidFill>
                            <a:srgbClr val="0C2E6B"/>
                          </a:solidFill>
                          <a:latin typeface="Calibri"/>
                        </a:rPr>
                        <a:t>Tampilan</a:t>
                      </a:r>
                    </a:p>
                  </a:txBody>
                  <a:tcPr marL="91440" marR="91440" marT="27432" marB="27432" anchor="ctr">
                    <a:solidFill>
                      <a:srgbClr val="FFFFFF"/>
                    </a:solidFill>
                  </a:tcPr>
                </a:tc>
                <a:tc>
                  <a:txBody>
                    <a:bodyPr wrap="square"/>
                    <a:lstStyle/>
                    <a:p>
                      <a:r>
                        <a:rPr sz="1050" b="0">
                          <a:solidFill>
                            <a:srgbClr val="0F1B33"/>
                          </a:solidFill>
                          <a:latin typeface="Courier New"/>
                        </a:rPr>
                        <a:t>web/src/utils/constants.ts</a:t>
                      </a:r>
                    </a:p>
                  </a:txBody>
                  <a:tcPr marL="91440" marR="91440" marT="27432" marB="27432" anchor="ctr">
                    <a:solidFill>
                      <a:srgbClr val="FFFFFF"/>
                    </a:solidFill>
                  </a:tcPr>
                </a:tc>
                <a:tc>
                  <a:txBody>
                    <a:bodyPr wrap="square"/>
                    <a:lstStyle/>
                    <a:p>
                      <a:r>
                        <a:rPr sz="1050" b="0">
                          <a:solidFill>
                            <a:srgbClr val="0F1B33"/>
                          </a:solidFill>
                          <a:latin typeface="Calibri"/>
                        </a:rPr>
                        <a:t>Level kosong tidak jadi L1, keyakinan kosong tidak jadi LOW</a:t>
                      </a:r>
                    </a:p>
                  </a:txBody>
                  <a:tcPr marL="91440" marR="91440" marT="27432" marB="27432" anchor="ctr">
                    <a:solidFill>
                      <a:srgbClr val="FFFFFF"/>
                    </a:solidFill>
                  </a:tcPr>
                </a:tc>
              </a:tr>
              <a:tr h="329184">
                <a:tc>
                  <a:txBody>
                    <a:bodyPr wrap="square"/>
                    <a:lstStyle/>
                    <a:p>
                      <a:r>
                        <a:rPr sz="1050" b="1">
                          <a:solidFill>
                            <a:srgbClr val="0C2E6B"/>
                          </a:solidFill>
                          <a:latin typeface="Calibri"/>
                        </a:rPr>
                        <a:t>Tampilan</a:t>
                      </a:r>
                    </a:p>
                  </a:txBody>
                  <a:tcPr marL="91440" marR="91440" marT="27432" marB="27432" anchor="ctr">
                    <a:solidFill>
                      <a:srgbClr val="FFFFFF"/>
                    </a:solidFill>
                  </a:tcPr>
                </a:tc>
                <a:tc>
                  <a:txBody>
                    <a:bodyPr wrap="square"/>
                    <a:lstStyle/>
                    <a:p>
                      <a:r>
                        <a:rPr sz="1050" b="0">
                          <a:solidFill>
                            <a:srgbClr val="0F1B33"/>
                          </a:solidFill>
                          <a:latin typeface="Courier New"/>
                        </a:rPr>
                        <a:t>web/src/hooks/usePolling.ts</a:t>
                      </a:r>
                    </a:p>
                  </a:txBody>
                  <a:tcPr marL="91440" marR="91440" marT="27432" marB="27432" anchor="ctr">
                    <a:solidFill>
                      <a:srgbClr val="FFFFFF"/>
                    </a:solidFill>
                  </a:tcPr>
                </a:tc>
                <a:tc>
                  <a:txBody>
                    <a:bodyPr wrap="square"/>
                    <a:lstStyle/>
                    <a:p>
                      <a:r>
                        <a:rPr sz="1050" b="0">
                          <a:solidFill>
                            <a:srgbClr val="0F1B33"/>
                          </a:solidFill>
                          <a:latin typeface="Calibri"/>
                        </a:rPr>
                        <a:t>Ada batas waktu, berhenti saat tab tidak dibuka</a:t>
                      </a:r>
                    </a:p>
                  </a:txBody>
                  <a:tcPr marL="91440" marR="91440" marT="27432" marB="27432" anchor="ctr">
                    <a:solidFill>
                      <a:srgbClr val="FFFFFF"/>
                    </a:solidFill>
                  </a:tcPr>
                </a:tc>
              </a:tr>
              <a:tr h="329184">
                <a:tc>
                  <a:txBody>
                    <a:bodyPr wrap="square"/>
                    <a:lstStyle/>
                    <a:p>
                      <a:r>
                        <a:rPr sz="1050" b="1">
                          <a:solidFill>
                            <a:srgbClr val="0C2E6B"/>
                          </a:solidFill>
                          <a:latin typeface="Calibri"/>
                        </a:rPr>
                        <a:t>Backend</a:t>
                      </a:r>
                    </a:p>
                  </a:txBody>
                  <a:tcPr marL="91440" marR="91440" marT="27432" marB="27432" anchor="ctr">
                    <a:solidFill>
                      <a:srgbClr val="FFFFFF"/>
                    </a:solidFill>
                  </a:tcPr>
                </a:tc>
                <a:tc>
                  <a:txBody>
                    <a:bodyPr wrap="square"/>
                    <a:lstStyle/>
                    <a:p>
                      <a:r>
                        <a:rPr sz="1050" b="0">
                          <a:solidFill>
                            <a:srgbClr val="0F1B33"/>
                          </a:solidFill>
                          <a:latin typeface="Courier New"/>
                        </a:rPr>
                        <a:t>api/app/services/fit_gap/engine.rb</a:t>
                      </a:r>
                    </a:p>
                  </a:txBody>
                  <a:tcPr marL="91440" marR="91440" marT="27432" marB="27432" anchor="ctr">
                    <a:solidFill>
                      <a:srgbClr val="FFFFFF"/>
                    </a:solidFill>
                  </a:tcPr>
                </a:tc>
                <a:tc>
                  <a:txBody>
                    <a:bodyPr wrap="square"/>
                    <a:lstStyle/>
                    <a:p>
                      <a:r>
                        <a:rPr sz="1050" b="0">
                          <a:solidFill>
                            <a:srgbClr val="0F1B33"/>
                          </a:solidFill>
                          <a:latin typeface="Calibri"/>
                        </a:rPr>
                        <a:t>Data yang dikirim lebih lengkap</a:t>
                      </a:r>
                    </a:p>
                  </a:txBody>
                  <a:tcPr marL="91440" marR="91440" marT="27432" marB="27432" anchor="ctr">
                    <a:solidFill>
                      <a:srgbClr val="FFFFFF"/>
                    </a:solidFill>
                  </a:tcPr>
                </a:tc>
              </a:tr>
              <a:tr h="329184">
                <a:tc>
                  <a:txBody>
                    <a:bodyPr wrap="square"/>
                    <a:lstStyle/>
                    <a:p>
                      <a:r>
                        <a:rPr sz="1050" b="1">
                          <a:solidFill>
                            <a:srgbClr val="0C2E6B"/>
                          </a:solidFill>
                          <a:latin typeface="Calibri"/>
                        </a:rPr>
                        <a:t>Backend</a:t>
                      </a:r>
                    </a:p>
                  </a:txBody>
                  <a:tcPr marL="91440" marR="91440" marT="27432" marB="27432" anchor="ctr">
                    <a:solidFill>
                      <a:srgbClr val="FFFFFF"/>
                    </a:solidFill>
                  </a:tcPr>
                </a:tc>
                <a:tc>
                  <a:txBody>
                    <a:bodyPr wrap="square"/>
                    <a:lstStyle/>
                    <a:p>
                      <a:r>
                        <a:rPr sz="1050" b="0">
                          <a:solidFill>
                            <a:srgbClr val="0F1B33"/>
                          </a:solidFill>
                          <a:latin typeface="Courier New"/>
                        </a:rPr>
                        <a:t>api/app/controllers/api/v1/portfolios_controller.rb</a:t>
                      </a:r>
                    </a:p>
                  </a:txBody>
                  <a:tcPr marL="91440" marR="91440" marT="27432" marB="27432" anchor="ctr">
                    <a:solidFill>
                      <a:srgbClr val="FFFFFF"/>
                    </a:solidFill>
                  </a:tcPr>
                </a:tc>
                <a:tc>
                  <a:txBody>
                    <a:bodyPr wrap="square"/>
                    <a:lstStyle/>
                    <a:p>
                      <a:r>
                        <a:rPr sz="1050" b="0">
                          <a:solidFill>
                            <a:srgbClr val="0F1B33"/>
                          </a:solidFill>
                          <a:latin typeface="Calibri"/>
                        </a:rPr>
                        <a:t>Akses dibatasi per perusahaan (IDOR)</a:t>
                      </a:r>
                    </a:p>
                  </a:txBody>
                  <a:tcPr marL="91440" marR="91440" marT="27432" marB="27432" anchor="ctr">
                    <a:solidFill>
                      <a:srgbClr val="FFFFFF"/>
                    </a:solidFill>
                  </a:tcPr>
                </a:tc>
              </a:tr>
              <a:tr h="329184">
                <a:tc>
                  <a:txBody>
                    <a:bodyPr wrap="square"/>
                    <a:lstStyle/>
                    <a:p>
                      <a:r>
                        <a:rPr sz="1050" b="1">
                          <a:solidFill>
                            <a:srgbClr val="0C2E6B"/>
                          </a:solidFill>
                          <a:latin typeface="Calibri"/>
                        </a:rPr>
                        <a:t>Backend</a:t>
                      </a:r>
                    </a:p>
                  </a:txBody>
                  <a:tcPr marL="91440" marR="91440" marT="27432" marB="27432" anchor="ctr">
                    <a:solidFill>
                      <a:srgbClr val="FFFFFF"/>
                    </a:solidFill>
                  </a:tcPr>
                </a:tc>
                <a:tc>
                  <a:txBody>
                    <a:bodyPr wrap="square"/>
                    <a:lstStyle/>
                    <a:p>
                      <a:r>
                        <a:rPr sz="1050" b="0">
                          <a:solidFill>
                            <a:srgbClr val="0F1B33"/>
                          </a:solidFill>
                          <a:latin typeface="Courier New"/>
                        </a:rPr>
                        <a:t>api/app/services/portfolios/generator.rb</a:t>
                      </a:r>
                    </a:p>
                  </a:txBody>
                  <a:tcPr marL="91440" marR="91440" marT="27432" marB="27432" anchor="ctr">
                    <a:solidFill>
                      <a:srgbClr val="FFFFFF"/>
                    </a:solidFill>
                  </a:tcPr>
                </a:tc>
                <a:tc>
                  <a:txBody>
                    <a:bodyPr wrap="square"/>
                    <a:lstStyle/>
                    <a:p>
                      <a:r>
                        <a:rPr sz="1050" b="0">
                          <a:solidFill>
                            <a:srgbClr val="0F1B33"/>
                          </a:solidFill>
                          <a:latin typeface="Calibri"/>
                        </a:rPr>
                        <a:t>Koreksi assessor tidak hilang saat generate ulang</a:t>
                      </a:r>
                    </a:p>
                  </a:txBody>
                  <a:tcPr marL="91440" marR="91440" marT="27432" marB="27432" anchor="ctr">
                    <a:solidFill>
                      <a:srgbClr val="FFFFFF"/>
                    </a:solidFill>
                  </a:tcPr>
                </a:tc>
              </a:tr>
              <a:tr h="329184">
                <a:tc>
                  <a:txBody>
                    <a:bodyPr wrap="square"/>
                    <a:lstStyle/>
                    <a:p>
                      <a:r>
                        <a:rPr sz="1050" b="1">
                          <a:solidFill>
                            <a:srgbClr val="0C2E6B"/>
                          </a:solidFill>
                          <a:latin typeface="Calibri"/>
                        </a:rPr>
                        <a:t>Backend</a:t>
                      </a:r>
                    </a:p>
                  </a:txBody>
                  <a:tcPr marL="91440" marR="91440" marT="27432" marB="27432" anchor="ctr">
                    <a:solidFill>
                      <a:srgbClr val="FFFFFF"/>
                    </a:solidFill>
                  </a:tcPr>
                </a:tc>
                <a:tc>
                  <a:txBody>
                    <a:bodyPr wrap="square"/>
                    <a:lstStyle/>
                    <a:p>
                      <a:r>
                        <a:rPr sz="1050" b="0">
                          <a:solidFill>
                            <a:srgbClr val="0F1B33"/>
                          </a:solidFill>
                          <a:latin typeface="Courier New"/>
                        </a:rPr>
                        <a:t>api/app/services/fit_gap/job_guard.rb  (baru)</a:t>
                      </a:r>
                    </a:p>
                  </a:txBody>
                  <a:tcPr marL="91440" marR="91440" marT="27432" marB="27432" anchor="ctr">
                    <a:solidFill>
                      <a:srgbClr val="FFFFFF"/>
                    </a:solidFill>
                  </a:tcPr>
                </a:tc>
                <a:tc>
                  <a:txBody>
                    <a:bodyPr wrap="square"/>
                    <a:lstStyle/>
                    <a:p>
                      <a:r>
                        <a:rPr sz="1050" b="0">
                          <a:solidFill>
                            <a:srgbClr val="0F1B33"/>
                          </a:solidFill>
                          <a:latin typeface="Calibri"/>
                        </a:rPr>
                        <a:t>Mencegah proses fit/gap berjalan dobel</a:t>
                      </a:r>
                    </a:p>
                  </a:txBody>
                  <a:tcPr marL="91440" marR="91440" marT="27432" marB="27432" anchor="ctr">
                    <a:solidFill>
                      <a:srgbClr val="FFFFFF"/>
                    </a:solidFill>
                  </a:tcPr>
                </a:tc>
              </a:tr>
              <a:tr h="329184">
                <a:tc>
                  <a:txBody>
                    <a:bodyPr wrap="square"/>
                    <a:lstStyle/>
                    <a:p>
                      <a:r>
                        <a:rPr sz="1050" b="1">
                          <a:solidFill>
                            <a:srgbClr val="0C2E6B"/>
                          </a:solidFill>
                          <a:latin typeface="Calibri"/>
                        </a:rPr>
                        <a:t>Data</a:t>
                      </a:r>
                    </a:p>
                  </a:txBody>
                  <a:tcPr marL="91440" marR="91440" marT="27432" marB="27432" anchor="ctr">
                    <a:solidFill>
                      <a:srgbClr val="FFFFFF"/>
                    </a:solidFill>
                  </a:tcPr>
                </a:tc>
                <a:tc>
                  <a:txBody>
                    <a:bodyPr wrap="square"/>
                    <a:lstStyle/>
                    <a:p>
                      <a:r>
                        <a:rPr sz="1050" b="0">
                          <a:solidFill>
                            <a:srgbClr val="0F1B33"/>
                          </a:solidFill>
                          <a:latin typeface="Courier New"/>
                        </a:rPr>
                        <a:t>api/db/migrate/20260814000001_add_decision_record_fields.rb</a:t>
                      </a:r>
                    </a:p>
                  </a:txBody>
                  <a:tcPr marL="91440" marR="91440" marT="27432" marB="27432" anchor="ctr">
                    <a:solidFill>
                      <a:srgbClr val="FFFFFF"/>
                    </a:solidFill>
                  </a:tcPr>
                </a:tc>
                <a:tc>
                  <a:txBody>
                    <a:bodyPr wrap="square"/>
                    <a:lstStyle/>
                    <a:p>
                      <a:r>
                        <a:rPr sz="1050" b="0">
                          <a:solidFill>
                            <a:srgbClr val="0F1B33"/>
                          </a:solidFill>
                          <a:latin typeface="Calibri"/>
                        </a:rPr>
                        <a:t>Kolom baru, bisa di-rollback</a:t>
                      </a:r>
                    </a:p>
                  </a:txBody>
                  <a:tcPr marL="91440" marR="91440" marT="27432" marB="27432" anchor="ctr">
                    <a:solidFill>
                      <a:srgbClr val="FFFFFF"/>
                    </a:solidFill>
                  </a:tcPr>
                </a:tc>
              </a:tr>
              <a:tr h="329184">
                <a:tc>
                  <a:txBody>
                    <a:bodyPr wrap="square"/>
                    <a:lstStyle/>
                    <a:p>
                      <a:r>
                        <a:rPr sz="1050" b="1">
                          <a:solidFill>
                            <a:srgbClr val="0C2E6B"/>
                          </a:solidFill>
                          <a:latin typeface="Calibri"/>
                        </a:rPr>
                        <a:t>Form</a:t>
                      </a:r>
                    </a:p>
                  </a:txBody>
                  <a:tcPr marL="91440" marR="91440" marT="27432" marB="27432" anchor="ctr">
                    <a:solidFill>
                      <a:srgbClr val="FFFFFF"/>
                    </a:solidFill>
                  </a:tcPr>
                </a:tc>
                <a:tc>
                  <a:txBody>
                    <a:bodyPr wrap="square"/>
                    <a:lstStyle/>
                    <a:p>
                      <a:r>
                        <a:rPr sz="1050" b="0">
                          <a:solidFill>
                            <a:srgbClr val="0F1B33"/>
                          </a:solidFill>
                          <a:latin typeface="Courier New"/>
                        </a:rPr>
                        <a:t>web/src/pages/assessments/AssessmentEditPage.tsx</a:t>
                      </a:r>
                    </a:p>
                  </a:txBody>
                  <a:tcPr marL="91440" marR="91440" marT="27432" marB="27432" anchor="ctr">
                    <a:solidFill>
                      <a:srgbClr val="FFFFFF"/>
                    </a:solidFill>
                  </a:tcPr>
                </a:tc>
                <a:tc>
                  <a:txBody>
                    <a:bodyPr wrap="square"/>
                    <a:lstStyle/>
                    <a:p>
                      <a:r>
                        <a:rPr sz="1050" b="0">
                          <a:solidFill>
                            <a:srgbClr val="0F1B33"/>
                          </a:solidFill>
                          <a:latin typeface="Calibri"/>
                        </a:rPr>
                        <a:t>Bahasa wawancara dimuat dan disimpan</a:t>
                      </a:r>
                    </a:p>
                  </a:txBody>
                  <a:tcPr marL="91440" marR="91440" marT="27432" marB="27432" anchor="ctr">
                    <a:solidFill>
                      <a:srgbClr val="FFFFFF"/>
                    </a:solidFill>
                  </a:tcPr>
                </a:tc>
              </a:tr>
              <a:tr h="329184">
                <a:tc>
                  <a:txBody>
                    <a:bodyPr wrap="square"/>
                    <a:lstStyle/>
                    <a:p>
                      <a:r>
                        <a:rPr sz="1050" b="1">
                          <a:solidFill>
                            <a:srgbClr val="0C2E6B"/>
                          </a:solidFill>
                          <a:latin typeface="Calibri"/>
                        </a:rPr>
                        <a:t>Test</a:t>
                      </a:r>
                    </a:p>
                  </a:txBody>
                  <a:tcPr marL="91440" marR="91440" marT="27432" marB="27432" anchor="ctr">
                    <a:solidFill>
                      <a:srgbClr val="FFFFFF"/>
                    </a:solidFill>
                  </a:tcPr>
                </a:tc>
                <a:tc>
                  <a:txBody>
                    <a:bodyPr wrap="square"/>
                    <a:lstStyle/>
                    <a:p>
                      <a:r>
                        <a:rPr sz="1050" b="0">
                          <a:solidFill>
                            <a:srgbClr val="0F1B33"/>
                          </a:solidFill>
                          <a:latin typeface="Courier New"/>
                        </a:rPr>
                        <a:t>web/src/**/*.test.ts(x)  ·  api/spec/**</a:t>
                      </a:r>
                    </a:p>
                  </a:txBody>
                  <a:tcPr marL="91440" marR="91440" marT="27432" marB="27432" anchor="ctr">
                    <a:solidFill>
                      <a:srgbClr val="FFFFFF"/>
                    </a:solidFill>
                  </a:tcPr>
                </a:tc>
                <a:tc>
                  <a:txBody>
                    <a:bodyPr wrap="square"/>
                    <a:lstStyle/>
                    <a:p>
                      <a:r>
                        <a:rPr sz="1050" b="0">
                          <a:solidFill>
                            <a:srgbClr val="0F1B33"/>
                          </a:solidFill>
                          <a:latin typeface="Calibri"/>
                        </a:rPr>
                        <a:t>34 test frontend dan RSpec pertama di repo</a:t>
                      </a:r>
                    </a:p>
                  </a:txBody>
                  <a:tcPr marL="91440" marR="91440" marT="27432" marB="27432" anchor="ctr">
                    <a:solidFill>
                      <a:srgbClr val="FFFFFF"/>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38912"/>
            <a:ext cx="11002975" cy="566928"/>
          </a:xfrm>
          <a:prstGeom prst="rect">
            <a:avLst/>
          </a:prstGeom>
          <a:noFill/>
        </p:spPr>
        <p:txBody>
          <a:bodyPr wrap="square" lIns="0" rIns="0" tIns="0" bIns="0" anchor="t">
            <a:spAutoFit/>
          </a:bodyPr>
          <a:lstStyle/>
          <a:p>
            <a:pPr algn="l"/>
            <a:r>
              <a:rPr sz="2800" b="1" i="0">
                <a:solidFill>
                  <a:srgbClr val="0F1B33"/>
                </a:solidFill>
                <a:latin typeface="Calibri"/>
              </a:rPr>
              <a:t>Kode: kenapa kolom Required kosong</a:t>
            </a:r>
          </a:p>
        </p:txBody>
      </p:sp>
      <p:sp>
        <p:nvSpPr>
          <p:cNvPr id="3" name="TextBox 2"/>
          <p:cNvSpPr txBox="1"/>
          <p:nvPr/>
        </p:nvSpPr>
        <p:spPr>
          <a:xfrm>
            <a:off x="594360" y="987552"/>
            <a:ext cx="11002975" cy="384048"/>
          </a:xfrm>
          <a:prstGeom prst="rect">
            <a:avLst/>
          </a:prstGeom>
          <a:noFill/>
        </p:spPr>
        <p:txBody>
          <a:bodyPr wrap="square" lIns="0" rIns="0" tIns="0" bIns="0" anchor="t">
            <a:spAutoFit/>
          </a:bodyPr>
          <a:lstStyle/>
          <a:p>
            <a:pPr algn="l"/>
            <a:r>
              <a:rPr sz="1500" b="0" i="0">
                <a:solidFill>
                  <a:srgbClr val="55617A"/>
                </a:solidFill>
                <a:latin typeface="Calibri"/>
              </a:rPr>
              <a:t>P0-1 · frontend mengharapkan nama field yang tidak pernah dikirim backend.</a:t>
            </a:r>
          </a:p>
        </p:txBody>
      </p:sp>
      <p:sp>
        <p:nvSpPr>
          <p:cNvPr id="4" name="TextBox 3"/>
          <p:cNvSpPr txBox="1"/>
          <p:nvPr/>
        </p:nvSpPr>
        <p:spPr>
          <a:xfrm>
            <a:off x="594360" y="6419088"/>
            <a:ext cx="4572000" cy="256032"/>
          </a:xfrm>
          <a:prstGeom prst="rect">
            <a:avLst/>
          </a:prstGeom>
          <a:noFill/>
        </p:spPr>
        <p:txBody>
          <a:bodyPr wrap="square" lIns="0" rIns="0" tIns="0" bIns="0" anchor="t">
            <a:spAutoFit/>
          </a:bodyPr>
          <a:lstStyle/>
          <a:p>
            <a:pPr algn="l"/>
            <a:r>
              <a:rPr sz="1000" b="0" i="0">
                <a:solidFill>
                  <a:srgbClr val="8A94A8"/>
                </a:solidFill>
                <a:latin typeface="Calibri"/>
              </a:rPr>
              <a:t>Aulia Afriza  ·  Kandidat Fullstack · Frontend depth</a:t>
            </a:r>
          </a:p>
        </p:txBody>
      </p:sp>
      <p:sp>
        <p:nvSpPr>
          <p:cNvPr id="5" name="TextBox 4"/>
          <p:cNvSpPr txBox="1"/>
          <p:nvPr/>
        </p:nvSpPr>
        <p:spPr>
          <a:xfrm>
            <a:off x="11277295" y="6419088"/>
            <a:ext cx="457200" cy="256032"/>
          </a:xfrm>
          <a:prstGeom prst="rect">
            <a:avLst/>
          </a:prstGeom>
          <a:noFill/>
        </p:spPr>
        <p:txBody>
          <a:bodyPr wrap="square" lIns="0" rIns="0" tIns="0" bIns="0" anchor="t">
            <a:spAutoFit/>
          </a:bodyPr>
          <a:lstStyle/>
          <a:p>
            <a:pPr algn="r"/>
            <a:r>
              <a:rPr sz="1000" b="0" i="0">
                <a:solidFill>
                  <a:srgbClr val="8A94A8"/>
                </a:solidFill>
                <a:latin typeface="Calibri"/>
              </a:rPr>
              <a:t>27</a:t>
            </a:r>
          </a:p>
        </p:txBody>
      </p:sp>
      <p:sp>
        <p:nvSpPr>
          <p:cNvPr id="6" name="TextBox 5"/>
          <p:cNvSpPr txBox="1"/>
          <p:nvPr/>
        </p:nvSpPr>
        <p:spPr>
          <a:xfrm>
            <a:off x="594360" y="1481328"/>
            <a:ext cx="5171398" cy="274320"/>
          </a:xfrm>
          <a:prstGeom prst="rect">
            <a:avLst/>
          </a:prstGeom>
          <a:noFill/>
        </p:spPr>
        <p:txBody>
          <a:bodyPr wrap="square" lIns="0" rIns="0" tIns="0" bIns="0" anchor="t">
            <a:spAutoFit/>
          </a:bodyPr>
          <a:lstStyle/>
          <a:p>
            <a:pPr algn="l"/>
            <a:r>
              <a:rPr sz="1200" b="1" i="0">
                <a:solidFill>
                  <a:srgbClr val="D14343"/>
                </a:solidFill>
                <a:latin typeface="Calibri"/>
              </a:rPr>
              <a:t>Sebelum  </a:t>
            </a:r>
            <a:r>
              <a:rPr sz="1050" b="0" i="0">
                <a:solidFill>
                  <a:srgbClr val="55617A"/>
                </a:solidFill>
                <a:latin typeface="Courier New"/>
              </a:rPr>
              <a:t>web/src/types/index.ts:130</a:t>
            </a:r>
          </a:p>
        </p:txBody>
      </p:sp>
      <p:sp>
        <p:nvSpPr>
          <p:cNvPr id="7" name="Rounded Rectangle 6"/>
          <p:cNvSpPr/>
          <p:nvPr/>
        </p:nvSpPr>
        <p:spPr>
          <a:xfrm>
            <a:off x="594360" y="1810512"/>
            <a:ext cx="5171398" cy="3374136"/>
          </a:xfrm>
          <a:prstGeom prst="roundRect">
            <a:avLst>
              <a:gd name="adj" fmla="val 4000"/>
            </a:avLst>
          </a:prstGeom>
          <a:solidFill>
            <a:srgbClr val="0E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956816"/>
            <a:ext cx="4805638" cy="3154679"/>
          </a:xfrm>
          <a:prstGeom prst="rect">
            <a:avLst/>
          </a:prstGeom>
          <a:noFill/>
        </p:spPr>
        <p:txBody>
          <a:bodyPr wrap="square" lIns="0" rIns="0" tIns="0" bIns="0" anchor="t">
            <a:spAutoFit/>
          </a:bodyPr>
          <a:lstStyle/>
          <a:p>
            <a:pPr algn="l">
              <a:lnSpc>
                <a:spcPts val="1400"/>
              </a:lnSpc>
            </a:pPr>
            <a:r>
              <a:rPr sz="1000" b="0" i="0">
                <a:solidFill>
                  <a:srgbClr val="DCE6F5"/>
                </a:solidFill>
                <a:latin typeface="Courier New"/>
              </a:rPr>
              <a:t>export interface SkillComparison {</a:t>
            </a:r>
          </a:p>
          <a:p>
            <a:pPr algn="l">
              <a:lnSpc>
                <a:spcPts val="1400"/>
              </a:lnSpc>
            </a:pPr>
            <a:r>
              <a:rPr sz="1000" b="0" i="0">
                <a:solidFill>
                  <a:srgbClr val="DCE6F5"/>
                </a:solidFill>
                <a:latin typeface="Courier New"/>
              </a:rPr>
              <a:t>  skill_label: string;</a:t>
            </a:r>
          </a:p>
          <a:p>
            <a:pPr algn="l">
              <a:lnSpc>
                <a:spcPts val="1400"/>
              </a:lnSpc>
            </a:pPr>
            <a:r>
              <a:rPr sz="1000" b="1" i="0">
                <a:solidFill>
                  <a:srgbClr val="FF9F91"/>
                </a:solidFill>
                <a:latin typeface="Courier New"/>
              </a:rPr>
              <a:t>  required_level: number;</a:t>
            </a:r>
          </a:p>
          <a:p>
            <a:pPr algn="l">
              <a:lnSpc>
                <a:spcPts val="1400"/>
              </a:lnSpc>
            </a:pPr>
            <a:r>
              <a:rPr sz="1000" b="0" i="0">
                <a:solidFill>
                  <a:srgbClr val="DCE6F5"/>
                </a:solidFill>
                <a:latin typeface="Courier New"/>
              </a:rPr>
              <a:t>  candidate_level?: number;</a:t>
            </a:r>
          </a:p>
          <a:p>
            <a:pPr algn="l">
              <a:lnSpc>
                <a:spcPts val="1400"/>
              </a:lnSpc>
            </a:pPr>
            <a:r>
              <a:rPr sz="1000" b="0" i="0">
                <a:solidFill>
                  <a:srgbClr val="DCE6F5"/>
                </a:solidFill>
                <a:latin typeface="Courier New"/>
              </a:rPr>
              <a:t>  result: SkillComparisonResult;</a:t>
            </a:r>
          </a:p>
          <a:p>
            <a:pPr algn="l">
              <a:lnSpc>
                <a:spcPts val="1400"/>
              </a:lnSpc>
            </a:pPr>
            <a:r>
              <a:rPr sz="1000" b="0" i="0">
                <a:solidFill>
                  <a:srgbClr val="DCE6F5"/>
                </a:solidFill>
                <a:latin typeface="Courier New"/>
              </a:rPr>
              <a:t>  delta?: number;</a:t>
            </a:r>
          </a:p>
          <a:p>
            <a:pPr algn="l">
              <a:lnSpc>
                <a:spcPts val="1400"/>
              </a:lnSpc>
            </a:pPr>
            <a:r>
              <a:rPr sz="1000" b="0" i="0">
                <a:solidFill>
                  <a:srgbClr val="DCE6F5"/>
                </a:solidFill>
                <a:latin typeface="Courier New"/>
              </a:rPr>
              <a:t>  is_override?: boolean;</a:t>
            </a:r>
          </a:p>
          <a:p>
            <a:pPr algn="l">
              <a:lnSpc>
                <a:spcPts val="1400"/>
              </a:lnSpc>
            </a:pPr>
            <a:r>
              <a:rPr sz="1000" b="0" i="0">
                <a:solidFill>
                  <a:srgbClr val="DCE6F5"/>
                </a:solidFill>
                <a:latin typeface="Courier New"/>
              </a:rPr>
              <a:t>}</a:t>
            </a:r>
          </a:p>
          <a:p>
            <a:pPr algn="l">
              <a:lnSpc>
                <a:spcPts val="1400"/>
              </a:lnSpc>
            </a:pPr>
            <a:r>
              <a:rPr sz="1000" b="0" i="0">
                <a:solidFill>
                  <a:srgbClr val="DCE6F5"/>
                </a:solidFill>
                <a:latin typeface="Courier New"/>
              </a:rPr>
              <a:t> </a:t>
            </a:r>
          </a:p>
          <a:p>
            <a:pPr algn="l">
              <a:lnSpc>
                <a:spcPts val="1400"/>
              </a:lnSpc>
            </a:pPr>
            <a:r>
              <a:rPr sz="1000" b="0" i="0">
                <a:solidFill>
                  <a:srgbClr val="DCE6F5"/>
                </a:solidFill>
                <a:latin typeface="Courier New"/>
              </a:rPr>
              <a:t>// sementara engine.rb:62 mengirim:</a:t>
            </a:r>
          </a:p>
          <a:p>
            <a:pPr algn="l">
              <a:lnSpc>
                <a:spcPts val="1400"/>
              </a:lnSpc>
            </a:pPr>
            <a:r>
              <a:rPr sz="1000" b="1" i="0">
                <a:solidFill>
                  <a:srgbClr val="FF9F91"/>
                </a:solidFill>
                <a:latin typeface="Courier New"/>
              </a:rPr>
              <a:t>//   expected_level: expected_level</a:t>
            </a:r>
          </a:p>
        </p:txBody>
      </p:sp>
      <p:sp>
        <p:nvSpPr>
          <p:cNvPr id="9" name="TextBox 8"/>
          <p:cNvSpPr txBox="1"/>
          <p:nvPr/>
        </p:nvSpPr>
        <p:spPr>
          <a:xfrm>
            <a:off x="6040078" y="1481328"/>
            <a:ext cx="5557256" cy="274320"/>
          </a:xfrm>
          <a:prstGeom prst="rect">
            <a:avLst/>
          </a:prstGeom>
          <a:noFill/>
        </p:spPr>
        <p:txBody>
          <a:bodyPr wrap="square" lIns="0" rIns="0" tIns="0" bIns="0" anchor="t">
            <a:spAutoFit/>
          </a:bodyPr>
          <a:lstStyle/>
          <a:p>
            <a:pPr algn="l"/>
            <a:r>
              <a:rPr sz="1200" b="1" i="0">
                <a:solidFill>
                  <a:srgbClr val="1C6FF3"/>
                </a:solidFill>
                <a:latin typeface="Calibri"/>
              </a:rPr>
              <a:t>Sesudah  </a:t>
            </a:r>
            <a:r>
              <a:rPr sz="1050" b="0" i="0">
                <a:solidFill>
                  <a:srgbClr val="55617A"/>
                </a:solidFill>
                <a:latin typeface="Courier New"/>
              </a:rPr>
              <a:t>web/src/services/schemas.ts:152</a:t>
            </a:r>
          </a:p>
        </p:txBody>
      </p:sp>
      <p:sp>
        <p:nvSpPr>
          <p:cNvPr id="10" name="Rounded Rectangle 9"/>
          <p:cNvSpPr/>
          <p:nvPr/>
        </p:nvSpPr>
        <p:spPr>
          <a:xfrm>
            <a:off x="6040078" y="1810512"/>
            <a:ext cx="5557256" cy="3374136"/>
          </a:xfrm>
          <a:prstGeom prst="roundRect">
            <a:avLst>
              <a:gd name="adj" fmla="val 4000"/>
            </a:avLst>
          </a:prstGeom>
          <a:solidFill>
            <a:srgbClr val="0E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41246" y="1956816"/>
            <a:ext cx="5191496" cy="3154679"/>
          </a:xfrm>
          <a:prstGeom prst="rect">
            <a:avLst/>
          </a:prstGeom>
          <a:noFill/>
        </p:spPr>
        <p:txBody>
          <a:bodyPr wrap="square" lIns="0" rIns="0" tIns="0" bIns="0" anchor="t">
            <a:spAutoFit/>
          </a:bodyPr>
          <a:lstStyle/>
          <a:p>
            <a:pPr algn="l">
              <a:lnSpc>
                <a:spcPts val="1400"/>
              </a:lnSpc>
            </a:pPr>
            <a:r>
              <a:rPr sz="1000" b="0" i="0">
                <a:solidFill>
                  <a:srgbClr val="DCE6F5"/>
                </a:solidFill>
                <a:latin typeface="Courier New"/>
              </a:rPr>
              <a:t>export const skillComparisonSchema = z</a:t>
            </a:r>
          </a:p>
          <a:p>
            <a:pPr algn="l">
              <a:lnSpc>
                <a:spcPts val="1400"/>
              </a:lnSpc>
            </a:pPr>
            <a:r>
              <a:rPr sz="1000" b="0" i="0">
                <a:solidFill>
                  <a:srgbClr val="DCE6F5"/>
                </a:solidFill>
                <a:latin typeface="Courier New"/>
              </a:rPr>
              <a:t>  .object({</a:t>
            </a:r>
          </a:p>
          <a:p>
            <a:pPr algn="l">
              <a:lnSpc>
                <a:spcPts val="1400"/>
              </a:lnSpc>
            </a:pPr>
            <a:r>
              <a:rPr sz="1000" b="0" i="0">
                <a:solidFill>
                  <a:srgbClr val="DCE6F5"/>
                </a:solidFill>
                <a:latin typeface="Courier New"/>
              </a:rPr>
              <a:t>    required_level: levelValue,</a:t>
            </a:r>
          </a:p>
          <a:p>
            <a:pPr algn="l">
              <a:lnSpc>
                <a:spcPts val="1400"/>
              </a:lnSpc>
            </a:pPr>
            <a:r>
              <a:rPr sz="1000" b="0" i="0">
                <a:solidFill>
                  <a:srgbClr val="DCE6F5"/>
                </a:solidFill>
                <a:latin typeface="Courier New"/>
              </a:rPr>
              <a:t>    expected_level: levelValue,</a:t>
            </a:r>
          </a:p>
          <a:p>
            <a:pPr algn="l">
              <a:lnSpc>
                <a:spcPts val="1400"/>
              </a:lnSpc>
            </a:pPr>
            <a:r>
              <a:rPr sz="1000" b="0" i="0">
                <a:solidFill>
                  <a:srgbClr val="DCE6F5"/>
                </a:solidFill>
                <a:latin typeface="Courier New"/>
              </a:rPr>
              <a:t>    confidence: confidenceValue,</a:t>
            </a:r>
          </a:p>
          <a:p>
            <a:pPr algn="l">
              <a:lnSpc>
                <a:spcPts val="1400"/>
              </a:lnSpc>
            </a:pPr>
            <a:r>
              <a:rPr sz="1000" b="0" i="0">
                <a:solidFill>
                  <a:srgbClr val="DCE6F5"/>
                </a:solidFill>
                <a:latin typeface="Courier New"/>
              </a:rPr>
              <a:t>    probe_count: z.union([z.number(), z.null()]).optional(),</a:t>
            </a:r>
          </a:p>
          <a:p>
            <a:pPr algn="l">
              <a:lnSpc>
                <a:spcPts val="1400"/>
              </a:lnSpc>
            </a:pPr>
            <a:r>
              <a:rPr sz="1000" b="0" i="0">
                <a:solidFill>
                  <a:srgbClr val="DCE6F5"/>
                </a:solidFill>
                <a:latin typeface="Courier New"/>
              </a:rPr>
              <a:t>    is_override: z.boolean().optional().default(false),</a:t>
            </a:r>
          </a:p>
          <a:p>
            <a:pPr algn="l">
              <a:lnSpc>
                <a:spcPts val="1400"/>
              </a:lnSpc>
            </a:pPr>
            <a:r>
              <a:rPr sz="1000" b="0" i="0">
                <a:solidFill>
                  <a:srgbClr val="DCE6F5"/>
                </a:solidFill>
                <a:latin typeface="Courier New"/>
              </a:rPr>
              <a:t>    …</a:t>
            </a:r>
          </a:p>
          <a:p>
            <a:pPr algn="l">
              <a:lnSpc>
                <a:spcPts val="1400"/>
              </a:lnSpc>
            </a:pPr>
            <a:r>
              <a:rPr sz="1000" b="0" i="0">
                <a:solidFill>
                  <a:srgbClr val="DCE6F5"/>
                </a:solidFill>
                <a:latin typeface="Courier New"/>
              </a:rPr>
              <a:t>  })</a:t>
            </a:r>
          </a:p>
          <a:p>
            <a:pPr algn="l">
              <a:lnSpc>
                <a:spcPts val="1400"/>
              </a:lnSpc>
            </a:pPr>
            <a:r>
              <a:rPr sz="1000" b="0" i="0">
                <a:solidFill>
                  <a:srgbClr val="DCE6F5"/>
                </a:solidFill>
                <a:latin typeface="Courier New"/>
              </a:rPr>
              <a:t>  .transform((c) =&gt; {</a:t>
            </a:r>
          </a:p>
          <a:p>
            <a:pPr algn="l">
              <a:lnSpc>
                <a:spcPts val="1400"/>
              </a:lnSpc>
            </a:pPr>
            <a:r>
              <a:rPr sz="1000" b="1" i="0">
                <a:solidFill>
                  <a:srgbClr val="9CC5FF"/>
                </a:solidFill>
                <a:latin typeface="Courier New"/>
              </a:rPr>
              <a:t>    const required = c.required_level ?? c.expected_level;</a:t>
            </a:r>
          </a:p>
          <a:p>
            <a:pPr algn="l">
              <a:lnSpc>
                <a:spcPts val="1400"/>
              </a:lnSpc>
            </a:pPr>
            <a:r>
              <a:rPr sz="1000" b="0" i="0">
                <a:solidFill>
                  <a:srgbClr val="DCE6F5"/>
                </a:solidFill>
                <a:latin typeface="Courier New"/>
              </a:rPr>
              <a:t>    return { …, required_level: required };</a:t>
            </a:r>
          </a:p>
          <a:p>
            <a:pPr algn="l">
              <a:lnSpc>
                <a:spcPts val="1400"/>
              </a:lnSpc>
            </a:pPr>
            <a:r>
              <a:rPr sz="1000" b="0" i="0">
                <a:solidFill>
                  <a:srgbClr val="DCE6F5"/>
                </a:solidFill>
                <a:latin typeface="Courier New"/>
              </a:rPr>
              <a:t>  })</a:t>
            </a:r>
          </a:p>
          <a:p>
            <a:pPr algn="l">
              <a:lnSpc>
                <a:spcPts val="1400"/>
              </a:lnSpc>
            </a:pPr>
            <a:r>
              <a:rPr sz="1000" b="1" i="0">
                <a:solidFill>
                  <a:srgbClr val="9CC5FF"/>
                </a:solidFill>
                <a:latin typeface="Courier New"/>
              </a:rPr>
              <a:t>  .refine((c) =&gt; c.required_level !== null, {</a:t>
            </a:r>
          </a:p>
          <a:p>
            <a:pPr algn="l">
              <a:lnSpc>
                <a:spcPts val="1400"/>
              </a:lnSpc>
            </a:pPr>
            <a:r>
              <a:rPr sz="1000" b="0" i="0">
                <a:solidFill>
                  <a:srgbClr val="DCE6F5"/>
                </a:solidFill>
                <a:latin typeface="Courier New"/>
              </a:rPr>
              <a:t>    message: "required_level is missing …",</a:t>
            </a:r>
          </a:p>
          <a:p>
            <a:pPr algn="l">
              <a:lnSpc>
                <a:spcPts val="1400"/>
              </a:lnSpc>
            </a:pPr>
            <a:r>
              <a:rPr sz="1000" b="0" i="0">
                <a:solidFill>
                  <a:srgbClr val="DCE6F5"/>
                </a:solidFill>
                <a:latin typeface="Courier New"/>
              </a:rPr>
              <a:t>  });</a:t>
            </a:r>
          </a:p>
        </p:txBody>
      </p:sp>
      <p:sp>
        <p:nvSpPr>
          <p:cNvPr id="12" name="Rounded Rectangle 11"/>
          <p:cNvSpPr/>
          <p:nvPr/>
        </p:nvSpPr>
        <p:spPr>
          <a:xfrm>
            <a:off x="594360" y="5349240"/>
            <a:ext cx="11002975" cy="713232"/>
          </a:xfrm>
          <a:prstGeom prst="roundRect">
            <a:avLst>
              <a:gd name="adj" fmla="val 4000"/>
            </a:avLst>
          </a:prstGeom>
          <a:solidFill>
            <a:srgbClr val="E7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5349240"/>
            <a:ext cx="10454335" cy="713232"/>
          </a:xfrm>
          <a:prstGeom prst="rect">
            <a:avLst/>
          </a:prstGeom>
          <a:noFill/>
        </p:spPr>
        <p:txBody>
          <a:bodyPr wrap="square" lIns="0" rIns="0" tIns="0" bIns="0" anchor="ctr">
            <a:spAutoFit/>
          </a:bodyPr>
          <a:lstStyle/>
          <a:p>
            <a:pPr algn="l">
              <a:lnSpc>
                <a:spcPts val="1800"/>
              </a:lnSpc>
            </a:pPr>
            <a:r>
              <a:rPr sz="1300" b="1" i="0">
                <a:solidFill>
                  <a:srgbClr val="0C2E6B"/>
                </a:solidFill>
                <a:latin typeface="Calibri"/>
              </a:rPr>
              <a:t>Kenapa diubah: </a:t>
            </a:r>
            <a:r>
              <a:rPr sz="1300" b="0" i="0">
                <a:solidFill>
                  <a:srgbClr val="0F1B33"/>
                </a:solidFill>
                <a:latin typeface="Calibri"/>
              </a:rPr>
              <a:t>type lama hanya klaim, tidak pernah dicek. Sekarang data dicek saat masuk. Kalau field-nya tidak ada, layar bilang datanya tidak lengkap, bukan menampilkan sel kosong.</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38912"/>
            <a:ext cx="11002975" cy="566928"/>
          </a:xfrm>
          <a:prstGeom prst="rect">
            <a:avLst/>
          </a:prstGeom>
          <a:noFill/>
        </p:spPr>
        <p:txBody>
          <a:bodyPr wrap="square" lIns="0" rIns="0" tIns="0" bIns="0" anchor="t">
            <a:spAutoFit/>
          </a:bodyPr>
          <a:lstStyle/>
          <a:p>
            <a:pPr algn="l"/>
            <a:r>
              <a:rPr sz="2800" b="1" i="0">
                <a:solidFill>
                  <a:srgbClr val="0F1B33"/>
                </a:solidFill>
                <a:latin typeface="Calibri"/>
              </a:rPr>
              <a:t>Kode: data yang dikirim backend</a:t>
            </a:r>
          </a:p>
        </p:txBody>
      </p:sp>
      <p:sp>
        <p:nvSpPr>
          <p:cNvPr id="3" name="TextBox 2"/>
          <p:cNvSpPr txBox="1"/>
          <p:nvPr/>
        </p:nvSpPr>
        <p:spPr>
          <a:xfrm>
            <a:off x="594360" y="987552"/>
            <a:ext cx="11002975" cy="384048"/>
          </a:xfrm>
          <a:prstGeom prst="rect">
            <a:avLst/>
          </a:prstGeom>
          <a:noFill/>
        </p:spPr>
        <p:txBody>
          <a:bodyPr wrap="square" lIns="0" rIns="0" tIns="0" bIns="0" anchor="t">
            <a:spAutoFit/>
          </a:bodyPr>
          <a:lstStyle/>
          <a:p>
            <a:pPr algn="l"/>
            <a:r>
              <a:rPr sz="1500" b="0" i="0">
                <a:solidFill>
                  <a:srgbClr val="55617A"/>
                </a:solidFill>
                <a:latin typeface="Calibri"/>
              </a:rPr>
              <a:t>P0-1, P0-2, P0-3 · engine sudah menghitung semuanya, tapi tidak semuanya dikirim.</a:t>
            </a:r>
          </a:p>
        </p:txBody>
      </p:sp>
      <p:sp>
        <p:nvSpPr>
          <p:cNvPr id="4" name="TextBox 3"/>
          <p:cNvSpPr txBox="1"/>
          <p:nvPr/>
        </p:nvSpPr>
        <p:spPr>
          <a:xfrm>
            <a:off x="594360" y="6419088"/>
            <a:ext cx="4572000" cy="256032"/>
          </a:xfrm>
          <a:prstGeom prst="rect">
            <a:avLst/>
          </a:prstGeom>
          <a:noFill/>
        </p:spPr>
        <p:txBody>
          <a:bodyPr wrap="square" lIns="0" rIns="0" tIns="0" bIns="0" anchor="t">
            <a:spAutoFit/>
          </a:bodyPr>
          <a:lstStyle/>
          <a:p>
            <a:pPr algn="l"/>
            <a:r>
              <a:rPr sz="1000" b="0" i="0">
                <a:solidFill>
                  <a:srgbClr val="8A94A8"/>
                </a:solidFill>
                <a:latin typeface="Calibri"/>
              </a:rPr>
              <a:t>Aulia Afriza  ·  Kandidat Fullstack · Frontend depth</a:t>
            </a:r>
          </a:p>
        </p:txBody>
      </p:sp>
      <p:sp>
        <p:nvSpPr>
          <p:cNvPr id="5" name="TextBox 4"/>
          <p:cNvSpPr txBox="1"/>
          <p:nvPr/>
        </p:nvSpPr>
        <p:spPr>
          <a:xfrm>
            <a:off x="11277295" y="6419088"/>
            <a:ext cx="457200" cy="256032"/>
          </a:xfrm>
          <a:prstGeom prst="rect">
            <a:avLst/>
          </a:prstGeom>
          <a:noFill/>
        </p:spPr>
        <p:txBody>
          <a:bodyPr wrap="square" lIns="0" rIns="0" tIns="0" bIns="0" anchor="t">
            <a:spAutoFit/>
          </a:bodyPr>
          <a:lstStyle/>
          <a:p>
            <a:pPr algn="r"/>
            <a:r>
              <a:rPr sz="1000" b="0" i="0">
                <a:solidFill>
                  <a:srgbClr val="8A94A8"/>
                </a:solidFill>
                <a:latin typeface="Calibri"/>
              </a:rPr>
              <a:t>28</a:t>
            </a:r>
          </a:p>
        </p:txBody>
      </p:sp>
      <p:sp>
        <p:nvSpPr>
          <p:cNvPr id="6" name="TextBox 5"/>
          <p:cNvSpPr txBox="1"/>
          <p:nvPr/>
        </p:nvSpPr>
        <p:spPr>
          <a:xfrm>
            <a:off x="594360" y="1481328"/>
            <a:ext cx="5171398" cy="274320"/>
          </a:xfrm>
          <a:prstGeom prst="rect">
            <a:avLst/>
          </a:prstGeom>
          <a:noFill/>
        </p:spPr>
        <p:txBody>
          <a:bodyPr wrap="square" lIns="0" rIns="0" tIns="0" bIns="0" anchor="t">
            <a:spAutoFit/>
          </a:bodyPr>
          <a:lstStyle/>
          <a:p>
            <a:pPr algn="l"/>
            <a:r>
              <a:rPr sz="1200" b="1" i="0">
                <a:solidFill>
                  <a:srgbClr val="D14343"/>
                </a:solidFill>
                <a:latin typeface="Calibri"/>
              </a:rPr>
              <a:t>Sebelum  </a:t>
            </a:r>
            <a:r>
              <a:rPr sz="1050" b="0" i="0">
                <a:solidFill>
                  <a:srgbClr val="55617A"/>
                </a:solidFill>
                <a:latin typeface="Courier New"/>
              </a:rPr>
              <a:t>api/app/services/fit_gap/engine.rb:58</a:t>
            </a:r>
          </a:p>
        </p:txBody>
      </p:sp>
      <p:sp>
        <p:nvSpPr>
          <p:cNvPr id="7" name="Rounded Rectangle 6"/>
          <p:cNvSpPr/>
          <p:nvPr/>
        </p:nvSpPr>
        <p:spPr>
          <a:xfrm>
            <a:off x="594360" y="1810512"/>
            <a:ext cx="5171398" cy="3374136"/>
          </a:xfrm>
          <a:prstGeom prst="roundRect">
            <a:avLst>
              <a:gd name="adj" fmla="val 4000"/>
            </a:avLst>
          </a:prstGeom>
          <a:solidFill>
            <a:srgbClr val="0E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956816"/>
            <a:ext cx="4805638" cy="3154679"/>
          </a:xfrm>
          <a:prstGeom prst="rect">
            <a:avLst/>
          </a:prstGeom>
          <a:noFill/>
        </p:spPr>
        <p:txBody>
          <a:bodyPr wrap="square" lIns="0" rIns="0" tIns="0" bIns="0" anchor="t">
            <a:spAutoFit/>
          </a:bodyPr>
          <a:lstStyle/>
          <a:p>
            <a:pPr algn="l">
              <a:lnSpc>
                <a:spcPts val="1400"/>
              </a:lnSpc>
            </a:pPr>
            <a:r>
              <a:rPr sz="1000" b="0" i="0">
                <a:solidFill>
                  <a:srgbClr val="DCE6F5"/>
                </a:solidFill>
                <a:latin typeface="Courier New"/>
              </a:rPr>
              <a:t>{</a:t>
            </a:r>
          </a:p>
          <a:p>
            <a:pPr algn="l">
              <a:lnSpc>
                <a:spcPts val="1400"/>
              </a:lnSpc>
            </a:pPr>
            <a:r>
              <a:rPr sz="1000" b="0" i="0">
                <a:solidFill>
                  <a:srgbClr val="DCE6F5"/>
                </a:solidFill>
                <a:latin typeface="Courier New"/>
              </a:rPr>
              <a:t>  skill_label:     label,</a:t>
            </a:r>
          </a:p>
          <a:p>
            <a:pPr algn="l">
              <a:lnSpc>
                <a:spcPts val="1400"/>
              </a:lnSpc>
            </a:pPr>
            <a:r>
              <a:rPr sz="1000" b="0" i="0">
                <a:solidFill>
                  <a:srgbClr val="DCE6F5"/>
                </a:solidFill>
                <a:latin typeface="Courier New"/>
              </a:rPr>
              <a:t>  skill_id:        vacancy_skill.skill_id,</a:t>
            </a:r>
          </a:p>
          <a:p>
            <a:pPr algn="l">
              <a:lnSpc>
                <a:spcPts val="1400"/>
              </a:lnSpc>
            </a:pPr>
            <a:r>
              <a:rPr sz="1000" b="0" i="0">
                <a:solidFill>
                  <a:srgbClr val="DCE6F5"/>
                </a:solidFill>
                <a:latin typeface="Courier New"/>
              </a:rPr>
              <a:t>  candidate_level: candidate_level,</a:t>
            </a:r>
          </a:p>
          <a:p>
            <a:pPr algn="l">
              <a:lnSpc>
                <a:spcPts val="1400"/>
              </a:lnSpc>
            </a:pPr>
            <a:r>
              <a:rPr sz="1000" b="1" i="0">
                <a:solidFill>
                  <a:srgbClr val="FF9F91"/>
                </a:solidFill>
                <a:latin typeface="Courier New"/>
              </a:rPr>
              <a:t>  expected_level:  expected_level,</a:t>
            </a:r>
          </a:p>
          <a:p>
            <a:pPr algn="l">
              <a:lnSpc>
                <a:spcPts val="1400"/>
              </a:lnSpc>
            </a:pPr>
            <a:r>
              <a:rPr sz="1000" b="0" i="0">
                <a:solidFill>
                  <a:srgbClr val="DCE6F5"/>
                </a:solidFill>
                <a:latin typeface="Courier New"/>
              </a:rPr>
              <a:t>  result:          result,</a:t>
            </a:r>
          </a:p>
          <a:p>
            <a:pPr algn="l">
              <a:lnSpc>
                <a:spcPts val="1400"/>
              </a:lnSpc>
            </a:pPr>
            <a:r>
              <a:rPr sz="1000" b="0" i="0">
                <a:solidFill>
                  <a:srgbClr val="DCE6F5"/>
                </a:solidFill>
                <a:latin typeface="Courier New"/>
              </a:rPr>
              <a:t>  delta:           delta,</a:t>
            </a:r>
          </a:p>
          <a:p>
            <a:pPr algn="l">
              <a:lnSpc>
                <a:spcPts val="1400"/>
              </a:lnSpc>
            </a:pPr>
            <a:r>
              <a:rPr sz="1000" b="0" i="0">
                <a:solidFill>
                  <a:srgbClr val="DCE6F5"/>
                </a:solidFill>
                <a:latin typeface="Courier New"/>
              </a:rPr>
              <a:t>  confidence:      portfolio_skill&amp;.dig(:confidence)</a:t>
            </a:r>
          </a:p>
          <a:p>
            <a:pPr algn="l">
              <a:lnSpc>
                <a:spcPts val="1400"/>
              </a:lnSpc>
            </a:pPr>
            <a:r>
              <a:rPr sz="1000" b="0" i="0">
                <a:solidFill>
                  <a:srgbClr val="DCE6F5"/>
                </a:solidFill>
                <a:latin typeface="Courier New"/>
              </a:rPr>
              <a:t>}</a:t>
            </a:r>
          </a:p>
        </p:txBody>
      </p:sp>
      <p:sp>
        <p:nvSpPr>
          <p:cNvPr id="9" name="TextBox 8"/>
          <p:cNvSpPr txBox="1"/>
          <p:nvPr/>
        </p:nvSpPr>
        <p:spPr>
          <a:xfrm>
            <a:off x="6040078" y="1481328"/>
            <a:ext cx="5557256" cy="274320"/>
          </a:xfrm>
          <a:prstGeom prst="rect">
            <a:avLst/>
          </a:prstGeom>
          <a:noFill/>
        </p:spPr>
        <p:txBody>
          <a:bodyPr wrap="square" lIns="0" rIns="0" tIns="0" bIns="0" anchor="t">
            <a:spAutoFit/>
          </a:bodyPr>
          <a:lstStyle/>
          <a:p>
            <a:pPr algn="l"/>
            <a:r>
              <a:rPr sz="1200" b="1" i="0">
                <a:solidFill>
                  <a:srgbClr val="1C6FF3"/>
                </a:solidFill>
                <a:latin typeface="Calibri"/>
              </a:rPr>
              <a:t>Sesudah  </a:t>
            </a:r>
            <a:r>
              <a:rPr sz="1050" b="0" i="0">
                <a:solidFill>
                  <a:srgbClr val="55617A"/>
                </a:solidFill>
                <a:latin typeface="Courier New"/>
              </a:rPr>
              <a:t>api/app/services/fit_gap/engine.rb:79</a:t>
            </a:r>
          </a:p>
        </p:txBody>
      </p:sp>
      <p:sp>
        <p:nvSpPr>
          <p:cNvPr id="10" name="Rounded Rectangle 9"/>
          <p:cNvSpPr/>
          <p:nvPr/>
        </p:nvSpPr>
        <p:spPr>
          <a:xfrm>
            <a:off x="6040078" y="1810512"/>
            <a:ext cx="5557256" cy="3374136"/>
          </a:xfrm>
          <a:prstGeom prst="roundRect">
            <a:avLst>
              <a:gd name="adj" fmla="val 4000"/>
            </a:avLst>
          </a:prstGeom>
          <a:solidFill>
            <a:srgbClr val="0E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41246" y="1956816"/>
            <a:ext cx="5191496" cy="3154679"/>
          </a:xfrm>
          <a:prstGeom prst="rect">
            <a:avLst/>
          </a:prstGeom>
          <a:noFill/>
        </p:spPr>
        <p:txBody>
          <a:bodyPr wrap="square" lIns="0" rIns="0" tIns="0" bIns="0" anchor="t">
            <a:spAutoFit/>
          </a:bodyPr>
          <a:lstStyle/>
          <a:p>
            <a:pPr algn="l">
              <a:lnSpc>
                <a:spcPts val="1400"/>
              </a:lnSpc>
            </a:pPr>
            <a:r>
              <a:rPr sz="1000" b="0" i="0">
                <a:solidFill>
                  <a:srgbClr val="DCE6F5"/>
                </a:solidFill>
                <a:latin typeface="Courier New"/>
              </a:rPr>
              <a:t>{</a:t>
            </a:r>
          </a:p>
          <a:p>
            <a:pPr algn="l">
              <a:lnSpc>
                <a:spcPts val="1400"/>
              </a:lnSpc>
            </a:pPr>
            <a:r>
              <a:rPr sz="1000" b="1" i="0">
                <a:solidFill>
                  <a:srgbClr val="9CC5FF"/>
                </a:solidFill>
                <a:latin typeface="Courier New"/>
              </a:rPr>
              <a:t>  required_level:      required_level,</a:t>
            </a:r>
          </a:p>
          <a:p>
            <a:pPr algn="l">
              <a:lnSpc>
                <a:spcPts val="1400"/>
              </a:lnSpc>
            </a:pPr>
            <a:r>
              <a:rPr sz="1000" b="0" i="0">
                <a:solidFill>
                  <a:srgbClr val="DCE6F5"/>
                </a:solidFill>
                <a:latin typeface="Courier New"/>
              </a:rPr>
              <a:t>  expected_level:      required_level,</a:t>
            </a:r>
          </a:p>
          <a:p>
            <a:pPr algn="l">
              <a:lnSpc>
                <a:spcPts val="1400"/>
              </a:lnSpc>
            </a:pPr>
            <a:r>
              <a:rPr sz="1000" b="0" i="0">
                <a:solidFill>
                  <a:srgbClr val="DCE6F5"/>
                </a:solidFill>
                <a:latin typeface="Courier New"/>
              </a:rPr>
              <a:t>  candidate_level:     candidate_level,</a:t>
            </a:r>
          </a:p>
          <a:p>
            <a:pPr algn="l">
              <a:lnSpc>
                <a:spcPts val="1400"/>
              </a:lnSpc>
            </a:pPr>
            <a:r>
              <a:rPr sz="1000" b="1" i="0">
                <a:solidFill>
                  <a:srgbClr val="9CC5FF"/>
                </a:solidFill>
                <a:latin typeface="Courier New"/>
              </a:rPr>
              <a:t>  ai_level:            portfolio_skill&amp;.dig(:ai_level),</a:t>
            </a:r>
          </a:p>
          <a:p>
            <a:pPr algn="l">
              <a:lnSpc>
                <a:spcPts val="1400"/>
              </a:lnSpc>
            </a:pPr>
            <a:r>
              <a:rPr sz="1000" b="0" i="0">
                <a:solidFill>
                  <a:srgbClr val="DCE6F5"/>
                </a:solidFill>
                <a:latin typeface="Courier New"/>
              </a:rPr>
              <a:t>  result:              result,</a:t>
            </a:r>
          </a:p>
          <a:p>
            <a:pPr algn="l">
              <a:lnSpc>
                <a:spcPts val="1400"/>
              </a:lnSpc>
            </a:pPr>
            <a:r>
              <a:rPr sz="1000" b="0" i="0">
                <a:solidFill>
                  <a:srgbClr val="DCE6F5"/>
                </a:solidFill>
                <a:latin typeface="Courier New"/>
              </a:rPr>
              <a:t>  delta:               delta,</a:t>
            </a:r>
          </a:p>
          <a:p>
            <a:pPr algn="l">
              <a:lnSpc>
                <a:spcPts val="1400"/>
              </a:lnSpc>
            </a:pPr>
            <a:r>
              <a:rPr sz="1000" b="0" i="0">
                <a:solidFill>
                  <a:srgbClr val="DCE6F5"/>
                </a:solidFill>
                <a:latin typeface="Courier New"/>
              </a:rPr>
              <a:t>  confidence:          portfolio_skill&amp;.dig(:confidence),</a:t>
            </a:r>
          </a:p>
          <a:p>
            <a:pPr algn="l">
              <a:lnSpc>
                <a:spcPts val="1400"/>
              </a:lnSpc>
            </a:pPr>
            <a:r>
              <a:rPr sz="1000" b="1" i="0">
                <a:solidFill>
                  <a:srgbClr val="9CC5FF"/>
                </a:solidFill>
                <a:latin typeface="Courier New"/>
              </a:rPr>
              <a:t>  probe_count:         portfolio_skill&amp;.dig(:probe_count),</a:t>
            </a:r>
          </a:p>
          <a:p>
            <a:pPr algn="l">
              <a:lnSpc>
                <a:spcPts val="1400"/>
              </a:lnSpc>
            </a:pPr>
            <a:r>
              <a:rPr sz="1000" b="1" i="0">
                <a:solidFill>
                  <a:srgbClr val="9CC5FF"/>
                </a:solidFill>
                <a:latin typeface="Courier New"/>
              </a:rPr>
              <a:t>  is_override:         portfolio_skill&amp;.dig(:overridden) || false,</a:t>
            </a:r>
          </a:p>
          <a:p>
            <a:pPr algn="l">
              <a:lnSpc>
                <a:spcPts val="1400"/>
              </a:lnSpc>
            </a:pPr>
            <a:r>
              <a:rPr sz="1000" b="1" i="0">
                <a:solidFill>
                  <a:srgbClr val="9CC5FF"/>
                </a:solidFill>
                <a:latin typeface="Courier New"/>
              </a:rPr>
              <a:t>  overridden_by_email: portfolio_skill&amp;.dig(:overridden_by_email),</a:t>
            </a:r>
          </a:p>
          <a:p>
            <a:pPr algn="l">
              <a:lnSpc>
                <a:spcPts val="1400"/>
              </a:lnSpc>
            </a:pPr>
            <a:r>
              <a:rPr sz="1000" b="1" i="0">
                <a:solidFill>
                  <a:srgbClr val="9CC5FF"/>
                </a:solidFill>
                <a:latin typeface="Courier New"/>
              </a:rPr>
              <a:t>  overridden_at:       portfolio_skill&amp;.dig(:overridden_at)</a:t>
            </a:r>
          </a:p>
          <a:p>
            <a:pPr algn="l">
              <a:lnSpc>
                <a:spcPts val="1400"/>
              </a:lnSpc>
            </a:pPr>
            <a:r>
              <a:rPr sz="1000" b="0" i="0">
                <a:solidFill>
                  <a:srgbClr val="DCE6F5"/>
                </a:solidFill>
                <a:latin typeface="Courier New"/>
              </a:rPr>
              <a:t>}</a:t>
            </a:r>
          </a:p>
        </p:txBody>
      </p:sp>
      <p:sp>
        <p:nvSpPr>
          <p:cNvPr id="12" name="Rounded Rectangle 11"/>
          <p:cNvSpPr/>
          <p:nvPr/>
        </p:nvSpPr>
        <p:spPr>
          <a:xfrm>
            <a:off x="594360" y="5349240"/>
            <a:ext cx="11002975" cy="713232"/>
          </a:xfrm>
          <a:prstGeom prst="roundRect">
            <a:avLst>
              <a:gd name="adj" fmla="val 4000"/>
            </a:avLst>
          </a:prstGeom>
          <a:solidFill>
            <a:srgbClr val="E7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5349240"/>
            <a:ext cx="10454335" cy="713232"/>
          </a:xfrm>
          <a:prstGeom prst="rect">
            <a:avLst/>
          </a:prstGeom>
          <a:noFill/>
        </p:spPr>
        <p:txBody>
          <a:bodyPr wrap="square" lIns="0" rIns="0" tIns="0" bIns="0" anchor="ctr">
            <a:spAutoFit/>
          </a:bodyPr>
          <a:lstStyle/>
          <a:p>
            <a:pPr algn="l">
              <a:lnSpc>
                <a:spcPts val="1800"/>
              </a:lnSpc>
            </a:pPr>
            <a:r>
              <a:rPr sz="1300" b="1" i="0">
                <a:solidFill>
                  <a:srgbClr val="0C2E6B"/>
                </a:solidFill>
                <a:latin typeface="Calibri"/>
              </a:rPr>
              <a:t>Kenapa diubah: </a:t>
            </a:r>
            <a:r>
              <a:rPr sz="1300" b="0" i="0">
                <a:solidFill>
                  <a:srgbClr val="0F1B33"/>
                </a:solidFill>
                <a:latin typeface="Calibri"/>
              </a:rPr>
              <a:t>nilai asli dari AI, siapa yang mengoreksi, kapan, dan berapa pertanyaan sekarang ikut dikirim. expected_level tetap ada supaya bagian lain yang masih memakainya tidak rusak.</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38912"/>
            <a:ext cx="11002975" cy="566928"/>
          </a:xfrm>
          <a:prstGeom prst="rect">
            <a:avLst/>
          </a:prstGeom>
          <a:noFill/>
        </p:spPr>
        <p:txBody>
          <a:bodyPr wrap="square" lIns="0" rIns="0" tIns="0" bIns="0" anchor="t">
            <a:spAutoFit/>
          </a:bodyPr>
          <a:lstStyle/>
          <a:p>
            <a:pPr algn="l"/>
            <a:r>
              <a:rPr sz="2800" b="1" i="0">
                <a:solidFill>
                  <a:srgbClr val="0F1B33"/>
                </a:solidFill>
                <a:latin typeface="Calibri"/>
              </a:rPr>
              <a:t>Kode: tabel Fit/Gap</a:t>
            </a:r>
          </a:p>
        </p:txBody>
      </p:sp>
      <p:sp>
        <p:nvSpPr>
          <p:cNvPr id="3" name="TextBox 2"/>
          <p:cNvSpPr txBox="1"/>
          <p:nvPr/>
        </p:nvSpPr>
        <p:spPr>
          <a:xfrm>
            <a:off x="594360" y="987552"/>
            <a:ext cx="11002975" cy="384048"/>
          </a:xfrm>
          <a:prstGeom prst="rect">
            <a:avLst/>
          </a:prstGeom>
          <a:noFill/>
        </p:spPr>
        <p:txBody>
          <a:bodyPr wrap="square" lIns="0" rIns="0" tIns="0" bIns="0" anchor="t">
            <a:spAutoFit/>
          </a:bodyPr>
          <a:lstStyle/>
          <a:p>
            <a:pPr algn="l"/>
            <a:r>
              <a:rPr sz="1500" b="0" i="0">
                <a:solidFill>
                  <a:srgbClr val="55617A"/>
                </a:solidFill>
                <a:latin typeface="Calibri"/>
              </a:rPr>
              <a:t>P0-2, P0-3 · siapa yang menilai dan tingkat keyakinan sekarang tampil di setiap baris.</a:t>
            </a:r>
          </a:p>
        </p:txBody>
      </p:sp>
      <p:sp>
        <p:nvSpPr>
          <p:cNvPr id="4" name="TextBox 3"/>
          <p:cNvSpPr txBox="1"/>
          <p:nvPr/>
        </p:nvSpPr>
        <p:spPr>
          <a:xfrm>
            <a:off x="594360" y="6419088"/>
            <a:ext cx="4572000" cy="256032"/>
          </a:xfrm>
          <a:prstGeom prst="rect">
            <a:avLst/>
          </a:prstGeom>
          <a:noFill/>
        </p:spPr>
        <p:txBody>
          <a:bodyPr wrap="square" lIns="0" rIns="0" tIns="0" bIns="0" anchor="t">
            <a:spAutoFit/>
          </a:bodyPr>
          <a:lstStyle/>
          <a:p>
            <a:pPr algn="l"/>
            <a:r>
              <a:rPr sz="1000" b="0" i="0">
                <a:solidFill>
                  <a:srgbClr val="8A94A8"/>
                </a:solidFill>
                <a:latin typeface="Calibri"/>
              </a:rPr>
              <a:t>Aulia Afriza  ·  Kandidat Fullstack · Frontend depth</a:t>
            </a:r>
          </a:p>
        </p:txBody>
      </p:sp>
      <p:sp>
        <p:nvSpPr>
          <p:cNvPr id="5" name="TextBox 4"/>
          <p:cNvSpPr txBox="1"/>
          <p:nvPr/>
        </p:nvSpPr>
        <p:spPr>
          <a:xfrm>
            <a:off x="11277295" y="6419088"/>
            <a:ext cx="457200" cy="256032"/>
          </a:xfrm>
          <a:prstGeom prst="rect">
            <a:avLst/>
          </a:prstGeom>
          <a:noFill/>
        </p:spPr>
        <p:txBody>
          <a:bodyPr wrap="square" lIns="0" rIns="0" tIns="0" bIns="0" anchor="t">
            <a:spAutoFit/>
          </a:bodyPr>
          <a:lstStyle/>
          <a:p>
            <a:pPr algn="r"/>
            <a:r>
              <a:rPr sz="1000" b="0" i="0">
                <a:solidFill>
                  <a:srgbClr val="8A94A8"/>
                </a:solidFill>
                <a:latin typeface="Calibri"/>
              </a:rPr>
              <a:t>29</a:t>
            </a:r>
          </a:p>
        </p:txBody>
      </p:sp>
      <p:sp>
        <p:nvSpPr>
          <p:cNvPr id="6" name="TextBox 5"/>
          <p:cNvSpPr txBox="1"/>
          <p:nvPr/>
        </p:nvSpPr>
        <p:spPr>
          <a:xfrm>
            <a:off x="594360" y="1481328"/>
            <a:ext cx="5171398" cy="274320"/>
          </a:xfrm>
          <a:prstGeom prst="rect">
            <a:avLst/>
          </a:prstGeom>
          <a:noFill/>
        </p:spPr>
        <p:txBody>
          <a:bodyPr wrap="square" lIns="0" rIns="0" tIns="0" bIns="0" anchor="t">
            <a:spAutoFit/>
          </a:bodyPr>
          <a:lstStyle/>
          <a:p>
            <a:pPr algn="l"/>
            <a:r>
              <a:rPr sz="1200" b="1" i="0">
                <a:solidFill>
                  <a:srgbClr val="D14343"/>
                </a:solidFill>
                <a:latin typeface="Calibri"/>
              </a:rPr>
              <a:t>Sebelum  </a:t>
            </a:r>
            <a:r>
              <a:rPr sz="1050" b="0" i="0">
                <a:solidFill>
                  <a:srgbClr val="55617A"/>
                </a:solidFill>
                <a:latin typeface="Courier New"/>
              </a:rPr>
              <a:t>web/src/components/fitgap/ComparisonTable.tsx:48</a:t>
            </a:r>
          </a:p>
        </p:txBody>
      </p:sp>
      <p:sp>
        <p:nvSpPr>
          <p:cNvPr id="7" name="Rounded Rectangle 6"/>
          <p:cNvSpPr/>
          <p:nvPr/>
        </p:nvSpPr>
        <p:spPr>
          <a:xfrm>
            <a:off x="594360" y="1810512"/>
            <a:ext cx="5171398" cy="3374136"/>
          </a:xfrm>
          <a:prstGeom prst="roundRect">
            <a:avLst>
              <a:gd name="adj" fmla="val 4000"/>
            </a:avLst>
          </a:prstGeom>
          <a:solidFill>
            <a:srgbClr val="0E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956816"/>
            <a:ext cx="4805638" cy="3154679"/>
          </a:xfrm>
          <a:prstGeom prst="rect">
            <a:avLst/>
          </a:prstGeom>
          <a:noFill/>
        </p:spPr>
        <p:txBody>
          <a:bodyPr wrap="square" lIns="0" rIns="0" tIns="0" bIns="0" anchor="t">
            <a:spAutoFit/>
          </a:bodyPr>
          <a:lstStyle/>
          <a:p>
            <a:pPr algn="l">
              <a:lnSpc>
                <a:spcPts val="1400"/>
              </a:lnSpc>
            </a:pPr>
            <a:r>
              <a:rPr sz="1000" b="0" i="0">
                <a:solidFill>
                  <a:srgbClr val="DCE6F5"/>
                </a:solidFill>
                <a:latin typeface="Courier New"/>
              </a:rPr>
              <a:t>&lt;td&gt;{c.skill_label}&lt;/td&gt;</a:t>
            </a:r>
          </a:p>
          <a:p>
            <a:pPr algn="l">
              <a:lnSpc>
                <a:spcPts val="1400"/>
              </a:lnSpc>
            </a:pPr>
            <a:r>
              <a:rPr sz="1000" b="0" i="0">
                <a:solidFill>
                  <a:srgbClr val="DCE6F5"/>
                </a:solidFill>
                <a:latin typeface="Courier New"/>
              </a:rPr>
              <a:t>&lt;td className="… text-muted-foreground"&gt;</a:t>
            </a:r>
          </a:p>
          <a:p>
            <a:pPr algn="l">
              <a:lnSpc>
                <a:spcPts val="1400"/>
              </a:lnSpc>
            </a:pPr>
            <a:r>
              <a:rPr sz="1000" b="1" i="0">
                <a:solidFill>
                  <a:srgbClr val="FF9F91"/>
                </a:solidFill>
                <a:latin typeface="Courier New"/>
              </a:rPr>
              <a:t>  {LEVEL_LABELS[c.required_level]}</a:t>
            </a:r>
          </a:p>
          <a:p>
            <a:pPr algn="l">
              <a:lnSpc>
                <a:spcPts val="1400"/>
              </a:lnSpc>
            </a:pPr>
            <a:r>
              <a:rPr sz="1000" b="0" i="0">
                <a:solidFill>
                  <a:srgbClr val="DCE6F5"/>
                </a:solidFill>
                <a:latin typeface="Courier New"/>
              </a:rPr>
              <a:t>&lt;/td&gt;</a:t>
            </a:r>
          </a:p>
          <a:p>
            <a:pPr algn="l">
              <a:lnSpc>
                <a:spcPts val="1400"/>
              </a:lnSpc>
            </a:pPr>
            <a:r>
              <a:rPr sz="1000" b="0" i="0">
                <a:solidFill>
                  <a:srgbClr val="DCE6F5"/>
                </a:solidFill>
                <a:latin typeface="Courier New"/>
              </a:rPr>
              <a:t>&lt;td&gt;</a:t>
            </a:r>
          </a:p>
          <a:p>
            <a:pPr algn="l">
              <a:lnSpc>
                <a:spcPts val="1400"/>
              </a:lnSpc>
            </a:pPr>
            <a:r>
              <a:rPr sz="1000" b="0" i="0">
                <a:solidFill>
                  <a:srgbClr val="DCE6F5"/>
                </a:solidFill>
                <a:latin typeface="Courier New"/>
              </a:rPr>
              <a:t>  {LEVEL_LABELS[c.candidate_level]}</a:t>
            </a:r>
          </a:p>
          <a:p>
            <a:pPr algn="l">
              <a:lnSpc>
                <a:spcPts val="1400"/>
              </a:lnSpc>
            </a:pPr>
            <a:r>
              <a:rPr sz="1000" b="1" i="0">
                <a:solidFill>
                  <a:srgbClr val="FF9F91"/>
                </a:solidFill>
                <a:latin typeface="Courier New"/>
              </a:rPr>
              <a:t>  {c.is_override &amp;&amp; &lt;span&gt;✏&lt;/span&gt;}</a:t>
            </a:r>
          </a:p>
          <a:p>
            <a:pPr algn="l">
              <a:lnSpc>
                <a:spcPts val="1400"/>
              </a:lnSpc>
            </a:pPr>
            <a:r>
              <a:rPr sz="1000" b="0" i="0">
                <a:solidFill>
                  <a:srgbClr val="DCE6F5"/>
                </a:solidFill>
                <a:latin typeface="Courier New"/>
              </a:rPr>
              <a:t>&lt;/td&gt;</a:t>
            </a:r>
          </a:p>
          <a:p>
            <a:pPr algn="l">
              <a:lnSpc>
                <a:spcPts val="1400"/>
              </a:lnSpc>
            </a:pPr>
            <a:r>
              <a:rPr sz="1000" b="0" i="0">
                <a:solidFill>
                  <a:srgbClr val="DCE6F5"/>
                </a:solidFill>
                <a:latin typeface="Courier New"/>
              </a:rPr>
              <a:t>&lt;td&gt;</a:t>
            </a:r>
          </a:p>
          <a:p>
            <a:pPr algn="l">
              <a:lnSpc>
                <a:spcPts val="1400"/>
              </a:lnSpc>
            </a:pPr>
            <a:r>
              <a:rPr sz="1000" b="0" i="0">
                <a:solidFill>
                  <a:srgbClr val="DCE6F5"/>
                </a:solidFill>
                <a:latin typeface="Courier New"/>
              </a:rPr>
              <a:t>  &lt;ResultBadge comparison={c} /&gt;</a:t>
            </a:r>
          </a:p>
          <a:p>
            <a:pPr algn="l">
              <a:lnSpc>
                <a:spcPts val="1400"/>
              </a:lnSpc>
            </a:pPr>
            <a:r>
              <a:rPr sz="1000" b="0" i="0">
                <a:solidFill>
                  <a:srgbClr val="DCE6F5"/>
                </a:solidFill>
                <a:latin typeface="Courier New"/>
              </a:rPr>
              <a:t>&lt;/td&gt;</a:t>
            </a:r>
          </a:p>
        </p:txBody>
      </p:sp>
      <p:sp>
        <p:nvSpPr>
          <p:cNvPr id="9" name="TextBox 8"/>
          <p:cNvSpPr txBox="1"/>
          <p:nvPr/>
        </p:nvSpPr>
        <p:spPr>
          <a:xfrm>
            <a:off x="6040078" y="1481328"/>
            <a:ext cx="5557256" cy="274320"/>
          </a:xfrm>
          <a:prstGeom prst="rect">
            <a:avLst/>
          </a:prstGeom>
          <a:noFill/>
        </p:spPr>
        <p:txBody>
          <a:bodyPr wrap="square" lIns="0" rIns="0" tIns="0" bIns="0" anchor="t">
            <a:spAutoFit/>
          </a:bodyPr>
          <a:lstStyle/>
          <a:p>
            <a:pPr algn="l"/>
            <a:r>
              <a:rPr sz="1200" b="1" i="0">
                <a:solidFill>
                  <a:srgbClr val="1C6FF3"/>
                </a:solidFill>
                <a:latin typeface="Calibri"/>
              </a:rPr>
              <a:t>Sesudah  </a:t>
            </a:r>
            <a:r>
              <a:rPr sz="1050" b="0" i="0">
                <a:solidFill>
                  <a:srgbClr val="55617A"/>
                </a:solidFill>
                <a:latin typeface="Courier New"/>
              </a:rPr>
              <a:t>web/src/components/fitgap/ComparisonTable.tsx:151</a:t>
            </a:r>
          </a:p>
        </p:txBody>
      </p:sp>
      <p:sp>
        <p:nvSpPr>
          <p:cNvPr id="10" name="Rounded Rectangle 9"/>
          <p:cNvSpPr/>
          <p:nvPr/>
        </p:nvSpPr>
        <p:spPr>
          <a:xfrm>
            <a:off x="6040078" y="1810512"/>
            <a:ext cx="5557256" cy="3374136"/>
          </a:xfrm>
          <a:prstGeom prst="roundRect">
            <a:avLst>
              <a:gd name="adj" fmla="val 4000"/>
            </a:avLst>
          </a:prstGeom>
          <a:solidFill>
            <a:srgbClr val="0E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41246" y="1956816"/>
            <a:ext cx="5191496" cy="3154679"/>
          </a:xfrm>
          <a:prstGeom prst="rect">
            <a:avLst/>
          </a:prstGeom>
          <a:noFill/>
        </p:spPr>
        <p:txBody>
          <a:bodyPr wrap="square" lIns="0" rIns="0" tIns="0" bIns="0" anchor="t">
            <a:spAutoFit/>
          </a:bodyPr>
          <a:lstStyle/>
          <a:p>
            <a:pPr algn="l">
              <a:lnSpc>
                <a:spcPts val="1400"/>
              </a:lnSpc>
            </a:pPr>
            <a:r>
              <a:rPr sz="1000" b="0" i="0">
                <a:solidFill>
                  <a:srgbClr val="DCE6F5"/>
                </a:solidFill>
                <a:latin typeface="Courier New"/>
              </a:rPr>
              <a:t>&lt;td&gt;{formatLevel(c.required_level)}&lt;/td&gt;</a:t>
            </a:r>
          </a:p>
          <a:p>
            <a:pPr algn="l">
              <a:lnSpc>
                <a:spcPts val="1400"/>
              </a:lnSpc>
            </a:pPr>
            <a:r>
              <a:rPr sz="1000" b="0" i="0">
                <a:solidFill>
                  <a:srgbClr val="DCE6F5"/>
                </a:solidFill>
                <a:latin typeface="Courier New"/>
              </a:rPr>
              <a:t>&lt;td&gt;</a:t>
            </a:r>
          </a:p>
          <a:p>
            <a:pPr algn="l">
              <a:lnSpc>
                <a:spcPts val="1400"/>
              </a:lnSpc>
            </a:pPr>
            <a:r>
              <a:rPr sz="1000" b="0" i="0">
                <a:solidFill>
                  <a:srgbClr val="DCE6F5"/>
                </a:solidFill>
                <a:latin typeface="Courier New"/>
              </a:rPr>
              <a:t>  &lt;span&gt;{formatLevel(c.candidate_level)}&lt;/span&gt;</a:t>
            </a:r>
          </a:p>
          <a:p>
            <a:pPr algn="l">
              <a:lnSpc>
                <a:spcPts val="1400"/>
              </a:lnSpc>
            </a:pPr>
            <a:r>
              <a:rPr sz="1000" b="1" i="0">
                <a:solidFill>
                  <a:srgbClr val="9CC5FF"/>
                </a:solidFill>
                <a:latin typeface="Courier New"/>
              </a:rPr>
              <a:t>  &lt;Provenance comparison={c} /&gt;</a:t>
            </a:r>
          </a:p>
          <a:p>
            <a:pPr algn="l">
              <a:lnSpc>
                <a:spcPts val="1400"/>
              </a:lnSpc>
            </a:pPr>
            <a:r>
              <a:rPr sz="1000" b="0" i="0">
                <a:solidFill>
                  <a:srgbClr val="DCE6F5"/>
                </a:solidFill>
                <a:latin typeface="Courier New"/>
              </a:rPr>
              <a:t>&lt;/td&gt;</a:t>
            </a:r>
          </a:p>
          <a:p>
            <a:pPr algn="l">
              <a:lnSpc>
                <a:spcPts val="1400"/>
              </a:lnSpc>
            </a:pPr>
            <a:r>
              <a:rPr sz="1000" b="0" i="0">
                <a:solidFill>
                  <a:srgbClr val="DCE6F5"/>
                </a:solidFill>
                <a:latin typeface="Courier New"/>
              </a:rPr>
              <a:t>&lt;td&gt;</a:t>
            </a:r>
          </a:p>
          <a:p>
            <a:pPr algn="l">
              <a:lnSpc>
                <a:spcPts val="1400"/>
              </a:lnSpc>
            </a:pPr>
            <a:r>
              <a:rPr sz="1000" b="1" i="0">
                <a:solidFill>
                  <a:srgbClr val="9CC5FF"/>
                </a:solidFill>
                <a:latin typeface="Courier New"/>
              </a:rPr>
              <a:t>  &lt;ConfidenceIndicator</a:t>
            </a:r>
          </a:p>
          <a:p>
            <a:pPr algn="l">
              <a:lnSpc>
                <a:spcPts val="1400"/>
              </a:lnSpc>
            </a:pPr>
            <a:r>
              <a:rPr sz="1000" b="1" i="0">
                <a:solidFill>
                  <a:srgbClr val="9CC5FF"/>
                </a:solidFill>
                <a:latin typeface="Courier New"/>
              </a:rPr>
              <a:t>    confidence={c.confidence}</a:t>
            </a:r>
          </a:p>
          <a:p>
            <a:pPr algn="l">
              <a:lnSpc>
                <a:spcPts val="1400"/>
              </a:lnSpc>
            </a:pPr>
            <a:r>
              <a:rPr sz="1000" b="1" i="0">
                <a:solidFill>
                  <a:srgbClr val="9CC5FF"/>
                </a:solidFill>
                <a:latin typeface="Courier New"/>
              </a:rPr>
              <a:t>    probeCount={c.probe_count} /&gt;</a:t>
            </a:r>
          </a:p>
          <a:p>
            <a:pPr algn="l">
              <a:lnSpc>
                <a:spcPts val="1400"/>
              </a:lnSpc>
            </a:pPr>
            <a:r>
              <a:rPr sz="1000" b="0" i="0">
                <a:solidFill>
                  <a:srgbClr val="DCE6F5"/>
                </a:solidFill>
                <a:latin typeface="Courier New"/>
              </a:rPr>
              <a:t>&lt;/td&gt;</a:t>
            </a:r>
          </a:p>
          <a:p>
            <a:pPr algn="l">
              <a:lnSpc>
                <a:spcPts val="1400"/>
              </a:lnSpc>
            </a:pPr>
            <a:r>
              <a:rPr sz="1000" b="0" i="0">
                <a:solidFill>
                  <a:srgbClr val="DCE6F5"/>
                </a:solidFill>
                <a:latin typeface="Courier New"/>
              </a:rPr>
              <a:t>&lt;td&gt;</a:t>
            </a:r>
          </a:p>
          <a:p>
            <a:pPr algn="l">
              <a:lnSpc>
                <a:spcPts val="1400"/>
              </a:lnSpc>
            </a:pPr>
            <a:r>
              <a:rPr sz="1000" b="0" i="0">
                <a:solidFill>
                  <a:srgbClr val="DCE6F5"/>
                </a:solidFill>
                <a:latin typeface="Courier New"/>
              </a:rPr>
              <a:t>  &lt;ResultBadge comparison={c} /&gt;</a:t>
            </a:r>
          </a:p>
          <a:p>
            <a:pPr algn="l">
              <a:lnSpc>
                <a:spcPts val="1400"/>
              </a:lnSpc>
            </a:pPr>
            <a:r>
              <a:rPr sz="1000" b="0" i="0">
                <a:solidFill>
                  <a:srgbClr val="DCE6F5"/>
                </a:solidFill>
                <a:latin typeface="Courier New"/>
              </a:rPr>
              <a:t>&lt;/td&gt;</a:t>
            </a:r>
          </a:p>
        </p:txBody>
      </p:sp>
      <p:sp>
        <p:nvSpPr>
          <p:cNvPr id="12" name="Rounded Rectangle 11"/>
          <p:cNvSpPr/>
          <p:nvPr/>
        </p:nvSpPr>
        <p:spPr>
          <a:xfrm>
            <a:off x="594360" y="5349240"/>
            <a:ext cx="11002975" cy="713232"/>
          </a:xfrm>
          <a:prstGeom prst="roundRect">
            <a:avLst>
              <a:gd name="adj" fmla="val 4000"/>
            </a:avLst>
          </a:prstGeom>
          <a:solidFill>
            <a:srgbClr val="E7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5349240"/>
            <a:ext cx="10454335" cy="713232"/>
          </a:xfrm>
          <a:prstGeom prst="rect">
            <a:avLst/>
          </a:prstGeom>
          <a:noFill/>
        </p:spPr>
        <p:txBody>
          <a:bodyPr wrap="square" lIns="0" rIns="0" tIns="0" bIns="0" anchor="ctr">
            <a:spAutoFit/>
          </a:bodyPr>
          <a:lstStyle/>
          <a:p>
            <a:pPr algn="l">
              <a:lnSpc>
                <a:spcPts val="1800"/>
              </a:lnSpc>
            </a:pPr>
            <a:r>
              <a:rPr sz="1300" b="1" i="0">
                <a:solidFill>
                  <a:srgbClr val="0C2E6B"/>
                </a:solidFill>
                <a:latin typeface="Calibri"/>
              </a:rPr>
              <a:t>Kenapa diubah: </a:t>
            </a:r>
            <a:r>
              <a:rPr sz="1300" b="0" i="0">
                <a:solidFill>
                  <a:srgbClr val="0F1B33"/>
                </a:solidFill>
                <a:latin typeface="Calibri"/>
              </a:rPr>
              <a:t>Provenance menampilkan “AI L2 → L4” beserta nama assessor. Kolom keyakinan menampilkan tingkat dan jumlah pertanyaan, jadi hasil dari 1 pertanyaan tidak lagi terlihat sama dengan 4.</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38912"/>
            <a:ext cx="11002975" cy="566928"/>
          </a:xfrm>
          <a:prstGeom prst="rect">
            <a:avLst/>
          </a:prstGeom>
          <a:noFill/>
        </p:spPr>
        <p:txBody>
          <a:bodyPr wrap="square" lIns="0" rIns="0" tIns="0" bIns="0" anchor="t">
            <a:spAutoFit/>
          </a:bodyPr>
          <a:lstStyle/>
          <a:p>
            <a:pPr algn="l"/>
            <a:r>
              <a:rPr sz="2800" b="1" i="0">
                <a:solidFill>
                  <a:srgbClr val="0F1B33"/>
                </a:solidFill>
                <a:latin typeface="Calibri"/>
              </a:rPr>
              <a:t>Kode: data kosong tidak jadi nilai terendah</a:t>
            </a:r>
          </a:p>
        </p:txBody>
      </p:sp>
      <p:sp>
        <p:nvSpPr>
          <p:cNvPr id="3" name="TextBox 2"/>
          <p:cNvSpPr txBox="1"/>
          <p:nvPr/>
        </p:nvSpPr>
        <p:spPr>
          <a:xfrm>
            <a:off x="594360" y="987552"/>
            <a:ext cx="11002975" cy="384048"/>
          </a:xfrm>
          <a:prstGeom prst="rect">
            <a:avLst/>
          </a:prstGeom>
          <a:noFill/>
        </p:spPr>
        <p:txBody>
          <a:bodyPr wrap="square" lIns="0" rIns="0" tIns="0" bIns="0" anchor="t">
            <a:spAutoFit/>
          </a:bodyPr>
          <a:lstStyle/>
          <a:p>
            <a:pPr algn="l"/>
            <a:r>
              <a:rPr sz="1500" b="0" i="0">
                <a:solidFill>
                  <a:srgbClr val="55617A"/>
                </a:solidFill>
                <a:latin typeface="Calibri"/>
              </a:rPr>
              <a:t>Level kosong dulu jadi L1, keyakinan kosong dulu jadi LOW.</a:t>
            </a:r>
          </a:p>
        </p:txBody>
      </p:sp>
      <p:sp>
        <p:nvSpPr>
          <p:cNvPr id="4" name="TextBox 3"/>
          <p:cNvSpPr txBox="1"/>
          <p:nvPr/>
        </p:nvSpPr>
        <p:spPr>
          <a:xfrm>
            <a:off x="594360" y="6419088"/>
            <a:ext cx="4572000" cy="256032"/>
          </a:xfrm>
          <a:prstGeom prst="rect">
            <a:avLst/>
          </a:prstGeom>
          <a:noFill/>
        </p:spPr>
        <p:txBody>
          <a:bodyPr wrap="square" lIns="0" rIns="0" tIns="0" bIns="0" anchor="t">
            <a:spAutoFit/>
          </a:bodyPr>
          <a:lstStyle/>
          <a:p>
            <a:pPr algn="l"/>
            <a:r>
              <a:rPr sz="1000" b="0" i="0">
                <a:solidFill>
                  <a:srgbClr val="8A94A8"/>
                </a:solidFill>
                <a:latin typeface="Calibri"/>
              </a:rPr>
              <a:t>Aulia Afriza  ·  Kandidat Fullstack · Frontend depth</a:t>
            </a:r>
          </a:p>
        </p:txBody>
      </p:sp>
      <p:sp>
        <p:nvSpPr>
          <p:cNvPr id="5" name="TextBox 4"/>
          <p:cNvSpPr txBox="1"/>
          <p:nvPr/>
        </p:nvSpPr>
        <p:spPr>
          <a:xfrm>
            <a:off x="11277295" y="6419088"/>
            <a:ext cx="457200" cy="256032"/>
          </a:xfrm>
          <a:prstGeom prst="rect">
            <a:avLst/>
          </a:prstGeom>
          <a:noFill/>
        </p:spPr>
        <p:txBody>
          <a:bodyPr wrap="square" lIns="0" rIns="0" tIns="0" bIns="0" anchor="t">
            <a:spAutoFit/>
          </a:bodyPr>
          <a:lstStyle/>
          <a:p>
            <a:pPr algn="r"/>
            <a:r>
              <a:rPr sz="1000" b="0" i="0">
                <a:solidFill>
                  <a:srgbClr val="8A94A8"/>
                </a:solidFill>
                <a:latin typeface="Calibri"/>
              </a:rPr>
              <a:t>30</a:t>
            </a:r>
          </a:p>
        </p:txBody>
      </p:sp>
      <p:sp>
        <p:nvSpPr>
          <p:cNvPr id="6" name="TextBox 5"/>
          <p:cNvSpPr txBox="1"/>
          <p:nvPr/>
        </p:nvSpPr>
        <p:spPr>
          <a:xfrm>
            <a:off x="594360" y="1481328"/>
            <a:ext cx="5061368" cy="274320"/>
          </a:xfrm>
          <a:prstGeom prst="rect">
            <a:avLst/>
          </a:prstGeom>
          <a:noFill/>
        </p:spPr>
        <p:txBody>
          <a:bodyPr wrap="square" lIns="0" rIns="0" tIns="0" bIns="0" anchor="t">
            <a:spAutoFit/>
          </a:bodyPr>
          <a:lstStyle/>
          <a:p>
            <a:pPr algn="l"/>
            <a:r>
              <a:rPr sz="1200" b="1" i="0">
                <a:solidFill>
                  <a:srgbClr val="D14343"/>
                </a:solidFill>
                <a:latin typeface="Calibri"/>
              </a:rPr>
              <a:t>Sebelum  </a:t>
            </a:r>
            <a:r>
              <a:rPr sz="1050" b="0" i="0">
                <a:solidFill>
                  <a:srgbClr val="55617A"/>
                </a:solidFill>
                <a:latin typeface="Courier New"/>
              </a:rPr>
              <a:t>constants.ts:4  ·  ConfidenceIndicator.tsx:5</a:t>
            </a:r>
          </a:p>
        </p:txBody>
      </p:sp>
      <p:sp>
        <p:nvSpPr>
          <p:cNvPr id="7" name="Rounded Rectangle 6"/>
          <p:cNvSpPr/>
          <p:nvPr/>
        </p:nvSpPr>
        <p:spPr>
          <a:xfrm>
            <a:off x="594360" y="1810512"/>
            <a:ext cx="5061368" cy="3374136"/>
          </a:xfrm>
          <a:prstGeom prst="roundRect">
            <a:avLst>
              <a:gd name="adj" fmla="val 4000"/>
            </a:avLst>
          </a:prstGeom>
          <a:solidFill>
            <a:srgbClr val="0E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956816"/>
            <a:ext cx="4695608" cy="3154679"/>
          </a:xfrm>
          <a:prstGeom prst="rect">
            <a:avLst/>
          </a:prstGeom>
          <a:noFill/>
        </p:spPr>
        <p:txBody>
          <a:bodyPr wrap="square" lIns="0" rIns="0" tIns="0" bIns="0" anchor="t">
            <a:spAutoFit/>
          </a:bodyPr>
          <a:lstStyle/>
          <a:p>
            <a:pPr algn="l">
              <a:lnSpc>
                <a:spcPts val="1400"/>
              </a:lnSpc>
            </a:pPr>
            <a:r>
              <a:rPr sz="1000" b="0" i="0">
                <a:solidFill>
                  <a:srgbClr val="DCE6F5"/>
                </a:solidFill>
                <a:latin typeface="Courier New"/>
              </a:rPr>
              <a:t>export function parseLevel(level: string | number): number {</a:t>
            </a:r>
          </a:p>
          <a:p>
            <a:pPr algn="l">
              <a:lnSpc>
                <a:spcPts val="1400"/>
              </a:lnSpc>
            </a:pPr>
            <a:r>
              <a:rPr sz="1000" b="0" i="0">
                <a:solidFill>
                  <a:srgbClr val="DCE6F5"/>
                </a:solidFill>
                <a:latin typeface="Courier New"/>
              </a:rPr>
              <a:t>  if (typeof level === "number") return level;</a:t>
            </a:r>
          </a:p>
          <a:p>
            <a:pPr algn="l">
              <a:lnSpc>
                <a:spcPts val="1400"/>
              </a:lnSpc>
            </a:pPr>
            <a:r>
              <a:rPr sz="1000" b="0" i="0">
                <a:solidFill>
                  <a:srgbClr val="DCE6F5"/>
                </a:solidFill>
                <a:latin typeface="Courier New"/>
              </a:rPr>
              <a:t>  const n = parseInt(level.replace(/\D/g, ""), 10);</a:t>
            </a:r>
          </a:p>
          <a:p>
            <a:pPr algn="l">
              <a:lnSpc>
                <a:spcPts val="1400"/>
              </a:lnSpc>
            </a:pPr>
            <a:r>
              <a:rPr sz="1000" b="1" i="0">
                <a:solidFill>
                  <a:srgbClr val="FF9F91"/>
                </a:solidFill>
                <a:latin typeface="Courier New"/>
              </a:rPr>
              <a:t>  return isNaN(n) ? 1 : n;</a:t>
            </a:r>
          </a:p>
          <a:p>
            <a:pPr algn="l">
              <a:lnSpc>
                <a:spcPts val="1400"/>
              </a:lnSpc>
            </a:pPr>
            <a:r>
              <a:rPr sz="1000" b="0" i="0">
                <a:solidFill>
                  <a:srgbClr val="DCE6F5"/>
                </a:solidFill>
                <a:latin typeface="Courier New"/>
              </a:rPr>
              <a:t>}</a:t>
            </a:r>
          </a:p>
          <a:p>
            <a:pPr algn="l">
              <a:lnSpc>
                <a:spcPts val="1400"/>
              </a:lnSpc>
            </a:pPr>
            <a:r>
              <a:rPr sz="1000" b="0" i="0">
                <a:solidFill>
                  <a:srgbClr val="DCE6F5"/>
                </a:solidFill>
                <a:latin typeface="Courier New"/>
              </a:rPr>
              <a:t> </a:t>
            </a:r>
          </a:p>
          <a:p>
            <a:pPr algn="l">
              <a:lnSpc>
                <a:spcPts val="1400"/>
              </a:lnSpc>
            </a:pPr>
            <a:r>
              <a:rPr sz="1000" b="0" i="0">
                <a:solidFill>
                  <a:srgbClr val="DCE6F5"/>
                </a:solidFill>
                <a:latin typeface="Courier New"/>
              </a:rPr>
              <a:t>function getLabel(c: string) {</a:t>
            </a:r>
          </a:p>
          <a:p>
            <a:pPr algn="l">
              <a:lnSpc>
                <a:spcPts val="1400"/>
              </a:lnSpc>
            </a:pPr>
            <a:r>
              <a:rPr sz="1000" b="0" i="0">
                <a:solidFill>
                  <a:srgbClr val="DCE6F5"/>
                </a:solidFill>
                <a:latin typeface="Courier New"/>
              </a:rPr>
              <a:t>  const normalized = c?.toLowerCase();</a:t>
            </a:r>
          </a:p>
          <a:p>
            <a:pPr algn="l">
              <a:lnSpc>
                <a:spcPts val="1400"/>
              </a:lnSpc>
            </a:pPr>
            <a:r>
              <a:rPr sz="1000" b="0" i="0">
                <a:solidFill>
                  <a:srgbClr val="DCE6F5"/>
                </a:solidFill>
                <a:latin typeface="Courier New"/>
              </a:rPr>
              <a:t>  if (normalized === "high") return "HIGH";</a:t>
            </a:r>
          </a:p>
          <a:p>
            <a:pPr algn="l">
              <a:lnSpc>
                <a:spcPts val="1400"/>
              </a:lnSpc>
            </a:pPr>
            <a:r>
              <a:rPr sz="1000" b="0" i="0">
                <a:solidFill>
                  <a:srgbClr val="DCE6F5"/>
                </a:solidFill>
                <a:latin typeface="Courier New"/>
              </a:rPr>
              <a:t>  if (normalized === "medium") return "MEDIUM";</a:t>
            </a:r>
          </a:p>
          <a:p>
            <a:pPr algn="l">
              <a:lnSpc>
                <a:spcPts val="1400"/>
              </a:lnSpc>
            </a:pPr>
            <a:r>
              <a:rPr sz="1000" b="1" i="0">
                <a:solidFill>
                  <a:srgbClr val="FF9F91"/>
                </a:solidFill>
                <a:latin typeface="Courier New"/>
              </a:rPr>
              <a:t>  return "LOW";</a:t>
            </a:r>
          </a:p>
          <a:p>
            <a:pPr algn="l">
              <a:lnSpc>
                <a:spcPts val="1400"/>
              </a:lnSpc>
            </a:pPr>
            <a:r>
              <a:rPr sz="1000" b="0" i="0">
                <a:solidFill>
                  <a:srgbClr val="DCE6F5"/>
                </a:solidFill>
                <a:latin typeface="Courier New"/>
              </a:rPr>
              <a:t>}</a:t>
            </a:r>
          </a:p>
        </p:txBody>
      </p:sp>
      <p:sp>
        <p:nvSpPr>
          <p:cNvPr id="9" name="TextBox 8"/>
          <p:cNvSpPr txBox="1"/>
          <p:nvPr/>
        </p:nvSpPr>
        <p:spPr>
          <a:xfrm>
            <a:off x="5930048" y="1481328"/>
            <a:ext cx="5667286" cy="274320"/>
          </a:xfrm>
          <a:prstGeom prst="rect">
            <a:avLst/>
          </a:prstGeom>
          <a:noFill/>
        </p:spPr>
        <p:txBody>
          <a:bodyPr wrap="square" lIns="0" rIns="0" tIns="0" bIns="0" anchor="t">
            <a:spAutoFit/>
          </a:bodyPr>
          <a:lstStyle/>
          <a:p>
            <a:pPr algn="l"/>
            <a:r>
              <a:rPr sz="1200" b="1" i="0">
                <a:solidFill>
                  <a:srgbClr val="1C6FF3"/>
                </a:solidFill>
                <a:latin typeface="Calibri"/>
              </a:rPr>
              <a:t>Sesudah  </a:t>
            </a:r>
            <a:r>
              <a:rPr sz="1050" b="0" i="0">
                <a:solidFill>
                  <a:srgbClr val="55617A"/>
                </a:solidFill>
                <a:latin typeface="Courier New"/>
              </a:rPr>
              <a:t>web/src/utils/constants.ts:24, :88</a:t>
            </a:r>
          </a:p>
        </p:txBody>
      </p:sp>
      <p:sp>
        <p:nvSpPr>
          <p:cNvPr id="10" name="Rounded Rectangle 9"/>
          <p:cNvSpPr/>
          <p:nvPr/>
        </p:nvSpPr>
        <p:spPr>
          <a:xfrm>
            <a:off x="5930048" y="1810512"/>
            <a:ext cx="5667286" cy="3374136"/>
          </a:xfrm>
          <a:prstGeom prst="roundRect">
            <a:avLst>
              <a:gd name="adj" fmla="val 4000"/>
            </a:avLst>
          </a:prstGeom>
          <a:solidFill>
            <a:srgbClr val="0E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31216" y="1956816"/>
            <a:ext cx="5301526" cy="3154679"/>
          </a:xfrm>
          <a:prstGeom prst="rect">
            <a:avLst/>
          </a:prstGeom>
          <a:noFill/>
        </p:spPr>
        <p:txBody>
          <a:bodyPr wrap="square" lIns="0" rIns="0" tIns="0" bIns="0" anchor="t">
            <a:spAutoFit/>
          </a:bodyPr>
          <a:lstStyle/>
          <a:p>
            <a:pPr algn="l">
              <a:lnSpc>
                <a:spcPts val="1400"/>
              </a:lnSpc>
            </a:pPr>
            <a:r>
              <a:rPr sz="1000" b="0" i="0">
                <a:solidFill>
                  <a:srgbClr val="DCE6F5"/>
                </a:solidFill>
                <a:latin typeface="Courier New"/>
              </a:rPr>
              <a:t>export function parseLevel(value: unknown): Level | null {</a:t>
            </a:r>
          </a:p>
          <a:p>
            <a:pPr algn="l">
              <a:lnSpc>
                <a:spcPts val="1400"/>
              </a:lnSpc>
            </a:pPr>
            <a:r>
              <a:rPr sz="1000" b="1" i="0">
                <a:solidFill>
                  <a:srgbClr val="9CC5FF"/>
                </a:solidFill>
                <a:latin typeface="Courier New"/>
              </a:rPr>
              <a:t>  if (value === null || value === undefined) return null;</a:t>
            </a:r>
          </a:p>
          <a:p>
            <a:pPr algn="l">
              <a:lnSpc>
                <a:spcPts val="1400"/>
              </a:lnSpc>
            </a:pPr>
            <a:r>
              <a:rPr sz="1000" b="0" i="0">
                <a:solidFill>
                  <a:srgbClr val="DCE6F5"/>
                </a:solidFill>
                <a:latin typeface="Courier New"/>
              </a:rPr>
              <a:t>  if (typeof value === "number") {</a:t>
            </a:r>
          </a:p>
          <a:p>
            <a:pPr algn="l">
              <a:lnSpc>
                <a:spcPts val="1400"/>
              </a:lnSpc>
            </a:pPr>
            <a:r>
              <a:rPr sz="1000" b="0" i="0">
                <a:solidFill>
                  <a:srgbClr val="DCE6F5"/>
                </a:solidFill>
                <a:latin typeface="Courier New"/>
              </a:rPr>
              <a:t>    return isLevel(value) ? value : null;</a:t>
            </a:r>
          </a:p>
          <a:p>
            <a:pPr algn="l">
              <a:lnSpc>
                <a:spcPts val="1400"/>
              </a:lnSpc>
            </a:pPr>
            <a:r>
              <a:rPr sz="1000" b="0" i="0">
                <a:solidFill>
                  <a:srgbClr val="DCE6F5"/>
                </a:solidFill>
                <a:latin typeface="Courier New"/>
              </a:rPr>
              <a:t>  }</a:t>
            </a:r>
          </a:p>
          <a:p>
            <a:pPr algn="l">
              <a:lnSpc>
                <a:spcPts val="1400"/>
              </a:lnSpc>
            </a:pPr>
            <a:r>
              <a:rPr sz="1000" b="0" i="0">
                <a:solidFill>
                  <a:srgbClr val="DCE6F5"/>
                </a:solidFill>
                <a:latin typeface="Courier New"/>
              </a:rPr>
              <a:t>  if (typeof value !== "string") return null;</a:t>
            </a:r>
          </a:p>
          <a:p>
            <a:pPr algn="l">
              <a:lnSpc>
                <a:spcPts val="1400"/>
              </a:lnSpc>
            </a:pPr>
            <a:r>
              <a:rPr sz="1000" b="0" i="0">
                <a:solidFill>
                  <a:srgbClr val="DCE6F5"/>
                </a:solidFill>
                <a:latin typeface="Courier New"/>
              </a:rPr>
              <a:t>  const digits = value.replace(/\D/g, "");</a:t>
            </a:r>
          </a:p>
          <a:p>
            <a:pPr algn="l">
              <a:lnSpc>
                <a:spcPts val="1400"/>
              </a:lnSpc>
            </a:pPr>
            <a:r>
              <a:rPr sz="1000" b="1" i="0">
                <a:solidFill>
                  <a:srgbClr val="9CC5FF"/>
                </a:solidFill>
                <a:latin typeface="Courier New"/>
              </a:rPr>
              <a:t>  if (digits === "") return null;</a:t>
            </a:r>
          </a:p>
          <a:p>
            <a:pPr algn="l">
              <a:lnSpc>
                <a:spcPts val="1400"/>
              </a:lnSpc>
            </a:pPr>
            <a:r>
              <a:rPr sz="1000" b="0" i="0">
                <a:solidFill>
                  <a:srgbClr val="DCE6F5"/>
                </a:solidFill>
                <a:latin typeface="Courier New"/>
              </a:rPr>
              <a:t>  const parsed = Number.parseInt(digits, 10);</a:t>
            </a:r>
          </a:p>
          <a:p>
            <a:pPr algn="l">
              <a:lnSpc>
                <a:spcPts val="1400"/>
              </a:lnSpc>
            </a:pPr>
            <a:r>
              <a:rPr sz="1000" b="0" i="0">
                <a:solidFill>
                  <a:srgbClr val="DCE6F5"/>
                </a:solidFill>
                <a:latin typeface="Courier New"/>
              </a:rPr>
              <a:t>  return isLevel(parsed) ? parsed : null;</a:t>
            </a:r>
          </a:p>
          <a:p>
            <a:pPr algn="l">
              <a:lnSpc>
                <a:spcPts val="1400"/>
              </a:lnSpc>
            </a:pPr>
            <a:r>
              <a:rPr sz="1000" b="0" i="0">
                <a:solidFill>
                  <a:srgbClr val="DCE6F5"/>
                </a:solidFill>
                <a:latin typeface="Courier New"/>
              </a:rPr>
              <a:t>}</a:t>
            </a:r>
          </a:p>
          <a:p>
            <a:pPr algn="l">
              <a:lnSpc>
                <a:spcPts val="1400"/>
              </a:lnSpc>
            </a:pPr>
            <a:r>
              <a:rPr sz="1000" b="0" i="0">
                <a:solidFill>
                  <a:srgbClr val="DCE6F5"/>
                </a:solidFill>
                <a:latin typeface="Courier New"/>
              </a:rPr>
              <a:t> </a:t>
            </a:r>
          </a:p>
          <a:p>
            <a:pPr algn="l">
              <a:lnSpc>
                <a:spcPts val="1400"/>
              </a:lnSpc>
            </a:pPr>
            <a:r>
              <a:rPr sz="1000" b="0" i="0">
                <a:solidFill>
                  <a:srgbClr val="DCE6F5"/>
                </a:solidFill>
                <a:latin typeface="Courier New"/>
              </a:rPr>
              <a:t>export function parseConfidence(value: unknown): Confidence {</a:t>
            </a:r>
          </a:p>
          <a:p>
            <a:pPr algn="l">
              <a:lnSpc>
                <a:spcPts val="1400"/>
              </a:lnSpc>
            </a:pPr>
            <a:r>
              <a:rPr sz="1000" b="0" i="0">
                <a:solidFill>
                  <a:srgbClr val="DCE6F5"/>
                </a:solidFill>
                <a:latin typeface="Courier New"/>
              </a:rPr>
              <a:t>  if (typeof value !== "string") return "unknown";</a:t>
            </a:r>
          </a:p>
          <a:p>
            <a:pPr algn="l">
              <a:lnSpc>
                <a:spcPts val="1400"/>
              </a:lnSpc>
            </a:pPr>
            <a:r>
              <a:rPr sz="1000" b="0" i="0">
                <a:solidFill>
                  <a:srgbClr val="DCE6F5"/>
                </a:solidFill>
                <a:latin typeface="Courier New"/>
              </a:rPr>
              <a:t>  …</a:t>
            </a:r>
          </a:p>
          <a:p>
            <a:pPr algn="l">
              <a:lnSpc>
                <a:spcPts val="1400"/>
              </a:lnSpc>
            </a:pPr>
            <a:r>
              <a:rPr sz="1000" b="1" i="0">
                <a:solidFill>
                  <a:srgbClr val="9CC5FF"/>
                </a:solidFill>
                <a:latin typeface="Courier New"/>
              </a:rPr>
              <a:t>  return "unknown";</a:t>
            </a:r>
          </a:p>
          <a:p>
            <a:pPr algn="l">
              <a:lnSpc>
                <a:spcPts val="1400"/>
              </a:lnSpc>
            </a:pPr>
            <a:r>
              <a:rPr sz="1000" b="0" i="0">
                <a:solidFill>
                  <a:srgbClr val="DCE6F5"/>
                </a:solidFill>
                <a:latin typeface="Courier New"/>
              </a:rPr>
              <a:t>}</a:t>
            </a:r>
          </a:p>
        </p:txBody>
      </p:sp>
      <p:sp>
        <p:nvSpPr>
          <p:cNvPr id="12" name="Rounded Rectangle 11"/>
          <p:cNvSpPr/>
          <p:nvPr/>
        </p:nvSpPr>
        <p:spPr>
          <a:xfrm>
            <a:off x="594360" y="5349240"/>
            <a:ext cx="11002975" cy="713232"/>
          </a:xfrm>
          <a:prstGeom prst="roundRect">
            <a:avLst>
              <a:gd name="adj" fmla="val 4000"/>
            </a:avLst>
          </a:prstGeom>
          <a:solidFill>
            <a:srgbClr val="E7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5349240"/>
            <a:ext cx="10454335" cy="713232"/>
          </a:xfrm>
          <a:prstGeom prst="rect">
            <a:avLst/>
          </a:prstGeom>
          <a:noFill/>
        </p:spPr>
        <p:txBody>
          <a:bodyPr wrap="square" lIns="0" rIns="0" tIns="0" bIns="0" anchor="ctr">
            <a:spAutoFit/>
          </a:bodyPr>
          <a:lstStyle/>
          <a:p>
            <a:pPr algn="l">
              <a:lnSpc>
                <a:spcPts val="1800"/>
              </a:lnSpc>
            </a:pPr>
            <a:r>
              <a:rPr sz="1300" b="1" i="0">
                <a:solidFill>
                  <a:srgbClr val="0C2E6B"/>
                </a:solidFill>
                <a:latin typeface="Calibri"/>
              </a:rPr>
              <a:t>Kenapa diubah: </a:t>
            </a:r>
            <a:r>
              <a:rPr sz="1300" b="0" i="0">
                <a:solidFill>
                  <a:srgbClr val="0F1B33"/>
                </a:solidFill>
                <a:latin typeface="Calibri"/>
              </a:rPr>
              <a:t>L1 adalah nilai paling rendah, jadi dulu “belum ada data” terbaca sebagai “kandidat paling lemah”. Sekarang hasilnya null atau unknown, dan tampil sebagai “—” atau “Belum terukur”.</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38912"/>
            <a:ext cx="11002975" cy="566928"/>
          </a:xfrm>
          <a:prstGeom prst="rect">
            <a:avLst/>
          </a:prstGeom>
          <a:noFill/>
        </p:spPr>
        <p:txBody>
          <a:bodyPr wrap="square" lIns="0" rIns="0" tIns="0" bIns="0" anchor="t">
            <a:spAutoFit/>
          </a:bodyPr>
          <a:lstStyle/>
          <a:p>
            <a:pPr algn="l"/>
            <a:r>
              <a:rPr sz="2800" b="1" i="0">
                <a:solidFill>
                  <a:srgbClr val="0F1B33"/>
                </a:solidFill>
                <a:latin typeface="Calibri"/>
              </a:rPr>
              <a:t>Kode: akses antar perusahaan (IDOR)</a:t>
            </a:r>
          </a:p>
        </p:txBody>
      </p:sp>
      <p:sp>
        <p:nvSpPr>
          <p:cNvPr id="3" name="TextBox 2"/>
          <p:cNvSpPr txBox="1"/>
          <p:nvPr/>
        </p:nvSpPr>
        <p:spPr>
          <a:xfrm>
            <a:off x="594360" y="987552"/>
            <a:ext cx="11002975" cy="384048"/>
          </a:xfrm>
          <a:prstGeom prst="rect">
            <a:avLst/>
          </a:prstGeom>
          <a:noFill/>
        </p:spPr>
        <p:txBody>
          <a:bodyPr wrap="square" lIns="0" rIns="0" tIns="0" bIns="0" anchor="t">
            <a:spAutoFit/>
          </a:bodyPr>
          <a:lstStyle/>
          <a:p>
            <a:pPr algn="l"/>
            <a:r>
              <a:rPr sz="1500" b="0" i="0">
                <a:solidFill>
                  <a:srgbClr val="55617A"/>
                </a:solidFill>
                <a:latin typeface="Calibri"/>
              </a:rPr>
              <a:t>P0-4 · portfolio dicari hanya dari id, tanpa dicek milik perusahaan mana.</a:t>
            </a:r>
          </a:p>
        </p:txBody>
      </p:sp>
      <p:sp>
        <p:nvSpPr>
          <p:cNvPr id="4" name="TextBox 3"/>
          <p:cNvSpPr txBox="1"/>
          <p:nvPr/>
        </p:nvSpPr>
        <p:spPr>
          <a:xfrm>
            <a:off x="594360" y="6419088"/>
            <a:ext cx="4572000" cy="256032"/>
          </a:xfrm>
          <a:prstGeom prst="rect">
            <a:avLst/>
          </a:prstGeom>
          <a:noFill/>
        </p:spPr>
        <p:txBody>
          <a:bodyPr wrap="square" lIns="0" rIns="0" tIns="0" bIns="0" anchor="t">
            <a:spAutoFit/>
          </a:bodyPr>
          <a:lstStyle/>
          <a:p>
            <a:pPr algn="l"/>
            <a:r>
              <a:rPr sz="1000" b="0" i="0">
                <a:solidFill>
                  <a:srgbClr val="8A94A8"/>
                </a:solidFill>
                <a:latin typeface="Calibri"/>
              </a:rPr>
              <a:t>Aulia Afriza  ·  Kandidat Fullstack · Frontend depth</a:t>
            </a:r>
          </a:p>
        </p:txBody>
      </p:sp>
      <p:sp>
        <p:nvSpPr>
          <p:cNvPr id="5" name="TextBox 4"/>
          <p:cNvSpPr txBox="1"/>
          <p:nvPr/>
        </p:nvSpPr>
        <p:spPr>
          <a:xfrm>
            <a:off x="11277295" y="6419088"/>
            <a:ext cx="457200" cy="256032"/>
          </a:xfrm>
          <a:prstGeom prst="rect">
            <a:avLst/>
          </a:prstGeom>
          <a:noFill/>
        </p:spPr>
        <p:txBody>
          <a:bodyPr wrap="square" lIns="0" rIns="0" tIns="0" bIns="0" anchor="t">
            <a:spAutoFit/>
          </a:bodyPr>
          <a:lstStyle/>
          <a:p>
            <a:pPr algn="r"/>
            <a:r>
              <a:rPr sz="1000" b="0" i="0">
                <a:solidFill>
                  <a:srgbClr val="8A94A8"/>
                </a:solidFill>
                <a:latin typeface="Calibri"/>
              </a:rPr>
              <a:t>31</a:t>
            </a:r>
          </a:p>
        </p:txBody>
      </p:sp>
      <p:sp>
        <p:nvSpPr>
          <p:cNvPr id="6" name="TextBox 5"/>
          <p:cNvSpPr txBox="1"/>
          <p:nvPr/>
        </p:nvSpPr>
        <p:spPr>
          <a:xfrm>
            <a:off x="594360" y="1481328"/>
            <a:ext cx="5171398" cy="274320"/>
          </a:xfrm>
          <a:prstGeom prst="rect">
            <a:avLst/>
          </a:prstGeom>
          <a:noFill/>
        </p:spPr>
        <p:txBody>
          <a:bodyPr wrap="square" lIns="0" rIns="0" tIns="0" bIns="0" anchor="t">
            <a:spAutoFit/>
          </a:bodyPr>
          <a:lstStyle/>
          <a:p>
            <a:pPr algn="l"/>
            <a:r>
              <a:rPr sz="1200" b="1" i="0">
                <a:solidFill>
                  <a:srgbClr val="D14343"/>
                </a:solidFill>
                <a:latin typeface="Calibri"/>
              </a:rPr>
              <a:t>Sebelum  </a:t>
            </a:r>
            <a:r>
              <a:rPr sz="1050" b="0" i="0">
                <a:solidFill>
                  <a:srgbClr val="55617A"/>
                </a:solidFill>
                <a:latin typeface="Courier New"/>
              </a:rPr>
              <a:t>portfolios_controller.rb:82, 104, 130, 156</a:t>
            </a:r>
          </a:p>
        </p:txBody>
      </p:sp>
      <p:sp>
        <p:nvSpPr>
          <p:cNvPr id="7" name="Rounded Rectangle 6"/>
          <p:cNvSpPr/>
          <p:nvPr/>
        </p:nvSpPr>
        <p:spPr>
          <a:xfrm>
            <a:off x="594360" y="1810512"/>
            <a:ext cx="5171398" cy="3374136"/>
          </a:xfrm>
          <a:prstGeom prst="roundRect">
            <a:avLst>
              <a:gd name="adj" fmla="val 4000"/>
            </a:avLst>
          </a:prstGeom>
          <a:solidFill>
            <a:srgbClr val="0E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956816"/>
            <a:ext cx="4805638" cy="3154679"/>
          </a:xfrm>
          <a:prstGeom prst="rect">
            <a:avLst/>
          </a:prstGeom>
          <a:noFill/>
        </p:spPr>
        <p:txBody>
          <a:bodyPr wrap="square" lIns="0" rIns="0" tIns="0" bIns="0" anchor="t">
            <a:spAutoFit/>
          </a:bodyPr>
          <a:lstStyle/>
          <a:p>
            <a:pPr algn="l">
              <a:lnSpc>
                <a:spcPts val="1400"/>
              </a:lnSpc>
            </a:pPr>
            <a:r>
              <a:rPr sz="1000" b="1" i="0">
                <a:solidFill>
                  <a:srgbClr val="FF9F91"/>
                </a:solidFill>
                <a:latin typeface="Courier New"/>
              </a:rPr>
              <a:t>portfolio  = Portfolio.find(params[:id])</a:t>
            </a:r>
          </a:p>
          <a:p>
            <a:pPr algn="l">
              <a:lnSpc>
                <a:spcPts val="1400"/>
              </a:lnSpc>
            </a:pPr>
            <a:r>
              <a:rPr sz="1000" b="0" i="0">
                <a:solidFill>
                  <a:srgbClr val="DCE6F5"/>
                </a:solidFill>
                <a:latin typeface="Courier New"/>
              </a:rPr>
              <a:t> </a:t>
            </a:r>
          </a:p>
          <a:p>
            <a:pPr algn="l">
              <a:lnSpc>
                <a:spcPts val="1400"/>
              </a:lnSpc>
            </a:pPr>
            <a:r>
              <a:rPr sz="1000" b="0" i="0">
                <a:solidFill>
                  <a:srgbClr val="DCE6F5"/>
                </a:solidFill>
                <a:latin typeface="Courier New"/>
              </a:rPr>
              <a:t># (baris yang sama muncul di :82, :104, :130,</a:t>
            </a:r>
          </a:p>
          <a:p>
            <a:pPr algn="l">
              <a:lnSpc>
                <a:spcPts val="1400"/>
              </a:lnSpc>
            </a:pPr>
            <a:r>
              <a:rPr sz="1000" b="0" i="0">
                <a:solidFill>
                  <a:srgbClr val="DCE6F5"/>
                </a:solidFill>
                <a:latin typeface="Courier New"/>
              </a:rPr>
              <a:t>#  dan di set_portfolio :156)</a:t>
            </a:r>
          </a:p>
        </p:txBody>
      </p:sp>
      <p:sp>
        <p:nvSpPr>
          <p:cNvPr id="9" name="TextBox 8"/>
          <p:cNvSpPr txBox="1"/>
          <p:nvPr/>
        </p:nvSpPr>
        <p:spPr>
          <a:xfrm>
            <a:off x="6040078" y="1481328"/>
            <a:ext cx="5557256" cy="274320"/>
          </a:xfrm>
          <a:prstGeom prst="rect">
            <a:avLst/>
          </a:prstGeom>
          <a:noFill/>
        </p:spPr>
        <p:txBody>
          <a:bodyPr wrap="square" lIns="0" rIns="0" tIns="0" bIns="0" anchor="t">
            <a:spAutoFit/>
          </a:bodyPr>
          <a:lstStyle/>
          <a:p>
            <a:pPr algn="l"/>
            <a:r>
              <a:rPr sz="1200" b="1" i="0">
                <a:solidFill>
                  <a:srgbClr val="1C6FF3"/>
                </a:solidFill>
                <a:latin typeface="Calibri"/>
              </a:rPr>
              <a:t>Sesudah  </a:t>
            </a:r>
            <a:r>
              <a:rPr sz="1050" b="0" i="0">
                <a:solidFill>
                  <a:srgbClr val="55617A"/>
                </a:solidFill>
                <a:latin typeface="Courier New"/>
              </a:rPr>
              <a:t>api/app/controllers/api/v1/portfolios_controller.rb:161</a:t>
            </a:r>
          </a:p>
        </p:txBody>
      </p:sp>
      <p:sp>
        <p:nvSpPr>
          <p:cNvPr id="10" name="Rounded Rectangle 9"/>
          <p:cNvSpPr/>
          <p:nvPr/>
        </p:nvSpPr>
        <p:spPr>
          <a:xfrm>
            <a:off x="6040078" y="1810512"/>
            <a:ext cx="5557256" cy="3374136"/>
          </a:xfrm>
          <a:prstGeom prst="roundRect">
            <a:avLst>
              <a:gd name="adj" fmla="val 4000"/>
            </a:avLst>
          </a:prstGeom>
          <a:solidFill>
            <a:srgbClr val="0E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41246" y="1956816"/>
            <a:ext cx="5191496" cy="3154679"/>
          </a:xfrm>
          <a:prstGeom prst="rect">
            <a:avLst/>
          </a:prstGeom>
          <a:noFill/>
        </p:spPr>
        <p:txBody>
          <a:bodyPr wrap="square" lIns="0" rIns="0" tIns="0" bIns="0" anchor="t">
            <a:spAutoFit/>
          </a:bodyPr>
          <a:lstStyle/>
          <a:p>
            <a:pPr algn="l">
              <a:lnSpc>
                <a:spcPts val="1400"/>
              </a:lnSpc>
            </a:pPr>
            <a:r>
              <a:rPr sz="1000" b="0" i="0">
                <a:solidFill>
                  <a:srgbClr val="DCE6F5"/>
                </a:solidFill>
                <a:latin typeface="Courier New"/>
              </a:rPr>
              <a:t>def tenant_scoped_portfolios</a:t>
            </a:r>
          </a:p>
          <a:p>
            <a:pPr algn="l">
              <a:lnSpc>
                <a:spcPts val="1400"/>
              </a:lnSpc>
            </a:pPr>
            <a:r>
              <a:rPr sz="1000" b="1" i="0">
                <a:solidFill>
                  <a:srgbClr val="9CC5FF"/>
                </a:solidFill>
                <a:latin typeface="Courier New"/>
              </a:rPr>
              <a:t>  Portfolio.where(session_id: Session.select(:id))</a:t>
            </a:r>
          </a:p>
          <a:p>
            <a:pPr algn="l">
              <a:lnSpc>
                <a:spcPts val="1400"/>
              </a:lnSpc>
            </a:pPr>
            <a:r>
              <a:rPr sz="1000" b="0" i="0">
                <a:solidFill>
                  <a:srgbClr val="DCE6F5"/>
                </a:solidFill>
                <a:latin typeface="Courier New"/>
              </a:rPr>
              <a:t>end</a:t>
            </a:r>
          </a:p>
          <a:p>
            <a:pPr algn="l">
              <a:lnSpc>
                <a:spcPts val="1400"/>
              </a:lnSpc>
            </a:pPr>
            <a:r>
              <a:rPr sz="1000" b="0" i="0">
                <a:solidFill>
                  <a:srgbClr val="DCE6F5"/>
                </a:solidFill>
                <a:latin typeface="Courier New"/>
              </a:rPr>
              <a:t> </a:t>
            </a:r>
          </a:p>
          <a:p>
            <a:pPr algn="l">
              <a:lnSpc>
                <a:spcPts val="1400"/>
              </a:lnSpc>
            </a:pPr>
            <a:r>
              <a:rPr sz="1000" b="0" i="0">
                <a:solidFill>
                  <a:srgbClr val="DCE6F5"/>
                </a:solidFill>
                <a:latin typeface="Courier New"/>
              </a:rPr>
              <a:t>def scoped_portfolio!(id)</a:t>
            </a:r>
          </a:p>
          <a:p>
            <a:pPr algn="l">
              <a:lnSpc>
                <a:spcPts val="1400"/>
              </a:lnSpc>
            </a:pPr>
            <a:r>
              <a:rPr sz="1000" b="1" i="0">
                <a:solidFill>
                  <a:srgbClr val="9CC5FF"/>
                </a:solidFill>
                <a:latin typeface="Courier New"/>
              </a:rPr>
              <a:t>  tenant_scoped_portfolios.find(id)</a:t>
            </a:r>
          </a:p>
          <a:p>
            <a:pPr algn="l">
              <a:lnSpc>
                <a:spcPts val="1400"/>
              </a:lnSpc>
            </a:pPr>
            <a:r>
              <a:rPr sz="1000" b="0" i="0">
                <a:solidFill>
                  <a:srgbClr val="DCE6F5"/>
                </a:solidFill>
                <a:latin typeface="Courier New"/>
              </a:rPr>
              <a:t>rescue ActiveRecord::RecordNotFound</a:t>
            </a:r>
          </a:p>
          <a:p>
            <a:pPr algn="l">
              <a:lnSpc>
                <a:spcPts val="1400"/>
              </a:lnSpc>
            </a:pPr>
            <a:r>
              <a:rPr sz="1000" b="0" i="0">
                <a:solidFill>
                  <a:srgbClr val="DCE6F5"/>
                </a:solidFill>
                <a:latin typeface="Courier New"/>
              </a:rPr>
              <a:t>  json_error('Portfolio not found', :not_found)</a:t>
            </a:r>
          </a:p>
          <a:p>
            <a:pPr algn="l">
              <a:lnSpc>
                <a:spcPts val="1400"/>
              </a:lnSpc>
            </a:pPr>
            <a:r>
              <a:rPr sz="1000" b="0" i="0">
                <a:solidFill>
                  <a:srgbClr val="DCE6F5"/>
                </a:solidFill>
                <a:latin typeface="Courier New"/>
              </a:rPr>
              <a:t>  nil</a:t>
            </a:r>
          </a:p>
          <a:p>
            <a:pPr algn="l">
              <a:lnSpc>
                <a:spcPts val="1400"/>
              </a:lnSpc>
            </a:pPr>
            <a:r>
              <a:rPr sz="1000" b="0" i="0">
                <a:solidFill>
                  <a:srgbClr val="DCE6F5"/>
                </a:solidFill>
                <a:latin typeface="Courier New"/>
              </a:rPr>
              <a:t>end</a:t>
            </a:r>
          </a:p>
        </p:txBody>
      </p:sp>
      <p:sp>
        <p:nvSpPr>
          <p:cNvPr id="12" name="Rounded Rectangle 11"/>
          <p:cNvSpPr/>
          <p:nvPr/>
        </p:nvSpPr>
        <p:spPr>
          <a:xfrm>
            <a:off x="594360" y="5349240"/>
            <a:ext cx="11002975" cy="713232"/>
          </a:xfrm>
          <a:prstGeom prst="roundRect">
            <a:avLst>
              <a:gd name="adj" fmla="val 4000"/>
            </a:avLst>
          </a:prstGeom>
          <a:solidFill>
            <a:srgbClr val="E7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5349240"/>
            <a:ext cx="10454335" cy="713232"/>
          </a:xfrm>
          <a:prstGeom prst="rect">
            <a:avLst/>
          </a:prstGeom>
          <a:noFill/>
        </p:spPr>
        <p:txBody>
          <a:bodyPr wrap="square" lIns="0" rIns="0" tIns="0" bIns="0" anchor="ctr">
            <a:spAutoFit/>
          </a:bodyPr>
          <a:lstStyle/>
          <a:p>
            <a:pPr algn="l">
              <a:lnSpc>
                <a:spcPts val="1800"/>
              </a:lnSpc>
            </a:pPr>
            <a:r>
              <a:rPr sz="1300" b="1" i="0">
                <a:solidFill>
                  <a:srgbClr val="0C2E6B"/>
                </a:solidFill>
                <a:latin typeface="Calibri"/>
              </a:rPr>
              <a:t>Kenapa diubah: </a:t>
            </a:r>
            <a:r>
              <a:rPr sz="1300" b="0" i="0">
                <a:solidFill>
                  <a:srgbClr val="0F1B33"/>
                </a:solidFill>
                <a:latin typeface="Calibri"/>
              </a:rPr>
              <a:t>Session sudah otomatis dibatasi per perusahaan (TenantScoped). Dengan mencari Portfolio lewat Session, portfolio perusahaan lain tidak akan ketemu dan hasilnya 404. Dikunci oleh portfolio_tenancy_spec.rb.</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38912"/>
            <a:ext cx="11002975" cy="566928"/>
          </a:xfrm>
          <a:prstGeom prst="rect">
            <a:avLst/>
          </a:prstGeom>
          <a:noFill/>
        </p:spPr>
        <p:txBody>
          <a:bodyPr wrap="square" lIns="0" rIns="0" tIns="0" bIns="0" anchor="t">
            <a:spAutoFit/>
          </a:bodyPr>
          <a:lstStyle/>
          <a:p>
            <a:pPr algn="l"/>
            <a:r>
              <a:rPr sz="2800" b="1" i="0">
                <a:solidFill>
                  <a:srgbClr val="0F1B33"/>
                </a:solidFill>
                <a:latin typeface="Calibri"/>
              </a:rPr>
              <a:t>Kode: koreksi assessor tidak hilang</a:t>
            </a:r>
          </a:p>
        </p:txBody>
      </p:sp>
      <p:sp>
        <p:nvSpPr>
          <p:cNvPr id="3" name="TextBox 2"/>
          <p:cNvSpPr txBox="1"/>
          <p:nvPr/>
        </p:nvSpPr>
        <p:spPr>
          <a:xfrm>
            <a:off x="594360" y="987552"/>
            <a:ext cx="11002975" cy="384048"/>
          </a:xfrm>
          <a:prstGeom prst="rect">
            <a:avLst/>
          </a:prstGeom>
          <a:noFill/>
        </p:spPr>
        <p:txBody>
          <a:bodyPr wrap="square" lIns="0" rIns="0" tIns="0" bIns="0" anchor="t">
            <a:spAutoFit/>
          </a:bodyPr>
          <a:lstStyle/>
          <a:p>
            <a:pPr algn="l"/>
            <a:r>
              <a:rPr sz="1500" b="0" i="0">
                <a:solidFill>
                  <a:srgbClr val="55617A"/>
                </a:solidFill>
                <a:latin typeface="Calibri"/>
              </a:rPr>
              <a:t>Generate ulang dulu ikut menghapus koreksi dan catatan assessor.</a:t>
            </a:r>
          </a:p>
        </p:txBody>
      </p:sp>
      <p:sp>
        <p:nvSpPr>
          <p:cNvPr id="4" name="TextBox 3"/>
          <p:cNvSpPr txBox="1"/>
          <p:nvPr/>
        </p:nvSpPr>
        <p:spPr>
          <a:xfrm>
            <a:off x="594360" y="6419088"/>
            <a:ext cx="4572000" cy="256032"/>
          </a:xfrm>
          <a:prstGeom prst="rect">
            <a:avLst/>
          </a:prstGeom>
          <a:noFill/>
        </p:spPr>
        <p:txBody>
          <a:bodyPr wrap="square" lIns="0" rIns="0" tIns="0" bIns="0" anchor="t">
            <a:spAutoFit/>
          </a:bodyPr>
          <a:lstStyle/>
          <a:p>
            <a:pPr algn="l"/>
            <a:r>
              <a:rPr sz="1000" b="0" i="0">
                <a:solidFill>
                  <a:srgbClr val="8A94A8"/>
                </a:solidFill>
                <a:latin typeface="Calibri"/>
              </a:rPr>
              <a:t>Aulia Afriza  ·  Kandidat Fullstack · Frontend depth</a:t>
            </a:r>
          </a:p>
        </p:txBody>
      </p:sp>
      <p:sp>
        <p:nvSpPr>
          <p:cNvPr id="5" name="TextBox 4"/>
          <p:cNvSpPr txBox="1"/>
          <p:nvPr/>
        </p:nvSpPr>
        <p:spPr>
          <a:xfrm>
            <a:off x="11277295" y="6419088"/>
            <a:ext cx="457200" cy="256032"/>
          </a:xfrm>
          <a:prstGeom prst="rect">
            <a:avLst/>
          </a:prstGeom>
          <a:noFill/>
        </p:spPr>
        <p:txBody>
          <a:bodyPr wrap="square" lIns="0" rIns="0" tIns="0" bIns="0" anchor="t">
            <a:spAutoFit/>
          </a:bodyPr>
          <a:lstStyle/>
          <a:p>
            <a:pPr algn="r"/>
            <a:r>
              <a:rPr sz="1000" b="0" i="0">
                <a:solidFill>
                  <a:srgbClr val="8A94A8"/>
                </a:solidFill>
                <a:latin typeface="Calibri"/>
              </a:rPr>
              <a:t>32</a:t>
            </a:r>
          </a:p>
        </p:txBody>
      </p:sp>
      <p:sp>
        <p:nvSpPr>
          <p:cNvPr id="6" name="TextBox 5"/>
          <p:cNvSpPr txBox="1"/>
          <p:nvPr/>
        </p:nvSpPr>
        <p:spPr>
          <a:xfrm>
            <a:off x="594360" y="1481328"/>
            <a:ext cx="5171398" cy="274320"/>
          </a:xfrm>
          <a:prstGeom prst="rect">
            <a:avLst/>
          </a:prstGeom>
          <a:noFill/>
        </p:spPr>
        <p:txBody>
          <a:bodyPr wrap="square" lIns="0" rIns="0" tIns="0" bIns="0" anchor="t">
            <a:spAutoFit/>
          </a:bodyPr>
          <a:lstStyle/>
          <a:p>
            <a:pPr algn="l"/>
            <a:r>
              <a:rPr sz="1200" b="1" i="0">
                <a:solidFill>
                  <a:srgbClr val="D14343"/>
                </a:solidFill>
                <a:latin typeface="Calibri"/>
              </a:rPr>
              <a:t>Sebelum  </a:t>
            </a:r>
            <a:r>
              <a:rPr sz="1050" b="0" i="0">
                <a:solidFill>
                  <a:srgbClr val="55617A"/>
                </a:solidFill>
                <a:latin typeface="Courier New"/>
              </a:rPr>
              <a:t>api/app/services/portfolios/generator.rb:150</a:t>
            </a:r>
          </a:p>
        </p:txBody>
      </p:sp>
      <p:sp>
        <p:nvSpPr>
          <p:cNvPr id="7" name="Rounded Rectangle 6"/>
          <p:cNvSpPr/>
          <p:nvPr/>
        </p:nvSpPr>
        <p:spPr>
          <a:xfrm>
            <a:off x="594360" y="1810512"/>
            <a:ext cx="5171398" cy="3374136"/>
          </a:xfrm>
          <a:prstGeom prst="roundRect">
            <a:avLst>
              <a:gd name="adj" fmla="val 4000"/>
            </a:avLst>
          </a:prstGeom>
          <a:solidFill>
            <a:srgbClr val="0E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956816"/>
            <a:ext cx="4805638" cy="3154679"/>
          </a:xfrm>
          <a:prstGeom prst="rect">
            <a:avLst/>
          </a:prstGeom>
          <a:noFill/>
        </p:spPr>
        <p:txBody>
          <a:bodyPr wrap="square" lIns="0" rIns="0" tIns="0" bIns="0" anchor="t">
            <a:spAutoFit/>
          </a:bodyPr>
          <a:lstStyle/>
          <a:p>
            <a:pPr algn="l">
              <a:lnSpc>
                <a:spcPts val="1400"/>
              </a:lnSpc>
            </a:pPr>
            <a:r>
              <a:rPr sz="1000" b="0" i="0">
                <a:solidFill>
                  <a:srgbClr val="DCE6F5"/>
                </a:solidFill>
                <a:latin typeface="Courier New"/>
              </a:rPr>
              <a:t>def save_skills(portfolio, response)</a:t>
            </a:r>
          </a:p>
          <a:p>
            <a:pPr algn="l">
              <a:lnSpc>
                <a:spcPts val="1400"/>
              </a:lnSpc>
            </a:pPr>
            <a:r>
              <a:rPr sz="1000" b="0" i="0">
                <a:solidFill>
                  <a:srgbClr val="DCE6F5"/>
                </a:solidFill>
                <a:latin typeface="Courier New"/>
              </a:rPr>
              <a:t>  data = response.is_a?(Hash) ? response : JSON.parse(response)</a:t>
            </a:r>
          </a:p>
          <a:p>
            <a:pPr algn="l">
              <a:lnSpc>
                <a:spcPts val="1400"/>
              </a:lnSpc>
            </a:pPr>
            <a:r>
              <a:rPr sz="1000" b="0" i="0">
                <a:solidFill>
                  <a:srgbClr val="DCE6F5"/>
                </a:solidFill>
                <a:latin typeface="Courier New"/>
              </a:rPr>
              <a:t> </a:t>
            </a:r>
          </a:p>
          <a:p>
            <a:pPr algn="l">
              <a:lnSpc>
                <a:spcPts val="1400"/>
              </a:lnSpc>
            </a:pPr>
            <a:r>
              <a:rPr sz="1000" b="0" i="0">
                <a:solidFill>
                  <a:srgbClr val="DCE6F5"/>
                </a:solidFill>
                <a:latin typeface="Courier New"/>
              </a:rPr>
              <a:t>  # Destroy existing skills (idempotent regeneration)</a:t>
            </a:r>
          </a:p>
          <a:p>
            <a:pPr algn="l">
              <a:lnSpc>
                <a:spcPts val="1400"/>
              </a:lnSpc>
            </a:pPr>
            <a:r>
              <a:rPr sz="1000" b="1" i="0">
                <a:solidFill>
                  <a:srgbClr val="FF9F91"/>
                </a:solidFill>
                <a:latin typeface="Courier New"/>
              </a:rPr>
              <a:t>  portfolio.portfolio_skills.destroy_all</a:t>
            </a:r>
          </a:p>
          <a:p>
            <a:pPr algn="l">
              <a:lnSpc>
                <a:spcPts val="1400"/>
              </a:lnSpc>
            </a:pPr>
            <a:r>
              <a:rPr sz="1000" b="0" i="0">
                <a:solidFill>
                  <a:srgbClr val="DCE6F5"/>
                </a:solidFill>
                <a:latin typeface="Courier New"/>
              </a:rPr>
              <a:t> </a:t>
            </a:r>
          </a:p>
          <a:p>
            <a:pPr algn="l">
              <a:lnSpc>
                <a:spcPts val="1400"/>
              </a:lnSpc>
            </a:pPr>
            <a:r>
              <a:rPr sz="1000" b="0" i="0">
                <a:solidFill>
                  <a:srgbClr val="DCE6F5"/>
                </a:solidFill>
                <a:latin typeface="Courier New"/>
              </a:rPr>
              <a:t>  (data['configured_skills'] || []).each do |skill_data|</a:t>
            </a:r>
          </a:p>
          <a:p>
            <a:pPr algn="l">
              <a:lnSpc>
                <a:spcPts val="1400"/>
              </a:lnSpc>
            </a:pPr>
            <a:r>
              <a:rPr sz="1000" b="0" i="0">
                <a:solidFill>
                  <a:srgbClr val="DCE6F5"/>
                </a:solidFill>
                <a:latin typeface="Courier New"/>
              </a:rPr>
              <a:t>    portfolio.portfolio_skills.create!(</a:t>
            </a:r>
          </a:p>
          <a:p>
            <a:pPr algn="l">
              <a:lnSpc>
                <a:spcPts val="1400"/>
              </a:lnSpc>
            </a:pPr>
            <a:r>
              <a:rPr sz="1000" b="0" i="0">
                <a:solidFill>
                  <a:srgbClr val="DCE6F5"/>
                </a:solidFill>
                <a:latin typeface="Courier New"/>
              </a:rPr>
              <a:t>      skill_id:    skill_data['skill_id'],</a:t>
            </a:r>
          </a:p>
          <a:p>
            <a:pPr algn="l">
              <a:lnSpc>
                <a:spcPts val="1400"/>
              </a:lnSpc>
            </a:pPr>
            <a:r>
              <a:rPr sz="1000" b="0" i="0">
                <a:solidFill>
                  <a:srgbClr val="DCE6F5"/>
                </a:solidFill>
                <a:latin typeface="Courier New"/>
              </a:rPr>
              <a:t>      …</a:t>
            </a:r>
          </a:p>
        </p:txBody>
      </p:sp>
      <p:sp>
        <p:nvSpPr>
          <p:cNvPr id="9" name="TextBox 8"/>
          <p:cNvSpPr txBox="1"/>
          <p:nvPr/>
        </p:nvSpPr>
        <p:spPr>
          <a:xfrm>
            <a:off x="6040078" y="1481328"/>
            <a:ext cx="5557256" cy="274320"/>
          </a:xfrm>
          <a:prstGeom prst="rect">
            <a:avLst/>
          </a:prstGeom>
          <a:noFill/>
        </p:spPr>
        <p:txBody>
          <a:bodyPr wrap="square" lIns="0" rIns="0" tIns="0" bIns="0" anchor="t">
            <a:spAutoFit/>
          </a:bodyPr>
          <a:lstStyle/>
          <a:p>
            <a:pPr algn="l"/>
            <a:r>
              <a:rPr sz="1200" b="1" i="0">
                <a:solidFill>
                  <a:srgbClr val="1C6FF3"/>
                </a:solidFill>
                <a:latin typeface="Calibri"/>
              </a:rPr>
              <a:t>Sesudah  </a:t>
            </a:r>
            <a:r>
              <a:rPr sz="1050" b="0" i="0">
                <a:solidFill>
                  <a:srgbClr val="55617A"/>
                </a:solidFill>
                <a:latin typeface="Courier New"/>
              </a:rPr>
              <a:t>api/app/services/portfolios/generator.rb:177</a:t>
            </a:r>
          </a:p>
        </p:txBody>
      </p:sp>
      <p:sp>
        <p:nvSpPr>
          <p:cNvPr id="10" name="Rounded Rectangle 9"/>
          <p:cNvSpPr/>
          <p:nvPr/>
        </p:nvSpPr>
        <p:spPr>
          <a:xfrm>
            <a:off x="6040078" y="1810512"/>
            <a:ext cx="5557256" cy="3374136"/>
          </a:xfrm>
          <a:prstGeom prst="roundRect">
            <a:avLst>
              <a:gd name="adj" fmla="val 4000"/>
            </a:avLst>
          </a:prstGeom>
          <a:solidFill>
            <a:srgbClr val="0E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41246" y="1956816"/>
            <a:ext cx="5191496" cy="3154679"/>
          </a:xfrm>
          <a:prstGeom prst="rect">
            <a:avLst/>
          </a:prstGeom>
          <a:noFill/>
        </p:spPr>
        <p:txBody>
          <a:bodyPr wrap="square" lIns="0" rIns="0" tIns="0" bIns="0" anchor="t">
            <a:spAutoFit/>
          </a:bodyPr>
          <a:lstStyle/>
          <a:p>
            <a:pPr algn="l">
              <a:lnSpc>
                <a:spcPts val="1400"/>
              </a:lnSpc>
            </a:pPr>
            <a:r>
              <a:rPr sz="1000" b="0" i="0">
                <a:solidFill>
                  <a:srgbClr val="DCE6F5"/>
                </a:solidFill>
                <a:latin typeface="Courier New"/>
              </a:rPr>
              <a:t>def save_skills(portfolio, response)</a:t>
            </a:r>
          </a:p>
          <a:p>
            <a:pPr algn="l">
              <a:lnSpc>
                <a:spcPts val="1400"/>
              </a:lnSpc>
            </a:pPr>
            <a:r>
              <a:rPr sz="1000" b="0" i="0">
                <a:solidFill>
                  <a:srgbClr val="DCE6F5"/>
                </a:solidFill>
                <a:latin typeface="Courier New"/>
              </a:rPr>
              <a:t>  data = response.is_a?(Hash) ? response : JSON.parse(response)</a:t>
            </a:r>
          </a:p>
          <a:p>
            <a:pPr algn="l">
              <a:lnSpc>
                <a:spcPts val="1400"/>
              </a:lnSpc>
            </a:pPr>
            <a:r>
              <a:rPr sz="1000" b="0" i="0">
                <a:solidFill>
                  <a:srgbClr val="DCE6F5"/>
                </a:solidFill>
                <a:latin typeface="Courier New"/>
              </a:rPr>
              <a:t> </a:t>
            </a:r>
          </a:p>
          <a:p>
            <a:pPr algn="l">
              <a:lnSpc>
                <a:spcPts val="1400"/>
              </a:lnSpc>
            </a:pPr>
            <a:r>
              <a:rPr sz="1000" b="1" i="0">
                <a:solidFill>
                  <a:srgbClr val="9CC5FF"/>
                </a:solidFill>
                <a:latin typeface="Courier New"/>
              </a:rPr>
              <a:t>  ActiveRecord::Base.transaction do</a:t>
            </a:r>
          </a:p>
          <a:p>
            <a:pPr algn="l">
              <a:lnSpc>
                <a:spcPts val="1400"/>
              </a:lnSpc>
            </a:pPr>
            <a:r>
              <a:rPr sz="1000" b="1" i="0">
                <a:solidFill>
                  <a:srgbClr val="9CC5FF"/>
                </a:solidFill>
                <a:latin typeface="Courier New"/>
              </a:rPr>
              <a:t>    preserved = preserved_overrides(portfolio)</a:t>
            </a:r>
          </a:p>
          <a:p>
            <a:pPr algn="l">
              <a:lnSpc>
                <a:spcPts val="1400"/>
              </a:lnSpc>
            </a:pPr>
            <a:r>
              <a:rPr sz="1000" b="0" i="0">
                <a:solidFill>
                  <a:srgbClr val="DCE6F5"/>
                </a:solidFill>
                <a:latin typeface="Courier New"/>
              </a:rPr>
              <a:t> </a:t>
            </a:r>
          </a:p>
          <a:p>
            <a:pPr algn="l">
              <a:lnSpc>
                <a:spcPts val="1400"/>
              </a:lnSpc>
            </a:pPr>
            <a:r>
              <a:rPr sz="1000" b="0" i="0">
                <a:solidFill>
                  <a:srgbClr val="DCE6F5"/>
                </a:solidFill>
                <a:latin typeface="Courier New"/>
              </a:rPr>
              <a:t>    portfolio.portfolio_skills.destroy_all</a:t>
            </a:r>
          </a:p>
          <a:p>
            <a:pPr algn="l">
              <a:lnSpc>
                <a:spcPts val="1400"/>
              </a:lnSpc>
            </a:pPr>
            <a:r>
              <a:rPr sz="1000" b="0" i="0">
                <a:solidFill>
                  <a:srgbClr val="DCE6F5"/>
                </a:solidFill>
                <a:latin typeface="Courier New"/>
              </a:rPr>
              <a:t> </a:t>
            </a:r>
          </a:p>
          <a:p>
            <a:pPr algn="l">
              <a:lnSpc>
                <a:spcPts val="1400"/>
              </a:lnSpc>
            </a:pPr>
            <a:r>
              <a:rPr sz="1000" b="0" i="0">
                <a:solidFill>
                  <a:srgbClr val="DCE6F5"/>
                </a:solidFill>
                <a:latin typeface="Courier New"/>
              </a:rPr>
              <a:t>    Array(data['configured_skills']).each { |s| create_skill(…) }</a:t>
            </a:r>
          </a:p>
          <a:p>
            <a:pPr algn="l">
              <a:lnSpc>
                <a:spcPts val="1400"/>
              </a:lnSpc>
            </a:pPr>
            <a:r>
              <a:rPr sz="1000" b="0" i="0">
                <a:solidFill>
                  <a:srgbClr val="DCE6F5"/>
                </a:solidFill>
                <a:latin typeface="Courier New"/>
              </a:rPr>
              <a:t>    Array(data['discovered_skills']).each { |s| create_skill(…) }</a:t>
            </a:r>
          </a:p>
          <a:p>
            <a:pPr algn="l">
              <a:lnSpc>
                <a:spcPts val="1400"/>
              </a:lnSpc>
            </a:pPr>
            <a:r>
              <a:rPr sz="1000" b="0" i="0">
                <a:solidFill>
                  <a:srgbClr val="DCE6F5"/>
                </a:solidFill>
                <a:latin typeface="Courier New"/>
              </a:rPr>
              <a:t> </a:t>
            </a:r>
          </a:p>
          <a:p>
            <a:pPr algn="l">
              <a:lnSpc>
                <a:spcPts val="1400"/>
              </a:lnSpc>
            </a:pPr>
            <a:r>
              <a:rPr sz="1000" b="1" i="0">
                <a:solidFill>
                  <a:srgbClr val="9CC5FF"/>
                </a:solidFill>
                <a:latin typeface="Courier New"/>
              </a:rPr>
              <a:t>    reattach_overrides(portfolio, preserved)</a:t>
            </a:r>
          </a:p>
          <a:p>
            <a:pPr algn="l">
              <a:lnSpc>
                <a:spcPts val="1400"/>
              </a:lnSpc>
            </a:pPr>
            <a:r>
              <a:rPr sz="1000" b="0" i="0">
                <a:solidFill>
                  <a:srgbClr val="DCE6F5"/>
                </a:solidFill>
                <a:latin typeface="Courier New"/>
              </a:rPr>
              <a:t>  end</a:t>
            </a:r>
          </a:p>
          <a:p>
            <a:pPr algn="l">
              <a:lnSpc>
                <a:spcPts val="1400"/>
              </a:lnSpc>
            </a:pPr>
            <a:r>
              <a:rPr sz="1000" b="0" i="0">
                <a:solidFill>
                  <a:srgbClr val="DCE6F5"/>
                </a:solidFill>
                <a:latin typeface="Courier New"/>
              </a:rPr>
              <a:t>end</a:t>
            </a:r>
          </a:p>
        </p:txBody>
      </p:sp>
      <p:sp>
        <p:nvSpPr>
          <p:cNvPr id="12" name="Rounded Rectangle 11"/>
          <p:cNvSpPr/>
          <p:nvPr/>
        </p:nvSpPr>
        <p:spPr>
          <a:xfrm>
            <a:off x="594360" y="5349240"/>
            <a:ext cx="11002975" cy="713232"/>
          </a:xfrm>
          <a:prstGeom prst="roundRect">
            <a:avLst>
              <a:gd name="adj" fmla="val 4000"/>
            </a:avLst>
          </a:prstGeom>
          <a:solidFill>
            <a:srgbClr val="E7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5349240"/>
            <a:ext cx="10454335" cy="713232"/>
          </a:xfrm>
          <a:prstGeom prst="rect">
            <a:avLst/>
          </a:prstGeom>
          <a:noFill/>
        </p:spPr>
        <p:txBody>
          <a:bodyPr wrap="square" lIns="0" rIns="0" tIns="0" bIns="0" anchor="ctr">
            <a:spAutoFit/>
          </a:bodyPr>
          <a:lstStyle/>
          <a:p>
            <a:pPr algn="l">
              <a:lnSpc>
                <a:spcPts val="1800"/>
              </a:lnSpc>
            </a:pPr>
            <a:r>
              <a:rPr sz="1300" b="1" i="0">
                <a:solidFill>
                  <a:srgbClr val="0C2E6B"/>
                </a:solidFill>
                <a:latin typeface="Calibri"/>
              </a:rPr>
              <a:t>Kenapa diubah: </a:t>
            </a:r>
            <a:r>
              <a:rPr sz="1300" b="0" i="0">
                <a:solidFill>
                  <a:srgbClr val="0F1B33"/>
                </a:solidFill>
                <a:latin typeface="Calibri"/>
              </a:rPr>
              <a:t>destroy_all ikut menghapus koreksi assessor karena dependent: :destroy. Sekarang koreksinya disimpan dulu lalu dipasang lagi, dalam satu transaction. Bug ini sempat terbawa di versi pertama saya, ketahuan saat audit. Dikunci oleh generator_spec.rb.</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38912"/>
            <a:ext cx="11002975" cy="566928"/>
          </a:xfrm>
          <a:prstGeom prst="rect">
            <a:avLst/>
          </a:prstGeom>
          <a:noFill/>
        </p:spPr>
        <p:txBody>
          <a:bodyPr wrap="square" lIns="0" rIns="0" tIns="0" bIns="0" anchor="t">
            <a:spAutoFit/>
          </a:bodyPr>
          <a:lstStyle/>
          <a:p>
            <a:pPr algn="l"/>
            <a:r>
              <a:rPr sz="2800" b="1" i="0">
                <a:solidFill>
                  <a:srgbClr val="0F1B33"/>
                </a:solidFill>
                <a:latin typeface="Calibri"/>
              </a:rPr>
              <a:t>Kode: polling yang tidak jalan selamanya</a:t>
            </a:r>
          </a:p>
        </p:txBody>
      </p:sp>
      <p:sp>
        <p:nvSpPr>
          <p:cNvPr id="3" name="TextBox 2"/>
          <p:cNvSpPr txBox="1"/>
          <p:nvPr/>
        </p:nvSpPr>
        <p:spPr>
          <a:xfrm>
            <a:off x="594360" y="987552"/>
            <a:ext cx="11002975" cy="384048"/>
          </a:xfrm>
          <a:prstGeom prst="rect">
            <a:avLst/>
          </a:prstGeom>
          <a:noFill/>
        </p:spPr>
        <p:txBody>
          <a:bodyPr wrap="square" lIns="0" rIns="0" tIns="0" bIns="0" anchor="t">
            <a:spAutoFit/>
          </a:bodyPr>
          <a:lstStyle/>
          <a:p>
            <a:pPr algn="l"/>
            <a:r>
              <a:rPr sz="1500" b="0" i="0">
                <a:solidFill>
                  <a:srgbClr val="55617A"/>
                </a:solidFill>
                <a:latin typeface="Calibri"/>
              </a:rPr>
              <a:t>Halaman menunggu hasil generate dengan mengecek tiap 5 detik, tanpa batas.</a:t>
            </a:r>
          </a:p>
        </p:txBody>
      </p:sp>
      <p:sp>
        <p:nvSpPr>
          <p:cNvPr id="4" name="TextBox 3"/>
          <p:cNvSpPr txBox="1"/>
          <p:nvPr/>
        </p:nvSpPr>
        <p:spPr>
          <a:xfrm>
            <a:off x="594360" y="6419088"/>
            <a:ext cx="4572000" cy="256032"/>
          </a:xfrm>
          <a:prstGeom prst="rect">
            <a:avLst/>
          </a:prstGeom>
          <a:noFill/>
        </p:spPr>
        <p:txBody>
          <a:bodyPr wrap="square" lIns="0" rIns="0" tIns="0" bIns="0" anchor="t">
            <a:spAutoFit/>
          </a:bodyPr>
          <a:lstStyle/>
          <a:p>
            <a:pPr algn="l"/>
            <a:r>
              <a:rPr sz="1000" b="0" i="0">
                <a:solidFill>
                  <a:srgbClr val="8A94A8"/>
                </a:solidFill>
                <a:latin typeface="Calibri"/>
              </a:rPr>
              <a:t>Aulia Afriza  ·  Kandidat Fullstack · Frontend depth</a:t>
            </a:r>
          </a:p>
        </p:txBody>
      </p:sp>
      <p:sp>
        <p:nvSpPr>
          <p:cNvPr id="5" name="TextBox 4"/>
          <p:cNvSpPr txBox="1"/>
          <p:nvPr/>
        </p:nvSpPr>
        <p:spPr>
          <a:xfrm>
            <a:off x="11277295" y="6419088"/>
            <a:ext cx="457200" cy="256032"/>
          </a:xfrm>
          <a:prstGeom prst="rect">
            <a:avLst/>
          </a:prstGeom>
          <a:noFill/>
        </p:spPr>
        <p:txBody>
          <a:bodyPr wrap="square" lIns="0" rIns="0" tIns="0" bIns="0" anchor="t">
            <a:spAutoFit/>
          </a:bodyPr>
          <a:lstStyle/>
          <a:p>
            <a:pPr algn="r"/>
            <a:r>
              <a:rPr sz="1000" b="0" i="0">
                <a:solidFill>
                  <a:srgbClr val="8A94A8"/>
                </a:solidFill>
                <a:latin typeface="Calibri"/>
              </a:rPr>
              <a:t>33</a:t>
            </a:r>
          </a:p>
        </p:txBody>
      </p:sp>
      <p:sp>
        <p:nvSpPr>
          <p:cNvPr id="6" name="TextBox 5"/>
          <p:cNvSpPr txBox="1"/>
          <p:nvPr/>
        </p:nvSpPr>
        <p:spPr>
          <a:xfrm>
            <a:off x="594360" y="1481328"/>
            <a:ext cx="4841309" cy="274320"/>
          </a:xfrm>
          <a:prstGeom prst="rect">
            <a:avLst/>
          </a:prstGeom>
          <a:noFill/>
        </p:spPr>
        <p:txBody>
          <a:bodyPr wrap="square" lIns="0" rIns="0" tIns="0" bIns="0" anchor="t">
            <a:spAutoFit/>
          </a:bodyPr>
          <a:lstStyle/>
          <a:p>
            <a:pPr algn="l"/>
            <a:r>
              <a:rPr sz="1200" b="1" i="0">
                <a:solidFill>
                  <a:srgbClr val="D14343"/>
                </a:solidFill>
                <a:latin typeface="Calibri"/>
              </a:rPr>
              <a:t>Sebelum  </a:t>
            </a:r>
            <a:r>
              <a:rPr sz="1050" b="0" i="0">
                <a:solidFill>
                  <a:srgbClr val="55617A"/>
                </a:solidFill>
                <a:latin typeface="Courier New"/>
              </a:rPr>
              <a:t>web/src/hooks/usePolling.ts</a:t>
            </a:r>
          </a:p>
        </p:txBody>
      </p:sp>
      <p:sp>
        <p:nvSpPr>
          <p:cNvPr id="7" name="Rounded Rectangle 6"/>
          <p:cNvSpPr/>
          <p:nvPr/>
        </p:nvSpPr>
        <p:spPr>
          <a:xfrm>
            <a:off x="594360" y="1810512"/>
            <a:ext cx="4841309" cy="3374136"/>
          </a:xfrm>
          <a:prstGeom prst="roundRect">
            <a:avLst>
              <a:gd name="adj" fmla="val 4000"/>
            </a:avLst>
          </a:prstGeom>
          <a:solidFill>
            <a:srgbClr val="0E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956816"/>
            <a:ext cx="4475549" cy="3154679"/>
          </a:xfrm>
          <a:prstGeom prst="rect">
            <a:avLst/>
          </a:prstGeom>
          <a:noFill/>
        </p:spPr>
        <p:txBody>
          <a:bodyPr wrap="square" lIns="0" rIns="0" tIns="0" bIns="0" anchor="t">
            <a:spAutoFit/>
          </a:bodyPr>
          <a:lstStyle/>
          <a:p>
            <a:pPr algn="l">
              <a:lnSpc>
                <a:spcPts val="1400"/>
              </a:lnSpc>
            </a:pPr>
            <a:r>
              <a:rPr sz="1000" b="0" i="0">
                <a:solidFill>
                  <a:srgbClr val="DCE6F5"/>
                </a:solidFill>
                <a:latin typeface="Courier New"/>
              </a:rPr>
              <a:t>export function usePolling(</a:t>
            </a:r>
          </a:p>
          <a:p>
            <a:pPr algn="l">
              <a:lnSpc>
                <a:spcPts val="1400"/>
              </a:lnSpc>
            </a:pPr>
            <a:r>
              <a:rPr sz="1000" b="0" i="0">
                <a:solidFill>
                  <a:srgbClr val="DCE6F5"/>
                </a:solidFill>
                <a:latin typeface="Courier New"/>
              </a:rPr>
              <a:t>  fn: () =&gt; void | Promise&lt;void&gt;,</a:t>
            </a:r>
          </a:p>
          <a:p>
            <a:pPr algn="l">
              <a:lnSpc>
                <a:spcPts val="1400"/>
              </a:lnSpc>
            </a:pPr>
            <a:r>
              <a:rPr sz="1000" b="0" i="0">
                <a:solidFill>
                  <a:srgbClr val="DCE6F5"/>
                </a:solidFill>
                <a:latin typeface="Courier New"/>
              </a:rPr>
              <a:t>  intervalMs: number,</a:t>
            </a:r>
          </a:p>
          <a:p>
            <a:pPr algn="l">
              <a:lnSpc>
                <a:spcPts val="1400"/>
              </a:lnSpc>
            </a:pPr>
            <a:r>
              <a:rPr sz="1000" b="0" i="0">
                <a:solidFill>
                  <a:srgbClr val="DCE6F5"/>
                </a:solidFill>
                <a:latin typeface="Courier New"/>
              </a:rPr>
              <a:t>  active: boolean</a:t>
            </a:r>
          </a:p>
          <a:p>
            <a:pPr algn="l">
              <a:lnSpc>
                <a:spcPts val="1400"/>
              </a:lnSpc>
            </a:pPr>
            <a:r>
              <a:rPr sz="1000" b="0" i="0">
                <a:solidFill>
                  <a:srgbClr val="DCE6F5"/>
                </a:solidFill>
                <a:latin typeface="Courier New"/>
              </a:rPr>
              <a:t>) {</a:t>
            </a:r>
          </a:p>
          <a:p>
            <a:pPr algn="l">
              <a:lnSpc>
                <a:spcPts val="1400"/>
              </a:lnSpc>
            </a:pPr>
            <a:r>
              <a:rPr sz="1000" b="0" i="0">
                <a:solidFill>
                  <a:srgbClr val="DCE6F5"/>
                </a:solidFill>
                <a:latin typeface="Courier New"/>
              </a:rPr>
              <a:t>  const fnRef = useRef(fn);</a:t>
            </a:r>
          </a:p>
          <a:p>
            <a:pPr algn="l">
              <a:lnSpc>
                <a:spcPts val="1400"/>
              </a:lnSpc>
            </a:pPr>
            <a:r>
              <a:rPr sz="1000" b="0" i="0">
                <a:solidFill>
                  <a:srgbClr val="DCE6F5"/>
                </a:solidFill>
                <a:latin typeface="Courier New"/>
              </a:rPr>
              <a:t>  fnRef.current = fn;</a:t>
            </a:r>
          </a:p>
          <a:p>
            <a:pPr algn="l">
              <a:lnSpc>
                <a:spcPts val="1400"/>
              </a:lnSpc>
            </a:pPr>
            <a:r>
              <a:rPr sz="1000" b="0" i="0">
                <a:solidFill>
                  <a:srgbClr val="DCE6F5"/>
                </a:solidFill>
                <a:latin typeface="Courier New"/>
              </a:rPr>
              <a:t> </a:t>
            </a:r>
          </a:p>
          <a:p>
            <a:pPr algn="l">
              <a:lnSpc>
                <a:spcPts val="1400"/>
              </a:lnSpc>
            </a:pPr>
            <a:r>
              <a:rPr sz="1000" b="0" i="0">
                <a:solidFill>
                  <a:srgbClr val="DCE6F5"/>
                </a:solidFill>
                <a:latin typeface="Courier New"/>
              </a:rPr>
              <a:t>  useEffect(() =&gt; {</a:t>
            </a:r>
          </a:p>
          <a:p>
            <a:pPr algn="l">
              <a:lnSpc>
                <a:spcPts val="1400"/>
              </a:lnSpc>
            </a:pPr>
            <a:r>
              <a:rPr sz="1000" b="0" i="0">
                <a:solidFill>
                  <a:srgbClr val="DCE6F5"/>
                </a:solidFill>
                <a:latin typeface="Courier New"/>
              </a:rPr>
              <a:t>    if (!active) return;</a:t>
            </a:r>
          </a:p>
          <a:p>
            <a:pPr algn="l">
              <a:lnSpc>
                <a:spcPts val="1400"/>
              </a:lnSpc>
            </a:pPr>
            <a:r>
              <a:rPr sz="1000" b="1" i="0">
                <a:solidFill>
                  <a:srgbClr val="FF9F91"/>
                </a:solidFill>
                <a:latin typeface="Courier New"/>
              </a:rPr>
              <a:t>    const id = setInterval(() =&gt; fnRef.current(), intervalMs);</a:t>
            </a:r>
          </a:p>
          <a:p>
            <a:pPr algn="l">
              <a:lnSpc>
                <a:spcPts val="1400"/>
              </a:lnSpc>
            </a:pPr>
            <a:r>
              <a:rPr sz="1000" b="0" i="0">
                <a:solidFill>
                  <a:srgbClr val="DCE6F5"/>
                </a:solidFill>
                <a:latin typeface="Courier New"/>
              </a:rPr>
              <a:t>    return () =&gt; clearInterval(id);</a:t>
            </a:r>
          </a:p>
          <a:p>
            <a:pPr algn="l">
              <a:lnSpc>
                <a:spcPts val="1400"/>
              </a:lnSpc>
            </a:pPr>
            <a:r>
              <a:rPr sz="1000" b="0" i="0">
                <a:solidFill>
                  <a:srgbClr val="DCE6F5"/>
                </a:solidFill>
                <a:latin typeface="Courier New"/>
              </a:rPr>
              <a:t>  }, [intervalMs, active]);</a:t>
            </a:r>
          </a:p>
          <a:p>
            <a:pPr algn="l">
              <a:lnSpc>
                <a:spcPts val="1400"/>
              </a:lnSpc>
            </a:pPr>
            <a:r>
              <a:rPr sz="1000" b="0" i="0">
                <a:solidFill>
                  <a:srgbClr val="DCE6F5"/>
                </a:solidFill>
                <a:latin typeface="Courier New"/>
              </a:rPr>
              <a:t>}</a:t>
            </a:r>
          </a:p>
        </p:txBody>
      </p:sp>
      <p:sp>
        <p:nvSpPr>
          <p:cNvPr id="9" name="TextBox 8"/>
          <p:cNvSpPr txBox="1"/>
          <p:nvPr/>
        </p:nvSpPr>
        <p:spPr>
          <a:xfrm>
            <a:off x="5709989" y="1481328"/>
            <a:ext cx="5887346" cy="274320"/>
          </a:xfrm>
          <a:prstGeom prst="rect">
            <a:avLst/>
          </a:prstGeom>
          <a:noFill/>
        </p:spPr>
        <p:txBody>
          <a:bodyPr wrap="square" lIns="0" rIns="0" tIns="0" bIns="0" anchor="t">
            <a:spAutoFit/>
          </a:bodyPr>
          <a:lstStyle/>
          <a:p>
            <a:pPr algn="l"/>
            <a:r>
              <a:rPr sz="1200" b="1" i="0">
                <a:solidFill>
                  <a:srgbClr val="1C6FF3"/>
                </a:solidFill>
                <a:latin typeface="Calibri"/>
              </a:rPr>
              <a:t>Sesudah  </a:t>
            </a:r>
            <a:r>
              <a:rPr sz="1050" b="0" i="0">
                <a:solidFill>
                  <a:srgbClr val="55617A"/>
                </a:solidFill>
                <a:latin typeface="Courier New"/>
              </a:rPr>
              <a:t>web/src/hooks/usePolling.ts</a:t>
            </a:r>
          </a:p>
        </p:txBody>
      </p:sp>
      <p:sp>
        <p:nvSpPr>
          <p:cNvPr id="10" name="Rounded Rectangle 9"/>
          <p:cNvSpPr/>
          <p:nvPr/>
        </p:nvSpPr>
        <p:spPr>
          <a:xfrm>
            <a:off x="5709989" y="1810512"/>
            <a:ext cx="5887346" cy="3374136"/>
          </a:xfrm>
          <a:prstGeom prst="roundRect">
            <a:avLst>
              <a:gd name="adj" fmla="val 4000"/>
            </a:avLst>
          </a:prstGeom>
          <a:solidFill>
            <a:srgbClr val="0E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11157" y="1956816"/>
            <a:ext cx="5521586" cy="3154679"/>
          </a:xfrm>
          <a:prstGeom prst="rect">
            <a:avLst/>
          </a:prstGeom>
          <a:noFill/>
        </p:spPr>
        <p:txBody>
          <a:bodyPr wrap="square" lIns="0" rIns="0" tIns="0" bIns="0" anchor="t">
            <a:spAutoFit/>
          </a:bodyPr>
          <a:lstStyle/>
          <a:p>
            <a:pPr algn="l">
              <a:lnSpc>
                <a:spcPts val="1400"/>
              </a:lnSpc>
            </a:pPr>
            <a:r>
              <a:rPr sz="1000" b="0" i="0">
                <a:solidFill>
                  <a:srgbClr val="DCE6F5"/>
                </a:solidFill>
                <a:latin typeface="Courier New"/>
              </a:rPr>
              <a:t>const tick = () =&gt; {</a:t>
            </a:r>
          </a:p>
          <a:p>
            <a:pPr algn="l">
              <a:lnSpc>
                <a:spcPts val="1400"/>
              </a:lnSpc>
            </a:pPr>
            <a:r>
              <a:rPr sz="1000" b="0" i="0">
                <a:solidFill>
                  <a:srgbClr val="DCE6F5"/>
                </a:solidFill>
                <a:latin typeface="Courier New"/>
              </a:rPr>
              <a:t>  if (cancelled || expired) return;</a:t>
            </a:r>
          </a:p>
          <a:p>
            <a:pPr algn="l">
              <a:lnSpc>
                <a:spcPts val="1400"/>
              </a:lnSpc>
            </a:pPr>
            <a:r>
              <a:rPr sz="1000" b="0" i="0">
                <a:solidFill>
                  <a:srgbClr val="DCE6F5"/>
                </a:solidFill>
                <a:latin typeface="Courier New"/>
              </a:rPr>
              <a:t> </a:t>
            </a:r>
          </a:p>
          <a:p>
            <a:pPr algn="l">
              <a:lnSpc>
                <a:spcPts val="1400"/>
              </a:lnSpc>
            </a:pPr>
            <a:r>
              <a:rPr sz="1000" b="1" i="0">
                <a:solidFill>
                  <a:srgbClr val="9CC5FF"/>
                </a:solidFill>
                <a:latin typeface="Courier New"/>
              </a:rPr>
              <a:t>  if (timeoutMs !== undefined &amp;&amp; Date.now() - startedAt &gt;= timeoutMs) {</a:t>
            </a:r>
          </a:p>
          <a:p>
            <a:pPr algn="l">
              <a:lnSpc>
                <a:spcPts val="1400"/>
              </a:lnSpc>
            </a:pPr>
            <a:r>
              <a:rPr sz="1000" b="1" i="0">
                <a:solidFill>
                  <a:srgbClr val="9CC5FF"/>
                </a:solidFill>
                <a:latin typeface="Courier New"/>
              </a:rPr>
              <a:t>    expired = true;</a:t>
            </a:r>
          </a:p>
          <a:p>
            <a:pPr algn="l">
              <a:lnSpc>
                <a:spcPts val="1400"/>
              </a:lnSpc>
            </a:pPr>
            <a:r>
              <a:rPr sz="1000" b="0" i="0">
                <a:solidFill>
                  <a:srgbClr val="DCE6F5"/>
                </a:solidFill>
                <a:latin typeface="Courier New"/>
              </a:rPr>
              <a:t>    setTimedOut(true);</a:t>
            </a:r>
          </a:p>
          <a:p>
            <a:pPr algn="l">
              <a:lnSpc>
                <a:spcPts val="1400"/>
              </a:lnSpc>
            </a:pPr>
            <a:r>
              <a:rPr sz="1000" b="0" i="0">
                <a:solidFill>
                  <a:srgbClr val="DCE6F5"/>
                </a:solidFill>
                <a:latin typeface="Courier New"/>
              </a:rPr>
              <a:t>    onTimeoutRef.current?.();</a:t>
            </a:r>
          </a:p>
          <a:p>
            <a:pPr algn="l">
              <a:lnSpc>
                <a:spcPts val="1400"/>
              </a:lnSpc>
            </a:pPr>
            <a:r>
              <a:rPr sz="1000" b="0" i="0">
                <a:solidFill>
                  <a:srgbClr val="DCE6F5"/>
                </a:solidFill>
                <a:latin typeface="Courier New"/>
              </a:rPr>
              <a:t>    return;</a:t>
            </a:r>
          </a:p>
          <a:p>
            <a:pPr algn="l">
              <a:lnSpc>
                <a:spcPts val="1400"/>
              </a:lnSpc>
            </a:pPr>
            <a:r>
              <a:rPr sz="1000" b="0" i="0">
                <a:solidFill>
                  <a:srgbClr val="DCE6F5"/>
                </a:solidFill>
                <a:latin typeface="Courier New"/>
              </a:rPr>
              <a:t>  }</a:t>
            </a:r>
          </a:p>
          <a:p>
            <a:pPr algn="l">
              <a:lnSpc>
                <a:spcPts val="1400"/>
              </a:lnSpc>
            </a:pPr>
            <a:r>
              <a:rPr sz="1000" b="0" i="0">
                <a:solidFill>
                  <a:srgbClr val="DCE6F5"/>
                </a:solidFill>
                <a:latin typeface="Courier New"/>
              </a:rPr>
              <a:t> </a:t>
            </a:r>
          </a:p>
          <a:p>
            <a:pPr algn="l">
              <a:lnSpc>
                <a:spcPts val="1400"/>
              </a:lnSpc>
            </a:pPr>
            <a:r>
              <a:rPr sz="1000" b="1" i="0">
                <a:solidFill>
                  <a:srgbClr val="9CC5FF"/>
                </a:solidFill>
                <a:latin typeface="Courier New"/>
              </a:rPr>
              <a:t>  if (document.visibilityState === "hidden") return;</a:t>
            </a:r>
          </a:p>
          <a:p>
            <a:pPr algn="l">
              <a:lnSpc>
                <a:spcPts val="1400"/>
              </a:lnSpc>
            </a:pPr>
            <a:r>
              <a:rPr sz="1000" b="0" i="0">
                <a:solidFill>
                  <a:srgbClr val="DCE6F5"/>
                </a:solidFill>
                <a:latin typeface="Courier New"/>
              </a:rPr>
              <a:t> </a:t>
            </a:r>
          </a:p>
          <a:p>
            <a:pPr algn="l">
              <a:lnSpc>
                <a:spcPts val="1400"/>
              </a:lnSpc>
            </a:pPr>
            <a:r>
              <a:rPr sz="1000" b="0" i="0">
                <a:solidFill>
                  <a:srgbClr val="DCE6F5"/>
                </a:solidFill>
                <a:latin typeface="Courier New"/>
              </a:rPr>
              <a:t>  void fnRef.current();</a:t>
            </a:r>
          </a:p>
          <a:p>
            <a:pPr algn="l">
              <a:lnSpc>
                <a:spcPts val="1400"/>
              </a:lnSpc>
            </a:pPr>
            <a:r>
              <a:rPr sz="1000" b="0" i="0">
                <a:solidFill>
                  <a:srgbClr val="DCE6F5"/>
                </a:solidFill>
                <a:latin typeface="Courier New"/>
              </a:rPr>
              <a:t>};</a:t>
            </a:r>
          </a:p>
          <a:p>
            <a:pPr algn="l">
              <a:lnSpc>
                <a:spcPts val="1400"/>
              </a:lnSpc>
            </a:pPr>
            <a:r>
              <a:rPr sz="1000" b="0" i="0">
                <a:solidFill>
                  <a:srgbClr val="DCE6F5"/>
                </a:solidFill>
                <a:latin typeface="Courier New"/>
              </a:rPr>
              <a:t> </a:t>
            </a:r>
          </a:p>
          <a:p>
            <a:pPr algn="l">
              <a:lnSpc>
                <a:spcPts val="1400"/>
              </a:lnSpc>
            </a:pPr>
            <a:r>
              <a:rPr sz="1000" b="0" i="0">
                <a:solidFill>
                  <a:srgbClr val="DCE6F5"/>
                </a:solidFill>
                <a:latin typeface="Courier New"/>
              </a:rPr>
              <a:t>return { timedOut };</a:t>
            </a:r>
          </a:p>
        </p:txBody>
      </p:sp>
      <p:sp>
        <p:nvSpPr>
          <p:cNvPr id="12" name="Rounded Rectangle 11"/>
          <p:cNvSpPr/>
          <p:nvPr/>
        </p:nvSpPr>
        <p:spPr>
          <a:xfrm>
            <a:off x="594360" y="5349240"/>
            <a:ext cx="11002975" cy="713232"/>
          </a:xfrm>
          <a:prstGeom prst="roundRect">
            <a:avLst>
              <a:gd name="adj" fmla="val 4000"/>
            </a:avLst>
          </a:prstGeom>
          <a:solidFill>
            <a:srgbClr val="E7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5349240"/>
            <a:ext cx="10454335" cy="713232"/>
          </a:xfrm>
          <a:prstGeom prst="rect">
            <a:avLst/>
          </a:prstGeom>
          <a:noFill/>
        </p:spPr>
        <p:txBody>
          <a:bodyPr wrap="square" lIns="0" rIns="0" tIns="0" bIns="0" anchor="ctr">
            <a:spAutoFit/>
          </a:bodyPr>
          <a:lstStyle/>
          <a:p>
            <a:pPr algn="l">
              <a:lnSpc>
                <a:spcPts val="1800"/>
              </a:lnSpc>
            </a:pPr>
            <a:r>
              <a:rPr sz="1300" b="1" i="0">
                <a:solidFill>
                  <a:srgbClr val="0C2E6B"/>
                </a:solidFill>
                <a:latin typeface="Calibri"/>
              </a:rPr>
              <a:t>Kenapa diubah: </a:t>
            </a:r>
            <a:r>
              <a:rPr sz="1300" b="0" i="0">
                <a:solidFill>
                  <a:srgbClr val="0F1B33"/>
                </a:solidFill>
                <a:latin typeface="Calibri"/>
              </a:rPr>
              <a:t>sekarang ada batas waktu, dan pengecekan berhenti saat tab tidak dibuka. Penanda expired mencegah onTimeout terpanggil dua kali. Bug itu ketahuan dari test sebelum kodenya pernah jalan di browser.</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38912"/>
            <a:ext cx="11002975" cy="566928"/>
          </a:xfrm>
          <a:prstGeom prst="rect">
            <a:avLst/>
          </a:prstGeom>
          <a:noFill/>
        </p:spPr>
        <p:txBody>
          <a:bodyPr wrap="square" lIns="0" rIns="0" tIns="0" bIns="0" anchor="t">
            <a:spAutoFit/>
          </a:bodyPr>
          <a:lstStyle/>
          <a:p>
            <a:pPr algn="l"/>
            <a:r>
              <a:rPr sz="2800" b="1" i="0">
                <a:solidFill>
                  <a:srgbClr val="0F1B33"/>
                </a:solidFill>
                <a:latin typeface="Calibri"/>
              </a:rPr>
              <a:t>Kode: bahasa wawancara di halaman Edit</a:t>
            </a:r>
          </a:p>
        </p:txBody>
      </p:sp>
      <p:sp>
        <p:nvSpPr>
          <p:cNvPr id="3" name="TextBox 2"/>
          <p:cNvSpPr txBox="1"/>
          <p:nvPr/>
        </p:nvSpPr>
        <p:spPr>
          <a:xfrm>
            <a:off x="594360" y="987552"/>
            <a:ext cx="11002975" cy="384048"/>
          </a:xfrm>
          <a:prstGeom prst="rect">
            <a:avLst/>
          </a:prstGeom>
          <a:noFill/>
        </p:spPr>
        <p:txBody>
          <a:bodyPr wrap="square" lIns="0" rIns="0" tIns="0" bIns="0" anchor="t">
            <a:spAutoFit/>
          </a:bodyPr>
          <a:lstStyle/>
          <a:p>
            <a:pPr algn="l"/>
            <a:r>
              <a:rPr sz="1500" b="0" i="0">
                <a:solidFill>
                  <a:srgbClr val="55617A"/>
                </a:solidFill>
                <a:latin typeface="Calibri"/>
              </a:rPr>
              <a:t>Temuan walkthrough §2.7 · bahasa tidak dimuat dan tidak ikut disimpan.</a:t>
            </a:r>
          </a:p>
        </p:txBody>
      </p:sp>
      <p:sp>
        <p:nvSpPr>
          <p:cNvPr id="4" name="TextBox 3"/>
          <p:cNvSpPr txBox="1"/>
          <p:nvPr/>
        </p:nvSpPr>
        <p:spPr>
          <a:xfrm>
            <a:off x="594360" y="6419088"/>
            <a:ext cx="4572000" cy="256032"/>
          </a:xfrm>
          <a:prstGeom prst="rect">
            <a:avLst/>
          </a:prstGeom>
          <a:noFill/>
        </p:spPr>
        <p:txBody>
          <a:bodyPr wrap="square" lIns="0" rIns="0" tIns="0" bIns="0" anchor="t">
            <a:spAutoFit/>
          </a:bodyPr>
          <a:lstStyle/>
          <a:p>
            <a:pPr algn="l"/>
            <a:r>
              <a:rPr sz="1000" b="0" i="0">
                <a:solidFill>
                  <a:srgbClr val="8A94A8"/>
                </a:solidFill>
                <a:latin typeface="Calibri"/>
              </a:rPr>
              <a:t>Aulia Afriza  ·  Kandidat Fullstack · Frontend depth</a:t>
            </a:r>
          </a:p>
        </p:txBody>
      </p:sp>
      <p:sp>
        <p:nvSpPr>
          <p:cNvPr id="5" name="TextBox 4"/>
          <p:cNvSpPr txBox="1"/>
          <p:nvPr/>
        </p:nvSpPr>
        <p:spPr>
          <a:xfrm>
            <a:off x="11277295" y="6419088"/>
            <a:ext cx="457200" cy="256032"/>
          </a:xfrm>
          <a:prstGeom prst="rect">
            <a:avLst/>
          </a:prstGeom>
          <a:noFill/>
        </p:spPr>
        <p:txBody>
          <a:bodyPr wrap="square" lIns="0" rIns="0" tIns="0" bIns="0" anchor="t">
            <a:spAutoFit/>
          </a:bodyPr>
          <a:lstStyle/>
          <a:p>
            <a:pPr algn="r"/>
            <a:r>
              <a:rPr sz="1000" b="0" i="0">
                <a:solidFill>
                  <a:srgbClr val="8A94A8"/>
                </a:solidFill>
                <a:latin typeface="Calibri"/>
              </a:rPr>
              <a:t>34</a:t>
            </a:r>
          </a:p>
        </p:txBody>
      </p:sp>
      <p:sp>
        <p:nvSpPr>
          <p:cNvPr id="6" name="TextBox 5"/>
          <p:cNvSpPr txBox="1"/>
          <p:nvPr/>
        </p:nvSpPr>
        <p:spPr>
          <a:xfrm>
            <a:off x="594360" y="1481328"/>
            <a:ext cx="5171398" cy="274320"/>
          </a:xfrm>
          <a:prstGeom prst="rect">
            <a:avLst/>
          </a:prstGeom>
          <a:noFill/>
        </p:spPr>
        <p:txBody>
          <a:bodyPr wrap="square" lIns="0" rIns="0" tIns="0" bIns="0" anchor="t">
            <a:spAutoFit/>
          </a:bodyPr>
          <a:lstStyle/>
          <a:p>
            <a:pPr algn="l"/>
            <a:r>
              <a:rPr sz="1200" b="1" i="0">
                <a:solidFill>
                  <a:srgbClr val="D14343"/>
                </a:solidFill>
                <a:latin typeface="Calibri"/>
              </a:rPr>
              <a:t>Sebelum  </a:t>
            </a:r>
            <a:r>
              <a:rPr sz="1050" b="0" i="0">
                <a:solidFill>
                  <a:srgbClr val="55617A"/>
                </a:solidFill>
                <a:latin typeface="Courier New"/>
              </a:rPr>
              <a:t>web/src/pages/assessments/AssessmentEditPage.tsx:51, :77</a:t>
            </a:r>
          </a:p>
        </p:txBody>
      </p:sp>
      <p:sp>
        <p:nvSpPr>
          <p:cNvPr id="7" name="Rounded Rectangle 6"/>
          <p:cNvSpPr/>
          <p:nvPr/>
        </p:nvSpPr>
        <p:spPr>
          <a:xfrm>
            <a:off x="594360" y="1810512"/>
            <a:ext cx="5171398" cy="3374136"/>
          </a:xfrm>
          <a:prstGeom prst="roundRect">
            <a:avLst>
              <a:gd name="adj" fmla="val 4000"/>
            </a:avLst>
          </a:prstGeom>
          <a:solidFill>
            <a:srgbClr val="0E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956816"/>
            <a:ext cx="4805638" cy="3154679"/>
          </a:xfrm>
          <a:prstGeom prst="rect">
            <a:avLst/>
          </a:prstGeom>
          <a:noFill/>
        </p:spPr>
        <p:txBody>
          <a:bodyPr wrap="square" lIns="0" rIns="0" tIns="0" bIns="0" anchor="t">
            <a:spAutoFit/>
          </a:bodyPr>
          <a:lstStyle/>
          <a:p>
            <a:pPr algn="l">
              <a:lnSpc>
                <a:spcPts val="1400"/>
              </a:lnSpc>
            </a:pPr>
            <a:r>
              <a:rPr sz="1000" b="1" i="0">
                <a:solidFill>
                  <a:srgbClr val="FF9F91"/>
                </a:solidFill>
                <a:latin typeface="Courier New"/>
              </a:rPr>
              <a:t>reset({ name: a.name, time_limit_min: a.time_limit_min,</a:t>
            </a:r>
          </a:p>
          <a:p>
            <a:pPr algn="l">
              <a:lnSpc>
                <a:spcPts val="1400"/>
              </a:lnSpc>
            </a:pPr>
            <a:r>
              <a:rPr sz="1000" b="1" i="0">
                <a:solidFill>
                  <a:srgbClr val="FF9F91"/>
                </a:solidFill>
                <a:latin typeface="Courier New"/>
              </a:rPr>
              <a:t>        skills: a.skills });</a:t>
            </a:r>
          </a:p>
          <a:p>
            <a:pPr algn="l">
              <a:lnSpc>
                <a:spcPts val="1400"/>
              </a:lnSpc>
            </a:pPr>
            <a:r>
              <a:rPr sz="1000" b="0" i="0">
                <a:solidFill>
                  <a:srgbClr val="DCE6F5"/>
                </a:solidFill>
                <a:latin typeface="Courier New"/>
              </a:rPr>
              <a:t> </a:t>
            </a:r>
          </a:p>
          <a:p>
            <a:pPr algn="l">
              <a:lnSpc>
                <a:spcPts val="1400"/>
              </a:lnSpc>
            </a:pPr>
            <a:r>
              <a:rPr sz="1000" b="0" i="0">
                <a:solidFill>
                  <a:srgbClr val="DCE6F5"/>
                </a:solidFill>
                <a:latin typeface="Courier New"/>
              </a:rPr>
              <a:t>…</a:t>
            </a:r>
          </a:p>
          <a:p>
            <a:pPr algn="l">
              <a:lnSpc>
                <a:spcPts val="1400"/>
              </a:lnSpc>
            </a:pPr>
            <a:r>
              <a:rPr sz="1000" b="0" i="0">
                <a:solidFill>
                  <a:srgbClr val="DCE6F5"/>
                </a:solidFill>
                <a:latin typeface="Courier New"/>
              </a:rPr>
              <a:t> </a:t>
            </a:r>
          </a:p>
          <a:p>
            <a:pPr algn="l">
              <a:lnSpc>
                <a:spcPts val="1400"/>
              </a:lnSpc>
            </a:pPr>
            <a:r>
              <a:rPr sz="1000" b="0" i="0">
                <a:solidFill>
                  <a:srgbClr val="DCE6F5"/>
                </a:solidFill>
                <a:latin typeface="Courier New"/>
              </a:rPr>
              <a:t>await assessmentsApi.update(Number(id), {</a:t>
            </a:r>
          </a:p>
          <a:p>
            <a:pPr algn="l">
              <a:lnSpc>
                <a:spcPts val="1400"/>
              </a:lnSpc>
            </a:pPr>
            <a:r>
              <a:rPr sz="1000" b="0" i="0">
                <a:solidFill>
                  <a:srgbClr val="DCE6F5"/>
                </a:solidFill>
                <a:latin typeface="Courier New"/>
              </a:rPr>
              <a:t>  name: data.name,</a:t>
            </a:r>
          </a:p>
          <a:p>
            <a:pPr algn="l">
              <a:lnSpc>
                <a:spcPts val="1400"/>
              </a:lnSpc>
            </a:pPr>
            <a:r>
              <a:rPr sz="1000" b="0" i="0">
                <a:solidFill>
                  <a:srgbClr val="DCE6F5"/>
                </a:solidFill>
                <a:latin typeface="Courier New"/>
              </a:rPr>
              <a:t>  time_limit_min: data.time_limit_min,</a:t>
            </a:r>
          </a:p>
          <a:p>
            <a:pPr algn="l">
              <a:lnSpc>
                <a:spcPts val="1400"/>
              </a:lnSpc>
            </a:pPr>
            <a:r>
              <a:rPr sz="1000" b="0" i="0">
                <a:solidFill>
                  <a:srgbClr val="DCE6F5"/>
                </a:solidFill>
                <a:latin typeface="Courier New"/>
              </a:rPr>
              <a:t>  assessment_skills_attributes: …,</a:t>
            </a:r>
          </a:p>
          <a:p>
            <a:pPr algn="l">
              <a:lnSpc>
                <a:spcPts val="1400"/>
              </a:lnSpc>
            </a:pPr>
            <a:r>
              <a:rPr sz="1000" b="0" i="0">
                <a:solidFill>
                  <a:srgbClr val="DCE6F5"/>
                </a:solidFill>
                <a:latin typeface="Courier New"/>
              </a:rPr>
              <a:t>});</a:t>
            </a:r>
          </a:p>
          <a:p>
            <a:pPr algn="l">
              <a:lnSpc>
                <a:spcPts val="1400"/>
              </a:lnSpc>
            </a:pPr>
            <a:r>
              <a:rPr sz="1000" b="0" i="0">
                <a:solidFill>
                  <a:srgbClr val="DCE6F5"/>
                </a:solidFill>
                <a:latin typeface="Courier New"/>
              </a:rPr>
              <a:t>navigate(`/assessments/${id}/invite`);</a:t>
            </a:r>
          </a:p>
        </p:txBody>
      </p:sp>
      <p:sp>
        <p:nvSpPr>
          <p:cNvPr id="9" name="TextBox 8"/>
          <p:cNvSpPr txBox="1"/>
          <p:nvPr/>
        </p:nvSpPr>
        <p:spPr>
          <a:xfrm>
            <a:off x="6040078" y="1481328"/>
            <a:ext cx="5557256" cy="274320"/>
          </a:xfrm>
          <a:prstGeom prst="rect">
            <a:avLst/>
          </a:prstGeom>
          <a:noFill/>
        </p:spPr>
        <p:txBody>
          <a:bodyPr wrap="square" lIns="0" rIns="0" tIns="0" bIns="0" anchor="t">
            <a:spAutoFit/>
          </a:bodyPr>
          <a:lstStyle/>
          <a:p>
            <a:pPr algn="l"/>
            <a:r>
              <a:rPr sz="1200" b="1" i="0">
                <a:solidFill>
                  <a:srgbClr val="1C6FF3"/>
                </a:solidFill>
                <a:latin typeface="Calibri"/>
              </a:rPr>
              <a:t>Sesudah  </a:t>
            </a:r>
            <a:r>
              <a:rPr sz="1050" b="0" i="0">
                <a:solidFill>
                  <a:srgbClr val="55617A"/>
                </a:solidFill>
                <a:latin typeface="Courier New"/>
              </a:rPr>
              <a:t>web/src/pages/assessments/AssessmentEditPage.tsx:72, :115</a:t>
            </a:r>
          </a:p>
        </p:txBody>
      </p:sp>
      <p:sp>
        <p:nvSpPr>
          <p:cNvPr id="10" name="Rounded Rectangle 9"/>
          <p:cNvSpPr/>
          <p:nvPr/>
        </p:nvSpPr>
        <p:spPr>
          <a:xfrm>
            <a:off x="6040078" y="1810512"/>
            <a:ext cx="5557256" cy="3374136"/>
          </a:xfrm>
          <a:prstGeom prst="roundRect">
            <a:avLst>
              <a:gd name="adj" fmla="val 4000"/>
            </a:avLst>
          </a:prstGeom>
          <a:solidFill>
            <a:srgbClr val="0E1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41246" y="1956816"/>
            <a:ext cx="5191496" cy="3154679"/>
          </a:xfrm>
          <a:prstGeom prst="rect">
            <a:avLst/>
          </a:prstGeom>
          <a:noFill/>
        </p:spPr>
        <p:txBody>
          <a:bodyPr wrap="square" lIns="0" rIns="0" tIns="0" bIns="0" anchor="t">
            <a:spAutoFit/>
          </a:bodyPr>
          <a:lstStyle/>
          <a:p>
            <a:pPr algn="l">
              <a:lnSpc>
                <a:spcPts val="1400"/>
              </a:lnSpc>
            </a:pPr>
            <a:r>
              <a:rPr sz="1000" b="0" i="0">
                <a:solidFill>
                  <a:srgbClr val="DCE6F5"/>
                </a:solidFill>
                <a:latin typeface="Courier New"/>
              </a:rPr>
              <a:t>reset({</a:t>
            </a:r>
          </a:p>
          <a:p>
            <a:pPr algn="l">
              <a:lnSpc>
                <a:spcPts val="1400"/>
              </a:lnSpc>
            </a:pPr>
            <a:r>
              <a:rPr sz="1000" b="0" i="0">
                <a:solidFill>
                  <a:srgbClr val="DCE6F5"/>
                </a:solidFill>
                <a:latin typeface="Courier New"/>
              </a:rPr>
              <a:t>  name: a.name,</a:t>
            </a:r>
          </a:p>
          <a:p>
            <a:pPr algn="l">
              <a:lnSpc>
                <a:spcPts val="1400"/>
              </a:lnSpc>
            </a:pPr>
            <a:r>
              <a:rPr sz="1000" b="0" i="0">
                <a:solidFill>
                  <a:srgbClr val="DCE6F5"/>
                </a:solidFill>
                <a:latin typeface="Courier New"/>
              </a:rPr>
              <a:t>  time_limit_min: a.time_limit_min,</a:t>
            </a:r>
          </a:p>
          <a:p>
            <a:pPr algn="l">
              <a:lnSpc>
                <a:spcPts val="1400"/>
              </a:lnSpc>
            </a:pPr>
            <a:r>
              <a:rPr sz="1000" b="1" i="0">
                <a:solidFill>
                  <a:srgbClr val="9CC5FF"/>
                </a:solidFill>
                <a:latin typeface="Courier New"/>
              </a:rPr>
              <a:t>  language: (a.language ?? "en") as "en" | "id",</a:t>
            </a:r>
          </a:p>
          <a:p>
            <a:pPr algn="l">
              <a:lnSpc>
                <a:spcPts val="1400"/>
              </a:lnSpc>
            </a:pPr>
            <a:r>
              <a:rPr sz="1000" b="0" i="0">
                <a:solidFill>
                  <a:srgbClr val="DCE6F5"/>
                </a:solidFill>
                <a:latin typeface="Courier New"/>
              </a:rPr>
              <a:t>  expires_on: toDateInputValue(a.expires_at),</a:t>
            </a:r>
          </a:p>
          <a:p>
            <a:pPr algn="l">
              <a:lnSpc>
                <a:spcPts val="1400"/>
              </a:lnSpc>
            </a:pPr>
            <a:r>
              <a:rPr sz="1000" b="0" i="0">
                <a:solidFill>
                  <a:srgbClr val="DCE6F5"/>
                </a:solidFill>
                <a:latin typeface="Courier New"/>
              </a:rPr>
              <a:t>  skills: a.skills ?? [],</a:t>
            </a:r>
          </a:p>
          <a:p>
            <a:pPr algn="l">
              <a:lnSpc>
                <a:spcPts val="1400"/>
              </a:lnSpc>
            </a:pPr>
            <a:r>
              <a:rPr sz="1000" b="0" i="0">
                <a:solidFill>
                  <a:srgbClr val="DCE6F5"/>
                </a:solidFill>
                <a:latin typeface="Courier New"/>
              </a:rPr>
              <a:t>});</a:t>
            </a:r>
          </a:p>
          <a:p>
            <a:pPr algn="l">
              <a:lnSpc>
                <a:spcPts val="1400"/>
              </a:lnSpc>
            </a:pPr>
            <a:r>
              <a:rPr sz="1000" b="0" i="0">
                <a:solidFill>
                  <a:srgbClr val="DCE6F5"/>
                </a:solidFill>
                <a:latin typeface="Courier New"/>
              </a:rPr>
              <a:t>…</a:t>
            </a:r>
          </a:p>
          <a:p>
            <a:pPr algn="l">
              <a:lnSpc>
                <a:spcPts val="1400"/>
              </a:lnSpc>
            </a:pPr>
            <a:r>
              <a:rPr sz="1000" b="0" i="0">
                <a:solidFill>
                  <a:srgbClr val="DCE6F5"/>
                </a:solidFill>
                <a:latin typeface="Courier New"/>
              </a:rPr>
              <a:t>await assessmentsApi.update(Number(id), {</a:t>
            </a:r>
          </a:p>
          <a:p>
            <a:pPr algn="l">
              <a:lnSpc>
                <a:spcPts val="1400"/>
              </a:lnSpc>
            </a:pPr>
            <a:r>
              <a:rPr sz="1000" b="0" i="0">
                <a:solidFill>
                  <a:srgbClr val="DCE6F5"/>
                </a:solidFill>
                <a:latin typeface="Courier New"/>
              </a:rPr>
              <a:t>  name: data.name,</a:t>
            </a:r>
          </a:p>
          <a:p>
            <a:pPr algn="l">
              <a:lnSpc>
                <a:spcPts val="1400"/>
              </a:lnSpc>
            </a:pPr>
            <a:r>
              <a:rPr sz="1000" b="0" i="0">
                <a:solidFill>
                  <a:srgbClr val="DCE6F5"/>
                </a:solidFill>
                <a:latin typeface="Courier New"/>
              </a:rPr>
              <a:t>  time_limit_min: data.time_limit_min,</a:t>
            </a:r>
          </a:p>
          <a:p>
            <a:pPr algn="l">
              <a:lnSpc>
                <a:spcPts val="1400"/>
              </a:lnSpc>
            </a:pPr>
            <a:r>
              <a:rPr sz="1000" b="1" i="0">
                <a:solidFill>
                  <a:srgbClr val="9CC5FF"/>
                </a:solidFill>
                <a:latin typeface="Courier New"/>
              </a:rPr>
              <a:t>  language: data.language,</a:t>
            </a:r>
          </a:p>
          <a:p>
            <a:pPr algn="l">
              <a:lnSpc>
                <a:spcPts val="1400"/>
              </a:lnSpc>
            </a:pPr>
            <a:r>
              <a:rPr sz="1000" b="0" i="0">
                <a:solidFill>
                  <a:srgbClr val="DCE6F5"/>
                </a:solidFill>
                <a:latin typeface="Courier New"/>
              </a:rPr>
              <a:t>  expires_at: fromDateInputValue(data.expires_on),</a:t>
            </a:r>
          </a:p>
          <a:p>
            <a:pPr algn="l">
              <a:lnSpc>
                <a:spcPts val="1400"/>
              </a:lnSpc>
            </a:pPr>
            <a:r>
              <a:rPr sz="1000" b="0" i="0">
                <a:solidFill>
                  <a:srgbClr val="DCE6F5"/>
                </a:solidFill>
                <a:latin typeface="Courier New"/>
              </a:rPr>
              <a:t>  assessment_skills_attributes: …,</a:t>
            </a:r>
          </a:p>
          <a:p>
            <a:pPr algn="l">
              <a:lnSpc>
                <a:spcPts val="1400"/>
              </a:lnSpc>
            </a:pPr>
            <a:r>
              <a:rPr sz="1000" b="0" i="0">
                <a:solidFill>
                  <a:srgbClr val="DCE6F5"/>
                </a:solidFill>
                <a:latin typeface="Courier New"/>
              </a:rPr>
              <a:t>});</a:t>
            </a:r>
          </a:p>
          <a:p>
            <a:pPr algn="l">
              <a:lnSpc>
                <a:spcPts val="1400"/>
              </a:lnSpc>
            </a:pPr>
            <a:r>
              <a:rPr sz="1000" b="1" i="0">
                <a:solidFill>
                  <a:srgbClr val="9CC5FF"/>
                </a:solidFill>
                <a:latin typeface="Courier New"/>
              </a:rPr>
              <a:t>toast.success("Perubahan assessment tersimpan.");</a:t>
            </a:r>
          </a:p>
        </p:txBody>
      </p:sp>
      <p:sp>
        <p:nvSpPr>
          <p:cNvPr id="12" name="Rounded Rectangle 11"/>
          <p:cNvSpPr/>
          <p:nvPr/>
        </p:nvSpPr>
        <p:spPr>
          <a:xfrm>
            <a:off x="594360" y="5349240"/>
            <a:ext cx="11002975" cy="713232"/>
          </a:xfrm>
          <a:prstGeom prst="roundRect">
            <a:avLst>
              <a:gd name="adj" fmla="val 4000"/>
            </a:avLst>
          </a:prstGeom>
          <a:solidFill>
            <a:srgbClr val="E7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5349240"/>
            <a:ext cx="10454335" cy="713232"/>
          </a:xfrm>
          <a:prstGeom prst="rect">
            <a:avLst/>
          </a:prstGeom>
          <a:noFill/>
        </p:spPr>
        <p:txBody>
          <a:bodyPr wrap="square" lIns="0" rIns="0" tIns="0" bIns="0" anchor="ctr">
            <a:spAutoFit/>
          </a:bodyPr>
          <a:lstStyle/>
          <a:p>
            <a:pPr algn="l">
              <a:lnSpc>
                <a:spcPts val="1800"/>
              </a:lnSpc>
            </a:pPr>
            <a:r>
              <a:rPr sz="1300" b="1" i="0">
                <a:solidFill>
                  <a:srgbClr val="0C2E6B"/>
                </a:solidFill>
                <a:latin typeface="Calibri"/>
              </a:rPr>
              <a:t>Kenapa diubah: </a:t>
            </a:r>
            <a:r>
              <a:rPr sz="1300" b="0" i="0">
                <a:solidFill>
                  <a:srgbClr val="0F1B33"/>
                </a:solidFill>
                <a:latin typeface="Calibri"/>
              </a:rPr>
              <a:t>bahasa sekarang dimuat saat form dibuka dan ikut disimpan, jadi tidak kembali ke default setiap kali assessment diedit. Setelah simpan juga ada notifikasi.</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20281</Words>
  <Application>WPS Docs</Application>
  <PresentationFormat/>
  <Paragraphs>1001</Paragraphs>
  <Slides>33</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33</vt:i4>
      </vt:variant>
    </vt:vector>
  </HeadingPairs>
  <TitlesOfParts>
    <vt:vector size="46" baseType="lpstr">
      <vt:lpstr>Arial</vt:lpstr>
      <vt:lpstr>SimSun</vt:lpstr>
      <vt:lpstr>Wingdings</vt:lpstr>
      <vt:lpstr>Arial</vt:lpstr>
      <vt:lpstr>Calibri</vt:lpstr>
      <vt:lpstr>Helvetica Neue</vt:lpstr>
      <vt:lpstr>Microsoft YaHei</vt:lpstr>
      <vt:lpstr>汉仪旗黑</vt:lpstr>
      <vt:lpstr>Arial Unicode MS</vt:lpstr>
      <vt:lpstr>Courier New</vt:lpstr>
      <vt:lpstr>宋体-简</vt:lpstr>
      <vt:lpstr>Menlo</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aulia afriza</cp:lastModifiedBy>
  <cp:revision>7</cp:revision>
  <dcterms:created xsi:type="dcterms:W3CDTF">2026-09-21T08:46:55Z</dcterms:created>
  <dcterms:modified xsi:type="dcterms:W3CDTF">2026-09-21T08:46:55Z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9B409E12913B46A32CEEB06AAB6EBF3F_42</vt:lpwstr>
  </property>
  <property fmtid="{D5CDD505-2E9C-101B-9397-08002B2CF9AE}" pid="3" name="KSOProductBuildVer">
    <vt:lpwstr>1033-12.1.25880.25880</vt:lpwstr>
  </property>
</Properties>
</file>