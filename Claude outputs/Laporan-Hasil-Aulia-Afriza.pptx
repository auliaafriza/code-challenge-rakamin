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siang, terima kasih waktunya. Saya Aulia, kandidat Fullstack Product Engineer. Saya ambil kedalaman di frontend. Presentasi ini mengikuti urutan saya mengerjakan case study: memahami produk, menemukan masalah, memutuskan, membangun, dan membuktikan.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SLIDE INI SENDIRI sebelum presentasi — ganti semua teks abu-abu. Cukup 30–45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alurnya. Enam bagian, sesuai urutan kerja saya.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pertama: memahami produk.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Menurut saya produk ini tidak menjual otomasi wawancara, tapi kepercayaan pada penilaian AI. Ada empat orang di rantai keputusan. Yang paling rentan adalah kandidat: tidak memilih produk ini dan tidak pernah melihat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Karena kandidat tidak punya suara, dua prinsip saya pegang: kesalahan harus condong aman, dan setiap rating harus bisa ditelusuri. Ada empat temuan yang menyangkut UU PDP — tiga saya perbaiki, satu saya catat. Retensi dan hak hapus data sengaja tidak saya sentuh karena itu keputusan produk dan 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kedua: bagaimana saya menemukan masalah.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Pakai produk dulu, lalu audit, lalu pilih satu slice, tulis test dulu, baru implementasi.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membaca kode, saya pakai produknya sebagai assessor dan mencatat 13 temuan. Skalanya severity UX — seberapa menghambat orang yang memakai layar. Salah satunya ternyata bukan sekadar tampilan: form Edit tidak mengirim bahasa kembali, jadi setiap edit bisa me-reset bahasa ke default. Dua temuan ini saya capai dari layar dan dari kode secara terpisah.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audit kode saya pakai rubrik yang berbeda dari walkthrough. Ukurannya siapa yang menanggung kerusakan, dan apakah dia bisa tahu. Dua tie-breaker: diam menaikkan severity, bisa dipulihkan menurunkannya. Itu sebabnya kolom kosong saya anggap lebih berat dari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dikelompokkan, 77 temuan ini membentuk tiga pola. Yang ketiga paling penting menurut saya: setiap kali sistem tidak tahu, ia memilih jawaban yang merugikan kandidat.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utamanya ada di sambungan. Engine menghitung semua dengan benar. Type frontend ditulis tangan dengan nama field berbeda. TypeScript tidak protes, tidak ada test, tidak ada error. Tiga P0 ini satu akar.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ketiga: keputusan.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hanya menutup gejala. C paling benar tapi API belum punya spec. B memberi sebagian besar manfaat C dengan biaya kecil dan tidak menutup jalan ke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minta constraint signal. Ini lima hal yang di proyek live akan saya bawa ke Tech Lead dulu. Yang pertama paling konkret: perbaikan IDOR punya dua jalan, dan saya ambil yang tidak menyentuh data 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inti klaim saya sebagai kandidat frontend depth. Di produk asesmen, frontend adalah lapisan akuntabilitas. Tiga pilar: kontrak yang jujur, provenance dan ketidakpastian, dan bisa diverifikasi. Saya sempat tergoda menulis ulang generator di backend, tapi generator-nya sudah benar — yang rusak adalah perjalanan data ke manusia.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keempat: apa yang saya bangun.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criteria saya tulis sebelum kode, tujuh grup, masing-masing terikat ke test. Edge case-nya saya petakan ke kategori yang disebut brief: skill tidak dinilai, rating hilang, model gagal, tipe data, dan teks panjang.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Validasi di service layer, bukan di komponen. Detail yang saya jaga: type frontend sekarang di-infer dari schema Zod, jadi type dan runtime check tidak mungkin berbeda lagi — itu persis akar bug awalnya.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dengan data yang sama. Yang paling saya banggakan: peringatan untuk gap yang buktinya tipis. Itu keputusan produk, bukan sekadar perbaikan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Koreksi assessor sekarang terlihat lengkap, dan keyakinan ikut bersama verdict. Edge case favorit saya AC-2.3: override tanpa nama tetap keputusan manusia — kalau diturunkan jadi rating AI, jejak intervensi manusia hilang.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perubahan kecil di frontend dengan dampak besar. Dulu level kosong dirender sebagai L1, level paling rendah. Itu artinya 'kami tidak punya data' berubah jadi 'orang ini paling lemah'. Sekarang tampil sebagai strip dengan label 'tidak dinilai'.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Aksesibilitas bagian dari klaim frontend depth saya. Di simulasi buta warna, emoji lama jadi kotak abu-abu. Sekarang status dibawa teks. Tabel punya caption dan scope, dan di 375px tabel scroll di dalam container, bukan mendorong halaman ke samping.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Walau kedalaman saya di frontend, backend tidak absen. Saya kerjakan seperlunya supaya frontend punya data yang benar untuk ditampilkan. IDOR saya perbaiki meski di luar tema, karena menyangkut data pribadi kandidat.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jalur gagal yang saya desain eksplisit. Yang paling mungkin ditanya: fail-open di job guard. Kalau fail-closed dan Redis mati, regenerate mati untuk semua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kelima: bagaimana saya membuktikan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Buktinya dilampirkan mentah di report. 8 gagal di kode lama, 34 lulus setelah perbaikan. Tiga fault saya suntikkan di tempat yang saya klaim sudah diperbaiki, dan test merah 2, 3, 2. Setelah submit saya lanjutkan ke 49 test, tapi yang dinilai adalah 34 di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momen saya salah, dan dua-duanya ketahuan karena test ditulis dulu. Silakan tunjuk baris mana pun di PR, saya bisa jelaskan.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terakhir: ke depan.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mau terbuka soal yang belum selesai. Yang paling berat: tenant ditentukan dari header. Itu lebih luas dari IDOR yang saya perbaiki. Saya tidak memperbaikinya sendiri karena butuh migrasi dan keputusan arsitektur.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dirangkum, empat hal ini yang ingin saya tunjukkan sebagai kandidat.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saya bergabung, ini urutan yang saya usulkan, disesuaikan dengan prioritas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Saya buka untuk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766E"/>
        </a:solidFill>
      </p:bgPr>
    </p:bg>
    <p:spTree>
      <p:nvGrpSpPr>
        <p:cNvPr id="1" name=""/>
        <p:cNvGrpSpPr/>
        <p:nvPr/>
      </p:nvGrpSpPr>
      <p:grpSpPr>
        <a:xfrm>
          <a:off x="0" y="0"/>
          <a:ext cx="0" cy="0"/>
          <a:chOff x="0" y="0"/>
          <a:chExt cx="0" cy="0"/>
        </a:xfrm>
      </p:grpSpPr>
      <p:sp>
        <p:nvSpPr>
          <p:cNvPr id="2" name="Text 0"/>
          <p:cNvSpPr txBox="1"/>
          <p:nvPr/>
        </p:nvSpPr>
        <p:spPr>
          <a:xfrm>
            <a:off x="594360" y="1554480"/>
            <a:ext cx="11002975" cy="365760"/>
          </a:xfrm>
          <a:prstGeom prst="rect">
            <a:avLst/>
          </a:prstGeom>
          <a:noFill/>
          <a:ln/>
        </p:spPr>
        <p:txBody>
          <a:bodyPr wrap="square" lIns="0" tIns="0" rIns="0" bIns="0" rtlCol="0" anchor="t"/>
          <a:lstStyle/>
          <a:p>
            <a:pPr indent="0" marL="0">
              <a:buNone/>
            </a:pPr>
            <a:r>
              <a:rPr lang="en-US" sz="1600" dirty="0">
                <a:solidFill>
                  <a:srgbClr val="BFE3DE"/>
                </a:solidFill>
                <a:latin typeface="Calibri" pitchFamily="34" charset="0"/>
                <a:ea typeface="Calibri" pitchFamily="34" charset="-122"/>
                <a:cs typeface="Calibri" pitchFamily="34" charset="-120"/>
              </a:rPr>
              <a:t>Laporan hasil case study · untuk CTO</a:t>
            </a:r>
            <a:endParaRPr lang="en-US" sz="1600" dirty="0"/>
          </a:p>
        </p:txBody>
      </p:sp>
      <p:sp>
        <p:nvSpPr>
          <p:cNvPr id="3" name="Text 1"/>
          <p:cNvSpPr txBox="1"/>
          <p:nvPr/>
        </p:nvSpPr>
        <p:spPr>
          <a:xfrm>
            <a:off x="594360" y="2011680"/>
            <a:ext cx="10058400" cy="1645920"/>
          </a:xfrm>
          <a:prstGeom prst="rect">
            <a:avLst/>
          </a:prstGeom>
          <a:noFill/>
          <a:ln/>
        </p:spPr>
        <p:txBody>
          <a:bodyPr wrap="square" lIns="0" tIns="0" rIns="0" bIns="0" rtlCol="0" anchor="t"/>
          <a:lstStyle/>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Membuat penilaian AI</a:t>
            </a:r>
            <a:endParaRPr lang="en-US" sz="4400" dirty="0"/>
          </a:p>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bisa dipertanggungjawabkan</a:t>
            </a:r>
            <a:endParaRPr lang="en-US" sz="4400" dirty="0"/>
          </a:p>
        </p:txBody>
      </p:sp>
      <p:sp>
        <p:nvSpPr>
          <p:cNvPr id="4" name="Text 2"/>
          <p:cNvSpPr txBox="1"/>
          <p:nvPr/>
        </p:nvSpPr>
        <p:spPr>
          <a:xfrm>
            <a:off x="594360" y="3794760"/>
            <a:ext cx="11002975" cy="411480"/>
          </a:xfrm>
          <a:prstGeom prst="rect">
            <a:avLst/>
          </a:prstGeom>
          <a:noFill/>
          <a:ln/>
        </p:spPr>
        <p:txBody>
          <a:bodyPr wrap="square" lIns="0" tIns="0" rIns="0" bIns="0" rtlCol="0" anchor="t"/>
          <a:lstStyle/>
          <a:p>
            <a:pPr indent="0" marL="0">
              <a:buNone/>
            </a:pPr>
            <a:r>
              <a:rPr lang="en-US" sz="1700" dirty="0">
                <a:solidFill>
                  <a:srgbClr val="D8EFEC"/>
                </a:solidFill>
                <a:latin typeface="Calibri" pitchFamily="34" charset="0"/>
                <a:ea typeface="Calibri" pitchFamily="34" charset="-122"/>
                <a:cs typeface="Calibri" pitchFamily="34" charset="-120"/>
              </a:rPr>
              <a:t>AI Interview Platform  ·  Fullstack, dengan kedalaman di frontend</a:t>
            </a:r>
            <a:endParaRPr lang="en-US" sz="1700" dirty="0"/>
          </a:p>
        </p:txBody>
      </p:sp>
      <p:sp>
        <p:nvSpPr>
          <p:cNvPr id="5" name="Text 3"/>
          <p:cNvSpPr txBox="1"/>
          <p:nvPr/>
        </p:nvSpPr>
        <p:spPr>
          <a:xfrm>
            <a:off x="594360" y="4983480"/>
            <a:ext cx="5486400" cy="41148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Aulia Afriza</a:t>
            </a:r>
            <a:endParaRPr lang="en-US" sz="2200" dirty="0"/>
          </a:p>
        </p:txBody>
      </p:sp>
      <p:sp>
        <p:nvSpPr>
          <p:cNvPr id="6" name="Text 4"/>
          <p:cNvSpPr txBox="1"/>
          <p:nvPr/>
        </p:nvSpPr>
        <p:spPr>
          <a:xfrm>
            <a:off x="594360" y="5394960"/>
            <a:ext cx="11002975" cy="320040"/>
          </a:xfrm>
          <a:prstGeom prst="rect">
            <a:avLst/>
          </a:prstGeom>
          <a:noFill/>
          <a:ln/>
        </p:spPr>
        <p:txBody>
          <a:bodyPr wrap="square" lIns="0" tIns="0" rIns="0" bIns="0" rtlCol="0" anchor="t"/>
          <a:lstStyle/>
          <a:p>
            <a:pPr indent="0" marL="0">
              <a:buNone/>
            </a:pPr>
            <a:r>
              <a:rPr lang="en-US" sz="1400" dirty="0">
                <a:solidFill>
                  <a:srgbClr val="BFE3DE"/>
                </a:solidFill>
                <a:latin typeface="Calibri" pitchFamily="34" charset="0"/>
                <a:ea typeface="Calibri" pitchFamily="34" charset="-122"/>
                <a:cs typeface="Calibri" pitchFamily="34" charset="-120"/>
              </a:rPr>
              <a:t>Kandidat Fullstack Product Engineer  ·  github.com/auliaafriza/code-challenge-rakamin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Sedikit tentang saya</a:t>
            </a:r>
            <a:endParaRPr lang="en-US" sz="2800" dirty="0"/>
          </a:p>
        </p:txBody>
      </p:sp>
      <p:sp>
        <p:nvSpPr>
          <p:cNvPr id="5" name="Shape 3"/>
          <p:cNvSpPr/>
          <p:nvPr/>
        </p:nvSpPr>
        <p:spPr>
          <a:xfrm>
            <a:off x="594360" y="1371600"/>
            <a:ext cx="5318608" cy="1874520"/>
          </a:xfrm>
          <a:prstGeom prst="roundRect">
            <a:avLst>
              <a:gd name="adj" fmla="val 3415"/>
            </a:avLst>
          </a:prstGeom>
          <a:solidFill>
            <a:srgbClr val="F5F7F8"/>
          </a:solidFill>
          <a:ln w="12700">
            <a:solidFill>
              <a:srgbClr val="8B96A0"/>
            </a:solidFill>
            <a:prstDash val="dash"/>
          </a:ln>
        </p:spPr>
      </p:sp>
      <p:sp>
        <p:nvSpPr>
          <p:cNvPr id="6" name="Text 4"/>
          <p:cNvSpPr txBox="1"/>
          <p:nvPr/>
        </p:nvSpPr>
        <p:spPr>
          <a:xfrm>
            <a:off x="868680" y="1572768"/>
            <a:ext cx="4769968"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Pengalaman</a:t>
            </a:r>
            <a:endParaRPr lang="en-US" sz="1600" dirty="0"/>
          </a:p>
        </p:txBody>
      </p:sp>
      <p:sp>
        <p:nvSpPr>
          <p:cNvPr id="7" name="Text 5"/>
          <p:cNvSpPr txBox="1"/>
          <p:nvPr/>
        </p:nvSpPr>
        <p:spPr>
          <a:xfrm>
            <a:off x="868680" y="2029968"/>
            <a:ext cx="4769968" cy="1005840"/>
          </a:xfrm>
          <a:prstGeom prst="rect">
            <a:avLst/>
          </a:prstGeom>
          <a:noFill/>
          <a:ln/>
        </p:spPr>
        <p:txBody>
          <a:bodyPr wrap="square" lIns="0" tIns="0" rIns="0" bIns="0" rtlCol="0" anchor="t"/>
          <a:lstStyle/>
          <a:p>
            <a:pPr indent="0" marL="0">
              <a:buNone/>
            </a:pPr>
            <a:r>
              <a:rPr lang="en-US" sz="1400" i="1" dirty="0">
                <a:solidFill>
                  <a:srgbClr val="8B96A0"/>
                </a:solidFill>
                <a:latin typeface="Calibri" pitchFamily="34" charset="0"/>
                <a:ea typeface="Calibri" pitchFamily="34" charset="-122"/>
                <a:cs typeface="Calibri" pitchFamily="34" charset="-120"/>
              </a:rPr>
              <a:t>Isi: berapa tahun, di mana, peran apa</a:t>
            </a:r>
            <a:endParaRPr lang="en-US" sz="1400" dirty="0"/>
          </a:p>
        </p:txBody>
      </p:sp>
      <p:sp>
        <p:nvSpPr>
          <p:cNvPr id="8" name="Shape 6"/>
          <p:cNvSpPr/>
          <p:nvPr/>
        </p:nvSpPr>
        <p:spPr>
          <a:xfrm>
            <a:off x="6278728" y="1371600"/>
            <a:ext cx="5318608" cy="1874520"/>
          </a:xfrm>
          <a:prstGeom prst="roundRect">
            <a:avLst>
              <a:gd name="adj" fmla="val 3415"/>
            </a:avLst>
          </a:prstGeom>
          <a:solidFill>
            <a:srgbClr val="F5F7F8"/>
          </a:solidFill>
          <a:ln w="12700">
            <a:solidFill>
              <a:srgbClr val="8B96A0"/>
            </a:solidFill>
            <a:prstDash val="dash"/>
          </a:ln>
        </p:spPr>
      </p:sp>
      <p:sp>
        <p:nvSpPr>
          <p:cNvPr id="9" name="Text 7"/>
          <p:cNvSpPr txBox="1"/>
          <p:nvPr/>
        </p:nvSpPr>
        <p:spPr>
          <a:xfrm>
            <a:off x="6553048" y="1572768"/>
            <a:ext cx="4769968"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Stack yang paling sering saya pakai</a:t>
            </a:r>
            <a:endParaRPr lang="en-US" sz="1600" dirty="0"/>
          </a:p>
        </p:txBody>
      </p:sp>
      <p:sp>
        <p:nvSpPr>
          <p:cNvPr id="10" name="Text 8"/>
          <p:cNvSpPr txBox="1"/>
          <p:nvPr/>
        </p:nvSpPr>
        <p:spPr>
          <a:xfrm>
            <a:off x="6553048" y="2029968"/>
            <a:ext cx="4769968" cy="1005840"/>
          </a:xfrm>
          <a:prstGeom prst="rect">
            <a:avLst/>
          </a:prstGeom>
          <a:noFill/>
          <a:ln/>
        </p:spPr>
        <p:txBody>
          <a:bodyPr wrap="square" lIns="0" tIns="0" rIns="0" bIns="0" rtlCol="0" anchor="t"/>
          <a:lstStyle/>
          <a:p>
            <a:pPr indent="0" marL="0">
              <a:buNone/>
            </a:pPr>
            <a:r>
              <a:rPr lang="en-US" sz="1400" i="1" dirty="0">
                <a:solidFill>
                  <a:srgbClr val="8B96A0"/>
                </a:solidFill>
                <a:latin typeface="Calibri" pitchFamily="34" charset="0"/>
                <a:ea typeface="Calibri" pitchFamily="34" charset="-122"/>
                <a:cs typeface="Calibri" pitchFamily="34" charset="-120"/>
              </a:rPr>
              <a:t>Isi: mis. React, TypeScript, Rails, …</a:t>
            </a:r>
            <a:endParaRPr lang="en-US" sz="1400" dirty="0"/>
          </a:p>
        </p:txBody>
      </p:sp>
      <p:sp>
        <p:nvSpPr>
          <p:cNvPr id="11" name="Shape 9"/>
          <p:cNvSpPr/>
          <p:nvPr/>
        </p:nvSpPr>
        <p:spPr>
          <a:xfrm>
            <a:off x="594360" y="3520440"/>
            <a:ext cx="5318608" cy="1874520"/>
          </a:xfrm>
          <a:prstGeom prst="roundRect">
            <a:avLst>
              <a:gd name="adj" fmla="val 3415"/>
            </a:avLst>
          </a:prstGeom>
          <a:solidFill>
            <a:srgbClr val="F5F7F8"/>
          </a:solidFill>
          <a:ln w="12700">
            <a:solidFill>
              <a:srgbClr val="8B96A0"/>
            </a:solidFill>
            <a:prstDash val="dash"/>
          </a:ln>
        </p:spPr>
      </p:sp>
      <p:sp>
        <p:nvSpPr>
          <p:cNvPr id="12" name="Text 10"/>
          <p:cNvSpPr txBox="1"/>
          <p:nvPr/>
        </p:nvSpPr>
        <p:spPr>
          <a:xfrm>
            <a:off x="868680" y="3721608"/>
            <a:ext cx="4769968"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Pekerjaan yang paling saya nikmati</a:t>
            </a:r>
            <a:endParaRPr lang="en-US" sz="1600" dirty="0"/>
          </a:p>
        </p:txBody>
      </p:sp>
      <p:sp>
        <p:nvSpPr>
          <p:cNvPr id="13" name="Text 11"/>
          <p:cNvSpPr txBox="1"/>
          <p:nvPr/>
        </p:nvSpPr>
        <p:spPr>
          <a:xfrm>
            <a:off x="868680" y="4178808"/>
            <a:ext cx="4769968" cy="1005840"/>
          </a:xfrm>
          <a:prstGeom prst="rect">
            <a:avLst/>
          </a:prstGeom>
          <a:noFill/>
          <a:ln/>
        </p:spPr>
        <p:txBody>
          <a:bodyPr wrap="square" lIns="0" tIns="0" rIns="0" bIns="0" rtlCol="0" anchor="t"/>
          <a:lstStyle/>
          <a:p>
            <a:pPr indent="0" marL="0">
              <a:buNone/>
            </a:pPr>
            <a:r>
              <a:rPr lang="en-US" sz="1400" i="1" dirty="0">
                <a:solidFill>
                  <a:srgbClr val="8B96A0"/>
                </a:solidFill>
                <a:latin typeface="Calibri" pitchFamily="34" charset="0"/>
                <a:ea typeface="Calibri" pitchFamily="34" charset="-122"/>
                <a:cs typeface="Calibri" pitchFamily="34" charset="-120"/>
              </a:rPr>
              <a:t>Isi: satu kalimat</a:t>
            </a:r>
            <a:endParaRPr lang="en-US" sz="1400" dirty="0"/>
          </a:p>
        </p:txBody>
      </p:sp>
      <p:sp>
        <p:nvSpPr>
          <p:cNvPr id="14" name="Shape 12"/>
          <p:cNvSpPr/>
          <p:nvPr/>
        </p:nvSpPr>
        <p:spPr>
          <a:xfrm>
            <a:off x="6278728" y="3520440"/>
            <a:ext cx="5318608" cy="1874520"/>
          </a:xfrm>
          <a:prstGeom prst="roundRect">
            <a:avLst>
              <a:gd name="adj" fmla="val 3415"/>
            </a:avLst>
          </a:prstGeom>
          <a:solidFill>
            <a:srgbClr val="F5F7F8"/>
          </a:solidFill>
          <a:ln w="12700">
            <a:solidFill>
              <a:srgbClr val="8B96A0"/>
            </a:solidFill>
            <a:prstDash val="dash"/>
          </a:ln>
        </p:spPr>
      </p:sp>
      <p:sp>
        <p:nvSpPr>
          <p:cNvPr id="15" name="Text 13"/>
          <p:cNvSpPr txBox="1"/>
          <p:nvPr/>
        </p:nvSpPr>
        <p:spPr>
          <a:xfrm>
            <a:off x="6553048" y="3721608"/>
            <a:ext cx="4769968"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Kenapa posisi ini</a:t>
            </a:r>
            <a:endParaRPr lang="en-US" sz="1600" dirty="0"/>
          </a:p>
        </p:txBody>
      </p:sp>
      <p:sp>
        <p:nvSpPr>
          <p:cNvPr id="16" name="Text 14"/>
          <p:cNvSpPr txBox="1"/>
          <p:nvPr/>
        </p:nvSpPr>
        <p:spPr>
          <a:xfrm>
            <a:off x="6553048" y="4178808"/>
            <a:ext cx="4769968" cy="1005840"/>
          </a:xfrm>
          <a:prstGeom prst="rect">
            <a:avLst/>
          </a:prstGeom>
          <a:noFill/>
          <a:ln/>
        </p:spPr>
        <p:txBody>
          <a:bodyPr wrap="square" lIns="0" tIns="0" rIns="0" bIns="0" rtlCol="0" anchor="t"/>
          <a:lstStyle/>
          <a:p>
            <a:pPr indent="0" marL="0">
              <a:buNone/>
            </a:pPr>
            <a:r>
              <a:rPr lang="en-US" sz="1400" i="1" dirty="0">
                <a:solidFill>
                  <a:srgbClr val="8B96A0"/>
                </a:solidFill>
                <a:latin typeface="Calibri" pitchFamily="34" charset="0"/>
                <a:ea typeface="Calibri" pitchFamily="34" charset="-122"/>
                <a:cs typeface="Calibri" pitchFamily="34" charset="-120"/>
              </a:rPr>
              <a:t>Isi: satu kalimat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Isi presentasi</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Urutannya sama dengan urutan saya mengerjakannya.</a:t>
            </a:r>
            <a:endParaRPr lang="en-US" sz="1500" dirty="0"/>
          </a:p>
        </p:txBody>
      </p:sp>
      <p:sp>
        <p:nvSpPr>
          <p:cNvPr id="6" name="Shape 4"/>
          <p:cNvSpPr/>
          <p:nvPr/>
        </p:nvSpPr>
        <p:spPr>
          <a:xfrm>
            <a:off x="594360" y="1508760"/>
            <a:ext cx="402336" cy="402336"/>
          </a:xfrm>
          <a:prstGeom prst="ellipse">
            <a:avLst/>
          </a:prstGeom>
          <a:solidFill>
            <a:srgbClr val="0F766E"/>
          </a:solidFill>
          <a:ln w="12700">
            <a:solidFill>
              <a:srgbClr val="0F766E"/>
            </a:solidFill>
            <a:prstDash val="solid"/>
          </a:ln>
        </p:spPr>
      </p:sp>
      <p:sp>
        <p:nvSpPr>
          <p:cNvPr id="7" name="Text 5"/>
          <p:cNvSpPr txBox="1"/>
          <p:nvPr/>
        </p:nvSpPr>
        <p:spPr>
          <a:xfrm>
            <a:off x="594360" y="1508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34440" y="1481328"/>
            <a:ext cx="4572000" cy="329184"/>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Memahami produk</a:t>
            </a:r>
            <a:endParaRPr lang="en-US" sz="1700" dirty="0"/>
          </a:p>
        </p:txBody>
      </p:sp>
      <p:sp>
        <p:nvSpPr>
          <p:cNvPr id="9" name="Text 7"/>
          <p:cNvSpPr txBox="1"/>
          <p:nvPr/>
        </p:nvSpPr>
        <p:spPr>
          <a:xfrm>
            <a:off x="1234440" y="1810512"/>
            <a:ext cx="9144000" cy="292608"/>
          </a:xfrm>
          <a:prstGeom prst="rect">
            <a:avLst/>
          </a:prstGeom>
          <a:noFill/>
          <a:ln/>
        </p:spPr>
        <p:txBody>
          <a:bodyPr wrap="square" lIns="0" tIns="0" rIns="0" bIns="0" rtlCol="0" anchor="t"/>
          <a:lstStyle/>
          <a:p>
            <a:pPr indent="0" marL="0">
              <a:buNone/>
            </a:pPr>
            <a:r>
              <a:rPr lang="en-US" sz="1350" dirty="0">
                <a:solidFill>
                  <a:srgbClr val="5F6B76"/>
                </a:solidFill>
                <a:latin typeface="Calibri" pitchFamily="34" charset="0"/>
                <a:ea typeface="Calibri" pitchFamily="34" charset="-122"/>
                <a:cs typeface="Calibri" pitchFamily="34" charset="-120"/>
              </a:rPr>
              <a:t>Siapa yang dilayani, dan siapa yang menanggung akibatnya</a:t>
            </a:r>
            <a:endParaRPr lang="en-US" sz="1350" dirty="0"/>
          </a:p>
        </p:txBody>
      </p:sp>
      <p:sp>
        <p:nvSpPr>
          <p:cNvPr id="10" name="Shape 8"/>
          <p:cNvSpPr/>
          <p:nvPr/>
        </p:nvSpPr>
        <p:spPr>
          <a:xfrm>
            <a:off x="594360" y="2276856"/>
            <a:ext cx="402336" cy="402336"/>
          </a:xfrm>
          <a:prstGeom prst="ellipse">
            <a:avLst/>
          </a:prstGeom>
          <a:solidFill>
            <a:srgbClr val="0F766E"/>
          </a:solidFill>
          <a:ln w="12700">
            <a:solidFill>
              <a:srgbClr val="0F766E"/>
            </a:solidFill>
            <a:prstDash val="solid"/>
          </a:ln>
        </p:spPr>
      </p:sp>
      <p:sp>
        <p:nvSpPr>
          <p:cNvPr id="11" name="Text 9"/>
          <p:cNvSpPr txBox="1"/>
          <p:nvPr/>
        </p:nvSpPr>
        <p:spPr>
          <a:xfrm>
            <a:off x="59436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234440" y="2249424"/>
            <a:ext cx="4572000" cy="329184"/>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Menemukan masalah</a:t>
            </a:r>
            <a:endParaRPr lang="en-US" sz="1700" dirty="0"/>
          </a:p>
        </p:txBody>
      </p:sp>
      <p:sp>
        <p:nvSpPr>
          <p:cNvPr id="13" name="Text 11"/>
          <p:cNvSpPr txBox="1"/>
          <p:nvPr/>
        </p:nvSpPr>
        <p:spPr>
          <a:xfrm>
            <a:off x="1234440" y="2578608"/>
            <a:ext cx="9144000" cy="292608"/>
          </a:xfrm>
          <a:prstGeom prst="rect">
            <a:avLst/>
          </a:prstGeom>
          <a:noFill/>
          <a:ln/>
        </p:spPr>
        <p:txBody>
          <a:bodyPr wrap="square" lIns="0" tIns="0" rIns="0" bIns="0" rtlCol="0" anchor="t"/>
          <a:lstStyle/>
          <a:p>
            <a:pPr indent="0" marL="0">
              <a:buNone/>
            </a:pPr>
            <a:r>
              <a:rPr lang="en-US" sz="1350" dirty="0">
                <a:solidFill>
                  <a:srgbClr val="5F6B76"/>
                </a:solidFill>
                <a:latin typeface="Calibri" pitchFamily="34" charset="0"/>
                <a:ea typeface="Calibri" pitchFamily="34" charset="-122"/>
                <a:cs typeface="Calibri" pitchFamily="34" charset="-120"/>
              </a:rPr>
              <a:t>Walkthrough manual, audit kode, dan rubrik severity</a:t>
            </a:r>
            <a:endParaRPr lang="en-US" sz="1350" dirty="0"/>
          </a:p>
        </p:txBody>
      </p:sp>
      <p:sp>
        <p:nvSpPr>
          <p:cNvPr id="14" name="Shape 12"/>
          <p:cNvSpPr/>
          <p:nvPr/>
        </p:nvSpPr>
        <p:spPr>
          <a:xfrm>
            <a:off x="594360" y="3044952"/>
            <a:ext cx="402336" cy="402336"/>
          </a:xfrm>
          <a:prstGeom prst="ellipse">
            <a:avLst/>
          </a:prstGeom>
          <a:solidFill>
            <a:srgbClr val="0F766E"/>
          </a:solidFill>
          <a:ln w="12700">
            <a:solidFill>
              <a:srgbClr val="0F766E"/>
            </a:solidFill>
            <a:prstDash val="solid"/>
          </a:ln>
        </p:spPr>
      </p:sp>
      <p:sp>
        <p:nvSpPr>
          <p:cNvPr id="15" name="Text 13"/>
          <p:cNvSpPr txBox="1"/>
          <p:nvPr/>
        </p:nvSpPr>
        <p:spPr>
          <a:xfrm>
            <a:off x="594360" y="3044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234440" y="3017520"/>
            <a:ext cx="4572000" cy="329184"/>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Memutuskan</a:t>
            </a:r>
            <a:endParaRPr lang="en-US" sz="1700" dirty="0"/>
          </a:p>
        </p:txBody>
      </p:sp>
      <p:sp>
        <p:nvSpPr>
          <p:cNvPr id="17" name="Text 15"/>
          <p:cNvSpPr txBox="1"/>
          <p:nvPr/>
        </p:nvSpPr>
        <p:spPr>
          <a:xfrm>
            <a:off x="1234440" y="3346704"/>
            <a:ext cx="9144000" cy="292608"/>
          </a:xfrm>
          <a:prstGeom prst="rect">
            <a:avLst/>
          </a:prstGeom>
          <a:noFill/>
          <a:ln/>
        </p:spPr>
        <p:txBody>
          <a:bodyPr wrap="square" lIns="0" tIns="0" rIns="0" bIns="0" rtlCol="0" anchor="t"/>
          <a:lstStyle/>
          <a:p>
            <a:pPr indent="0" marL="0">
              <a:buNone/>
            </a:pPr>
            <a:r>
              <a:rPr lang="en-US" sz="1350" dirty="0">
                <a:solidFill>
                  <a:srgbClr val="5F6B76"/>
                </a:solidFill>
                <a:latin typeface="Calibri" pitchFamily="34" charset="0"/>
                <a:ea typeface="Calibri" pitchFamily="34" charset="-122"/>
                <a:cs typeface="Calibri" pitchFamily="34" charset="-120"/>
              </a:rPr>
              <a:t>Tiga opsi, constraint signal, dan kenapa frontend depth</a:t>
            </a:r>
            <a:endParaRPr lang="en-US" sz="1350" dirty="0"/>
          </a:p>
        </p:txBody>
      </p:sp>
      <p:sp>
        <p:nvSpPr>
          <p:cNvPr id="18" name="Shape 16"/>
          <p:cNvSpPr/>
          <p:nvPr/>
        </p:nvSpPr>
        <p:spPr>
          <a:xfrm>
            <a:off x="594360" y="3813048"/>
            <a:ext cx="402336" cy="402336"/>
          </a:xfrm>
          <a:prstGeom prst="ellipse">
            <a:avLst/>
          </a:prstGeom>
          <a:solidFill>
            <a:srgbClr val="0F766E"/>
          </a:solidFill>
          <a:ln w="12700">
            <a:solidFill>
              <a:srgbClr val="0F766E"/>
            </a:solidFill>
            <a:prstDash val="solid"/>
          </a:ln>
        </p:spPr>
      </p:sp>
      <p:sp>
        <p:nvSpPr>
          <p:cNvPr id="19" name="Text 17"/>
          <p:cNvSpPr txBox="1"/>
          <p:nvPr/>
        </p:nvSpPr>
        <p:spPr>
          <a:xfrm>
            <a:off x="594360" y="38130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234440" y="3785616"/>
            <a:ext cx="4572000" cy="329184"/>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Membangun</a:t>
            </a:r>
            <a:endParaRPr lang="en-US" sz="1700" dirty="0"/>
          </a:p>
        </p:txBody>
      </p:sp>
      <p:sp>
        <p:nvSpPr>
          <p:cNvPr id="21" name="Text 19"/>
          <p:cNvSpPr txBox="1"/>
          <p:nvPr/>
        </p:nvSpPr>
        <p:spPr>
          <a:xfrm>
            <a:off x="1234440" y="4114800"/>
            <a:ext cx="9144000" cy="292608"/>
          </a:xfrm>
          <a:prstGeom prst="rect">
            <a:avLst/>
          </a:prstGeom>
          <a:noFill/>
          <a:ln/>
        </p:spPr>
        <p:txBody>
          <a:bodyPr wrap="square" lIns="0" tIns="0" rIns="0" bIns="0" rtlCol="0" anchor="t"/>
          <a:lstStyle/>
          <a:p>
            <a:pPr indent="0" marL="0">
              <a:buNone/>
            </a:pPr>
            <a:r>
              <a:rPr lang="en-US" sz="1350" dirty="0">
                <a:solidFill>
                  <a:srgbClr val="5F6B76"/>
                </a:solidFill>
                <a:latin typeface="Calibri" pitchFamily="34" charset="0"/>
                <a:ea typeface="Calibri" pitchFamily="34" charset="-122"/>
                <a:cs typeface="Calibri" pitchFamily="34" charset="-120"/>
              </a:rPr>
              <a:t>Acceptance criteria, desain, hasil di layar, dan backend yang cukup</a:t>
            </a:r>
            <a:endParaRPr lang="en-US" sz="1350" dirty="0"/>
          </a:p>
        </p:txBody>
      </p:sp>
      <p:sp>
        <p:nvSpPr>
          <p:cNvPr id="22" name="Shape 20"/>
          <p:cNvSpPr/>
          <p:nvPr/>
        </p:nvSpPr>
        <p:spPr>
          <a:xfrm>
            <a:off x="594360" y="4581144"/>
            <a:ext cx="402336" cy="402336"/>
          </a:xfrm>
          <a:prstGeom prst="ellipse">
            <a:avLst/>
          </a:prstGeom>
          <a:solidFill>
            <a:srgbClr val="0F766E"/>
          </a:solidFill>
          <a:ln w="12700">
            <a:solidFill>
              <a:srgbClr val="0F766E"/>
            </a:solidFill>
            <a:prstDash val="solid"/>
          </a:ln>
        </p:spPr>
      </p:sp>
      <p:sp>
        <p:nvSpPr>
          <p:cNvPr id="23" name="Text 21"/>
          <p:cNvSpPr txBox="1"/>
          <p:nvPr/>
        </p:nvSpPr>
        <p:spPr>
          <a:xfrm>
            <a:off x="594360" y="4581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1234440" y="4553712"/>
            <a:ext cx="4572000" cy="329184"/>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Membuktikan</a:t>
            </a:r>
            <a:endParaRPr lang="en-US" sz="1700" dirty="0"/>
          </a:p>
        </p:txBody>
      </p:sp>
      <p:sp>
        <p:nvSpPr>
          <p:cNvPr id="25" name="Text 23"/>
          <p:cNvSpPr txBox="1"/>
          <p:nvPr/>
        </p:nvSpPr>
        <p:spPr>
          <a:xfrm>
            <a:off x="1234440" y="4882896"/>
            <a:ext cx="9144000" cy="292608"/>
          </a:xfrm>
          <a:prstGeom prst="rect">
            <a:avLst/>
          </a:prstGeom>
          <a:noFill/>
          <a:ln/>
        </p:spPr>
        <p:txBody>
          <a:bodyPr wrap="square" lIns="0" tIns="0" rIns="0" bIns="0" rtlCol="0" anchor="t"/>
          <a:lstStyle/>
          <a:p>
            <a:pPr indent="0" marL="0">
              <a:buNone/>
            </a:pPr>
            <a:r>
              <a:rPr lang="en-US" sz="1350" dirty="0">
                <a:solidFill>
                  <a:srgbClr val="5F6B76"/>
                </a:solidFill>
                <a:latin typeface="Calibri" pitchFamily="34" charset="0"/>
                <a:ea typeface="Calibri" pitchFamily="34" charset="-122"/>
                <a:cs typeface="Calibri" pitchFamily="34" charset="-120"/>
              </a:rPr>
              <a:t>Test ditulis dulu, seeded fault, dan dua kali saya salah</a:t>
            </a:r>
            <a:endParaRPr lang="en-US" sz="1350" dirty="0"/>
          </a:p>
        </p:txBody>
      </p:sp>
      <p:sp>
        <p:nvSpPr>
          <p:cNvPr id="26" name="Shape 24"/>
          <p:cNvSpPr/>
          <p:nvPr/>
        </p:nvSpPr>
        <p:spPr>
          <a:xfrm>
            <a:off x="594360" y="5349240"/>
            <a:ext cx="402336" cy="402336"/>
          </a:xfrm>
          <a:prstGeom prst="ellipse">
            <a:avLst/>
          </a:prstGeom>
          <a:solidFill>
            <a:srgbClr val="0F766E"/>
          </a:solidFill>
          <a:ln w="12700">
            <a:solidFill>
              <a:srgbClr val="0F766E"/>
            </a:solidFill>
            <a:prstDash val="solid"/>
          </a:ln>
        </p:spPr>
      </p:sp>
      <p:sp>
        <p:nvSpPr>
          <p:cNvPr id="27" name="Text 25"/>
          <p:cNvSpPr txBox="1"/>
          <p:nvPr/>
        </p:nvSpPr>
        <p:spPr>
          <a:xfrm>
            <a:off x="594360" y="53492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6"/>
          <p:cNvSpPr txBox="1"/>
          <p:nvPr/>
        </p:nvSpPr>
        <p:spPr>
          <a:xfrm>
            <a:off x="1234440" y="5321808"/>
            <a:ext cx="4572000" cy="329184"/>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Ke depan</a:t>
            </a:r>
            <a:endParaRPr lang="en-US" sz="1700" dirty="0"/>
          </a:p>
        </p:txBody>
      </p:sp>
      <p:sp>
        <p:nvSpPr>
          <p:cNvPr id="29" name="Text 27"/>
          <p:cNvSpPr txBox="1"/>
          <p:nvPr/>
        </p:nvSpPr>
        <p:spPr>
          <a:xfrm>
            <a:off x="1234440" y="5650992"/>
            <a:ext cx="9144000" cy="292608"/>
          </a:xfrm>
          <a:prstGeom prst="rect">
            <a:avLst/>
          </a:prstGeom>
          <a:noFill/>
          <a:ln/>
        </p:spPr>
        <p:txBody>
          <a:bodyPr wrap="square" lIns="0" tIns="0" rIns="0" bIns="0" rtlCol="0" anchor="t"/>
          <a:lstStyle/>
          <a:p>
            <a:pPr indent="0" marL="0">
              <a:buNone/>
            </a:pPr>
            <a:r>
              <a:rPr lang="en-US" sz="1350" dirty="0">
                <a:solidFill>
                  <a:srgbClr val="5F6B76"/>
                </a:solidFill>
                <a:latin typeface="Calibri" pitchFamily="34" charset="0"/>
                <a:ea typeface="Calibri" pitchFamily="34" charset="-122"/>
                <a:cs typeface="Calibri" pitchFamily="34" charset="-120"/>
              </a:rPr>
              <a:t>Risiko yang masih ada, dan rencana kalau saya bergabung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5550"/>
        </a:solidFill>
      </p:bgPr>
    </p:bg>
    <p:spTree>
      <p:nvGrpSpPr>
        <p:cNvPr id="1" name=""/>
        <p:cNvGrpSpPr/>
        <p:nvPr/>
      </p:nvGrpSpPr>
      <p:grpSpPr>
        <a:xfrm>
          <a:off x="0" y="0"/>
          <a:ext cx="0" cy="0"/>
          <a:chOff x="0" y="0"/>
          <a:chExt cx="0" cy="0"/>
        </a:xfrm>
      </p:grpSpPr>
      <p:sp>
        <p:nvSpPr>
          <p:cNvPr id="2" name="Text 0"/>
          <p:cNvSpPr txBox="1"/>
          <p:nvPr/>
        </p:nvSpPr>
        <p:spPr>
          <a:xfrm>
            <a:off x="594360" y="2103120"/>
            <a:ext cx="2743200" cy="548640"/>
          </a:xfrm>
          <a:prstGeom prst="rect">
            <a:avLst/>
          </a:prstGeom>
          <a:noFill/>
          <a:ln/>
        </p:spPr>
        <p:txBody>
          <a:bodyPr wrap="square" lIns="0" tIns="0" rIns="0" bIns="0" rtlCol="0" anchor="t"/>
          <a:lstStyle/>
          <a:p>
            <a:pPr indent="0" marL="0">
              <a:buNone/>
            </a:pPr>
            <a:r>
              <a:rPr lang="en-US" sz="2000" b="1" dirty="0">
                <a:solidFill>
                  <a:srgbClr val="8FD1C8"/>
                </a:solidFill>
                <a:latin typeface="Calibri" pitchFamily="34" charset="0"/>
                <a:ea typeface="Calibri" pitchFamily="34" charset="-122"/>
                <a:cs typeface="Calibri" pitchFamily="34" charset="-120"/>
              </a:rPr>
              <a:t>01</a:t>
            </a:r>
            <a:endParaRPr lang="en-US" sz="2000" dirty="0"/>
          </a:p>
        </p:txBody>
      </p:sp>
      <p:sp>
        <p:nvSpPr>
          <p:cNvPr id="3" name="Text 1"/>
          <p:cNvSpPr txBox="1"/>
          <p:nvPr/>
        </p:nvSpPr>
        <p:spPr>
          <a:xfrm>
            <a:off x="594360" y="2651760"/>
            <a:ext cx="11002975" cy="91440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Memahami produk</a:t>
            </a:r>
            <a:endParaRPr lang="en-US" sz="3800" dirty="0"/>
          </a:p>
        </p:txBody>
      </p:sp>
      <p:sp>
        <p:nvSpPr>
          <p:cNvPr id="4" name="Text 2"/>
          <p:cNvSpPr txBox="1"/>
          <p:nvPr/>
        </p:nvSpPr>
        <p:spPr>
          <a:xfrm>
            <a:off x="594360" y="3611880"/>
            <a:ext cx="9144000" cy="731520"/>
          </a:xfrm>
          <a:prstGeom prst="rect">
            <a:avLst/>
          </a:prstGeom>
          <a:noFill/>
          <a:ln/>
        </p:spPr>
        <p:txBody>
          <a:bodyPr wrap="square" lIns="0" tIns="0" rIns="0" bIns="0" rtlCol="0" anchor="t"/>
          <a:lstStyle/>
          <a:p>
            <a:pPr indent="0" marL="0">
              <a:lnSpc>
                <a:spcPts val="2300"/>
              </a:lnSpc>
              <a:buNone/>
            </a:pPr>
            <a:r>
              <a:rPr lang="en-US" sz="1700" dirty="0">
                <a:solidFill>
                  <a:srgbClr val="BFE3DE"/>
                </a:solidFill>
                <a:latin typeface="Calibri" pitchFamily="34" charset="0"/>
                <a:ea typeface="Calibri" pitchFamily="34" charset="-122"/>
                <a:cs typeface="Calibri" pitchFamily="34" charset="-120"/>
              </a:rPr>
              <a:t>Sebelum menilai kodenya, saya coba memahami apa yang sebenarnya dijual produk ini.</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Yang sebenarnya dijual produk ini</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§2.1 · Product context analysis</a:t>
            </a:r>
            <a:endParaRPr lang="en-US" sz="1500" dirty="0"/>
          </a:p>
        </p:txBody>
      </p:sp>
      <p:sp>
        <p:nvSpPr>
          <p:cNvPr id="6" name="Shape 4"/>
          <p:cNvSpPr/>
          <p:nvPr/>
        </p:nvSpPr>
        <p:spPr>
          <a:xfrm>
            <a:off x="594360" y="1481328"/>
            <a:ext cx="11002975" cy="1097280"/>
          </a:xfrm>
          <a:prstGeom prst="roundRect">
            <a:avLst>
              <a:gd name="adj" fmla="val 5833"/>
            </a:avLst>
          </a:prstGeom>
          <a:solidFill>
            <a:srgbClr val="E6F3F1"/>
          </a:solidFill>
          <a:ln w="9525">
            <a:solidFill>
              <a:srgbClr val="E6F3F1"/>
            </a:solidFill>
            <a:prstDash val="solid"/>
          </a:ln>
        </p:spPr>
      </p:sp>
      <p:sp>
        <p:nvSpPr>
          <p:cNvPr id="7" name="Text 5"/>
          <p:cNvSpPr txBox="1"/>
          <p:nvPr/>
        </p:nvSpPr>
        <p:spPr>
          <a:xfrm>
            <a:off x="914400" y="1481328"/>
            <a:ext cx="10362895" cy="1097280"/>
          </a:xfrm>
          <a:prstGeom prst="rect">
            <a:avLst/>
          </a:prstGeom>
          <a:noFill/>
          <a:ln/>
        </p:spPr>
        <p:txBody>
          <a:bodyPr wrap="square" lIns="0" tIns="0" rIns="0" bIns="0" rtlCol="0" anchor="ctr"/>
          <a:lstStyle/>
          <a:p>
            <a:pPr indent="0" marL="0">
              <a:lnSpc>
                <a:spcPts val="2000"/>
              </a:lnSpc>
              <a:buNone/>
            </a:pPr>
            <a:r>
              <a:rPr lang="en-US" sz="1400" b="1" dirty="0">
                <a:solidFill>
                  <a:srgbClr val="0B5550"/>
                </a:solidFill>
                <a:latin typeface="Calibri" pitchFamily="34" charset="0"/>
                <a:ea typeface="Calibri" pitchFamily="34" charset="-122"/>
                <a:cs typeface="Calibri" pitchFamily="34" charset="-120"/>
              </a:rPr>
              <a:t>Bukan otomasi wawancara. </a:t>
            </a:r>
            <a:pPr indent="0" marL="0">
              <a:lnSpc>
                <a:spcPts val="2000"/>
              </a:lnSpc>
              <a:buNone/>
            </a:pPr>
            <a:r>
              <a:rPr lang="en-US" sz="1400" dirty="0">
                <a:solidFill>
                  <a:srgbClr val="1F2933"/>
                </a:solidFill>
                <a:latin typeface="Calibri" pitchFamily="34" charset="0"/>
                <a:ea typeface="Calibri" pitchFamily="34" charset="-122"/>
                <a:cs typeface="Calibri" pitchFamily="34" charset="-120"/>
              </a:rPr>
              <a:t>Yang sulit — dan alasan produk ini layak dibeli — adalah membuat penilaian AI cukup bisa dipertanggungjawabkan, sampai seorang manusia mau menandatanganinya. Override assessor, kolom ai_confidence, dan array evidence membuktikan tim sudah paham itu sejak desain. Ketiganya ada di database; tidak satu pun sampai ke user.</a:t>
            </a:r>
            <a:endParaRPr lang="en-US" sz="1400" dirty="0"/>
          </a:p>
        </p:txBody>
      </p:sp>
      <p:sp>
        <p:nvSpPr>
          <p:cNvPr id="8" name="Shape 6"/>
          <p:cNvSpPr/>
          <p:nvPr/>
        </p:nvSpPr>
        <p:spPr>
          <a:xfrm>
            <a:off x="594360" y="2788920"/>
            <a:ext cx="2613584" cy="3154680"/>
          </a:xfrm>
          <a:prstGeom prst="roundRect">
            <a:avLst>
              <a:gd name="adj" fmla="val 2449"/>
            </a:avLst>
          </a:prstGeom>
          <a:solidFill>
            <a:srgbClr val="F5F7F8"/>
          </a:solidFill>
          <a:ln w="9525">
            <a:solidFill>
              <a:srgbClr val="E2E7EB"/>
            </a:solidFill>
            <a:prstDash val="solid"/>
          </a:ln>
        </p:spPr>
      </p:sp>
      <p:sp>
        <p:nvSpPr>
          <p:cNvPr id="9" name="Text 7"/>
          <p:cNvSpPr txBox="1"/>
          <p:nvPr/>
        </p:nvSpPr>
        <p:spPr>
          <a:xfrm>
            <a:off x="822960" y="2944368"/>
            <a:ext cx="2156384"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Assessor</a:t>
            </a:r>
            <a:endParaRPr lang="en-US" sz="1500" dirty="0"/>
          </a:p>
        </p:txBody>
      </p:sp>
      <p:sp>
        <p:nvSpPr>
          <p:cNvPr id="10" name="Text 8"/>
          <p:cNvSpPr txBox="1"/>
          <p:nvPr/>
        </p:nvSpPr>
        <p:spPr>
          <a:xfrm>
            <a:off x="822960" y="3337560"/>
            <a:ext cx="2156384" cy="228600"/>
          </a:xfrm>
          <a:prstGeom prst="rect">
            <a:avLst/>
          </a:prstGeom>
          <a:noFill/>
          <a:ln/>
        </p:spPr>
        <p:txBody>
          <a:bodyPr wrap="square" lIns="0" tIns="0" rIns="0" bIns="0" rtlCol="0" anchor="t"/>
          <a:lstStyle/>
          <a:p>
            <a:pPr indent="0" marL="0">
              <a:buNone/>
            </a:pPr>
            <a:r>
              <a:rPr lang="en-US" sz="1050" b="1" dirty="0">
                <a:solidFill>
                  <a:srgbClr val="8B96A0"/>
                </a:solidFill>
                <a:latin typeface="Calibri" pitchFamily="34" charset="0"/>
                <a:ea typeface="Calibri" pitchFamily="34" charset="-122"/>
                <a:cs typeface="Calibri" pitchFamily="34" charset="-120"/>
              </a:rPr>
              <a:t>Ingin</a:t>
            </a:r>
            <a:endParaRPr lang="en-US" sz="1050" dirty="0"/>
          </a:p>
        </p:txBody>
      </p:sp>
      <p:sp>
        <p:nvSpPr>
          <p:cNvPr id="11" name="Text 9"/>
          <p:cNvSpPr txBox="1"/>
          <p:nvPr/>
        </p:nvSpPr>
        <p:spPr>
          <a:xfrm>
            <a:off x="822960" y="3566160"/>
            <a:ext cx="2156384" cy="10058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Ingin memverifikasi penilaian AI sebelum menempelkan namanya.</a:t>
            </a:r>
            <a:endParaRPr lang="en-US" sz="1200" dirty="0"/>
          </a:p>
        </p:txBody>
      </p:sp>
      <p:sp>
        <p:nvSpPr>
          <p:cNvPr id="12" name="Text 10"/>
          <p:cNvSpPr txBox="1"/>
          <p:nvPr/>
        </p:nvSpPr>
        <p:spPr>
          <a:xfrm>
            <a:off x="822960" y="4617720"/>
            <a:ext cx="2156384" cy="228600"/>
          </a:xfrm>
          <a:prstGeom prst="rect">
            <a:avLst/>
          </a:prstGeom>
          <a:noFill/>
          <a:ln/>
        </p:spPr>
        <p:txBody>
          <a:bodyPr wrap="square" lIns="0" tIns="0" rIns="0" bIns="0" rtlCol="0" anchor="t"/>
          <a:lstStyle/>
          <a:p>
            <a:pPr indent="0" marL="0">
              <a:buNone/>
            </a:pPr>
            <a:r>
              <a:rPr lang="en-US" sz="1050" b="1" dirty="0">
                <a:solidFill>
                  <a:srgbClr val="8B96A0"/>
                </a:solidFill>
                <a:latin typeface="Calibri" pitchFamily="34" charset="0"/>
                <a:ea typeface="Calibri" pitchFamily="34" charset="-122"/>
                <a:cs typeface="Calibri" pitchFamily="34" charset="-120"/>
              </a:rPr>
              <a:t>Yang didapat hari ini</a:t>
            </a:r>
            <a:endParaRPr lang="en-US" sz="1050" dirty="0"/>
          </a:p>
        </p:txBody>
      </p:sp>
      <p:sp>
        <p:nvSpPr>
          <p:cNvPr id="13" name="Text 11"/>
          <p:cNvSpPr txBox="1"/>
          <p:nvPr/>
        </p:nvSpPr>
        <p:spPr>
          <a:xfrm>
            <a:off x="822960" y="4846320"/>
            <a:ext cx="2156384" cy="10058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Kutipan tidak bisa ditelusuri; override tidak muncul di laporan akhir.</a:t>
            </a:r>
            <a:endParaRPr lang="en-US" sz="1200" dirty="0"/>
          </a:p>
        </p:txBody>
      </p:sp>
      <p:sp>
        <p:nvSpPr>
          <p:cNvPr id="14" name="Shape 12"/>
          <p:cNvSpPr/>
          <p:nvPr/>
        </p:nvSpPr>
        <p:spPr>
          <a:xfrm>
            <a:off x="3390824" y="2788920"/>
            <a:ext cx="2613584" cy="3154680"/>
          </a:xfrm>
          <a:prstGeom prst="roundRect">
            <a:avLst>
              <a:gd name="adj" fmla="val 2449"/>
            </a:avLst>
          </a:prstGeom>
          <a:solidFill>
            <a:srgbClr val="F5F7F8"/>
          </a:solidFill>
          <a:ln w="9525">
            <a:solidFill>
              <a:srgbClr val="E2E7EB"/>
            </a:solidFill>
            <a:prstDash val="solid"/>
          </a:ln>
        </p:spPr>
      </p:sp>
      <p:sp>
        <p:nvSpPr>
          <p:cNvPr id="15" name="Text 13"/>
          <p:cNvSpPr txBox="1"/>
          <p:nvPr/>
        </p:nvSpPr>
        <p:spPr>
          <a:xfrm>
            <a:off x="3619424" y="2944368"/>
            <a:ext cx="2156384"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Recruiter</a:t>
            </a:r>
            <a:endParaRPr lang="en-US" sz="1500" dirty="0"/>
          </a:p>
        </p:txBody>
      </p:sp>
      <p:sp>
        <p:nvSpPr>
          <p:cNvPr id="16" name="Text 14"/>
          <p:cNvSpPr txBox="1"/>
          <p:nvPr/>
        </p:nvSpPr>
        <p:spPr>
          <a:xfrm>
            <a:off x="3619424" y="3337560"/>
            <a:ext cx="2156384" cy="228600"/>
          </a:xfrm>
          <a:prstGeom prst="rect">
            <a:avLst/>
          </a:prstGeom>
          <a:noFill/>
          <a:ln/>
        </p:spPr>
        <p:txBody>
          <a:bodyPr wrap="square" lIns="0" tIns="0" rIns="0" bIns="0" rtlCol="0" anchor="t"/>
          <a:lstStyle/>
          <a:p>
            <a:pPr indent="0" marL="0">
              <a:buNone/>
            </a:pPr>
            <a:r>
              <a:rPr lang="en-US" sz="1050" b="1" dirty="0">
                <a:solidFill>
                  <a:srgbClr val="8B96A0"/>
                </a:solidFill>
                <a:latin typeface="Calibri" pitchFamily="34" charset="0"/>
                <a:ea typeface="Calibri" pitchFamily="34" charset="-122"/>
                <a:cs typeface="Calibri" pitchFamily="34" charset="-120"/>
              </a:rPr>
              <a:t>Ingin</a:t>
            </a:r>
            <a:endParaRPr lang="en-US" sz="1050" dirty="0"/>
          </a:p>
        </p:txBody>
      </p:sp>
      <p:sp>
        <p:nvSpPr>
          <p:cNvPr id="17" name="Text 15"/>
          <p:cNvSpPr txBox="1"/>
          <p:nvPr/>
        </p:nvSpPr>
        <p:spPr>
          <a:xfrm>
            <a:off x="3619424" y="3566160"/>
            <a:ext cx="2156384" cy="10058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Ingin menyaring cepat dan tahu siapa yang butuh sesi lanjutan.</a:t>
            </a:r>
            <a:endParaRPr lang="en-US" sz="1200" dirty="0"/>
          </a:p>
        </p:txBody>
      </p:sp>
      <p:sp>
        <p:nvSpPr>
          <p:cNvPr id="18" name="Text 16"/>
          <p:cNvSpPr txBox="1"/>
          <p:nvPr/>
        </p:nvSpPr>
        <p:spPr>
          <a:xfrm>
            <a:off x="3619424" y="4617720"/>
            <a:ext cx="2156384" cy="228600"/>
          </a:xfrm>
          <a:prstGeom prst="rect">
            <a:avLst/>
          </a:prstGeom>
          <a:noFill/>
          <a:ln/>
        </p:spPr>
        <p:txBody>
          <a:bodyPr wrap="square" lIns="0" tIns="0" rIns="0" bIns="0" rtlCol="0" anchor="t"/>
          <a:lstStyle/>
          <a:p>
            <a:pPr indent="0" marL="0">
              <a:buNone/>
            </a:pPr>
            <a:r>
              <a:rPr lang="en-US" sz="1050" b="1" dirty="0">
                <a:solidFill>
                  <a:srgbClr val="8B96A0"/>
                </a:solidFill>
                <a:latin typeface="Calibri" pitchFamily="34" charset="0"/>
                <a:ea typeface="Calibri" pitchFamily="34" charset="-122"/>
                <a:cs typeface="Calibri" pitchFamily="34" charset="-120"/>
              </a:rPr>
              <a:t>Yang didapat hari ini</a:t>
            </a:r>
            <a:endParaRPr lang="en-US" sz="1050" dirty="0"/>
          </a:p>
        </p:txBody>
      </p:sp>
      <p:sp>
        <p:nvSpPr>
          <p:cNvPr id="19" name="Text 17"/>
          <p:cNvSpPr txBox="1"/>
          <p:nvPr/>
        </p:nvSpPr>
        <p:spPr>
          <a:xfrm>
            <a:off x="3619424" y="4846320"/>
            <a:ext cx="2156384" cy="10058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“Kuat” dan “tidak pernah diukur” terlihat identik.</a:t>
            </a:r>
            <a:endParaRPr lang="en-US" sz="1200" dirty="0"/>
          </a:p>
        </p:txBody>
      </p:sp>
      <p:sp>
        <p:nvSpPr>
          <p:cNvPr id="20" name="Shape 18"/>
          <p:cNvSpPr/>
          <p:nvPr/>
        </p:nvSpPr>
        <p:spPr>
          <a:xfrm>
            <a:off x="6187288" y="2788920"/>
            <a:ext cx="2613584" cy="3154680"/>
          </a:xfrm>
          <a:prstGeom prst="roundRect">
            <a:avLst>
              <a:gd name="adj" fmla="val 2449"/>
            </a:avLst>
          </a:prstGeom>
          <a:solidFill>
            <a:srgbClr val="F5F7F8"/>
          </a:solidFill>
          <a:ln w="9525">
            <a:solidFill>
              <a:srgbClr val="E2E7EB"/>
            </a:solidFill>
            <a:prstDash val="solid"/>
          </a:ln>
        </p:spPr>
      </p:sp>
      <p:sp>
        <p:nvSpPr>
          <p:cNvPr id="21" name="Text 19"/>
          <p:cNvSpPr txBox="1"/>
          <p:nvPr/>
        </p:nvSpPr>
        <p:spPr>
          <a:xfrm>
            <a:off x="6415888" y="2944368"/>
            <a:ext cx="2156384"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Hiring manager</a:t>
            </a:r>
            <a:endParaRPr lang="en-US" sz="1500" dirty="0"/>
          </a:p>
        </p:txBody>
      </p:sp>
      <p:sp>
        <p:nvSpPr>
          <p:cNvPr id="22" name="Text 20"/>
          <p:cNvSpPr txBox="1"/>
          <p:nvPr/>
        </p:nvSpPr>
        <p:spPr>
          <a:xfrm>
            <a:off x="6415888" y="3337560"/>
            <a:ext cx="2156384" cy="228600"/>
          </a:xfrm>
          <a:prstGeom prst="rect">
            <a:avLst/>
          </a:prstGeom>
          <a:noFill/>
          <a:ln/>
        </p:spPr>
        <p:txBody>
          <a:bodyPr wrap="square" lIns="0" tIns="0" rIns="0" bIns="0" rtlCol="0" anchor="t"/>
          <a:lstStyle/>
          <a:p>
            <a:pPr indent="0" marL="0">
              <a:buNone/>
            </a:pPr>
            <a:r>
              <a:rPr lang="en-US" sz="1050" b="1" dirty="0">
                <a:solidFill>
                  <a:srgbClr val="8B96A0"/>
                </a:solidFill>
                <a:latin typeface="Calibri" pitchFamily="34" charset="0"/>
                <a:ea typeface="Calibri" pitchFamily="34" charset="-122"/>
                <a:cs typeface="Calibri" pitchFamily="34" charset="-120"/>
              </a:rPr>
              <a:t>Ingin</a:t>
            </a:r>
            <a:endParaRPr lang="en-US" sz="1050" dirty="0"/>
          </a:p>
        </p:txBody>
      </p:sp>
      <p:sp>
        <p:nvSpPr>
          <p:cNvPr id="23" name="Text 21"/>
          <p:cNvSpPr txBox="1"/>
          <p:nvPr/>
        </p:nvSpPr>
        <p:spPr>
          <a:xfrm>
            <a:off x="6415888" y="3566160"/>
            <a:ext cx="2156384" cy="10058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Ingin memutuskan, lalu bisa mempertanggungjawabkannya.</a:t>
            </a:r>
            <a:endParaRPr lang="en-US" sz="1200" dirty="0"/>
          </a:p>
        </p:txBody>
      </p:sp>
      <p:sp>
        <p:nvSpPr>
          <p:cNvPr id="24" name="Text 22"/>
          <p:cNvSpPr txBox="1"/>
          <p:nvPr/>
        </p:nvSpPr>
        <p:spPr>
          <a:xfrm>
            <a:off x="6415888" y="4617720"/>
            <a:ext cx="2156384" cy="228600"/>
          </a:xfrm>
          <a:prstGeom prst="rect">
            <a:avLst/>
          </a:prstGeom>
          <a:noFill/>
          <a:ln/>
        </p:spPr>
        <p:txBody>
          <a:bodyPr wrap="square" lIns="0" tIns="0" rIns="0" bIns="0" rtlCol="0" anchor="t"/>
          <a:lstStyle/>
          <a:p>
            <a:pPr indent="0" marL="0">
              <a:buNone/>
            </a:pPr>
            <a:r>
              <a:rPr lang="en-US" sz="1050" b="1" dirty="0">
                <a:solidFill>
                  <a:srgbClr val="8B96A0"/>
                </a:solidFill>
                <a:latin typeface="Calibri" pitchFamily="34" charset="0"/>
                <a:ea typeface="Calibri" pitchFamily="34" charset="-122"/>
                <a:cs typeface="Calibri" pitchFamily="34" charset="-120"/>
              </a:rPr>
              <a:t>Yang didapat hari ini</a:t>
            </a:r>
            <a:endParaRPr lang="en-US" sz="1050" dirty="0"/>
          </a:p>
        </p:txBody>
      </p:sp>
      <p:sp>
        <p:nvSpPr>
          <p:cNvPr id="25" name="Text 23"/>
          <p:cNvSpPr txBox="1"/>
          <p:nvPr/>
        </p:nvSpPr>
        <p:spPr>
          <a:xfrm>
            <a:off x="6415888" y="4846320"/>
            <a:ext cx="2156384" cy="10058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Kolom Required kosong — tidak ada bar pembanding.</a:t>
            </a:r>
            <a:endParaRPr lang="en-US" sz="1200" dirty="0"/>
          </a:p>
        </p:txBody>
      </p:sp>
      <p:sp>
        <p:nvSpPr>
          <p:cNvPr id="26" name="Shape 24"/>
          <p:cNvSpPr/>
          <p:nvPr/>
        </p:nvSpPr>
        <p:spPr>
          <a:xfrm>
            <a:off x="8983751" y="2788920"/>
            <a:ext cx="2613584" cy="3154680"/>
          </a:xfrm>
          <a:prstGeom prst="roundRect">
            <a:avLst>
              <a:gd name="adj" fmla="val 2449"/>
            </a:avLst>
          </a:prstGeom>
          <a:solidFill>
            <a:srgbClr val="FCEDE8"/>
          </a:solidFill>
          <a:ln w="9525">
            <a:solidFill>
              <a:srgbClr val="FCEDE8"/>
            </a:solidFill>
            <a:prstDash val="solid"/>
          </a:ln>
        </p:spPr>
      </p:sp>
      <p:sp>
        <p:nvSpPr>
          <p:cNvPr id="27" name="Text 25"/>
          <p:cNvSpPr txBox="1"/>
          <p:nvPr/>
        </p:nvSpPr>
        <p:spPr>
          <a:xfrm>
            <a:off x="9212351" y="2944368"/>
            <a:ext cx="2156384" cy="320040"/>
          </a:xfrm>
          <a:prstGeom prst="rect">
            <a:avLst/>
          </a:prstGeom>
          <a:noFill/>
          <a:ln/>
        </p:spPr>
        <p:txBody>
          <a:bodyPr wrap="square" lIns="0" tIns="0" rIns="0" bIns="0" rtlCol="0" anchor="t"/>
          <a:lstStyle/>
          <a:p>
            <a:pPr indent="0" marL="0">
              <a:buNone/>
            </a:pPr>
            <a:r>
              <a:rPr lang="en-US" sz="1500" b="1" dirty="0">
                <a:solidFill>
                  <a:srgbClr val="C8553D"/>
                </a:solidFill>
                <a:latin typeface="Calibri" pitchFamily="34" charset="0"/>
                <a:ea typeface="Calibri" pitchFamily="34" charset="-122"/>
                <a:cs typeface="Calibri" pitchFamily="34" charset="-120"/>
              </a:rPr>
              <a:t>Kandidat</a:t>
            </a:r>
            <a:endParaRPr lang="en-US" sz="1500" dirty="0"/>
          </a:p>
        </p:txBody>
      </p:sp>
      <p:sp>
        <p:nvSpPr>
          <p:cNvPr id="28" name="Text 26"/>
          <p:cNvSpPr txBox="1"/>
          <p:nvPr/>
        </p:nvSpPr>
        <p:spPr>
          <a:xfrm>
            <a:off x="9212351" y="3337560"/>
            <a:ext cx="2156384" cy="228600"/>
          </a:xfrm>
          <a:prstGeom prst="rect">
            <a:avLst/>
          </a:prstGeom>
          <a:noFill/>
          <a:ln/>
        </p:spPr>
        <p:txBody>
          <a:bodyPr wrap="square" lIns="0" tIns="0" rIns="0" bIns="0" rtlCol="0" anchor="t"/>
          <a:lstStyle/>
          <a:p>
            <a:pPr indent="0" marL="0">
              <a:buNone/>
            </a:pPr>
            <a:r>
              <a:rPr lang="en-US" sz="1050" b="1" dirty="0">
                <a:solidFill>
                  <a:srgbClr val="8B96A0"/>
                </a:solidFill>
                <a:latin typeface="Calibri" pitchFamily="34" charset="0"/>
                <a:ea typeface="Calibri" pitchFamily="34" charset="-122"/>
                <a:cs typeface="Calibri" pitchFamily="34" charset="-120"/>
              </a:rPr>
              <a:t>Ingin</a:t>
            </a:r>
            <a:endParaRPr lang="en-US" sz="1050" dirty="0"/>
          </a:p>
        </p:txBody>
      </p:sp>
      <p:sp>
        <p:nvSpPr>
          <p:cNvPr id="29" name="Text 27"/>
          <p:cNvSpPr txBox="1"/>
          <p:nvPr/>
        </p:nvSpPr>
        <p:spPr>
          <a:xfrm>
            <a:off x="9212351" y="3566160"/>
            <a:ext cx="2156384" cy="10058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Tidak memilih produk ini, tidak bisa menolak, tidak pernah melihat hasilnya.</a:t>
            </a:r>
            <a:endParaRPr lang="en-US" sz="1200" dirty="0"/>
          </a:p>
        </p:txBody>
      </p:sp>
      <p:sp>
        <p:nvSpPr>
          <p:cNvPr id="30" name="Text 28"/>
          <p:cNvSpPr txBox="1"/>
          <p:nvPr/>
        </p:nvSpPr>
        <p:spPr>
          <a:xfrm>
            <a:off x="9212351" y="4617720"/>
            <a:ext cx="2156384" cy="228600"/>
          </a:xfrm>
          <a:prstGeom prst="rect">
            <a:avLst/>
          </a:prstGeom>
          <a:noFill/>
          <a:ln/>
        </p:spPr>
        <p:txBody>
          <a:bodyPr wrap="square" lIns="0" tIns="0" rIns="0" bIns="0" rtlCol="0" anchor="t"/>
          <a:lstStyle/>
          <a:p>
            <a:pPr indent="0" marL="0">
              <a:buNone/>
            </a:pPr>
            <a:r>
              <a:rPr lang="en-US" sz="1050" b="1" dirty="0">
                <a:solidFill>
                  <a:srgbClr val="8B96A0"/>
                </a:solidFill>
                <a:latin typeface="Calibri" pitchFamily="34" charset="0"/>
                <a:ea typeface="Calibri" pitchFamily="34" charset="-122"/>
                <a:cs typeface="Calibri" pitchFamily="34" charset="-120"/>
              </a:rPr>
              <a:t>Yang didapat hari ini</a:t>
            </a:r>
            <a:endParaRPr lang="en-US" sz="1050" dirty="0"/>
          </a:p>
        </p:txBody>
      </p:sp>
      <p:sp>
        <p:nvSpPr>
          <p:cNvPr id="31" name="Text 29"/>
          <p:cNvSpPr txBox="1"/>
          <p:nvPr/>
        </p:nvSpPr>
        <p:spPr>
          <a:xfrm>
            <a:off x="9212351" y="4846320"/>
            <a:ext cx="2156384" cy="1005840"/>
          </a:xfrm>
          <a:prstGeom prst="rect">
            <a:avLst/>
          </a:prstGeom>
          <a:noFill/>
          <a:ln/>
        </p:spPr>
        <p:txBody>
          <a:bodyPr wrap="square" lIns="0" tIns="0" rIns="0" bIns="0" rtlCol="0" anchor="t"/>
          <a:lstStyle/>
          <a:p>
            <a:pPr indent="0" marL="0">
              <a:lnSpc>
                <a:spcPts val="1600"/>
              </a:lnSpc>
              <a:buNone/>
            </a:pPr>
            <a:r>
              <a:rPr lang="en-US" sz="1200" dirty="0">
                <a:solidFill>
                  <a:srgbClr val="C8553D"/>
                </a:solidFill>
                <a:latin typeface="Calibri" pitchFamily="34" charset="0"/>
                <a:ea typeface="Calibri" pitchFamily="34" charset="-122"/>
                <a:cs typeface="Calibri" pitchFamily="34" charset="-120"/>
              </a:rPr>
              <a:t>Menanggung seluruh akibat penilaian yang salah.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Kandidat dan UU PDP</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§2.1 · dua konsekuensi desain, dan empat temuan yang menyangkut data pribadi.</a:t>
            </a:r>
            <a:endParaRPr lang="en-US" sz="1500" dirty="0"/>
          </a:p>
        </p:txBody>
      </p:sp>
      <p:sp>
        <p:nvSpPr>
          <p:cNvPr id="6" name="Shape 4"/>
          <p:cNvSpPr/>
          <p:nvPr/>
        </p:nvSpPr>
        <p:spPr>
          <a:xfrm>
            <a:off x="594360" y="1481328"/>
            <a:ext cx="5364328" cy="2011680"/>
          </a:xfrm>
          <a:prstGeom prst="roundRect">
            <a:avLst>
              <a:gd name="adj" fmla="val 3182"/>
            </a:avLst>
          </a:prstGeom>
          <a:solidFill>
            <a:srgbClr val="FCEDE8"/>
          </a:solidFill>
          <a:ln w="9525">
            <a:solidFill>
              <a:srgbClr val="FCEDE8"/>
            </a:solidFill>
            <a:prstDash val="solid"/>
          </a:ln>
        </p:spPr>
      </p:sp>
      <p:sp>
        <p:nvSpPr>
          <p:cNvPr id="7" name="Text 5"/>
          <p:cNvSpPr txBox="1"/>
          <p:nvPr/>
        </p:nvSpPr>
        <p:spPr>
          <a:xfrm>
            <a:off x="868680" y="1645920"/>
            <a:ext cx="4815688" cy="320040"/>
          </a:xfrm>
          <a:prstGeom prst="rect">
            <a:avLst/>
          </a:prstGeom>
          <a:noFill/>
          <a:ln/>
        </p:spPr>
        <p:txBody>
          <a:bodyPr wrap="square" lIns="0" tIns="0" rIns="0" bIns="0" rtlCol="0" anchor="t"/>
          <a:lstStyle/>
          <a:p>
            <a:pPr indent="0" marL="0">
              <a:buNone/>
            </a:pPr>
            <a:r>
              <a:rPr lang="en-US" sz="1500" b="1" dirty="0">
                <a:solidFill>
                  <a:srgbClr val="C8553D"/>
                </a:solidFill>
                <a:latin typeface="Calibri" pitchFamily="34" charset="0"/>
                <a:ea typeface="Calibri" pitchFamily="34" charset="-122"/>
                <a:cs typeface="Calibri" pitchFamily="34" charset="-120"/>
              </a:rPr>
              <a:t>Kesalahan harus condong ke arah aman</a:t>
            </a:r>
            <a:endParaRPr lang="en-US" sz="1500" dirty="0"/>
          </a:p>
        </p:txBody>
      </p:sp>
      <p:sp>
        <p:nvSpPr>
          <p:cNvPr id="8" name="Text 6"/>
          <p:cNvSpPr txBox="1"/>
          <p:nvPr/>
        </p:nvSpPr>
        <p:spPr>
          <a:xfrm>
            <a:off x="868680" y="2011680"/>
            <a:ext cx="4815688" cy="137160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Hari ini justru sebaliknya: data level yang kosong jadi L1 “Foundational” — rating paling merusak — dan “belum pernah diukur” jadi LOW merah. Dua-duanya merugikan pihak paling lemah, tanpa suara.</a:t>
            </a:r>
            <a:endParaRPr lang="en-US" sz="1250" dirty="0"/>
          </a:p>
        </p:txBody>
      </p:sp>
      <p:sp>
        <p:nvSpPr>
          <p:cNvPr id="9" name="Shape 7"/>
          <p:cNvSpPr/>
          <p:nvPr/>
        </p:nvSpPr>
        <p:spPr>
          <a:xfrm>
            <a:off x="6233008" y="1481328"/>
            <a:ext cx="5364328" cy="2011680"/>
          </a:xfrm>
          <a:prstGeom prst="roundRect">
            <a:avLst>
              <a:gd name="adj" fmla="val 3182"/>
            </a:avLst>
          </a:prstGeom>
          <a:solidFill>
            <a:srgbClr val="E6F3F1"/>
          </a:solidFill>
          <a:ln w="9525">
            <a:solidFill>
              <a:srgbClr val="E6F3F1"/>
            </a:solidFill>
            <a:prstDash val="solid"/>
          </a:ln>
        </p:spPr>
      </p:sp>
      <p:sp>
        <p:nvSpPr>
          <p:cNvPr id="10" name="Text 8"/>
          <p:cNvSpPr txBox="1"/>
          <p:nvPr/>
        </p:nvSpPr>
        <p:spPr>
          <a:xfrm>
            <a:off x="6507328" y="1645920"/>
            <a:ext cx="4815688" cy="32004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Setiap rating harus bisa ditelusuri</a:t>
            </a:r>
            <a:endParaRPr lang="en-US" sz="1500" dirty="0"/>
          </a:p>
        </p:txBody>
      </p:sp>
      <p:sp>
        <p:nvSpPr>
          <p:cNvPr id="11" name="Text 9"/>
          <p:cNvSpPr txBox="1"/>
          <p:nvPr/>
        </p:nvSpPr>
        <p:spPr>
          <a:xfrm>
            <a:off x="6507328" y="2011680"/>
            <a:ext cx="4815688" cy="137160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Kalau kandidat bertanya “kenapa saya L2?”, jawaban yang layak butuh kutipan yang mendasarinya, seberapa dalam diprobe, dan apakah manusia meninjaunya.</a:t>
            </a:r>
            <a:endParaRPr lang="en-US" sz="1250" dirty="0"/>
          </a:p>
        </p:txBody>
      </p:sp>
      <p:sp>
        <p:nvSpPr>
          <p:cNvPr id="12" name="Shape 10"/>
          <p:cNvSpPr/>
          <p:nvPr/>
        </p:nvSpPr>
        <p:spPr>
          <a:xfrm>
            <a:off x="594360" y="3703320"/>
            <a:ext cx="11002975" cy="512064"/>
          </a:xfrm>
          <a:prstGeom prst="roundRect">
            <a:avLst>
              <a:gd name="adj" fmla="val 12500"/>
            </a:avLst>
          </a:prstGeom>
          <a:solidFill>
            <a:srgbClr val="F5F7F8"/>
          </a:solidFill>
          <a:ln w="9525">
            <a:solidFill>
              <a:srgbClr val="E2E7EB"/>
            </a:solidFill>
            <a:prstDash val="solid"/>
          </a:ln>
        </p:spPr>
      </p:sp>
      <p:sp>
        <p:nvSpPr>
          <p:cNvPr id="13" name="Text 11"/>
          <p:cNvSpPr txBox="1"/>
          <p:nvPr/>
        </p:nvSpPr>
        <p:spPr>
          <a:xfrm>
            <a:off x="822960" y="3703320"/>
            <a:ext cx="329184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IDOR lintas tenant</a:t>
            </a:r>
            <a:endParaRPr lang="en-US" sz="1300" dirty="0"/>
          </a:p>
        </p:txBody>
      </p:sp>
      <p:sp>
        <p:nvSpPr>
          <p:cNvPr id="14" name="Text 12"/>
          <p:cNvSpPr txBox="1"/>
          <p:nvPr/>
        </p:nvSpPr>
        <p:spPr>
          <a:xfrm>
            <a:off x="4206240" y="3703320"/>
            <a:ext cx="5760720" cy="512064"/>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Kutipan wawancara bisa dibaca organisasi lain.</a:t>
            </a:r>
            <a:endParaRPr lang="en-US" sz="1200" dirty="0"/>
          </a:p>
        </p:txBody>
      </p:sp>
      <p:sp>
        <p:nvSpPr>
          <p:cNvPr id="15" name="Shape 13"/>
          <p:cNvSpPr/>
          <p:nvPr/>
        </p:nvSpPr>
        <p:spPr>
          <a:xfrm>
            <a:off x="10271455" y="3822192"/>
            <a:ext cx="1097280" cy="274320"/>
          </a:xfrm>
          <a:prstGeom prst="roundRect">
            <a:avLst>
              <a:gd name="adj" fmla="val 20000"/>
            </a:avLst>
          </a:prstGeom>
          <a:solidFill>
            <a:srgbClr val="0F766E"/>
          </a:solidFill>
          <a:ln w="12700">
            <a:solidFill>
              <a:srgbClr val="0F766E"/>
            </a:solidFill>
            <a:prstDash val="solid"/>
          </a:ln>
        </p:spPr>
      </p:sp>
      <p:sp>
        <p:nvSpPr>
          <p:cNvPr id="16" name="Text 14"/>
          <p:cNvSpPr txBox="1"/>
          <p:nvPr/>
        </p:nvSpPr>
        <p:spPr>
          <a:xfrm>
            <a:off x="10271455" y="382219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Diperbaiki</a:t>
            </a:r>
            <a:endParaRPr lang="en-US" sz="1100" dirty="0"/>
          </a:p>
        </p:txBody>
      </p:sp>
      <p:sp>
        <p:nvSpPr>
          <p:cNvPr id="17" name="Shape 15"/>
          <p:cNvSpPr/>
          <p:nvPr/>
        </p:nvSpPr>
        <p:spPr>
          <a:xfrm>
            <a:off x="594360" y="4279392"/>
            <a:ext cx="11002975" cy="512064"/>
          </a:xfrm>
          <a:prstGeom prst="roundRect">
            <a:avLst>
              <a:gd name="adj" fmla="val 12500"/>
            </a:avLst>
          </a:prstGeom>
          <a:solidFill>
            <a:srgbClr val="F5F7F8"/>
          </a:solidFill>
          <a:ln w="9525">
            <a:solidFill>
              <a:srgbClr val="E2E7EB"/>
            </a:solidFill>
            <a:prstDash val="solid"/>
          </a:ln>
        </p:spPr>
      </p:sp>
      <p:sp>
        <p:nvSpPr>
          <p:cNvPr id="18" name="Text 16"/>
          <p:cNvSpPr txBox="1"/>
          <p:nvPr/>
        </p:nvSpPr>
        <p:spPr>
          <a:xfrm>
            <a:off x="822960" y="4279392"/>
            <a:ext cx="329184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Tidak ada jejak akses export</a:t>
            </a:r>
            <a:endParaRPr lang="en-US" sz="1300" dirty="0"/>
          </a:p>
        </p:txBody>
      </p:sp>
      <p:sp>
        <p:nvSpPr>
          <p:cNvPr id="19" name="Text 17"/>
          <p:cNvSpPr txBox="1"/>
          <p:nvPr/>
        </p:nvSpPr>
        <p:spPr>
          <a:xfrm>
            <a:off x="4206240" y="4279392"/>
            <a:ext cx="5760720" cy="512064"/>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Tidak tercatat siapa mengunduh data siapa.</a:t>
            </a:r>
            <a:endParaRPr lang="en-US" sz="1200" dirty="0"/>
          </a:p>
        </p:txBody>
      </p:sp>
      <p:sp>
        <p:nvSpPr>
          <p:cNvPr id="20" name="Shape 18"/>
          <p:cNvSpPr/>
          <p:nvPr/>
        </p:nvSpPr>
        <p:spPr>
          <a:xfrm>
            <a:off x="10271455" y="4398264"/>
            <a:ext cx="1097280" cy="274320"/>
          </a:xfrm>
          <a:prstGeom prst="roundRect">
            <a:avLst>
              <a:gd name="adj" fmla="val 20000"/>
            </a:avLst>
          </a:prstGeom>
          <a:solidFill>
            <a:srgbClr val="0F766E"/>
          </a:solidFill>
          <a:ln w="12700">
            <a:solidFill>
              <a:srgbClr val="0F766E"/>
            </a:solidFill>
            <a:prstDash val="solid"/>
          </a:ln>
        </p:spPr>
      </p:sp>
      <p:sp>
        <p:nvSpPr>
          <p:cNvPr id="21" name="Text 19"/>
          <p:cNvSpPr txBox="1"/>
          <p:nvPr/>
        </p:nvSpPr>
        <p:spPr>
          <a:xfrm>
            <a:off x="10271455" y="4398264"/>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Diperbaiki</a:t>
            </a:r>
            <a:endParaRPr lang="en-US" sz="1100" dirty="0"/>
          </a:p>
        </p:txBody>
      </p:sp>
      <p:sp>
        <p:nvSpPr>
          <p:cNvPr id="22" name="Shape 20"/>
          <p:cNvSpPr/>
          <p:nvPr/>
        </p:nvSpPr>
        <p:spPr>
          <a:xfrm>
            <a:off x="594360" y="4855464"/>
            <a:ext cx="11002975" cy="512064"/>
          </a:xfrm>
          <a:prstGeom prst="roundRect">
            <a:avLst>
              <a:gd name="adj" fmla="val 12500"/>
            </a:avLst>
          </a:prstGeom>
          <a:solidFill>
            <a:srgbClr val="F5F7F8"/>
          </a:solidFill>
          <a:ln w="9525">
            <a:solidFill>
              <a:srgbClr val="E2E7EB"/>
            </a:solidFill>
            <a:prstDash val="solid"/>
          </a:ln>
        </p:spPr>
      </p:sp>
      <p:sp>
        <p:nvSpPr>
          <p:cNvPr id="23" name="Text 21"/>
          <p:cNvSpPr txBox="1"/>
          <p:nvPr/>
        </p:nvSpPr>
        <p:spPr>
          <a:xfrm>
            <a:off x="822960" y="4855464"/>
            <a:ext cx="329184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Pesan error membawa isi prompt</a:t>
            </a:r>
            <a:endParaRPr lang="en-US" sz="1300" dirty="0"/>
          </a:p>
        </p:txBody>
      </p:sp>
      <p:sp>
        <p:nvSpPr>
          <p:cNvPr id="24" name="Text 22"/>
          <p:cNvSpPr txBox="1"/>
          <p:nvPr/>
        </p:nvSpPr>
        <p:spPr>
          <a:xfrm>
            <a:off x="4206240" y="4855464"/>
            <a:ext cx="5760720" cy="512064"/>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Exception Gemini berisi transkrip dikirim ke klien.</a:t>
            </a:r>
            <a:endParaRPr lang="en-US" sz="1200" dirty="0"/>
          </a:p>
        </p:txBody>
      </p:sp>
      <p:sp>
        <p:nvSpPr>
          <p:cNvPr id="25" name="Shape 23"/>
          <p:cNvSpPr/>
          <p:nvPr/>
        </p:nvSpPr>
        <p:spPr>
          <a:xfrm>
            <a:off x="10271455" y="4974336"/>
            <a:ext cx="1097280" cy="274320"/>
          </a:xfrm>
          <a:prstGeom prst="roundRect">
            <a:avLst>
              <a:gd name="adj" fmla="val 20000"/>
            </a:avLst>
          </a:prstGeom>
          <a:solidFill>
            <a:srgbClr val="0F766E"/>
          </a:solidFill>
          <a:ln w="12700">
            <a:solidFill>
              <a:srgbClr val="0F766E"/>
            </a:solidFill>
            <a:prstDash val="solid"/>
          </a:ln>
        </p:spPr>
      </p:sp>
      <p:sp>
        <p:nvSpPr>
          <p:cNvPr id="26" name="Text 24"/>
          <p:cNvSpPr txBox="1"/>
          <p:nvPr/>
        </p:nvSpPr>
        <p:spPr>
          <a:xfrm>
            <a:off x="10271455" y="4974336"/>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Diperbaiki</a:t>
            </a:r>
            <a:endParaRPr lang="en-US" sz="1100" dirty="0"/>
          </a:p>
        </p:txBody>
      </p:sp>
      <p:sp>
        <p:nvSpPr>
          <p:cNvPr id="27" name="Shape 25"/>
          <p:cNvSpPr/>
          <p:nvPr/>
        </p:nvSpPr>
        <p:spPr>
          <a:xfrm>
            <a:off x="594360" y="5431536"/>
            <a:ext cx="11002975" cy="512064"/>
          </a:xfrm>
          <a:prstGeom prst="roundRect">
            <a:avLst>
              <a:gd name="adj" fmla="val 12500"/>
            </a:avLst>
          </a:prstGeom>
          <a:solidFill>
            <a:srgbClr val="F5F7F8"/>
          </a:solidFill>
          <a:ln w="9525">
            <a:solidFill>
              <a:srgbClr val="E2E7EB"/>
            </a:solidFill>
            <a:prstDash val="solid"/>
          </a:ln>
        </p:spPr>
      </p:sp>
      <p:sp>
        <p:nvSpPr>
          <p:cNvPr id="28" name="Text 26"/>
          <p:cNvSpPr txBox="1"/>
          <p:nvPr/>
        </p:nvSpPr>
        <p:spPr>
          <a:xfrm>
            <a:off x="822960" y="5431536"/>
            <a:ext cx="329184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Isi wawancara masuk log</a:t>
            </a:r>
            <a:endParaRPr lang="en-US" sz="1300" dirty="0"/>
          </a:p>
        </p:txBody>
      </p:sp>
      <p:sp>
        <p:nvSpPr>
          <p:cNvPr id="29" name="Text 27"/>
          <p:cNvSpPr txBox="1"/>
          <p:nvPr/>
        </p:nvSpPr>
        <p:spPr>
          <a:xfrm>
            <a:off x="4206240" y="5431536"/>
            <a:ext cx="5760720" cy="512064"/>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live_client.rb:286-293 menulis ucapan kandidat di level INFO.</a:t>
            </a:r>
            <a:endParaRPr lang="en-US" sz="1200" dirty="0"/>
          </a:p>
        </p:txBody>
      </p:sp>
      <p:sp>
        <p:nvSpPr>
          <p:cNvPr id="30" name="Shape 28"/>
          <p:cNvSpPr/>
          <p:nvPr/>
        </p:nvSpPr>
        <p:spPr>
          <a:xfrm>
            <a:off x="10271455" y="5550408"/>
            <a:ext cx="1097280" cy="274320"/>
          </a:xfrm>
          <a:prstGeom prst="roundRect">
            <a:avLst>
              <a:gd name="adj" fmla="val 20000"/>
            </a:avLst>
          </a:prstGeom>
          <a:solidFill>
            <a:srgbClr val="B7791F"/>
          </a:solidFill>
          <a:ln w="12700">
            <a:solidFill>
              <a:srgbClr val="B7791F"/>
            </a:solidFill>
            <a:prstDash val="solid"/>
          </a:ln>
        </p:spPr>
      </p:sp>
      <p:sp>
        <p:nvSpPr>
          <p:cNvPr id="31" name="Text 29"/>
          <p:cNvSpPr txBox="1"/>
          <p:nvPr/>
        </p:nvSpPr>
        <p:spPr>
          <a:xfrm>
            <a:off x="10271455" y="5550408"/>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Dicatat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5550"/>
        </a:solidFill>
      </p:bgPr>
    </p:bg>
    <p:spTree>
      <p:nvGrpSpPr>
        <p:cNvPr id="1" name=""/>
        <p:cNvGrpSpPr/>
        <p:nvPr/>
      </p:nvGrpSpPr>
      <p:grpSpPr>
        <a:xfrm>
          <a:off x="0" y="0"/>
          <a:ext cx="0" cy="0"/>
          <a:chOff x="0" y="0"/>
          <a:chExt cx="0" cy="0"/>
        </a:xfrm>
      </p:grpSpPr>
      <p:sp>
        <p:nvSpPr>
          <p:cNvPr id="2" name="Text 0"/>
          <p:cNvSpPr txBox="1"/>
          <p:nvPr/>
        </p:nvSpPr>
        <p:spPr>
          <a:xfrm>
            <a:off x="594360" y="2103120"/>
            <a:ext cx="2743200" cy="548640"/>
          </a:xfrm>
          <a:prstGeom prst="rect">
            <a:avLst/>
          </a:prstGeom>
          <a:noFill/>
          <a:ln/>
        </p:spPr>
        <p:txBody>
          <a:bodyPr wrap="square" lIns="0" tIns="0" rIns="0" bIns="0" rtlCol="0" anchor="t"/>
          <a:lstStyle/>
          <a:p>
            <a:pPr indent="0" marL="0">
              <a:buNone/>
            </a:pPr>
            <a:r>
              <a:rPr lang="en-US" sz="2000" b="1" dirty="0">
                <a:solidFill>
                  <a:srgbClr val="8FD1C8"/>
                </a:solidFill>
                <a:latin typeface="Calibri" pitchFamily="34" charset="0"/>
                <a:ea typeface="Calibri" pitchFamily="34" charset="-122"/>
                <a:cs typeface="Calibri" pitchFamily="34" charset="-120"/>
              </a:rPr>
              <a:t>02</a:t>
            </a:r>
            <a:endParaRPr lang="en-US" sz="2000" dirty="0"/>
          </a:p>
        </p:txBody>
      </p:sp>
      <p:sp>
        <p:nvSpPr>
          <p:cNvPr id="3" name="Text 1"/>
          <p:cNvSpPr txBox="1"/>
          <p:nvPr/>
        </p:nvSpPr>
        <p:spPr>
          <a:xfrm>
            <a:off x="594360" y="2651760"/>
            <a:ext cx="11002975" cy="91440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Menemukan masalah</a:t>
            </a:r>
            <a:endParaRPr lang="en-US" sz="3800" dirty="0"/>
          </a:p>
        </p:txBody>
      </p:sp>
      <p:sp>
        <p:nvSpPr>
          <p:cNvPr id="4" name="Text 2"/>
          <p:cNvSpPr txBox="1"/>
          <p:nvPr/>
        </p:nvSpPr>
        <p:spPr>
          <a:xfrm>
            <a:off x="594360" y="3611880"/>
            <a:ext cx="9144000" cy="731520"/>
          </a:xfrm>
          <a:prstGeom prst="rect">
            <a:avLst/>
          </a:prstGeom>
          <a:noFill/>
          <a:ln/>
        </p:spPr>
        <p:txBody>
          <a:bodyPr wrap="square" lIns="0" tIns="0" rIns="0" bIns="0" rtlCol="0" anchor="t"/>
          <a:lstStyle/>
          <a:p>
            <a:pPr indent="0" marL="0">
              <a:lnSpc>
                <a:spcPts val="2300"/>
              </a:lnSpc>
              <a:buNone/>
            </a:pPr>
            <a:r>
              <a:rPr lang="en-US" sz="1700" dirty="0">
                <a:solidFill>
                  <a:srgbClr val="BFE3DE"/>
                </a:solidFill>
                <a:latin typeface="Calibri" pitchFamily="34" charset="0"/>
                <a:ea typeface="Calibri" pitchFamily="34" charset="-122"/>
                <a:cs typeface="Calibri" pitchFamily="34" charset="-120"/>
              </a:rPr>
              <a:t>Pakai produknya dulu, lalu audit kodenya.</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Cara saya mengerjakannya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Pakai produknya dulu, baru baca kode, baru putuskan.</a:t>
            </a:r>
            <a:endParaRPr lang="en-US" sz="1500" dirty="0"/>
          </a:p>
        </p:txBody>
      </p:sp>
      <p:sp>
        <p:nvSpPr>
          <p:cNvPr id="6" name="Shape 4"/>
          <p:cNvSpPr/>
          <p:nvPr/>
        </p:nvSpPr>
        <p:spPr>
          <a:xfrm>
            <a:off x="594360" y="1691640"/>
            <a:ext cx="2011680" cy="2331720"/>
          </a:xfrm>
          <a:prstGeom prst="roundRect">
            <a:avLst>
              <a:gd name="adj" fmla="val 3182"/>
            </a:avLst>
          </a:prstGeom>
          <a:solidFill>
            <a:srgbClr val="F5F7F8"/>
          </a:solidFill>
          <a:ln w="9525">
            <a:solidFill>
              <a:srgbClr val="E2E7EB"/>
            </a:solidFill>
            <a:prstDash val="solid"/>
          </a:ln>
        </p:spPr>
      </p:sp>
      <p:sp>
        <p:nvSpPr>
          <p:cNvPr id="7" name="Shape 5"/>
          <p:cNvSpPr/>
          <p:nvPr/>
        </p:nvSpPr>
        <p:spPr>
          <a:xfrm>
            <a:off x="795528" y="1856232"/>
            <a:ext cx="402336" cy="402336"/>
          </a:xfrm>
          <a:prstGeom prst="ellipse">
            <a:avLst/>
          </a:prstGeom>
          <a:solidFill>
            <a:srgbClr val="0F766E"/>
          </a:solidFill>
          <a:ln w="12700">
            <a:solidFill>
              <a:srgbClr val="0F766E"/>
            </a:solidFill>
            <a:prstDash val="solid"/>
          </a:ln>
        </p:spPr>
      </p:sp>
      <p:sp>
        <p:nvSpPr>
          <p:cNvPr id="8" name="Text 6"/>
          <p:cNvSpPr txBox="1"/>
          <p:nvPr/>
        </p:nvSpPr>
        <p:spPr>
          <a:xfrm>
            <a:off x="795528"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795528"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Pakai produknya</a:t>
            </a:r>
            <a:endParaRPr lang="en-US" sz="1450" dirty="0"/>
          </a:p>
        </p:txBody>
      </p:sp>
      <p:sp>
        <p:nvSpPr>
          <p:cNvPr id="10" name="Text 8"/>
          <p:cNvSpPr txBox="1"/>
          <p:nvPr/>
        </p:nvSpPr>
        <p:spPr>
          <a:xfrm>
            <a:off x="795528"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Sebagai assessor, dari awal sampai akhir</a:t>
            </a:r>
            <a:endParaRPr lang="en-US" sz="1200" dirty="0"/>
          </a:p>
        </p:txBody>
      </p:sp>
      <p:sp>
        <p:nvSpPr>
          <p:cNvPr id="11" name="Text 9"/>
          <p:cNvSpPr txBox="1"/>
          <p:nvPr/>
        </p:nvSpPr>
        <p:spPr>
          <a:xfrm>
            <a:off x="795528"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13 temuan UX</a:t>
            </a:r>
            <a:endParaRPr lang="en-US" sz="1250" dirty="0"/>
          </a:p>
        </p:txBody>
      </p:sp>
      <p:sp>
        <p:nvSpPr>
          <p:cNvPr id="12" name="Shape 10"/>
          <p:cNvSpPr/>
          <p:nvPr/>
        </p:nvSpPr>
        <p:spPr>
          <a:xfrm>
            <a:off x="2633472" y="2852928"/>
            <a:ext cx="181280" cy="0"/>
          </a:xfrm>
          <a:prstGeom prst="line">
            <a:avLst/>
          </a:prstGeom>
          <a:noFill/>
          <a:ln w="19050">
            <a:solidFill>
              <a:srgbClr val="8B96A0"/>
            </a:solidFill>
            <a:prstDash val="solid"/>
            <a:tailEnd type="triangle"/>
          </a:ln>
        </p:spPr>
      </p:sp>
      <p:sp>
        <p:nvSpPr>
          <p:cNvPr id="13" name="Shape 11"/>
          <p:cNvSpPr/>
          <p:nvPr/>
        </p:nvSpPr>
        <p:spPr>
          <a:xfrm>
            <a:off x="2842184" y="1691640"/>
            <a:ext cx="2011680" cy="2331720"/>
          </a:xfrm>
          <a:prstGeom prst="roundRect">
            <a:avLst>
              <a:gd name="adj" fmla="val 3182"/>
            </a:avLst>
          </a:prstGeom>
          <a:solidFill>
            <a:srgbClr val="F5F7F8"/>
          </a:solidFill>
          <a:ln w="9525">
            <a:solidFill>
              <a:srgbClr val="E2E7EB"/>
            </a:solidFill>
            <a:prstDash val="solid"/>
          </a:ln>
        </p:spPr>
      </p:sp>
      <p:sp>
        <p:nvSpPr>
          <p:cNvPr id="14" name="Shape 12"/>
          <p:cNvSpPr/>
          <p:nvPr/>
        </p:nvSpPr>
        <p:spPr>
          <a:xfrm>
            <a:off x="3043352" y="1856232"/>
            <a:ext cx="402336" cy="402336"/>
          </a:xfrm>
          <a:prstGeom prst="ellipse">
            <a:avLst/>
          </a:prstGeom>
          <a:solidFill>
            <a:srgbClr val="0F766E"/>
          </a:solidFill>
          <a:ln w="12700">
            <a:solidFill>
              <a:srgbClr val="0F766E"/>
            </a:solidFill>
            <a:prstDash val="solid"/>
          </a:ln>
        </p:spPr>
      </p:sp>
      <p:sp>
        <p:nvSpPr>
          <p:cNvPr id="15" name="Text 13"/>
          <p:cNvSpPr txBox="1"/>
          <p:nvPr/>
        </p:nvSpPr>
        <p:spPr>
          <a:xfrm>
            <a:off x="3043352"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3043352"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Audit dua service</a:t>
            </a:r>
            <a:endParaRPr lang="en-US" sz="1450" dirty="0"/>
          </a:p>
        </p:txBody>
      </p:sp>
      <p:sp>
        <p:nvSpPr>
          <p:cNvPr id="17" name="Text 15"/>
          <p:cNvSpPr txBox="1"/>
          <p:nvPr/>
        </p:nvSpPr>
        <p:spPr>
          <a:xfrm>
            <a:off x="3043352"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api/ dan web/, setiap temuan dengan file:line</a:t>
            </a:r>
            <a:endParaRPr lang="en-US" sz="1200" dirty="0"/>
          </a:p>
        </p:txBody>
      </p:sp>
      <p:sp>
        <p:nvSpPr>
          <p:cNvPr id="18" name="Text 16"/>
          <p:cNvSpPr txBox="1"/>
          <p:nvPr/>
        </p:nvSpPr>
        <p:spPr>
          <a:xfrm>
            <a:off x="3043352"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77 temuan</a:t>
            </a:r>
            <a:endParaRPr lang="en-US" sz="1250" dirty="0"/>
          </a:p>
        </p:txBody>
      </p:sp>
      <p:sp>
        <p:nvSpPr>
          <p:cNvPr id="19" name="Shape 17"/>
          <p:cNvSpPr/>
          <p:nvPr/>
        </p:nvSpPr>
        <p:spPr>
          <a:xfrm>
            <a:off x="4881296" y="2852928"/>
            <a:ext cx="181280" cy="0"/>
          </a:xfrm>
          <a:prstGeom prst="line">
            <a:avLst/>
          </a:prstGeom>
          <a:noFill/>
          <a:ln w="19050">
            <a:solidFill>
              <a:srgbClr val="8B96A0"/>
            </a:solidFill>
            <a:prstDash val="solid"/>
            <a:tailEnd type="triangle"/>
          </a:ln>
        </p:spPr>
      </p:sp>
      <p:sp>
        <p:nvSpPr>
          <p:cNvPr id="20" name="Shape 18"/>
          <p:cNvSpPr/>
          <p:nvPr/>
        </p:nvSpPr>
        <p:spPr>
          <a:xfrm>
            <a:off x="5090008" y="1691640"/>
            <a:ext cx="2011680" cy="2331720"/>
          </a:xfrm>
          <a:prstGeom prst="roundRect">
            <a:avLst>
              <a:gd name="adj" fmla="val 3182"/>
            </a:avLst>
          </a:prstGeom>
          <a:solidFill>
            <a:srgbClr val="E6F3F1"/>
          </a:solidFill>
          <a:ln w="9525">
            <a:solidFill>
              <a:srgbClr val="0F766E"/>
            </a:solidFill>
            <a:prstDash val="solid"/>
          </a:ln>
        </p:spPr>
      </p:sp>
      <p:sp>
        <p:nvSpPr>
          <p:cNvPr id="21" name="Shape 19"/>
          <p:cNvSpPr/>
          <p:nvPr/>
        </p:nvSpPr>
        <p:spPr>
          <a:xfrm>
            <a:off x="5291176" y="1856232"/>
            <a:ext cx="402336" cy="402336"/>
          </a:xfrm>
          <a:prstGeom prst="ellipse">
            <a:avLst/>
          </a:prstGeom>
          <a:solidFill>
            <a:srgbClr val="0F766E"/>
          </a:solidFill>
          <a:ln w="12700">
            <a:solidFill>
              <a:srgbClr val="0F766E"/>
            </a:solidFill>
            <a:prstDash val="solid"/>
          </a:ln>
        </p:spPr>
      </p:sp>
      <p:sp>
        <p:nvSpPr>
          <p:cNvPr id="22" name="Text 20"/>
          <p:cNvSpPr txBox="1"/>
          <p:nvPr/>
        </p:nvSpPr>
        <p:spPr>
          <a:xfrm>
            <a:off x="5291176"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txBox="1"/>
          <p:nvPr/>
        </p:nvSpPr>
        <p:spPr>
          <a:xfrm>
            <a:off x="5291176"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Pilih satu slice</a:t>
            </a:r>
            <a:endParaRPr lang="en-US" sz="1450" dirty="0"/>
          </a:p>
        </p:txBody>
      </p:sp>
      <p:sp>
        <p:nvSpPr>
          <p:cNvPr id="24" name="Text 22"/>
          <p:cNvSpPr txBox="1"/>
          <p:nvPr/>
        </p:nvSpPr>
        <p:spPr>
          <a:xfrm>
            <a:off x="5291176"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Satu alur utuh, bukan banyak tambalan</a:t>
            </a:r>
            <a:endParaRPr lang="en-US" sz="1200" dirty="0"/>
          </a:p>
        </p:txBody>
      </p:sp>
      <p:sp>
        <p:nvSpPr>
          <p:cNvPr id="25" name="Text 23"/>
          <p:cNvSpPr txBox="1"/>
          <p:nvPr/>
        </p:nvSpPr>
        <p:spPr>
          <a:xfrm>
            <a:off x="5291176"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Portfolio → Fit/Gap</a:t>
            </a:r>
            <a:endParaRPr lang="en-US" sz="1250" dirty="0"/>
          </a:p>
        </p:txBody>
      </p:sp>
      <p:sp>
        <p:nvSpPr>
          <p:cNvPr id="26" name="Shape 24"/>
          <p:cNvSpPr/>
          <p:nvPr/>
        </p:nvSpPr>
        <p:spPr>
          <a:xfrm>
            <a:off x="7129120" y="2852928"/>
            <a:ext cx="181280" cy="0"/>
          </a:xfrm>
          <a:prstGeom prst="line">
            <a:avLst/>
          </a:prstGeom>
          <a:noFill/>
          <a:ln w="19050">
            <a:solidFill>
              <a:srgbClr val="8B96A0"/>
            </a:solidFill>
            <a:prstDash val="solid"/>
            <a:tailEnd type="triangle"/>
          </a:ln>
        </p:spPr>
      </p:sp>
      <p:sp>
        <p:nvSpPr>
          <p:cNvPr id="27" name="Shape 25"/>
          <p:cNvSpPr/>
          <p:nvPr/>
        </p:nvSpPr>
        <p:spPr>
          <a:xfrm>
            <a:off x="7337831" y="1691640"/>
            <a:ext cx="2011680" cy="2331720"/>
          </a:xfrm>
          <a:prstGeom prst="roundRect">
            <a:avLst>
              <a:gd name="adj" fmla="val 3182"/>
            </a:avLst>
          </a:prstGeom>
          <a:solidFill>
            <a:srgbClr val="F5F7F8"/>
          </a:solidFill>
          <a:ln w="9525">
            <a:solidFill>
              <a:srgbClr val="E2E7EB"/>
            </a:solidFill>
            <a:prstDash val="solid"/>
          </a:ln>
        </p:spPr>
      </p:sp>
      <p:sp>
        <p:nvSpPr>
          <p:cNvPr id="28" name="Shape 26"/>
          <p:cNvSpPr/>
          <p:nvPr/>
        </p:nvSpPr>
        <p:spPr>
          <a:xfrm>
            <a:off x="7538999" y="1856232"/>
            <a:ext cx="402336" cy="402336"/>
          </a:xfrm>
          <a:prstGeom prst="ellipse">
            <a:avLst/>
          </a:prstGeom>
          <a:solidFill>
            <a:srgbClr val="0F766E"/>
          </a:solidFill>
          <a:ln w="12700">
            <a:solidFill>
              <a:srgbClr val="0F766E"/>
            </a:solidFill>
            <a:prstDash val="solid"/>
          </a:ln>
        </p:spPr>
      </p:sp>
      <p:sp>
        <p:nvSpPr>
          <p:cNvPr id="29" name="Text 27"/>
          <p:cNvSpPr txBox="1"/>
          <p:nvPr/>
        </p:nvSpPr>
        <p:spPr>
          <a:xfrm>
            <a:off x="7538999"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8"/>
          <p:cNvSpPr txBox="1"/>
          <p:nvPr/>
        </p:nvSpPr>
        <p:spPr>
          <a:xfrm>
            <a:off x="7538999"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Test dulu</a:t>
            </a:r>
            <a:endParaRPr lang="en-US" sz="1450" dirty="0"/>
          </a:p>
        </p:txBody>
      </p:sp>
      <p:sp>
        <p:nvSpPr>
          <p:cNvPr id="31" name="Text 29"/>
          <p:cNvSpPr txBox="1"/>
          <p:nvPr/>
        </p:nvSpPr>
        <p:spPr>
          <a:xfrm>
            <a:off x="7538999"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Dijalankan ke kode lama sampai merah</a:t>
            </a:r>
            <a:endParaRPr lang="en-US" sz="1200" dirty="0"/>
          </a:p>
        </p:txBody>
      </p:sp>
      <p:sp>
        <p:nvSpPr>
          <p:cNvPr id="32" name="Text 30"/>
          <p:cNvSpPr txBox="1"/>
          <p:nvPr/>
        </p:nvSpPr>
        <p:spPr>
          <a:xfrm>
            <a:off x="7538999"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8 gagal / 1 lulus</a:t>
            </a:r>
            <a:endParaRPr lang="en-US" sz="1250" dirty="0"/>
          </a:p>
        </p:txBody>
      </p:sp>
      <p:sp>
        <p:nvSpPr>
          <p:cNvPr id="33" name="Shape 31"/>
          <p:cNvSpPr/>
          <p:nvPr/>
        </p:nvSpPr>
        <p:spPr>
          <a:xfrm>
            <a:off x="9376943" y="2852928"/>
            <a:ext cx="181280" cy="0"/>
          </a:xfrm>
          <a:prstGeom prst="line">
            <a:avLst/>
          </a:prstGeom>
          <a:noFill/>
          <a:ln w="19050">
            <a:solidFill>
              <a:srgbClr val="8B96A0"/>
            </a:solidFill>
            <a:prstDash val="solid"/>
            <a:tailEnd type="triangle"/>
          </a:ln>
        </p:spPr>
      </p:sp>
      <p:sp>
        <p:nvSpPr>
          <p:cNvPr id="34" name="Shape 32"/>
          <p:cNvSpPr/>
          <p:nvPr/>
        </p:nvSpPr>
        <p:spPr>
          <a:xfrm>
            <a:off x="9585655" y="1691640"/>
            <a:ext cx="2011680" cy="2331720"/>
          </a:xfrm>
          <a:prstGeom prst="roundRect">
            <a:avLst>
              <a:gd name="adj" fmla="val 3182"/>
            </a:avLst>
          </a:prstGeom>
          <a:solidFill>
            <a:srgbClr val="F5F7F8"/>
          </a:solidFill>
          <a:ln w="9525">
            <a:solidFill>
              <a:srgbClr val="E2E7EB"/>
            </a:solidFill>
            <a:prstDash val="solid"/>
          </a:ln>
        </p:spPr>
      </p:sp>
      <p:sp>
        <p:nvSpPr>
          <p:cNvPr id="35" name="Shape 33"/>
          <p:cNvSpPr/>
          <p:nvPr/>
        </p:nvSpPr>
        <p:spPr>
          <a:xfrm>
            <a:off x="9786823" y="1856232"/>
            <a:ext cx="402336" cy="402336"/>
          </a:xfrm>
          <a:prstGeom prst="ellipse">
            <a:avLst/>
          </a:prstGeom>
          <a:solidFill>
            <a:srgbClr val="0F766E"/>
          </a:solidFill>
          <a:ln w="12700">
            <a:solidFill>
              <a:srgbClr val="0F766E"/>
            </a:solidFill>
            <a:prstDash val="solid"/>
          </a:ln>
        </p:spPr>
      </p:sp>
      <p:sp>
        <p:nvSpPr>
          <p:cNvPr id="36" name="Text 34"/>
          <p:cNvSpPr txBox="1"/>
          <p:nvPr/>
        </p:nvSpPr>
        <p:spPr>
          <a:xfrm>
            <a:off x="9786823"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7" name="Text 35"/>
          <p:cNvSpPr txBox="1"/>
          <p:nvPr/>
        </p:nvSpPr>
        <p:spPr>
          <a:xfrm>
            <a:off x="9786823"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Implementasi</a:t>
            </a:r>
            <a:endParaRPr lang="en-US" sz="1450" dirty="0"/>
          </a:p>
        </p:txBody>
      </p:sp>
      <p:sp>
        <p:nvSpPr>
          <p:cNvPr id="38" name="Text 36"/>
          <p:cNvSpPr txBox="1"/>
          <p:nvPr/>
        </p:nvSpPr>
        <p:spPr>
          <a:xfrm>
            <a:off x="9786823"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Lalu rusak sengaja untuk menguji test-nya</a:t>
            </a:r>
            <a:endParaRPr lang="en-US" sz="1200" dirty="0"/>
          </a:p>
        </p:txBody>
      </p:sp>
      <p:sp>
        <p:nvSpPr>
          <p:cNvPr id="39" name="Text 37"/>
          <p:cNvSpPr txBox="1"/>
          <p:nvPr/>
        </p:nvSpPr>
        <p:spPr>
          <a:xfrm>
            <a:off x="9786823"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3 seeded fault</a:t>
            </a:r>
            <a:endParaRPr lang="en-US" sz="1250" dirty="0"/>
          </a:p>
        </p:txBody>
      </p:sp>
      <p:sp>
        <p:nvSpPr>
          <p:cNvPr id="40" name="Shape 38"/>
          <p:cNvSpPr/>
          <p:nvPr/>
        </p:nvSpPr>
        <p:spPr>
          <a:xfrm>
            <a:off x="594360" y="4343400"/>
            <a:ext cx="11002975" cy="1554480"/>
          </a:xfrm>
          <a:prstGeom prst="roundRect">
            <a:avLst>
              <a:gd name="adj" fmla="val 4118"/>
            </a:avLst>
          </a:prstGeom>
          <a:solidFill>
            <a:srgbClr val="F5F7F8"/>
          </a:solidFill>
          <a:ln w="9525">
            <a:solidFill>
              <a:srgbClr val="E2E7EB"/>
            </a:solidFill>
            <a:prstDash val="solid"/>
          </a:ln>
        </p:spPr>
      </p:sp>
      <p:sp>
        <p:nvSpPr>
          <p:cNvPr id="41" name="Text 39"/>
          <p:cNvSpPr txBox="1"/>
          <p:nvPr/>
        </p:nvSpPr>
        <p:spPr>
          <a:xfrm>
            <a:off x="868680" y="4507992"/>
            <a:ext cx="1045433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Kenapa satu slice</a:t>
            </a:r>
            <a:endParaRPr lang="en-US" sz="1450" dirty="0"/>
          </a:p>
        </p:txBody>
      </p:sp>
      <p:sp>
        <p:nvSpPr>
          <p:cNvPr id="42" name="Text 40"/>
          <p:cNvSpPr txBox="1"/>
          <p:nvPr/>
        </p:nvSpPr>
        <p:spPr>
          <a:xfrm>
            <a:off x="868680" y="4846320"/>
            <a:ext cx="10454335" cy="960120"/>
          </a:xfrm>
          <a:prstGeom prst="rect">
            <a:avLst/>
          </a:prstGeom>
          <a:noFill/>
          <a:ln/>
        </p:spPr>
        <p:txBody>
          <a:bodyPr wrap="square" lIns="0" tIns="0" rIns="0" bIns="0" rtlCol="0" anchor="t"/>
          <a:lstStyle/>
          <a:p>
            <a:pPr indent="0" marL="0">
              <a:lnSpc>
                <a:spcPts val="1800"/>
              </a:lnSpc>
              <a:buNone/>
            </a:pPr>
            <a:r>
              <a:rPr lang="en-US" sz="1300" dirty="0">
                <a:solidFill>
                  <a:srgbClr val="5F6B76"/>
                </a:solidFill>
                <a:latin typeface="Calibri" pitchFamily="34" charset="0"/>
                <a:ea typeface="Calibri" pitchFamily="34" charset="-122"/>
                <a:cs typeface="Calibri" pitchFamily="34" charset="-120"/>
              </a:rPr>
              <a:t>77 temuan tidak mungkin selesai dalam satu case study, dan menambal banyak hal setengah jalan tidak membuat satu pun alur jadi bisa dipercaya. Saya pilih alur yang paling dekat ke keputusan hiring dan kerjakan sampai punya test, migrasi yang aman, dan spec. Sisanya terdokumentasi supaya bisa dijadwalkan.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13 temuan dari memakai produknya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§2.7 · skala di sini adalah severity UX: seberapa berat menghambat orang yang sedang memakai layar.</a:t>
            </a:r>
            <a:endParaRPr lang="en-US" sz="1500" dirty="0"/>
          </a:p>
        </p:txBody>
      </p:sp>
      <p:sp>
        <p:nvSpPr>
          <p:cNvPr id="6" name="Shape 4"/>
          <p:cNvSpPr/>
          <p:nvPr/>
        </p:nvSpPr>
        <p:spPr>
          <a:xfrm>
            <a:off x="594360" y="1508760"/>
            <a:ext cx="3611880" cy="512064"/>
          </a:xfrm>
          <a:prstGeom prst="roundRect">
            <a:avLst>
              <a:gd name="adj" fmla="val 12500"/>
            </a:avLst>
          </a:prstGeom>
          <a:solidFill>
            <a:srgbClr val="F5F7F8"/>
          </a:solidFill>
          <a:ln w="9525">
            <a:solidFill>
              <a:srgbClr val="E2E7EB"/>
            </a:solidFill>
            <a:prstDash val="solid"/>
          </a:ln>
        </p:spPr>
      </p:sp>
      <p:sp>
        <p:nvSpPr>
          <p:cNvPr id="7" name="Shape 5"/>
          <p:cNvSpPr/>
          <p:nvPr/>
        </p:nvSpPr>
        <p:spPr>
          <a:xfrm>
            <a:off x="731520" y="1627632"/>
            <a:ext cx="457200" cy="274320"/>
          </a:xfrm>
          <a:prstGeom prst="roundRect">
            <a:avLst>
              <a:gd name="adj" fmla="val 20000"/>
            </a:avLst>
          </a:prstGeom>
          <a:solidFill>
            <a:srgbClr val="C8553D"/>
          </a:solidFill>
          <a:ln w="12700">
            <a:solidFill>
              <a:srgbClr val="C8553D"/>
            </a:solidFill>
            <a:prstDash val="solid"/>
          </a:ln>
        </p:spPr>
      </p:sp>
      <p:sp>
        <p:nvSpPr>
          <p:cNvPr id="8" name="Text 6"/>
          <p:cNvSpPr txBox="1"/>
          <p:nvPr/>
        </p:nvSpPr>
        <p:spPr>
          <a:xfrm>
            <a:off x="731520" y="1627632"/>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a:t>
            </a:r>
            <a:endParaRPr lang="en-US" sz="1100" dirty="0"/>
          </a:p>
        </p:txBody>
      </p:sp>
      <p:sp>
        <p:nvSpPr>
          <p:cNvPr id="9" name="Text 7"/>
          <p:cNvSpPr txBox="1"/>
          <p:nvPr/>
        </p:nvSpPr>
        <p:spPr>
          <a:xfrm>
            <a:off x="1307592" y="1508760"/>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Tidak ada tanda wajib di “Skills to assess”</a:t>
            </a:r>
            <a:endParaRPr lang="en-US" sz="1150" dirty="0"/>
          </a:p>
        </p:txBody>
      </p:sp>
      <p:sp>
        <p:nvSpPr>
          <p:cNvPr id="10" name="Shape 8"/>
          <p:cNvSpPr/>
          <p:nvPr/>
        </p:nvSpPr>
        <p:spPr>
          <a:xfrm>
            <a:off x="594360" y="2112264"/>
            <a:ext cx="3611880" cy="512064"/>
          </a:xfrm>
          <a:prstGeom prst="roundRect">
            <a:avLst>
              <a:gd name="adj" fmla="val 12500"/>
            </a:avLst>
          </a:prstGeom>
          <a:solidFill>
            <a:srgbClr val="F5F7F8"/>
          </a:solidFill>
          <a:ln w="9525">
            <a:solidFill>
              <a:srgbClr val="E2E7EB"/>
            </a:solidFill>
            <a:prstDash val="solid"/>
          </a:ln>
        </p:spPr>
      </p:sp>
      <p:sp>
        <p:nvSpPr>
          <p:cNvPr id="11" name="Shape 9"/>
          <p:cNvSpPr/>
          <p:nvPr/>
        </p:nvSpPr>
        <p:spPr>
          <a:xfrm>
            <a:off x="731520" y="2231136"/>
            <a:ext cx="457200" cy="274320"/>
          </a:xfrm>
          <a:prstGeom prst="roundRect">
            <a:avLst>
              <a:gd name="adj" fmla="val 20000"/>
            </a:avLst>
          </a:prstGeom>
          <a:solidFill>
            <a:srgbClr val="C8553D"/>
          </a:solidFill>
          <a:ln w="12700">
            <a:solidFill>
              <a:srgbClr val="C8553D"/>
            </a:solidFill>
            <a:prstDash val="solid"/>
          </a:ln>
        </p:spPr>
      </p:sp>
      <p:sp>
        <p:nvSpPr>
          <p:cNvPr id="12" name="Text 10"/>
          <p:cNvSpPr txBox="1"/>
          <p:nvPr/>
        </p:nvSpPr>
        <p:spPr>
          <a:xfrm>
            <a:off x="731520" y="2231136"/>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a:t>
            </a:r>
            <a:endParaRPr lang="en-US" sz="1100" dirty="0"/>
          </a:p>
        </p:txBody>
      </p:sp>
      <p:sp>
        <p:nvSpPr>
          <p:cNvPr id="13" name="Text 11"/>
          <p:cNvSpPr txBox="1"/>
          <p:nvPr/>
        </p:nvSpPr>
        <p:spPr>
          <a:xfrm>
            <a:off x="1307592" y="2112264"/>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Tombol Add Skill menempel ke label saat kosong</a:t>
            </a:r>
            <a:endParaRPr lang="en-US" sz="1150" dirty="0"/>
          </a:p>
        </p:txBody>
      </p:sp>
      <p:sp>
        <p:nvSpPr>
          <p:cNvPr id="14" name="Shape 12"/>
          <p:cNvSpPr/>
          <p:nvPr/>
        </p:nvSpPr>
        <p:spPr>
          <a:xfrm>
            <a:off x="594360" y="2715768"/>
            <a:ext cx="3611880" cy="512064"/>
          </a:xfrm>
          <a:prstGeom prst="roundRect">
            <a:avLst>
              <a:gd name="adj" fmla="val 12500"/>
            </a:avLst>
          </a:prstGeom>
          <a:solidFill>
            <a:srgbClr val="F5F7F8"/>
          </a:solidFill>
          <a:ln w="9525">
            <a:solidFill>
              <a:srgbClr val="E2E7EB"/>
            </a:solidFill>
            <a:prstDash val="solid"/>
          </a:ln>
        </p:spPr>
      </p:sp>
      <p:sp>
        <p:nvSpPr>
          <p:cNvPr id="15" name="Shape 13"/>
          <p:cNvSpPr/>
          <p:nvPr/>
        </p:nvSpPr>
        <p:spPr>
          <a:xfrm>
            <a:off x="731520" y="2834640"/>
            <a:ext cx="457200" cy="274320"/>
          </a:xfrm>
          <a:prstGeom prst="roundRect">
            <a:avLst>
              <a:gd name="adj" fmla="val 20000"/>
            </a:avLst>
          </a:prstGeom>
          <a:solidFill>
            <a:srgbClr val="C8553D"/>
          </a:solidFill>
          <a:ln w="12700">
            <a:solidFill>
              <a:srgbClr val="C8553D"/>
            </a:solidFill>
            <a:prstDash val="solid"/>
          </a:ln>
        </p:spPr>
      </p:sp>
      <p:sp>
        <p:nvSpPr>
          <p:cNvPr id="16" name="Text 14"/>
          <p:cNvSpPr txBox="1"/>
          <p:nvPr/>
        </p:nvSpPr>
        <p:spPr>
          <a:xfrm>
            <a:off x="731520" y="2834640"/>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a:t>
            </a:r>
            <a:endParaRPr lang="en-US" sz="1100" dirty="0"/>
          </a:p>
        </p:txBody>
      </p:sp>
      <p:sp>
        <p:nvSpPr>
          <p:cNvPr id="17" name="Text 15"/>
          <p:cNvSpPr txBox="1"/>
          <p:nvPr/>
        </p:nvSpPr>
        <p:spPr>
          <a:xfrm>
            <a:off x="1307592" y="2715768"/>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Breadcrumb berbeda antar halaman</a:t>
            </a:r>
            <a:endParaRPr lang="en-US" sz="1150" dirty="0"/>
          </a:p>
        </p:txBody>
      </p:sp>
      <p:sp>
        <p:nvSpPr>
          <p:cNvPr id="18" name="Shape 16"/>
          <p:cNvSpPr/>
          <p:nvPr/>
        </p:nvSpPr>
        <p:spPr>
          <a:xfrm>
            <a:off x="594360" y="3319272"/>
            <a:ext cx="3611880" cy="512064"/>
          </a:xfrm>
          <a:prstGeom prst="roundRect">
            <a:avLst>
              <a:gd name="adj" fmla="val 12500"/>
            </a:avLst>
          </a:prstGeom>
          <a:solidFill>
            <a:srgbClr val="F5F7F8"/>
          </a:solidFill>
          <a:ln w="9525">
            <a:solidFill>
              <a:srgbClr val="E2E7EB"/>
            </a:solidFill>
            <a:prstDash val="solid"/>
          </a:ln>
        </p:spPr>
      </p:sp>
      <p:sp>
        <p:nvSpPr>
          <p:cNvPr id="19" name="Shape 17"/>
          <p:cNvSpPr/>
          <p:nvPr/>
        </p:nvSpPr>
        <p:spPr>
          <a:xfrm>
            <a:off x="731520" y="3438144"/>
            <a:ext cx="457200" cy="274320"/>
          </a:xfrm>
          <a:prstGeom prst="roundRect">
            <a:avLst>
              <a:gd name="adj" fmla="val 20000"/>
            </a:avLst>
          </a:prstGeom>
          <a:solidFill>
            <a:srgbClr val="B7791F"/>
          </a:solidFill>
          <a:ln w="12700">
            <a:solidFill>
              <a:srgbClr val="B7791F"/>
            </a:solidFill>
            <a:prstDash val="solid"/>
          </a:ln>
        </p:spPr>
      </p:sp>
      <p:sp>
        <p:nvSpPr>
          <p:cNvPr id="20" name="Text 18"/>
          <p:cNvSpPr txBox="1"/>
          <p:nvPr/>
        </p:nvSpPr>
        <p:spPr>
          <a:xfrm>
            <a:off x="731520" y="3438144"/>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21" name="Text 19"/>
          <p:cNvSpPr txBox="1"/>
          <p:nvPr/>
        </p:nvSpPr>
        <p:spPr>
          <a:xfrm>
            <a:off x="1307592" y="3319272"/>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Bahasa wawancara hilang di halaman Edit</a:t>
            </a:r>
            <a:endParaRPr lang="en-US" sz="1150" dirty="0"/>
          </a:p>
        </p:txBody>
      </p:sp>
      <p:sp>
        <p:nvSpPr>
          <p:cNvPr id="22" name="Shape 20"/>
          <p:cNvSpPr/>
          <p:nvPr/>
        </p:nvSpPr>
        <p:spPr>
          <a:xfrm>
            <a:off x="594360" y="3922776"/>
            <a:ext cx="3611880" cy="512064"/>
          </a:xfrm>
          <a:prstGeom prst="roundRect">
            <a:avLst>
              <a:gd name="adj" fmla="val 12500"/>
            </a:avLst>
          </a:prstGeom>
          <a:solidFill>
            <a:srgbClr val="F5F7F8"/>
          </a:solidFill>
          <a:ln w="9525">
            <a:solidFill>
              <a:srgbClr val="E2E7EB"/>
            </a:solidFill>
            <a:prstDash val="solid"/>
          </a:ln>
        </p:spPr>
      </p:sp>
      <p:sp>
        <p:nvSpPr>
          <p:cNvPr id="23" name="Shape 21"/>
          <p:cNvSpPr/>
          <p:nvPr/>
        </p:nvSpPr>
        <p:spPr>
          <a:xfrm>
            <a:off x="731520" y="4041648"/>
            <a:ext cx="457200" cy="274320"/>
          </a:xfrm>
          <a:prstGeom prst="roundRect">
            <a:avLst>
              <a:gd name="adj" fmla="val 20000"/>
            </a:avLst>
          </a:prstGeom>
          <a:solidFill>
            <a:srgbClr val="B7791F"/>
          </a:solidFill>
          <a:ln w="12700">
            <a:solidFill>
              <a:srgbClr val="B7791F"/>
            </a:solidFill>
            <a:prstDash val="solid"/>
          </a:ln>
        </p:spPr>
      </p:sp>
      <p:sp>
        <p:nvSpPr>
          <p:cNvPr id="24" name="Text 22"/>
          <p:cNvSpPr txBox="1"/>
          <p:nvPr/>
        </p:nvSpPr>
        <p:spPr>
          <a:xfrm>
            <a:off x="731520" y="404164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25" name="Text 23"/>
          <p:cNvSpPr txBox="1"/>
          <p:nvPr/>
        </p:nvSpPr>
        <p:spPr>
          <a:xfrm>
            <a:off x="1307592" y="3922776"/>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Bahasa wawancara tidak tampil di Detail</a:t>
            </a:r>
            <a:endParaRPr lang="en-US" sz="1150" dirty="0"/>
          </a:p>
        </p:txBody>
      </p:sp>
      <p:sp>
        <p:nvSpPr>
          <p:cNvPr id="26" name="Shape 24"/>
          <p:cNvSpPr/>
          <p:nvPr/>
        </p:nvSpPr>
        <p:spPr>
          <a:xfrm>
            <a:off x="594360" y="4526280"/>
            <a:ext cx="3611880" cy="512064"/>
          </a:xfrm>
          <a:prstGeom prst="roundRect">
            <a:avLst>
              <a:gd name="adj" fmla="val 12500"/>
            </a:avLst>
          </a:prstGeom>
          <a:solidFill>
            <a:srgbClr val="F5F7F8"/>
          </a:solidFill>
          <a:ln w="9525">
            <a:solidFill>
              <a:srgbClr val="E2E7EB"/>
            </a:solidFill>
            <a:prstDash val="solid"/>
          </a:ln>
        </p:spPr>
      </p:sp>
      <p:sp>
        <p:nvSpPr>
          <p:cNvPr id="27" name="Shape 25"/>
          <p:cNvSpPr/>
          <p:nvPr/>
        </p:nvSpPr>
        <p:spPr>
          <a:xfrm>
            <a:off x="731520" y="4645152"/>
            <a:ext cx="457200" cy="274320"/>
          </a:xfrm>
          <a:prstGeom prst="roundRect">
            <a:avLst>
              <a:gd name="adj" fmla="val 20000"/>
            </a:avLst>
          </a:prstGeom>
          <a:solidFill>
            <a:srgbClr val="B7791F"/>
          </a:solidFill>
          <a:ln w="12700">
            <a:solidFill>
              <a:srgbClr val="B7791F"/>
            </a:solidFill>
            <a:prstDash val="solid"/>
          </a:ln>
        </p:spPr>
      </p:sp>
      <p:sp>
        <p:nvSpPr>
          <p:cNvPr id="28" name="Text 26"/>
          <p:cNvSpPr txBox="1"/>
          <p:nvPr/>
        </p:nvSpPr>
        <p:spPr>
          <a:xfrm>
            <a:off x="731520" y="4645152"/>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29" name="Text 27"/>
          <p:cNvSpPr txBox="1"/>
          <p:nvPr/>
        </p:nvSpPr>
        <p:spPr>
          <a:xfrm>
            <a:off x="1307592" y="4526280"/>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Tombol back hanya ikon, tanpa label</a:t>
            </a:r>
            <a:endParaRPr lang="en-US" sz="1150" dirty="0"/>
          </a:p>
        </p:txBody>
      </p:sp>
      <p:sp>
        <p:nvSpPr>
          <p:cNvPr id="30" name="Shape 28"/>
          <p:cNvSpPr/>
          <p:nvPr/>
        </p:nvSpPr>
        <p:spPr>
          <a:xfrm>
            <a:off x="594360" y="5129784"/>
            <a:ext cx="3611880" cy="512064"/>
          </a:xfrm>
          <a:prstGeom prst="roundRect">
            <a:avLst>
              <a:gd name="adj" fmla="val 12500"/>
            </a:avLst>
          </a:prstGeom>
          <a:solidFill>
            <a:srgbClr val="F5F7F8"/>
          </a:solidFill>
          <a:ln w="9525">
            <a:solidFill>
              <a:srgbClr val="E2E7EB"/>
            </a:solidFill>
            <a:prstDash val="solid"/>
          </a:ln>
        </p:spPr>
      </p:sp>
      <p:sp>
        <p:nvSpPr>
          <p:cNvPr id="31" name="Shape 29"/>
          <p:cNvSpPr/>
          <p:nvPr/>
        </p:nvSpPr>
        <p:spPr>
          <a:xfrm>
            <a:off x="731520" y="5248656"/>
            <a:ext cx="457200" cy="274320"/>
          </a:xfrm>
          <a:prstGeom prst="roundRect">
            <a:avLst>
              <a:gd name="adj" fmla="val 20000"/>
            </a:avLst>
          </a:prstGeom>
          <a:solidFill>
            <a:srgbClr val="B7791F"/>
          </a:solidFill>
          <a:ln w="12700">
            <a:solidFill>
              <a:srgbClr val="B7791F"/>
            </a:solidFill>
            <a:prstDash val="solid"/>
          </a:ln>
        </p:spPr>
      </p:sp>
      <p:sp>
        <p:nvSpPr>
          <p:cNvPr id="32" name="Text 30"/>
          <p:cNvSpPr txBox="1"/>
          <p:nvPr/>
        </p:nvSpPr>
        <p:spPr>
          <a:xfrm>
            <a:off x="731520" y="5248656"/>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33" name="Text 31"/>
          <p:cNvSpPr txBox="1"/>
          <p:nvPr/>
        </p:nvSpPr>
        <p:spPr>
          <a:xfrm>
            <a:off x="1307592" y="5129784"/>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Tidak ada toast setelah simpan assessment</a:t>
            </a:r>
            <a:endParaRPr lang="en-US" sz="1150" dirty="0"/>
          </a:p>
        </p:txBody>
      </p:sp>
      <p:sp>
        <p:nvSpPr>
          <p:cNvPr id="34" name="Shape 32"/>
          <p:cNvSpPr/>
          <p:nvPr/>
        </p:nvSpPr>
        <p:spPr>
          <a:xfrm>
            <a:off x="4434840" y="1508760"/>
            <a:ext cx="3611880" cy="512064"/>
          </a:xfrm>
          <a:prstGeom prst="roundRect">
            <a:avLst>
              <a:gd name="adj" fmla="val 12500"/>
            </a:avLst>
          </a:prstGeom>
          <a:solidFill>
            <a:srgbClr val="F5F7F8"/>
          </a:solidFill>
          <a:ln w="9525">
            <a:solidFill>
              <a:srgbClr val="E2E7EB"/>
            </a:solidFill>
            <a:prstDash val="solid"/>
          </a:ln>
        </p:spPr>
      </p:sp>
      <p:sp>
        <p:nvSpPr>
          <p:cNvPr id="35" name="Shape 33"/>
          <p:cNvSpPr/>
          <p:nvPr/>
        </p:nvSpPr>
        <p:spPr>
          <a:xfrm>
            <a:off x="4572000" y="1627632"/>
            <a:ext cx="457200" cy="274320"/>
          </a:xfrm>
          <a:prstGeom prst="roundRect">
            <a:avLst>
              <a:gd name="adj" fmla="val 20000"/>
            </a:avLst>
          </a:prstGeom>
          <a:solidFill>
            <a:srgbClr val="B7791F"/>
          </a:solidFill>
          <a:ln w="12700">
            <a:solidFill>
              <a:srgbClr val="B7791F"/>
            </a:solidFill>
            <a:prstDash val="solid"/>
          </a:ln>
        </p:spPr>
      </p:sp>
      <p:sp>
        <p:nvSpPr>
          <p:cNvPr id="36" name="Text 34"/>
          <p:cNvSpPr txBox="1"/>
          <p:nvPr/>
        </p:nvSpPr>
        <p:spPr>
          <a:xfrm>
            <a:off x="4572000" y="1627632"/>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37" name="Text 35"/>
          <p:cNvSpPr txBox="1"/>
          <p:nvPr/>
        </p:nvSpPr>
        <p:spPr>
          <a:xfrm>
            <a:off x="5148072" y="1508760"/>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Tidak ada toast setelah simpan vacancy</a:t>
            </a:r>
            <a:endParaRPr lang="en-US" sz="1150" dirty="0"/>
          </a:p>
        </p:txBody>
      </p:sp>
      <p:sp>
        <p:nvSpPr>
          <p:cNvPr id="38" name="Shape 36"/>
          <p:cNvSpPr/>
          <p:nvPr/>
        </p:nvSpPr>
        <p:spPr>
          <a:xfrm>
            <a:off x="4434840" y="2112264"/>
            <a:ext cx="3611880" cy="512064"/>
          </a:xfrm>
          <a:prstGeom prst="roundRect">
            <a:avLst>
              <a:gd name="adj" fmla="val 12500"/>
            </a:avLst>
          </a:prstGeom>
          <a:solidFill>
            <a:srgbClr val="F5F7F8"/>
          </a:solidFill>
          <a:ln w="9525">
            <a:solidFill>
              <a:srgbClr val="E2E7EB"/>
            </a:solidFill>
            <a:prstDash val="solid"/>
          </a:ln>
        </p:spPr>
      </p:sp>
      <p:sp>
        <p:nvSpPr>
          <p:cNvPr id="39" name="Shape 37"/>
          <p:cNvSpPr/>
          <p:nvPr/>
        </p:nvSpPr>
        <p:spPr>
          <a:xfrm>
            <a:off x="4572000" y="2231136"/>
            <a:ext cx="457200" cy="274320"/>
          </a:xfrm>
          <a:prstGeom prst="roundRect">
            <a:avLst>
              <a:gd name="adj" fmla="val 20000"/>
            </a:avLst>
          </a:prstGeom>
          <a:solidFill>
            <a:srgbClr val="5F6B76"/>
          </a:solidFill>
          <a:ln w="12700">
            <a:solidFill>
              <a:srgbClr val="5F6B76"/>
            </a:solidFill>
            <a:prstDash val="solid"/>
          </a:ln>
        </p:spPr>
      </p:sp>
      <p:sp>
        <p:nvSpPr>
          <p:cNvPr id="40" name="Text 38"/>
          <p:cNvSpPr txBox="1"/>
          <p:nvPr/>
        </p:nvSpPr>
        <p:spPr>
          <a:xfrm>
            <a:off x="4572000" y="2231136"/>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P2</a:t>
            </a:r>
            <a:endParaRPr lang="en-US" sz="1100" dirty="0"/>
          </a:p>
        </p:txBody>
      </p:sp>
      <p:sp>
        <p:nvSpPr>
          <p:cNvPr id="41" name="Text 39"/>
          <p:cNvSpPr txBox="1"/>
          <p:nvPr/>
        </p:nvSpPr>
        <p:spPr>
          <a:xfrm>
            <a:off x="5148072" y="2112264"/>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Nama kandidat opsional, tidak bisa diedit/dihapus</a:t>
            </a:r>
            <a:endParaRPr lang="en-US" sz="1150" dirty="0"/>
          </a:p>
        </p:txBody>
      </p:sp>
      <p:sp>
        <p:nvSpPr>
          <p:cNvPr id="42" name="Shape 40"/>
          <p:cNvSpPr/>
          <p:nvPr/>
        </p:nvSpPr>
        <p:spPr>
          <a:xfrm>
            <a:off x="4434840" y="2715768"/>
            <a:ext cx="3611880" cy="512064"/>
          </a:xfrm>
          <a:prstGeom prst="roundRect">
            <a:avLst>
              <a:gd name="adj" fmla="val 12500"/>
            </a:avLst>
          </a:prstGeom>
          <a:solidFill>
            <a:srgbClr val="F5F7F8"/>
          </a:solidFill>
          <a:ln w="9525">
            <a:solidFill>
              <a:srgbClr val="E2E7EB"/>
            </a:solidFill>
            <a:prstDash val="solid"/>
          </a:ln>
        </p:spPr>
      </p:sp>
      <p:sp>
        <p:nvSpPr>
          <p:cNvPr id="43" name="Shape 41"/>
          <p:cNvSpPr/>
          <p:nvPr/>
        </p:nvSpPr>
        <p:spPr>
          <a:xfrm>
            <a:off x="4572000" y="2834640"/>
            <a:ext cx="457200" cy="274320"/>
          </a:xfrm>
          <a:prstGeom prst="roundRect">
            <a:avLst>
              <a:gd name="adj" fmla="val 20000"/>
            </a:avLst>
          </a:prstGeom>
          <a:solidFill>
            <a:srgbClr val="5F6B76"/>
          </a:solidFill>
          <a:ln w="12700">
            <a:solidFill>
              <a:srgbClr val="5F6B76"/>
            </a:solidFill>
            <a:prstDash val="solid"/>
          </a:ln>
        </p:spPr>
      </p:sp>
      <p:sp>
        <p:nvSpPr>
          <p:cNvPr id="44" name="Text 42"/>
          <p:cNvSpPr txBox="1"/>
          <p:nvPr/>
        </p:nvSpPr>
        <p:spPr>
          <a:xfrm>
            <a:off x="4572000" y="2834640"/>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P2</a:t>
            </a:r>
            <a:endParaRPr lang="en-US" sz="1100" dirty="0"/>
          </a:p>
        </p:txBody>
      </p:sp>
      <p:sp>
        <p:nvSpPr>
          <p:cNvPr id="45" name="Text 43"/>
          <p:cNvSpPr txBox="1"/>
          <p:nvPr/>
        </p:nvSpPr>
        <p:spPr>
          <a:xfrm>
            <a:off x="5148072" y="2715768"/>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Assessment &amp; vacancy tanpa due date</a:t>
            </a:r>
            <a:endParaRPr lang="en-US" sz="1150" dirty="0"/>
          </a:p>
        </p:txBody>
      </p:sp>
      <p:sp>
        <p:nvSpPr>
          <p:cNvPr id="46" name="Shape 44"/>
          <p:cNvSpPr/>
          <p:nvPr/>
        </p:nvSpPr>
        <p:spPr>
          <a:xfrm>
            <a:off x="4434840" y="3319272"/>
            <a:ext cx="3611880" cy="512064"/>
          </a:xfrm>
          <a:prstGeom prst="roundRect">
            <a:avLst>
              <a:gd name="adj" fmla="val 12500"/>
            </a:avLst>
          </a:prstGeom>
          <a:solidFill>
            <a:srgbClr val="F5F7F8"/>
          </a:solidFill>
          <a:ln w="9525">
            <a:solidFill>
              <a:srgbClr val="E2E7EB"/>
            </a:solidFill>
            <a:prstDash val="solid"/>
          </a:ln>
        </p:spPr>
      </p:sp>
      <p:sp>
        <p:nvSpPr>
          <p:cNvPr id="47" name="Shape 45"/>
          <p:cNvSpPr/>
          <p:nvPr/>
        </p:nvSpPr>
        <p:spPr>
          <a:xfrm>
            <a:off x="4572000" y="3438144"/>
            <a:ext cx="457200" cy="274320"/>
          </a:xfrm>
          <a:prstGeom prst="roundRect">
            <a:avLst>
              <a:gd name="adj" fmla="val 20000"/>
            </a:avLst>
          </a:prstGeom>
          <a:solidFill>
            <a:srgbClr val="8B96A0"/>
          </a:solidFill>
          <a:ln w="12700">
            <a:solidFill>
              <a:srgbClr val="8B96A0"/>
            </a:solidFill>
            <a:prstDash val="solid"/>
          </a:ln>
        </p:spPr>
      </p:sp>
      <p:sp>
        <p:nvSpPr>
          <p:cNvPr id="48" name="Text 46"/>
          <p:cNvSpPr txBox="1"/>
          <p:nvPr/>
        </p:nvSpPr>
        <p:spPr>
          <a:xfrm>
            <a:off x="4572000" y="3438144"/>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P3</a:t>
            </a:r>
            <a:endParaRPr lang="en-US" sz="1100" dirty="0"/>
          </a:p>
        </p:txBody>
      </p:sp>
      <p:sp>
        <p:nvSpPr>
          <p:cNvPr id="49" name="Text 47"/>
          <p:cNvSpPr txBox="1"/>
          <p:nvPr/>
        </p:nvSpPr>
        <p:spPr>
          <a:xfrm>
            <a:off x="5148072" y="3319272"/>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Form custom skill tanpa Save/Cancel/Edit</a:t>
            </a:r>
            <a:endParaRPr lang="en-US" sz="1150" dirty="0"/>
          </a:p>
        </p:txBody>
      </p:sp>
      <p:sp>
        <p:nvSpPr>
          <p:cNvPr id="50" name="Shape 48"/>
          <p:cNvSpPr/>
          <p:nvPr/>
        </p:nvSpPr>
        <p:spPr>
          <a:xfrm>
            <a:off x="4434840" y="3922776"/>
            <a:ext cx="3611880" cy="512064"/>
          </a:xfrm>
          <a:prstGeom prst="roundRect">
            <a:avLst>
              <a:gd name="adj" fmla="val 12500"/>
            </a:avLst>
          </a:prstGeom>
          <a:solidFill>
            <a:srgbClr val="F5F7F8"/>
          </a:solidFill>
          <a:ln w="9525">
            <a:solidFill>
              <a:srgbClr val="E2E7EB"/>
            </a:solidFill>
            <a:prstDash val="solid"/>
          </a:ln>
        </p:spPr>
      </p:sp>
      <p:sp>
        <p:nvSpPr>
          <p:cNvPr id="51" name="Shape 49"/>
          <p:cNvSpPr/>
          <p:nvPr/>
        </p:nvSpPr>
        <p:spPr>
          <a:xfrm>
            <a:off x="4572000" y="4041648"/>
            <a:ext cx="457200" cy="274320"/>
          </a:xfrm>
          <a:prstGeom prst="roundRect">
            <a:avLst>
              <a:gd name="adj" fmla="val 20000"/>
            </a:avLst>
          </a:prstGeom>
          <a:solidFill>
            <a:srgbClr val="8B96A0"/>
          </a:solidFill>
          <a:ln w="12700">
            <a:solidFill>
              <a:srgbClr val="8B96A0"/>
            </a:solidFill>
            <a:prstDash val="solid"/>
          </a:ln>
        </p:spPr>
      </p:sp>
      <p:sp>
        <p:nvSpPr>
          <p:cNvPr id="52" name="Text 50"/>
          <p:cNvSpPr txBox="1"/>
          <p:nvPr/>
        </p:nvSpPr>
        <p:spPr>
          <a:xfrm>
            <a:off x="4572000" y="404164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P3</a:t>
            </a:r>
            <a:endParaRPr lang="en-US" sz="1100" dirty="0"/>
          </a:p>
        </p:txBody>
      </p:sp>
      <p:sp>
        <p:nvSpPr>
          <p:cNvPr id="53" name="Text 51"/>
          <p:cNvSpPr txBox="1"/>
          <p:nvPr/>
        </p:nvSpPr>
        <p:spPr>
          <a:xfrm>
            <a:off x="5148072" y="3922776"/>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Assessment tidak bisa dihapus</a:t>
            </a:r>
            <a:endParaRPr lang="en-US" sz="1150" dirty="0"/>
          </a:p>
        </p:txBody>
      </p:sp>
      <p:sp>
        <p:nvSpPr>
          <p:cNvPr id="54" name="Shape 52"/>
          <p:cNvSpPr/>
          <p:nvPr/>
        </p:nvSpPr>
        <p:spPr>
          <a:xfrm>
            <a:off x="4434840" y="4526280"/>
            <a:ext cx="3611880" cy="512064"/>
          </a:xfrm>
          <a:prstGeom prst="roundRect">
            <a:avLst>
              <a:gd name="adj" fmla="val 12500"/>
            </a:avLst>
          </a:prstGeom>
          <a:solidFill>
            <a:srgbClr val="F5F7F8"/>
          </a:solidFill>
          <a:ln w="9525">
            <a:solidFill>
              <a:srgbClr val="E2E7EB"/>
            </a:solidFill>
            <a:prstDash val="solid"/>
          </a:ln>
        </p:spPr>
      </p:sp>
      <p:sp>
        <p:nvSpPr>
          <p:cNvPr id="55" name="Shape 53"/>
          <p:cNvSpPr/>
          <p:nvPr/>
        </p:nvSpPr>
        <p:spPr>
          <a:xfrm>
            <a:off x="4572000" y="4645152"/>
            <a:ext cx="457200" cy="274320"/>
          </a:xfrm>
          <a:prstGeom prst="roundRect">
            <a:avLst>
              <a:gd name="adj" fmla="val 20000"/>
            </a:avLst>
          </a:prstGeom>
          <a:solidFill>
            <a:srgbClr val="8B96A0"/>
          </a:solidFill>
          <a:ln w="12700">
            <a:solidFill>
              <a:srgbClr val="8B96A0"/>
            </a:solidFill>
            <a:prstDash val="solid"/>
          </a:ln>
        </p:spPr>
      </p:sp>
      <p:sp>
        <p:nvSpPr>
          <p:cNvPr id="56" name="Text 54"/>
          <p:cNvSpPr txBox="1"/>
          <p:nvPr/>
        </p:nvSpPr>
        <p:spPr>
          <a:xfrm>
            <a:off x="4572000" y="4645152"/>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P3</a:t>
            </a:r>
            <a:endParaRPr lang="en-US" sz="1100" dirty="0"/>
          </a:p>
        </p:txBody>
      </p:sp>
      <p:sp>
        <p:nvSpPr>
          <p:cNvPr id="57" name="Text 55"/>
          <p:cNvSpPr txBox="1"/>
          <p:nvPr/>
        </p:nvSpPr>
        <p:spPr>
          <a:xfrm>
            <a:off x="5148072" y="4526280"/>
            <a:ext cx="2788920" cy="512064"/>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Vacancy tidak bisa dihapus</a:t>
            </a:r>
            <a:endParaRPr lang="en-US" sz="1150" dirty="0"/>
          </a:p>
        </p:txBody>
      </p:sp>
      <p:pic>
        <p:nvPicPr>
          <p:cNvPr id="58" name="Image 0" descr="img/qa_detail.png">    </p:cNvPr>
          <p:cNvPicPr>
            <a:picLocks noChangeAspect="1"/>
          </p:cNvPicPr>
          <p:nvPr/>
        </p:nvPicPr>
        <p:blipFill>
          <a:blip r:embed="rId1"/>
          <a:stretch>
            <a:fillRect/>
          </a:stretch>
        </p:blipFill>
        <p:spPr>
          <a:xfrm>
            <a:off x="8275320" y="1508760"/>
            <a:ext cx="3322015" cy="1581912"/>
          </a:xfrm>
          <a:prstGeom prst="rect">
            <a:avLst/>
          </a:prstGeom>
        </p:spPr>
      </p:pic>
      <p:sp>
        <p:nvSpPr>
          <p:cNvPr id="59" name="Shape 56"/>
          <p:cNvSpPr/>
          <p:nvPr/>
        </p:nvSpPr>
        <p:spPr>
          <a:xfrm>
            <a:off x="8275320" y="1508760"/>
            <a:ext cx="3322015" cy="1581912"/>
          </a:xfrm>
          <a:prstGeom prst="rect">
            <a:avLst/>
          </a:prstGeom>
          <a:ln w="9525">
            <a:solidFill>
              <a:srgbClr val="E2E7EB"/>
            </a:solidFill>
            <a:prstDash val="solid"/>
          </a:ln>
        </p:spPr>
      </p:sp>
      <p:sp>
        <p:nvSpPr>
          <p:cNvPr id="60" name="Text 57"/>
          <p:cNvSpPr txBox="1"/>
          <p:nvPr/>
        </p:nvSpPr>
        <p:spPr>
          <a:xfrm>
            <a:off x="8275320" y="3163824"/>
            <a:ext cx="3322015" cy="274320"/>
          </a:xfrm>
          <a:prstGeom prst="rect">
            <a:avLst/>
          </a:prstGeom>
          <a:noFill/>
          <a:ln/>
        </p:spPr>
        <p:txBody>
          <a:bodyPr wrap="square" lIns="0" tIns="0" rIns="0" bIns="0" rtlCol="0" anchor="t"/>
          <a:lstStyle/>
          <a:p>
            <a:pPr indent="0" marL="0">
              <a:buNone/>
            </a:pPr>
            <a:r>
              <a:rPr lang="en-US" sz="1050" i="1" dirty="0">
                <a:solidFill>
                  <a:srgbClr val="8B96A0"/>
                </a:solidFill>
                <a:latin typeface="Calibri" pitchFamily="34" charset="0"/>
                <a:ea typeface="Calibri" pitchFamily="34" charset="-122"/>
                <a:cs typeface="Calibri" pitchFamily="34" charset="-120"/>
              </a:rPr>
              <a:t>Halaman Detail — bahasa wawancara tidak ditampilkan</a:t>
            </a:r>
            <a:endParaRPr lang="en-US" sz="1050" dirty="0"/>
          </a:p>
        </p:txBody>
      </p:sp>
      <p:sp>
        <p:nvSpPr>
          <p:cNvPr id="61" name="Shape 58"/>
          <p:cNvSpPr/>
          <p:nvPr/>
        </p:nvSpPr>
        <p:spPr>
          <a:xfrm>
            <a:off x="8275320" y="4023360"/>
            <a:ext cx="3322015" cy="2011680"/>
          </a:xfrm>
          <a:prstGeom prst="roundRect">
            <a:avLst>
              <a:gd name="adj" fmla="val 3182"/>
            </a:avLst>
          </a:prstGeom>
          <a:solidFill>
            <a:srgbClr val="FCEDE8"/>
          </a:solidFill>
          <a:ln w="9525">
            <a:solidFill>
              <a:srgbClr val="FCEDE8"/>
            </a:solidFill>
            <a:prstDash val="solid"/>
          </a:ln>
        </p:spPr>
      </p:sp>
      <p:sp>
        <p:nvSpPr>
          <p:cNvPr id="62" name="Text 59"/>
          <p:cNvSpPr txBox="1"/>
          <p:nvPr/>
        </p:nvSpPr>
        <p:spPr>
          <a:xfrm>
            <a:off x="8503920" y="4160520"/>
            <a:ext cx="2864815" cy="274320"/>
          </a:xfrm>
          <a:prstGeom prst="rect">
            <a:avLst/>
          </a:prstGeom>
          <a:noFill/>
          <a:ln/>
        </p:spPr>
        <p:txBody>
          <a:bodyPr wrap="square" lIns="0" tIns="0" rIns="0" bIns="0" rtlCol="0" anchor="t"/>
          <a:lstStyle/>
          <a:p>
            <a:pPr indent="0" marL="0">
              <a:buNone/>
            </a:pPr>
            <a:r>
              <a:rPr lang="en-US" sz="1300" b="1" dirty="0">
                <a:solidFill>
                  <a:srgbClr val="C8553D"/>
                </a:solidFill>
                <a:latin typeface="Calibri" pitchFamily="34" charset="0"/>
                <a:ea typeface="Calibri" pitchFamily="34" charset="-122"/>
                <a:cs typeface="Calibri" pitchFamily="34" charset="-120"/>
              </a:rPr>
              <a:t>Contoh yang bukan sekadar tampilan</a:t>
            </a:r>
            <a:endParaRPr lang="en-US" sz="1300" dirty="0"/>
          </a:p>
        </p:txBody>
      </p:sp>
      <p:sp>
        <p:nvSpPr>
          <p:cNvPr id="63" name="Text 60"/>
          <p:cNvSpPr txBox="1"/>
          <p:nvPr/>
        </p:nvSpPr>
        <p:spPr>
          <a:xfrm>
            <a:off x="8503920" y="4480560"/>
            <a:ext cx="2864815" cy="1463040"/>
          </a:xfrm>
          <a:prstGeom prst="rect">
            <a:avLst/>
          </a:prstGeom>
          <a:noFill/>
          <a:ln/>
        </p:spPr>
        <p:txBody>
          <a:bodyPr wrap="square" lIns="0" tIns="0" rIns="0" bIns="0" rtlCol="0" anchor="t"/>
          <a:lstStyle/>
          <a:p>
            <a:pPr indent="0" marL="0">
              <a:lnSpc>
                <a:spcPts val="1600"/>
              </a:lnSpc>
              <a:buNone/>
            </a:pPr>
            <a:r>
              <a:rPr lang="en-US" sz="1150" dirty="0">
                <a:solidFill>
                  <a:srgbClr val="1F2933"/>
                </a:solidFill>
                <a:latin typeface="Calibri" pitchFamily="34" charset="0"/>
                <a:ea typeface="Calibri" pitchFamily="34" charset="-122"/>
                <a:cs typeface="Calibri" pitchFamily="34" charset="-120"/>
              </a:rPr>
              <a:t>Form Edit tidak memuat dan tidak mengirim bahasa (AssessmentEditPage.tsx:44-52). Setiap edit bisa me-reset bahasa ke default — yang pertama tahu adalah kandidat, di tengah wawancara.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Rubrik severity untuk audit kode</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§2.2 · di-anchor pada siapa yang menanggung kerusakan, bukan biaya ke bisnis.</a:t>
            </a:r>
            <a:endParaRPr lang="en-US" sz="1500" dirty="0"/>
          </a:p>
        </p:txBody>
      </p:sp>
      <p:sp>
        <p:nvSpPr>
          <p:cNvPr id="6" name="Shape 4"/>
          <p:cNvSpPr/>
          <p:nvPr/>
        </p:nvSpPr>
        <p:spPr>
          <a:xfrm>
            <a:off x="594360" y="1664208"/>
            <a:ext cx="640080" cy="274320"/>
          </a:xfrm>
          <a:prstGeom prst="roundRect">
            <a:avLst>
              <a:gd name="adj" fmla="val 20000"/>
            </a:avLst>
          </a:prstGeom>
          <a:solidFill>
            <a:srgbClr val="C8553D"/>
          </a:solidFill>
          <a:ln w="12700">
            <a:solidFill>
              <a:srgbClr val="C8553D"/>
            </a:solidFill>
            <a:prstDash val="solid"/>
          </a:ln>
        </p:spPr>
      </p:sp>
      <p:sp>
        <p:nvSpPr>
          <p:cNvPr id="7" name="Text 5"/>
          <p:cNvSpPr txBox="1"/>
          <p:nvPr/>
        </p:nvSpPr>
        <p:spPr>
          <a:xfrm>
            <a:off x="594360" y="1664208"/>
            <a:ext cx="6400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a:t>
            </a:r>
            <a:endParaRPr lang="en-US" sz="1100" dirty="0"/>
          </a:p>
        </p:txBody>
      </p:sp>
      <p:sp>
        <p:nvSpPr>
          <p:cNvPr id="8" name="Text 6"/>
          <p:cNvSpPr txBox="1"/>
          <p:nvPr/>
        </p:nvSpPr>
        <p:spPr>
          <a:xfrm>
            <a:off x="1463040" y="1536192"/>
            <a:ext cx="6309360" cy="56692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Menyatakan hal salah tentang orang, membocorkan datanya, atau menghapus rating tanpa jejak</a:t>
            </a:r>
            <a:endParaRPr lang="en-US" sz="1300" dirty="0"/>
          </a:p>
        </p:txBody>
      </p:sp>
      <p:sp>
        <p:nvSpPr>
          <p:cNvPr id="9" name="Text 7"/>
          <p:cNvSpPr txBox="1"/>
          <p:nvPr/>
        </p:nvSpPr>
        <p:spPr>
          <a:xfrm>
            <a:off x="7909560" y="1536192"/>
            <a:ext cx="3687775" cy="566928"/>
          </a:xfrm>
          <a:prstGeom prst="rect">
            <a:avLst/>
          </a:prstGeom>
          <a:noFill/>
          <a:ln/>
        </p:spPr>
        <p:txBody>
          <a:bodyPr wrap="square" lIns="0" tIns="0" rIns="0" bIns="0" rtlCol="0" anchor="ctr"/>
          <a:lstStyle/>
          <a:p>
            <a:pPr indent="0" marL="0">
              <a:buNone/>
            </a:pPr>
            <a:r>
              <a:rPr lang="en-US" sz="1250" i="1" dirty="0">
                <a:solidFill>
                  <a:srgbClr val="5F6B76"/>
                </a:solidFill>
                <a:latin typeface="Calibri" pitchFamily="34" charset="0"/>
                <a:ea typeface="Calibri" pitchFamily="34" charset="-122"/>
                <a:cs typeface="Calibri" pitchFamily="34" charset="-120"/>
              </a:rPr>
              <a:t>Tidak ada yang bisa tahu</a:t>
            </a:r>
            <a:endParaRPr lang="en-US" sz="1250" dirty="0"/>
          </a:p>
        </p:txBody>
      </p:sp>
      <p:sp>
        <p:nvSpPr>
          <p:cNvPr id="10" name="Shape 8"/>
          <p:cNvSpPr/>
          <p:nvPr/>
        </p:nvSpPr>
        <p:spPr>
          <a:xfrm>
            <a:off x="594360" y="2359152"/>
            <a:ext cx="640080" cy="274320"/>
          </a:xfrm>
          <a:prstGeom prst="roundRect">
            <a:avLst>
              <a:gd name="adj" fmla="val 20000"/>
            </a:avLst>
          </a:prstGeom>
          <a:solidFill>
            <a:srgbClr val="B7791F"/>
          </a:solidFill>
          <a:ln w="12700">
            <a:solidFill>
              <a:srgbClr val="B7791F"/>
            </a:solidFill>
            <a:prstDash val="solid"/>
          </a:ln>
        </p:spPr>
      </p:sp>
      <p:sp>
        <p:nvSpPr>
          <p:cNvPr id="11" name="Text 9"/>
          <p:cNvSpPr txBox="1"/>
          <p:nvPr/>
        </p:nvSpPr>
        <p:spPr>
          <a:xfrm>
            <a:off x="594360" y="2359152"/>
            <a:ext cx="6400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12" name="Text 10"/>
          <p:cNvSpPr txBox="1"/>
          <p:nvPr/>
        </p:nvSpPr>
        <p:spPr>
          <a:xfrm>
            <a:off x="1463040" y="2231136"/>
            <a:ext cx="6309360" cy="56692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User tersangkut, atau jaminan akuntabilitas terkikis — tapi tidak ada yang dikarang</a:t>
            </a:r>
            <a:endParaRPr lang="en-US" sz="1300" dirty="0"/>
          </a:p>
        </p:txBody>
      </p:sp>
      <p:sp>
        <p:nvSpPr>
          <p:cNvPr id="13" name="Text 11"/>
          <p:cNvSpPr txBox="1"/>
          <p:nvPr/>
        </p:nvSpPr>
        <p:spPr>
          <a:xfrm>
            <a:off x="7909560" y="2231136"/>
            <a:ext cx="3687775" cy="566928"/>
          </a:xfrm>
          <a:prstGeom prst="rect">
            <a:avLst/>
          </a:prstGeom>
          <a:noFill/>
          <a:ln/>
        </p:spPr>
        <p:txBody>
          <a:bodyPr wrap="square" lIns="0" tIns="0" rIns="0" bIns="0" rtlCol="0" anchor="ctr"/>
          <a:lstStyle/>
          <a:p>
            <a:pPr indent="0" marL="0">
              <a:buNone/>
            </a:pPr>
            <a:r>
              <a:rPr lang="en-US" sz="1250" i="1" dirty="0">
                <a:solidFill>
                  <a:srgbClr val="5F6B76"/>
                </a:solidFill>
                <a:latin typeface="Calibri" pitchFamily="34" charset="0"/>
                <a:ea typeface="Calibri" pitchFamily="34" charset="-122"/>
                <a:cs typeface="Calibri" pitchFamily="34" charset="-120"/>
              </a:rPr>
              <a:t>Terlihat atau bisa dipulihkan</a:t>
            </a:r>
            <a:endParaRPr lang="en-US" sz="1250" dirty="0"/>
          </a:p>
        </p:txBody>
      </p:sp>
      <p:sp>
        <p:nvSpPr>
          <p:cNvPr id="14" name="Shape 12"/>
          <p:cNvSpPr/>
          <p:nvPr/>
        </p:nvSpPr>
        <p:spPr>
          <a:xfrm>
            <a:off x="594360" y="3054096"/>
            <a:ext cx="640080" cy="274320"/>
          </a:xfrm>
          <a:prstGeom prst="roundRect">
            <a:avLst>
              <a:gd name="adj" fmla="val 20000"/>
            </a:avLst>
          </a:prstGeom>
          <a:solidFill>
            <a:srgbClr val="5F6B76"/>
          </a:solidFill>
          <a:ln w="12700">
            <a:solidFill>
              <a:srgbClr val="5F6B76"/>
            </a:solidFill>
            <a:prstDash val="solid"/>
          </a:ln>
        </p:spPr>
      </p:sp>
      <p:sp>
        <p:nvSpPr>
          <p:cNvPr id="15" name="Text 13"/>
          <p:cNvSpPr txBox="1"/>
          <p:nvPr/>
        </p:nvSpPr>
        <p:spPr>
          <a:xfrm>
            <a:off x="594360" y="3054096"/>
            <a:ext cx="6400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P2</a:t>
            </a:r>
            <a:endParaRPr lang="en-US" sz="1100" dirty="0"/>
          </a:p>
        </p:txBody>
      </p:sp>
      <p:sp>
        <p:nvSpPr>
          <p:cNvPr id="16" name="Text 14"/>
          <p:cNvSpPr txBox="1"/>
          <p:nvPr/>
        </p:nvSpPr>
        <p:spPr>
          <a:xfrm>
            <a:off x="1463040" y="2926080"/>
            <a:ext cx="6309360" cy="56692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Benar hari ini, rapuh secara konstruksi</a:t>
            </a:r>
            <a:endParaRPr lang="en-US" sz="1300" dirty="0"/>
          </a:p>
        </p:txBody>
      </p:sp>
      <p:sp>
        <p:nvSpPr>
          <p:cNvPr id="17" name="Text 15"/>
          <p:cNvSpPr txBox="1"/>
          <p:nvPr/>
        </p:nvSpPr>
        <p:spPr>
          <a:xfrm>
            <a:off x="7909560" y="2926080"/>
            <a:ext cx="3687775" cy="566928"/>
          </a:xfrm>
          <a:prstGeom prst="rect">
            <a:avLst/>
          </a:prstGeom>
          <a:noFill/>
          <a:ln/>
        </p:spPr>
        <p:txBody>
          <a:bodyPr wrap="square" lIns="0" tIns="0" rIns="0" bIns="0" rtlCol="0" anchor="ctr"/>
          <a:lstStyle/>
          <a:p>
            <a:pPr indent="0" marL="0">
              <a:buNone/>
            </a:pPr>
            <a:r>
              <a:rPr lang="en-US" sz="1250" i="1" dirty="0">
                <a:solidFill>
                  <a:srgbClr val="5F6B76"/>
                </a:solidFill>
                <a:latin typeface="Calibri" pitchFamily="34" charset="0"/>
                <a:ea typeface="Calibri" pitchFamily="34" charset="-122"/>
                <a:cs typeface="Calibri" pitchFamily="34" charset="-120"/>
              </a:rPr>
              <a:t>Bergantung invariant yang tak tertulis</a:t>
            </a:r>
            <a:endParaRPr lang="en-US" sz="1250" dirty="0"/>
          </a:p>
        </p:txBody>
      </p:sp>
      <p:sp>
        <p:nvSpPr>
          <p:cNvPr id="18" name="Shape 16"/>
          <p:cNvSpPr/>
          <p:nvPr/>
        </p:nvSpPr>
        <p:spPr>
          <a:xfrm>
            <a:off x="594360" y="3749040"/>
            <a:ext cx="640080" cy="274320"/>
          </a:xfrm>
          <a:prstGeom prst="roundRect">
            <a:avLst>
              <a:gd name="adj" fmla="val 20000"/>
            </a:avLst>
          </a:prstGeom>
          <a:solidFill>
            <a:srgbClr val="8B96A0"/>
          </a:solidFill>
          <a:ln w="12700">
            <a:solidFill>
              <a:srgbClr val="8B96A0"/>
            </a:solidFill>
            <a:prstDash val="solid"/>
          </a:ln>
        </p:spPr>
      </p:sp>
      <p:sp>
        <p:nvSpPr>
          <p:cNvPr id="19" name="Text 17"/>
          <p:cNvSpPr txBox="1"/>
          <p:nvPr/>
        </p:nvSpPr>
        <p:spPr>
          <a:xfrm>
            <a:off x="594360" y="3749040"/>
            <a:ext cx="6400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P3</a:t>
            </a:r>
            <a:endParaRPr lang="en-US" sz="1100" dirty="0"/>
          </a:p>
        </p:txBody>
      </p:sp>
      <p:sp>
        <p:nvSpPr>
          <p:cNvPr id="20" name="Text 18"/>
          <p:cNvSpPr txBox="1"/>
          <p:nvPr/>
        </p:nvSpPr>
        <p:spPr>
          <a:xfrm>
            <a:off x="1463040" y="3621024"/>
            <a:ext cx="6309360" cy="56692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Kerapian dan hygiene, belum merugikan siapa pun</a:t>
            </a:r>
            <a:endParaRPr lang="en-US" sz="1300" dirty="0"/>
          </a:p>
        </p:txBody>
      </p:sp>
      <p:sp>
        <p:nvSpPr>
          <p:cNvPr id="21" name="Text 19"/>
          <p:cNvSpPr txBox="1"/>
          <p:nvPr/>
        </p:nvSpPr>
        <p:spPr>
          <a:xfrm>
            <a:off x="7909560" y="3621024"/>
            <a:ext cx="3687775" cy="566928"/>
          </a:xfrm>
          <a:prstGeom prst="rect">
            <a:avLst/>
          </a:prstGeom>
          <a:noFill/>
          <a:ln/>
        </p:spPr>
        <p:txBody>
          <a:bodyPr wrap="square" lIns="0" tIns="0" rIns="0" bIns="0" rtlCol="0" anchor="ctr"/>
          <a:lstStyle/>
          <a:p>
            <a:pPr indent="0" marL="0">
              <a:buNone/>
            </a:pPr>
            <a:r>
              <a:rPr lang="en-US" sz="1250" i="1" dirty="0">
                <a:solidFill>
                  <a:srgbClr val="5F6B76"/>
                </a:solidFill>
                <a:latin typeface="Calibri" pitchFamily="34" charset="0"/>
                <a:ea typeface="Calibri" pitchFamily="34" charset="-122"/>
                <a:cs typeface="Calibri" pitchFamily="34" charset="-120"/>
              </a:rPr>
              <a:t>Jebakan, bukan cacat</a:t>
            </a:r>
            <a:endParaRPr lang="en-US" sz="1250" dirty="0"/>
          </a:p>
        </p:txBody>
      </p:sp>
      <p:sp>
        <p:nvSpPr>
          <p:cNvPr id="22" name="Shape 20"/>
          <p:cNvSpPr/>
          <p:nvPr/>
        </p:nvSpPr>
        <p:spPr>
          <a:xfrm>
            <a:off x="594360" y="4480560"/>
            <a:ext cx="5364328" cy="1508760"/>
          </a:xfrm>
          <a:prstGeom prst="roundRect">
            <a:avLst>
              <a:gd name="adj" fmla="val 4242"/>
            </a:avLst>
          </a:prstGeom>
          <a:solidFill>
            <a:srgbClr val="E6F3F1"/>
          </a:solidFill>
          <a:ln w="9525">
            <a:solidFill>
              <a:srgbClr val="E6F3F1"/>
            </a:solidFill>
            <a:prstDash val="solid"/>
          </a:ln>
        </p:spPr>
      </p:sp>
      <p:sp>
        <p:nvSpPr>
          <p:cNvPr id="23" name="Text 21"/>
          <p:cNvSpPr txBox="1"/>
          <p:nvPr/>
        </p:nvSpPr>
        <p:spPr>
          <a:xfrm>
            <a:off x="868680" y="4617720"/>
            <a:ext cx="4815688" cy="32004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Silence promotes</a:t>
            </a:r>
            <a:endParaRPr lang="en-US" sz="1500" dirty="0"/>
          </a:p>
        </p:txBody>
      </p:sp>
      <p:sp>
        <p:nvSpPr>
          <p:cNvPr id="24" name="Text 22"/>
          <p:cNvSpPr txBox="1"/>
          <p:nvPr/>
        </p:nvSpPr>
        <p:spPr>
          <a:xfrm>
            <a:off x="868680" y="4983480"/>
            <a:ext cx="4815688" cy="91440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Angka salah yang ditampilkan dengan peringatan itu P1. Angka yang sama ditampilkan sebagai fakta itu P0. Karena itu kolom kosong lebih berat dari crash — crash mengumumkan dirinya.</a:t>
            </a:r>
            <a:endParaRPr lang="en-US" sz="1250" dirty="0"/>
          </a:p>
        </p:txBody>
      </p:sp>
      <p:sp>
        <p:nvSpPr>
          <p:cNvPr id="25" name="Shape 23"/>
          <p:cNvSpPr/>
          <p:nvPr/>
        </p:nvSpPr>
        <p:spPr>
          <a:xfrm>
            <a:off x="6233008" y="4480560"/>
            <a:ext cx="5364328" cy="1508760"/>
          </a:xfrm>
          <a:prstGeom prst="roundRect">
            <a:avLst>
              <a:gd name="adj" fmla="val 4242"/>
            </a:avLst>
          </a:prstGeom>
          <a:solidFill>
            <a:srgbClr val="E6F3F1"/>
          </a:solidFill>
          <a:ln w="9525">
            <a:solidFill>
              <a:srgbClr val="E6F3F1"/>
            </a:solidFill>
            <a:prstDash val="solid"/>
          </a:ln>
        </p:spPr>
      </p:sp>
      <p:sp>
        <p:nvSpPr>
          <p:cNvPr id="26" name="Text 24"/>
          <p:cNvSpPr txBox="1"/>
          <p:nvPr/>
        </p:nvSpPr>
        <p:spPr>
          <a:xfrm>
            <a:off x="6507328" y="4617720"/>
            <a:ext cx="4815688" cy="32004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Recoverability demotes</a:t>
            </a:r>
            <a:endParaRPr lang="en-US" sz="1500" dirty="0"/>
          </a:p>
        </p:txBody>
      </p:sp>
      <p:sp>
        <p:nvSpPr>
          <p:cNvPr id="27" name="Text 25"/>
          <p:cNvSpPr txBox="1"/>
          <p:nvPr/>
        </p:nvSpPr>
        <p:spPr>
          <a:xfrm>
            <a:off x="6507328" y="4983480"/>
            <a:ext cx="4815688" cy="91440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Kalau user bisa retry, turun satu tingkat. Kalau pemulihannya butuh rails console, naik satu tingkat.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77 temuan, tiga kebiasaan</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§2.2 · 44 backend, 33 frontend. Satu per satu ini cacat; bersama-sama ini satu pola.</a:t>
            </a:r>
            <a:endParaRPr lang="en-US" sz="1500" dirty="0"/>
          </a:p>
        </p:txBody>
      </p:sp>
      <p:sp>
        <p:nvSpPr>
          <p:cNvPr id="6" name="Shape 4"/>
          <p:cNvSpPr/>
          <p:nvPr/>
        </p:nvSpPr>
        <p:spPr>
          <a:xfrm>
            <a:off x="594360" y="1554480"/>
            <a:ext cx="3484778" cy="3017520"/>
          </a:xfrm>
          <a:prstGeom prst="roundRect">
            <a:avLst>
              <a:gd name="adj" fmla="val 2121"/>
            </a:avLst>
          </a:prstGeom>
          <a:solidFill>
            <a:srgbClr val="F5F7F8"/>
          </a:solidFill>
          <a:ln w="9525">
            <a:solidFill>
              <a:srgbClr val="E2E7EB"/>
            </a:solidFill>
            <a:prstDash val="solid"/>
          </a:ln>
        </p:spPr>
      </p:sp>
      <p:sp>
        <p:nvSpPr>
          <p:cNvPr id="7" name="Text 5"/>
          <p:cNvSpPr txBox="1"/>
          <p:nvPr/>
        </p:nvSpPr>
        <p:spPr>
          <a:xfrm>
            <a:off x="868680" y="1737360"/>
            <a:ext cx="2936138" cy="365760"/>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Gagal diam-diam</a:t>
            </a:r>
            <a:endParaRPr lang="en-US" sz="1600" dirty="0"/>
          </a:p>
        </p:txBody>
      </p:sp>
      <p:sp>
        <p:nvSpPr>
          <p:cNvPr id="8" name="Text 6"/>
          <p:cNvSpPr txBox="1"/>
          <p:nvPr/>
        </p:nvSpPr>
        <p:spPr>
          <a:xfrm>
            <a:off x="868680" y="2240280"/>
            <a:ext cx="2936138" cy="219456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Audio putus tanpa buffer di dua lapisan</a:t>
            </a:r>
            <a:endParaRPr lang="en-US" sz="1300" dirty="0"/>
          </a:p>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Error polling ditelan di kedua service</a:t>
            </a:r>
            <a:endParaRPr lang="en-US" sz="1300" dirty="0"/>
          </a:p>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_destroy dideklarasikan, tidak pernah dikirim</a:t>
            </a:r>
            <a:endParaRPr lang="en-US" sz="1300" dirty="0"/>
          </a:p>
        </p:txBody>
      </p:sp>
      <p:sp>
        <p:nvSpPr>
          <p:cNvPr id="9" name="Shape 7"/>
          <p:cNvSpPr/>
          <p:nvPr/>
        </p:nvSpPr>
        <p:spPr>
          <a:xfrm>
            <a:off x="4353458" y="1554480"/>
            <a:ext cx="3484778" cy="3017520"/>
          </a:xfrm>
          <a:prstGeom prst="roundRect">
            <a:avLst>
              <a:gd name="adj" fmla="val 2121"/>
            </a:avLst>
          </a:prstGeom>
          <a:solidFill>
            <a:srgbClr val="F5F7F8"/>
          </a:solidFill>
          <a:ln w="9525">
            <a:solidFill>
              <a:srgbClr val="E2E7EB"/>
            </a:solidFill>
            <a:prstDash val="solid"/>
          </a:ln>
        </p:spPr>
      </p:sp>
      <p:sp>
        <p:nvSpPr>
          <p:cNvPr id="10" name="Text 8"/>
          <p:cNvSpPr txBox="1"/>
          <p:nvPr/>
        </p:nvSpPr>
        <p:spPr>
          <a:xfrm>
            <a:off x="4627778" y="1737360"/>
            <a:ext cx="2936138" cy="365760"/>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Sudah dibuat, tidak disambungkan</a:t>
            </a:r>
            <a:endParaRPr lang="en-US" sz="1600" dirty="0"/>
          </a:p>
        </p:txBody>
      </p:sp>
      <p:sp>
        <p:nvSpPr>
          <p:cNvPr id="11" name="Text 9"/>
          <p:cNvSpPr txBox="1"/>
          <p:nvPr/>
        </p:nvSpPr>
        <p:spPr>
          <a:xfrm>
            <a:off x="4627778" y="2240280"/>
            <a:ext cx="2936138" cy="219456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AudioRingBuffer ditulis penuh, tidak dipakai</a:t>
            </a:r>
            <a:endParaRPr lang="en-US" sz="1300" dirty="0"/>
          </a:p>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zod terpasang, menganggur</a:t>
            </a:r>
            <a:endParaRPr lang="en-US" sz="1300" dirty="0"/>
          </a:p>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SignupPage selesai, tanpa route</a:t>
            </a:r>
            <a:endParaRPr lang="en-US" sz="1300" dirty="0"/>
          </a:p>
        </p:txBody>
      </p:sp>
      <p:sp>
        <p:nvSpPr>
          <p:cNvPr id="12" name="Shape 10"/>
          <p:cNvSpPr/>
          <p:nvPr/>
        </p:nvSpPr>
        <p:spPr>
          <a:xfrm>
            <a:off x="8112557" y="1554480"/>
            <a:ext cx="3484778" cy="3017520"/>
          </a:xfrm>
          <a:prstGeom prst="roundRect">
            <a:avLst>
              <a:gd name="adj" fmla="val 2121"/>
            </a:avLst>
          </a:prstGeom>
          <a:solidFill>
            <a:srgbClr val="F5F7F8"/>
          </a:solidFill>
          <a:ln w="9525">
            <a:solidFill>
              <a:srgbClr val="E2E7EB"/>
            </a:solidFill>
            <a:prstDash val="solid"/>
          </a:ln>
        </p:spPr>
      </p:sp>
      <p:sp>
        <p:nvSpPr>
          <p:cNvPr id="13" name="Text 11"/>
          <p:cNvSpPr txBox="1"/>
          <p:nvPr/>
        </p:nvSpPr>
        <p:spPr>
          <a:xfrm>
            <a:off x="8386877" y="1737360"/>
            <a:ext cx="2936138" cy="365760"/>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Default yang merugikan</a:t>
            </a:r>
            <a:endParaRPr lang="en-US" sz="1600" dirty="0"/>
          </a:p>
        </p:txBody>
      </p:sp>
      <p:sp>
        <p:nvSpPr>
          <p:cNvPr id="14" name="Text 12"/>
          <p:cNvSpPr txBox="1"/>
          <p:nvPr/>
        </p:nvSpPr>
        <p:spPr>
          <a:xfrm>
            <a:off x="8386877" y="2240280"/>
            <a:ext cx="2936138" cy="219456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Level kosong → L1 Foundational</a:t>
            </a:r>
            <a:endParaRPr lang="en-US" sz="1300" dirty="0"/>
          </a:p>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Confidence tak terbaca → LOW</a:t>
            </a:r>
            <a:endParaRPr lang="en-US" sz="1300" dirty="0"/>
          </a:p>
          <a:p>
            <a:pPr marL="342900" indent="-342900">
              <a:lnSpc>
                <a:spcPts val="1800"/>
              </a:lnSpc>
              <a:spcAft>
                <a:spcPts val="900"/>
              </a:spcAft>
              <a:buSzPct val="100000"/>
              <a:buChar char="•"/>
            </a:pPr>
            <a:r>
              <a:rPr lang="en-US" sz="1300" dirty="0">
                <a:solidFill>
                  <a:srgbClr val="5F6B76"/>
                </a:solidFill>
                <a:latin typeface="Calibri" pitchFamily="34" charset="0"/>
                <a:ea typeface="Calibri" pitchFamily="34" charset="-122"/>
                <a:cs typeface="Calibri" pitchFamily="34" charset="-120"/>
              </a:rPr>
              <a:t>Reconnect gagal → “Interview Complete”</a:t>
            </a:r>
            <a:endParaRPr lang="en-US" sz="1300" dirty="0"/>
          </a:p>
        </p:txBody>
      </p:sp>
      <p:sp>
        <p:nvSpPr>
          <p:cNvPr id="15" name="Shape 13"/>
          <p:cNvSpPr/>
          <p:nvPr/>
        </p:nvSpPr>
        <p:spPr>
          <a:xfrm>
            <a:off x="594360" y="4800600"/>
            <a:ext cx="11002975" cy="1188720"/>
          </a:xfrm>
          <a:prstGeom prst="roundRect">
            <a:avLst>
              <a:gd name="adj" fmla="val 5385"/>
            </a:avLst>
          </a:prstGeom>
          <a:solidFill>
            <a:srgbClr val="FCEDE8"/>
          </a:solidFill>
          <a:ln w="9525">
            <a:solidFill>
              <a:srgbClr val="FCEDE8"/>
            </a:solidFill>
            <a:prstDash val="solid"/>
          </a:ln>
        </p:spPr>
      </p:sp>
      <p:sp>
        <p:nvSpPr>
          <p:cNvPr id="16" name="Text 14"/>
          <p:cNvSpPr txBox="1"/>
          <p:nvPr/>
        </p:nvSpPr>
        <p:spPr>
          <a:xfrm>
            <a:off x="868680" y="4800600"/>
            <a:ext cx="10454335" cy="1188720"/>
          </a:xfrm>
          <a:prstGeom prst="rect">
            <a:avLst/>
          </a:prstGeom>
          <a:noFill/>
          <a:ln/>
        </p:spPr>
        <p:txBody>
          <a:bodyPr wrap="square" lIns="0" tIns="0" rIns="0" bIns="0" rtlCol="0" anchor="ctr"/>
          <a:lstStyle/>
          <a:p>
            <a:pPr indent="0" marL="0">
              <a:lnSpc>
                <a:spcPts val="2000"/>
              </a:lnSpc>
              <a:buNone/>
            </a:pPr>
            <a:r>
              <a:rPr lang="en-US" sz="1450" dirty="0">
                <a:solidFill>
                  <a:srgbClr val="1F2933"/>
                </a:solidFill>
                <a:latin typeface="Calibri" pitchFamily="34" charset="0"/>
                <a:ea typeface="Calibri" pitchFamily="34" charset="-122"/>
                <a:cs typeface="Calibri" pitchFamily="34" charset="-120"/>
              </a:rPr>
              <a:t>Setiap kali sistem tidak tahu, ia memilih jawaban yang merugikan orang paling lemah di ruangan itu. Tiga P0 di tabel Fit/Gap adalah contoh paling jelas dari pola kedua: dihitung, lalu dibuang.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Masalah utama: data putus di sambungan</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§2.2 · P0-1, P0-2, P0-3 berasal dari satu akar.</a:t>
            </a:r>
            <a:endParaRPr lang="en-US" sz="1500" dirty="0"/>
          </a:p>
        </p:txBody>
      </p:sp>
      <p:sp>
        <p:nvSpPr>
          <p:cNvPr id="6" name="Shape 4"/>
          <p:cNvSpPr/>
          <p:nvPr/>
        </p:nvSpPr>
        <p:spPr>
          <a:xfrm>
            <a:off x="594360" y="1554480"/>
            <a:ext cx="2487168" cy="2103120"/>
          </a:xfrm>
          <a:prstGeom prst="roundRect">
            <a:avLst>
              <a:gd name="adj" fmla="val 3043"/>
            </a:avLst>
          </a:prstGeom>
          <a:solidFill>
            <a:srgbClr val="E6F3F1"/>
          </a:solidFill>
          <a:ln w="9525">
            <a:solidFill>
              <a:srgbClr val="0F766E"/>
            </a:solidFill>
            <a:prstDash val="solid"/>
          </a:ln>
        </p:spPr>
      </p:sp>
      <p:sp>
        <p:nvSpPr>
          <p:cNvPr id="7" name="Text 5"/>
          <p:cNvSpPr txBox="1"/>
          <p:nvPr/>
        </p:nvSpPr>
        <p:spPr>
          <a:xfrm>
            <a:off x="795528" y="1719072"/>
            <a:ext cx="2084832" cy="228600"/>
          </a:xfrm>
          <a:prstGeom prst="rect">
            <a:avLst/>
          </a:prstGeom>
          <a:noFill/>
          <a:ln/>
        </p:spPr>
        <p:txBody>
          <a:bodyPr wrap="square" lIns="0" tIns="0" rIns="0" bIns="0" rtlCol="0" anchor="t"/>
          <a:lstStyle/>
          <a:p>
            <a:pPr indent="0" marL="0">
              <a:buNone/>
            </a:pPr>
            <a:r>
              <a:rPr lang="en-US" sz="1000" b="1" dirty="0">
                <a:solidFill>
                  <a:srgbClr val="0F766E"/>
                </a:solidFill>
                <a:latin typeface="Calibri" pitchFamily="34" charset="0"/>
                <a:ea typeface="Calibri" pitchFamily="34" charset="-122"/>
                <a:cs typeface="Calibri" pitchFamily="34" charset="-120"/>
              </a:rPr>
              <a:t>RUBY</a:t>
            </a:r>
            <a:endParaRPr lang="en-US" sz="1000" dirty="0"/>
          </a:p>
        </p:txBody>
      </p:sp>
      <p:sp>
        <p:nvSpPr>
          <p:cNvPr id="8" name="Text 6"/>
          <p:cNvSpPr txBox="1"/>
          <p:nvPr/>
        </p:nvSpPr>
        <p:spPr>
          <a:xfrm>
            <a:off x="795528" y="1965960"/>
            <a:ext cx="2084832" cy="347472"/>
          </a:xfrm>
          <a:prstGeom prst="rect">
            <a:avLst/>
          </a:prstGeom>
          <a:noFill/>
          <a:ln/>
        </p:spPr>
        <p:txBody>
          <a:bodyPr wrap="square" lIns="0" tIns="0" rIns="0" bIns="0" rtlCol="0" anchor="t"/>
          <a:lstStyle/>
          <a:p>
            <a:pPr indent="0" marL="0">
              <a:buNone/>
            </a:pPr>
            <a:r>
              <a:rPr lang="en-US" sz="1500" b="1" dirty="0">
                <a:solidFill>
                  <a:srgbClr val="1F2933"/>
                </a:solidFill>
                <a:latin typeface="Courier New" pitchFamily="34" charset="0"/>
                <a:ea typeface="Courier New" pitchFamily="34" charset="-122"/>
                <a:cs typeface="Courier New" pitchFamily="34" charset="-120"/>
              </a:rPr>
              <a:t>FitGap::Engine</a:t>
            </a:r>
            <a:endParaRPr lang="en-US" sz="1500" dirty="0"/>
          </a:p>
        </p:txBody>
      </p:sp>
      <p:sp>
        <p:nvSpPr>
          <p:cNvPr id="9" name="Text 7"/>
          <p:cNvSpPr txBox="1"/>
          <p:nvPr/>
        </p:nvSpPr>
        <p:spPr>
          <a:xfrm>
            <a:off x="795528" y="2395728"/>
            <a:ext cx="2084832"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Menghitung expected_level, is_override, confidence, probe_count</a:t>
            </a:r>
            <a:endParaRPr lang="en-US" sz="1200" dirty="0"/>
          </a:p>
        </p:txBody>
      </p:sp>
      <p:sp>
        <p:nvSpPr>
          <p:cNvPr id="10" name="Shape 8"/>
          <p:cNvSpPr/>
          <p:nvPr/>
        </p:nvSpPr>
        <p:spPr>
          <a:xfrm>
            <a:off x="3118104" y="2606040"/>
            <a:ext cx="278282" cy="0"/>
          </a:xfrm>
          <a:prstGeom prst="line">
            <a:avLst/>
          </a:prstGeom>
          <a:noFill/>
          <a:ln w="19050">
            <a:solidFill>
              <a:srgbClr val="8B96A0"/>
            </a:solidFill>
            <a:prstDash val="solid"/>
            <a:tailEnd type="triangle"/>
          </a:ln>
        </p:spPr>
      </p:sp>
      <p:sp>
        <p:nvSpPr>
          <p:cNvPr id="11" name="Shape 9"/>
          <p:cNvSpPr/>
          <p:nvPr/>
        </p:nvSpPr>
        <p:spPr>
          <a:xfrm>
            <a:off x="3432962" y="1554480"/>
            <a:ext cx="2487168" cy="2103120"/>
          </a:xfrm>
          <a:prstGeom prst="roundRect">
            <a:avLst>
              <a:gd name="adj" fmla="val 3043"/>
            </a:avLst>
          </a:prstGeom>
          <a:solidFill>
            <a:srgbClr val="E6F3F1"/>
          </a:solidFill>
          <a:ln w="9525">
            <a:solidFill>
              <a:srgbClr val="0F766E"/>
            </a:solidFill>
            <a:prstDash val="solid"/>
          </a:ln>
        </p:spPr>
      </p:sp>
      <p:sp>
        <p:nvSpPr>
          <p:cNvPr id="12" name="Text 10"/>
          <p:cNvSpPr txBox="1"/>
          <p:nvPr/>
        </p:nvSpPr>
        <p:spPr>
          <a:xfrm>
            <a:off x="3634130" y="1719072"/>
            <a:ext cx="2084832" cy="228600"/>
          </a:xfrm>
          <a:prstGeom prst="rect">
            <a:avLst/>
          </a:prstGeom>
          <a:noFill/>
          <a:ln/>
        </p:spPr>
        <p:txBody>
          <a:bodyPr wrap="square" lIns="0" tIns="0" rIns="0" bIns="0" rtlCol="0" anchor="t"/>
          <a:lstStyle/>
          <a:p>
            <a:pPr indent="0" marL="0">
              <a:buNone/>
            </a:pPr>
            <a:r>
              <a:rPr lang="en-US" sz="1000" b="1" dirty="0">
                <a:solidFill>
                  <a:srgbClr val="0F766E"/>
                </a:solidFill>
                <a:latin typeface="Calibri" pitchFamily="34" charset="0"/>
                <a:ea typeface="Calibri" pitchFamily="34" charset="-122"/>
                <a:cs typeface="Calibri" pitchFamily="34" charset="-120"/>
              </a:rPr>
              <a:t>API</a:t>
            </a:r>
            <a:endParaRPr lang="en-US" sz="1000" dirty="0"/>
          </a:p>
        </p:txBody>
      </p:sp>
      <p:sp>
        <p:nvSpPr>
          <p:cNvPr id="13" name="Text 11"/>
          <p:cNvSpPr txBox="1"/>
          <p:nvPr/>
        </p:nvSpPr>
        <p:spPr>
          <a:xfrm>
            <a:off x="3634130" y="1965960"/>
            <a:ext cx="2084832" cy="347472"/>
          </a:xfrm>
          <a:prstGeom prst="rect">
            <a:avLst/>
          </a:prstGeom>
          <a:noFill/>
          <a:ln/>
        </p:spPr>
        <p:txBody>
          <a:bodyPr wrap="square" lIns="0" tIns="0" rIns="0" bIns="0" rtlCol="0" anchor="t"/>
          <a:lstStyle/>
          <a:p>
            <a:pPr indent="0" marL="0">
              <a:buNone/>
            </a:pPr>
            <a:r>
              <a:rPr lang="en-US" sz="1500" b="1" dirty="0">
                <a:solidFill>
                  <a:srgbClr val="1F2933"/>
                </a:solidFill>
                <a:latin typeface="Courier New" pitchFamily="34" charset="0"/>
                <a:ea typeface="Courier New" pitchFamily="34" charset="-122"/>
                <a:cs typeface="Courier New" pitchFamily="34" charset="-120"/>
              </a:rPr>
              <a:t>Response JSON</a:t>
            </a:r>
            <a:endParaRPr lang="en-US" sz="1500" dirty="0"/>
          </a:p>
        </p:txBody>
      </p:sp>
      <p:sp>
        <p:nvSpPr>
          <p:cNvPr id="14" name="Text 12"/>
          <p:cNvSpPr txBox="1"/>
          <p:nvPr/>
        </p:nvSpPr>
        <p:spPr>
          <a:xfrm>
            <a:off x="3634130" y="2395728"/>
            <a:ext cx="2084832"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ourier New" pitchFamily="34" charset="0"/>
                <a:ea typeface="Courier New" pitchFamily="34" charset="-122"/>
                <a:cs typeface="Courier New" pitchFamily="34" charset="-120"/>
              </a:rPr>
              <a:t>{ expected_level: 4,</a:t>
            </a:r>
            <a:endParaRPr lang="en-US" sz="1200" dirty="0"/>
          </a:p>
          <a:p>
            <a:pPr indent="0" marL="0">
              <a:lnSpc>
                <a:spcPts val="1600"/>
              </a:lnSpc>
              <a:buNone/>
            </a:pPr>
            <a:r>
              <a:rPr lang="en-US" sz="1200" dirty="0">
                <a:solidFill>
                  <a:srgbClr val="1F2933"/>
                </a:solidFill>
                <a:latin typeface="Courier New" pitchFamily="34" charset="0"/>
                <a:ea typeface="Courier New" pitchFamily="34" charset="-122"/>
                <a:cs typeface="Courier New" pitchFamily="34" charset="-120"/>
              </a:rPr>
              <a:t>  confidence: "low" }</a:t>
            </a:r>
            <a:endParaRPr lang="en-US" sz="1200" dirty="0"/>
          </a:p>
        </p:txBody>
      </p:sp>
      <p:sp>
        <p:nvSpPr>
          <p:cNvPr id="15" name="Shape 13"/>
          <p:cNvSpPr/>
          <p:nvPr/>
        </p:nvSpPr>
        <p:spPr>
          <a:xfrm>
            <a:off x="5956706" y="2606040"/>
            <a:ext cx="278282" cy="0"/>
          </a:xfrm>
          <a:prstGeom prst="line">
            <a:avLst/>
          </a:prstGeom>
          <a:noFill/>
          <a:ln w="19050">
            <a:solidFill>
              <a:srgbClr val="C8553D"/>
            </a:solidFill>
            <a:prstDash val="solid"/>
            <a:tailEnd type="triangle"/>
          </a:ln>
        </p:spPr>
      </p:sp>
      <p:sp>
        <p:nvSpPr>
          <p:cNvPr id="16" name="Shape 14"/>
          <p:cNvSpPr/>
          <p:nvPr/>
        </p:nvSpPr>
        <p:spPr>
          <a:xfrm>
            <a:off x="6271565" y="1554480"/>
            <a:ext cx="2487168" cy="2103120"/>
          </a:xfrm>
          <a:prstGeom prst="roundRect">
            <a:avLst>
              <a:gd name="adj" fmla="val 3043"/>
            </a:avLst>
          </a:prstGeom>
          <a:solidFill>
            <a:srgbClr val="FCEDE8"/>
          </a:solidFill>
          <a:ln w="9525">
            <a:solidFill>
              <a:srgbClr val="C8553D"/>
            </a:solidFill>
            <a:prstDash val="solid"/>
          </a:ln>
        </p:spPr>
      </p:sp>
      <p:sp>
        <p:nvSpPr>
          <p:cNvPr id="17" name="Text 15"/>
          <p:cNvSpPr txBox="1"/>
          <p:nvPr/>
        </p:nvSpPr>
        <p:spPr>
          <a:xfrm>
            <a:off x="6472733" y="1719072"/>
            <a:ext cx="2084832" cy="228600"/>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DITULIS TANGAN</a:t>
            </a:r>
            <a:endParaRPr lang="en-US" sz="1000" dirty="0"/>
          </a:p>
        </p:txBody>
      </p:sp>
      <p:sp>
        <p:nvSpPr>
          <p:cNvPr id="18" name="Text 16"/>
          <p:cNvSpPr txBox="1"/>
          <p:nvPr/>
        </p:nvSpPr>
        <p:spPr>
          <a:xfrm>
            <a:off x="6472733" y="1965960"/>
            <a:ext cx="2084832" cy="347472"/>
          </a:xfrm>
          <a:prstGeom prst="rect">
            <a:avLst/>
          </a:prstGeom>
          <a:noFill/>
          <a:ln/>
        </p:spPr>
        <p:txBody>
          <a:bodyPr wrap="square" lIns="0" tIns="0" rIns="0" bIns="0" rtlCol="0" anchor="t"/>
          <a:lstStyle/>
          <a:p>
            <a:pPr indent="0" marL="0">
              <a:buNone/>
            </a:pPr>
            <a:r>
              <a:rPr lang="en-US" sz="1500" b="1" dirty="0">
                <a:solidFill>
                  <a:srgbClr val="1F2933"/>
                </a:solidFill>
                <a:latin typeface="Courier New" pitchFamily="34" charset="0"/>
                <a:ea typeface="Courier New" pitchFamily="34" charset="-122"/>
                <a:cs typeface="Courier New" pitchFamily="34" charset="-120"/>
              </a:rPr>
              <a:t>types/index.ts</a:t>
            </a:r>
            <a:endParaRPr lang="en-US" sz="1500" dirty="0"/>
          </a:p>
        </p:txBody>
      </p:sp>
      <p:sp>
        <p:nvSpPr>
          <p:cNvPr id="19" name="Text 17"/>
          <p:cNvSpPr txBox="1"/>
          <p:nvPr/>
        </p:nvSpPr>
        <p:spPr>
          <a:xfrm>
            <a:off x="6472733" y="2395728"/>
            <a:ext cx="2084832"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Mengharapkan required_level. Tidak pernah dicocokkan dengan response asli.</a:t>
            </a:r>
            <a:endParaRPr lang="en-US" sz="1200" dirty="0"/>
          </a:p>
        </p:txBody>
      </p:sp>
      <p:sp>
        <p:nvSpPr>
          <p:cNvPr id="20" name="Shape 18"/>
          <p:cNvSpPr/>
          <p:nvPr/>
        </p:nvSpPr>
        <p:spPr>
          <a:xfrm>
            <a:off x="8795309" y="2606040"/>
            <a:ext cx="278282" cy="0"/>
          </a:xfrm>
          <a:prstGeom prst="line">
            <a:avLst/>
          </a:prstGeom>
          <a:noFill/>
          <a:ln w="19050">
            <a:solidFill>
              <a:srgbClr val="8B96A0"/>
            </a:solidFill>
            <a:prstDash val="solid"/>
            <a:tailEnd type="triangle"/>
          </a:ln>
        </p:spPr>
      </p:sp>
      <p:sp>
        <p:nvSpPr>
          <p:cNvPr id="21" name="Shape 19"/>
          <p:cNvSpPr/>
          <p:nvPr/>
        </p:nvSpPr>
        <p:spPr>
          <a:xfrm>
            <a:off x="9110167" y="1554480"/>
            <a:ext cx="2487168" cy="2103120"/>
          </a:xfrm>
          <a:prstGeom prst="roundRect">
            <a:avLst>
              <a:gd name="adj" fmla="val 3043"/>
            </a:avLst>
          </a:prstGeom>
          <a:solidFill>
            <a:srgbClr val="FCEDE8"/>
          </a:solidFill>
          <a:ln w="9525">
            <a:solidFill>
              <a:srgbClr val="C8553D"/>
            </a:solidFill>
            <a:prstDash val="solid"/>
          </a:ln>
        </p:spPr>
      </p:sp>
      <p:sp>
        <p:nvSpPr>
          <p:cNvPr id="22" name="Text 20"/>
          <p:cNvSpPr txBox="1"/>
          <p:nvPr/>
        </p:nvSpPr>
        <p:spPr>
          <a:xfrm>
            <a:off x="9311335" y="1719072"/>
            <a:ext cx="2084832" cy="228600"/>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REACT</a:t>
            </a:r>
            <a:endParaRPr lang="en-US" sz="1000" dirty="0"/>
          </a:p>
        </p:txBody>
      </p:sp>
      <p:sp>
        <p:nvSpPr>
          <p:cNvPr id="23" name="Text 21"/>
          <p:cNvSpPr txBox="1"/>
          <p:nvPr/>
        </p:nvSpPr>
        <p:spPr>
          <a:xfrm>
            <a:off x="9311335" y="1965960"/>
            <a:ext cx="2084832" cy="347472"/>
          </a:xfrm>
          <a:prstGeom prst="rect">
            <a:avLst/>
          </a:prstGeom>
          <a:noFill/>
          <a:ln/>
        </p:spPr>
        <p:txBody>
          <a:bodyPr wrap="square" lIns="0" tIns="0" rIns="0" bIns="0" rtlCol="0" anchor="t"/>
          <a:lstStyle/>
          <a:p>
            <a:pPr indent="0" marL="0">
              <a:buNone/>
            </a:pPr>
            <a:r>
              <a:rPr lang="en-US" sz="1500" b="1" dirty="0">
                <a:solidFill>
                  <a:srgbClr val="1F2933"/>
                </a:solidFill>
                <a:latin typeface="Courier New" pitchFamily="34" charset="0"/>
                <a:ea typeface="Courier New" pitchFamily="34" charset="-122"/>
                <a:cs typeface="Courier New" pitchFamily="34" charset="-120"/>
              </a:rPr>
              <a:t>ComparisonTable</a:t>
            </a:r>
            <a:endParaRPr lang="en-US" sz="1500" dirty="0"/>
          </a:p>
        </p:txBody>
      </p:sp>
      <p:sp>
        <p:nvSpPr>
          <p:cNvPr id="24" name="Text 22"/>
          <p:cNvSpPr txBox="1"/>
          <p:nvPr/>
        </p:nvSpPr>
        <p:spPr>
          <a:xfrm>
            <a:off x="9311335" y="2395728"/>
            <a:ext cx="2084832"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row.required_level → undefined → sel kosong. Tanpa error.</a:t>
            </a:r>
            <a:endParaRPr lang="en-US" sz="1200" dirty="0"/>
          </a:p>
        </p:txBody>
      </p:sp>
      <p:sp>
        <p:nvSpPr>
          <p:cNvPr id="25" name="Shape 23"/>
          <p:cNvSpPr/>
          <p:nvPr/>
        </p:nvSpPr>
        <p:spPr>
          <a:xfrm>
            <a:off x="594360" y="3931920"/>
            <a:ext cx="11002975" cy="548640"/>
          </a:xfrm>
          <a:prstGeom prst="roundRect">
            <a:avLst>
              <a:gd name="adj" fmla="val 11667"/>
            </a:avLst>
          </a:prstGeom>
          <a:solidFill>
            <a:srgbClr val="F5F7F8"/>
          </a:solidFill>
          <a:ln w="9525">
            <a:solidFill>
              <a:srgbClr val="E2E7EB"/>
            </a:solidFill>
            <a:prstDash val="solid"/>
          </a:ln>
        </p:spPr>
      </p:sp>
      <p:sp>
        <p:nvSpPr>
          <p:cNvPr id="26" name="Text 24"/>
          <p:cNvSpPr txBox="1"/>
          <p:nvPr/>
        </p:nvSpPr>
        <p:spPr>
          <a:xfrm>
            <a:off x="777240" y="3931920"/>
            <a:ext cx="822960" cy="548640"/>
          </a:xfrm>
          <a:prstGeom prst="rect">
            <a:avLst/>
          </a:prstGeom>
          <a:noFill/>
          <a:ln/>
        </p:spPr>
        <p:txBody>
          <a:bodyPr wrap="square" lIns="0" tIns="0" rIns="0" bIns="0" rtlCol="0" anchor="ctr"/>
          <a:lstStyle/>
          <a:p>
            <a:pPr indent="0" marL="0">
              <a:buNone/>
            </a:pPr>
            <a:r>
              <a:rPr lang="en-US" sz="1300" b="1" dirty="0">
                <a:solidFill>
                  <a:srgbClr val="C8553D"/>
                </a:solidFill>
                <a:latin typeface="Courier New" pitchFamily="34" charset="0"/>
                <a:ea typeface="Courier New" pitchFamily="34" charset="-122"/>
                <a:cs typeface="Courier New" pitchFamily="34" charset="-120"/>
              </a:rPr>
              <a:t>P0-1</a:t>
            </a:r>
            <a:endParaRPr lang="en-US" sz="1300" dirty="0"/>
          </a:p>
        </p:txBody>
      </p:sp>
      <p:sp>
        <p:nvSpPr>
          <p:cNvPr id="27" name="Text 25"/>
          <p:cNvSpPr txBox="1"/>
          <p:nvPr/>
        </p:nvSpPr>
        <p:spPr>
          <a:xfrm>
            <a:off x="1691640" y="3931920"/>
            <a:ext cx="4846320" cy="54864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Kolom Required kosong di setiap baris</a:t>
            </a:r>
            <a:endParaRPr lang="en-US" sz="1250" dirty="0"/>
          </a:p>
        </p:txBody>
      </p:sp>
      <p:sp>
        <p:nvSpPr>
          <p:cNvPr id="28" name="Text 26"/>
          <p:cNvSpPr txBox="1"/>
          <p:nvPr/>
        </p:nvSpPr>
        <p:spPr>
          <a:xfrm>
            <a:off x="6629400" y="3931920"/>
            <a:ext cx="4785055" cy="548640"/>
          </a:xfrm>
          <a:prstGeom prst="rect">
            <a:avLst/>
          </a:prstGeom>
          <a:noFill/>
          <a:ln/>
        </p:spPr>
        <p:txBody>
          <a:bodyPr wrap="square" lIns="0" tIns="0" rIns="0" bIns="0" rtlCol="0" anchor="ctr"/>
          <a:lstStyle/>
          <a:p>
            <a:pPr indent="0" marL="0">
              <a:buNone/>
            </a:pPr>
            <a:r>
              <a:rPr lang="en-US" sz="1250" dirty="0">
                <a:solidFill>
                  <a:srgbClr val="5F6B76"/>
                </a:solidFill>
                <a:latin typeface="Calibri" pitchFamily="34" charset="0"/>
                <a:ea typeface="Calibri" pitchFamily="34" charset="-122"/>
                <a:cs typeface="Calibri" pitchFamily="34" charset="-120"/>
              </a:rPr>
              <a:t>Bar pembanding kandidat hilang dari layar keputusan</a:t>
            </a:r>
            <a:endParaRPr lang="en-US" sz="1250" dirty="0"/>
          </a:p>
        </p:txBody>
      </p:sp>
      <p:sp>
        <p:nvSpPr>
          <p:cNvPr id="29" name="Shape 27"/>
          <p:cNvSpPr/>
          <p:nvPr/>
        </p:nvSpPr>
        <p:spPr>
          <a:xfrm>
            <a:off x="594360" y="4572000"/>
            <a:ext cx="11002975" cy="548640"/>
          </a:xfrm>
          <a:prstGeom prst="roundRect">
            <a:avLst>
              <a:gd name="adj" fmla="val 11667"/>
            </a:avLst>
          </a:prstGeom>
          <a:solidFill>
            <a:srgbClr val="F5F7F8"/>
          </a:solidFill>
          <a:ln w="9525">
            <a:solidFill>
              <a:srgbClr val="E2E7EB"/>
            </a:solidFill>
            <a:prstDash val="solid"/>
          </a:ln>
        </p:spPr>
      </p:sp>
      <p:sp>
        <p:nvSpPr>
          <p:cNvPr id="30" name="Text 28"/>
          <p:cNvSpPr txBox="1"/>
          <p:nvPr/>
        </p:nvSpPr>
        <p:spPr>
          <a:xfrm>
            <a:off x="777240" y="4572000"/>
            <a:ext cx="822960" cy="548640"/>
          </a:xfrm>
          <a:prstGeom prst="rect">
            <a:avLst/>
          </a:prstGeom>
          <a:noFill/>
          <a:ln/>
        </p:spPr>
        <p:txBody>
          <a:bodyPr wrap="square" lIns="0" tIns="0" rIns="0" bIns="0" rtlCol="0" anchor="ctr"/>
          <a:lstStyle/>
          <a:p>
            <a:pPr indent="0" marL="0">
              <a:buNone/>
            </a:pPr>
            <a:r>
              <a:rPr lang="en-US" sz="1300" b="1" dirty="0">
                <a:solidFill>
                  <a:srgbClr val="C8553D"/>
                </a:solidFill>
                <a:latin typeface="Courier New" pitchFamily="34" charset="0"/>
                <a:ea typeface="Courier New" pitchFamily="34" charset="-122"/>
                <a:cs typeface="Courier New" pitchFamily="34" charset="-120"/>
              </a:rPr>
              <a:t>P0-2</a:t>
            </a:r>
            <a:endParaRPr lang="en-US" sz="1300" dirty="0"/>
          </a:p>
        </p:txBody>
      </p:sp>
      <p:sp>
        <p:nvSpPr>
          <p:cNvPr id="31" name="Text 29"/>
          <p:cNvSpPr txBox="1"/>
          <p:nvPr/>
        </p:nvSpPr>
        <p:spPr>
          <a:xfrm>
            <a:off x="1691640" y="4572000"/>
            <a:ext cx="4846320" cy="54864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Marker override tidak pernah tampil, legend tetap menjanjikan</a:t>
            </a:r>
            <a:endParaRPr lang="en-US" sz="1250" dirty="0"/>
          </a:p>
        </p:txBody>
      </p:sp>
      <p:sp>
        <p:nvSpPr>
          <p:cNvPr id="32" name="Text 30"/>
          <p:cNvSpPr txBox="1"/>
          <p:nvPr/>
        </p:nvSpPr>
        <p:spPr>
          <a:xfrm>
            <a:off x="6629400" y="4572000"/>
            <a:ext cx="4785055" cy="548640"/>
          </a:xfrm>
          <a:prstGeom prst="rect">
            <a:avLst/>
          </a:prstGeom>
          <a:noFill/>
          <a:ln/>
        </p:spPr>
        <p:txBody>
          <a:bodyPr wrap="square" lIns="0" tIns="0" rIns="0" bIns="0" rtlCol="0" anchor="ctr"/>
          <a:lstStyle/>
          <a:p>
            <a:pPr indent="0" marL="0">
              <a:buNone/>
            </a:pPr>
            <a:r>
              <a:rPr lang="en-US" sz="1250" dirty="0">
                <a:solidFill>
                  <a:srgbClr val="5F6B76"/>
                </a:solidFill>
                <a:latin typeface="Calibri" pitchFamily="34" charset="0"/>
                <a:ea typeface="Calibri" pitchFamily="34" charset="-122"/>
                <a:cs typeface="Calibri" pitchFamily="34" charset="-120"/>
              </a:rPr>
              <a:t>Tebakan model dan koreksi assessor tak bisa dibedakan</a:t>
            </a:r>
            <a:endParaRPr lang="en-US" sz="1250" dirty="0"/>
          </a:p>
        </p:txBody>
      </p:sp>
      <p:sp>
        <p:nvSpPr>
          <p:cNvPr id="33" name="Shape 31"/>
          <p:cNvSpPr/>
          <p:nvPr/>
        </p:nvSpPr>
        <p:spPr>
          <a:xfrm>
            <a:off x="594360" y="5212080"/>
            <a:ext cx="11002975" cy="548640"/>
          </a:xfrm>
          <a:prstGeom prst="roundRect">
            <a:avLst>
              <a:gd name="adj" fmla="val 11667"/>
            </a:avLst>
          </a:prstGeom>
          <a:solidFill>
            <a:srgbClr val="F5F7F8"/>
          </a:solidFill>
          <a:ln w="9525">
            <a:solidFill>
              <a:srgbClr val="E2E7EB"/>
            </a:solidFill>
            <a:prstDash val="solid"/>
          </a:ln>
        </p:spPr>
      </p:sp>
      <p:sp>
        <p:nvSpPr>
          <p:cNvPr id="34" name="Text 32"/>
          <p:cNvSpPr txBox="1"/>
          <p:nvPr/>
        </p:nvSpPr>
        <p:spPr>
          <a:xfrm>
            <a:off x="777240" y="5212080"/>
            <a:ext cx="822960" cy="548640"/>
          </a:xfrm>
          <a:prstGeom prst="rect">
            <a:avLst/>
          </a:prstGeom>
          <a:noFill/>
          <a:ln/>
        </p:spPr>
        <p:txBody>
          <a:bodyPr wrap="square" lIns="0" tIns="0" rIns="0" bIns="0" rtlCol="0" anchor="ctr"/>
          <a:lstStyle/>
          <a:p>
            <a:pPr indent="0" marL="0">
              <a:buNone/>
            </a:pPr>
            <a:r>
              <a:rPr lang="en-US" sz="1300" b="1" dirty="0">
                <a:solidFill>
                  <a:srgbClr val="C8553D"/>
                </a:solidFill>
                <a:latin typeface="Courier New" pitchFamily="34" charset="0"/>
                <a:ea typeface="Courier New" pitchFamily="34" charset="-122"/>
                <a:cs typeface="Courier New" pitchFamily="34" charset="-120"/>
              </a:rPr>
              <a:t>P0-3</a:t>
            </a:r>
            <a:endParaRPr lang="en-US" sz="1300" dirty="0"/>
          </a:p>
        </p:txBody>
      </p:sp>
      <p:sp>
        <p:nvSpPr>
          <p:cNvPr id="35" name="Text 33"/>
          <p:cNvSpPr txBox="1"/>
          <p:nvPr/>
        </p:nvSpPr>
        <p:spPr>
          <a:xfrm>
            <a:off x="1691640" y="5212080"/>
            <a:ext cx="4846320" cy="54864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Confidence dihitung, dikirim, lalu dibuang</a:t>
            </a:r>
            <a:endParaRPr lang="en-US" sz="1250" dirty="0"/>
          </a:p>
        </p:txBody>
      </p:sp>
      <p:sp>
        <p:nvSpPr>
          <p:cNvPr id="36" name="Text 34"/>
          <p:cNvSpPr txBox="1"/>
          <p:nvPr/>
        </p:nvSpPr>
        <p:spPr>
          <a:xfrm>
            <a:off x="6629400" y="5212080"/>
            <a:ext cx="4785055" cy="548640"/>
          </a:xfrm>
          <a:prstGeom prst="rect">
            <a:avLst/>
          </a:prstGeom>
          <a:noFill/>
          <a:ln/>
        </p:spPr>
        <p:txBody>
          <a:bodyPr wrap="square" lIns="0" tIns="0" rIns="0" bIns="0" rtlCol="0" anchor="ctr"/>
          <a:lstStyle/>
          <a:p>
            <a:pPr indent="0" marL="0">
              <a:buNone/>
            </a:pPr>
            <a:r>
              <a:rPr lang="en-US" sz="1250" dirty="0">
                <a:solidFill>
                  <a:srgbClr val="5F6B76"/>
                </a:solidFill>
                <a:latin typeface="Calibri" pitchFamily="34" charset="0"/>
                <a:ea typeface="Calibri" pitchFamily="34" charset="-122"/>
                <a:cs typeface="Calibri" pitchFamily="34" charset="-120"/>
              </a:rPr>
              <a:t>“L4 dari 1 probe” dan “L4 dari 4 probe” terlihat sama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5550"/>
        </a:solidFill>
      </p:bgPr>
    </p:bg>
    <p:spTree>
      <p:nvGrpSpPr>
        <p:cNvPr id="1" name=""/>
        <p:cNvGrpSpPr/>
        <p:nvPr/>
      </p:nvGrpSpPr>
      <p:grpSpPr>
        <a:xfrm>
          <a:off x="0" y="0"/>
          <a:ext cx="0" cy="0"/>
          <a:chOff x="0" y="0"/>
          <a:chExt cx="0" cy="0"/>
        </a:xfrm>
      </p:grpSpPr>
      <p:sp>
        <p:nvSpPr>
          <p:cNvPr id="2" name="Text 0"/>
          <p:cNvSpPr txBox="1"/>
          <p:nvPr/>
        </p:nvSpPr>
        <p:spPr>
          <a:xfrm>
            <a:off x="594360" y="2103120"/>
            <a:ext cx="2743200" cy="548640"/>
          </a:xfrm>
          <a:prstGeom prst="rect">
            <a:avLst/>
          </a:prstGeom>
          <a:noFill/>
          <a:ln/>
        </p:spPr>
        <p:txBody>
          <a:bodyPr wrap="square" lIns="0" tIns="0" rIns="0" bIns="0" rtlCol="0" anchor="t"/>
          <a:lstStyle/>
          <a:p>
            <a:pPr indent="0" marL="0">
              <a:buNone/>
            </a:pPr>
            <a:r>
              <a:rPr lang="en-US" sz="2000" b="1" dirty="0">
                <a:solidFill>
                  <a:srgbClr val="8FD1C8"/>
                </a:solidFill>
                <a:latin typeface="Calibri" pitchFamily="34" charset="0"/>
                <a:ea typeface="Calibri" pitchFamily="34" charset="-122"/>
                <a:cs typeface="Calibri" pitchFamily="34" charset="-120"/>
              </a:rPr>
              <a:t>03</a:t>
            </a:r>
            <a:endParaRPr lang="en-US" sz="2000" dirty="0"/>
          </a:p>
        </p:txBody>
      </p:sp>
      <p:sp>
        <p:nvSpPr>
          <p:cNvPr id="3" name="Text 1"/>
          <p:cNvSpPr txBox="1"/>
          <p:nvPr/>
        </p:nvSpPr>
        <p:spPr>
          <a:xfrm>
            <a:off x="594360" y="2651760"/>
            <a:ext cx="11002975" cy="91440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Memutuskan</a:t>
            </a:r>
            <a:endParaRPr lang="en-US" sz="3800" dirty="0"/>
          </a:p>
        </p:txBody>
      </p:sp>
      <p:sp>
        <p:nvSpPr>
          <p:cNvPr id="4" name="Text 2"/>
          <p:cNvSpPr txBox="1"/>
          <p:nvPr/>
        </p:nvSpPr>
        <p:spPr>
          <a:xfrm>
            <a:off x="594360" y="3611880"/>
            <a:ext cx="9144000" cy="731520"/>
          </a:xfrm>
          <a:prstGeom prst="rect">
            <a:avLst/>
          </a:prstGeom>
          <a:noFill/>
          <a:ln/>
        </p:spPr>
        <p:txBody>
          <a:bodyPr wrap="square" lIns="0" tIns="0" rIns="0" bIns="0" rtlCol="0" anchor="t"/>
          <a:lstStyle/>
          <a:p>
            <a:pPr indent="0" marL="0">
              <a:lnSpc>
                <a:spcPts val="2300"/>
              </a:lnSpc>
              <a:buNone/>
            </a:pPr>
            <a:r>
              <a:rPr lang="en-US" sz="1700" dirty="0">
                <a:solidFill>
                  <a:srgbClr val="BFE3DE"/>
                </a:solidFill>
                <a:latin typeface="Calibri" pitchFamily="34" charset="0"/>
                <a:ea typeface="Calibri" pitchFamily="34" charset="-122"/>
                <a:cs typeface="Calibri" pitchFamily="34" charset="-120"/>
              </a:rPr>
              <a:t>Tiga opsi, apa yang saya eskalasi, dan kenapa kedalaman saya ada di frontend.</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Tiga opsi yang saya timbang</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§2.3 · Option evaluation &amp; trade-off matrix</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508760"/>
          <a:ext cx="11002975" cy="914400"/>
        </p:xfrm>
        <a:graphic>
          <a:graphicData uri="http://schemas.openxmlformats.org/drawingml/2006/table">
            <a:tbl>
              <a:tblPr/>
              <a:tblGrid>
                <a:gridCol w="1828800"/>
                <a:gridCol w="2834640"/>
                <a:gridCol w="3474720"/>
                <a:gridCol w="2862072"/>
              </a:tblGrid>
              <a:tr h="420624">
                <a:tc>
                  <a:txBody>
                    <a:bodyPr/>
                    <a:lstStyle/>
                    <a:p>
                      <a:pPr indent="0" marL="0">
                        <a:buNone/>
                      </a:pPr>
                      <a:endParaRPr lang="en-US" sz="130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A · Tambal seam</a:t>
                      </a:r>
                      <a:endParaRPr lang="en-US" sz="130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 · Contract-first  ✓ dipilih</a:t>
                      </a:r>
                      <a:endParaRPr lang="en-US" sz="130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0F766E"/>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C · OpenAPI codegen</a:t>
                      </a:r>
                      <a:endParaRPr lang="en-US" sz="130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r>
              <a:tr h="502920">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Biaya</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 1 jam</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 1,5 hari</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Beberapa hari — API belum punya spec</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713232">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Dampak ke user</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Tabel terisi</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Setiap baris jadi decision record: siapa menilai, seberapa yakin, dari berapa probe</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Sama dengan B, plus type otomatis</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65836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Cara gagal</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Drift berikutnya kembali diam-diam</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Drift gagal keras di boundary, field yang hilang disebut</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Spec yang tak dirawat jadi sumber salah baru</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6692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Perawatan</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Type tetap ditulis tangan</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Satu schema per response; type di-infer dari schema</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Paling rapi jangka panjang</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6692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Bisa dibatalkan</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Mudah</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Dilepas per endpoint. Zod sudah ada, menganggur</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Tidak tertutup oleh B</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bl>
          </a:graphicData>
        </a:graphic>
      </p:graphicFrame>
      <p:sp>
        <p:nvSpPr>
          <p:cNvPr id="7" name="Shape 4"/>
          <p:cNvSpPr/>
          <p:nvPr/>
        </p:nvSpPr>
        <p:spPr>
          <a:xfrm>
            <a:off x="594360" y="5257800"/>
            <a:ext cx="11002975" cy="731520"/>
          </a:xfrm>
          <a:prstGeom prst="roundRect">
            <a:avLst>
              <a:gd name="adj" fmla="val 8750"/>
            </a:avLst>
          </a:prstGeom>
          <a:solidFill>
            <a:srgbClr val="E6F3F1"/>
          </a:solidFill>
          <a:ln w="9525">
            <a:solidFill>
              <a:srgbClr val="E6F3F1"/>
            </a:solidFill>
            <a:prstDash val="solid"/>
          </a:ln>
        </p:spPr>
      </p:sp>
      <p:sp>
        <p:nvSpPr>
          <p:cNvPr id="8" name="Text 5"/>
          <p:cNvSpPr txBox="1"/>
          <p:nvPr/>
        </p:nvSpPr>
        <p:spPr>
          <a:xfrm>
            <a:off x="868680" y="5257800"/>
            <a:ext cx="10454335" cy="731520"/>
          </a:xfrm>
          <a:prstGeom prst="rect">
            <a:avLst/>
          </a:prstGeom>
          <a:noFill/>
          <a:ln/>
        </p:spPr>
        <p:txBody>
          <a:bodyPr wrap="square" lIns="0" tIns="0" rIns="0" bIns="0" rtlCol="0" anchor="ctr"/>
          <a:lstStyle/>
          <a:p>
            <a:pPr indent="0" marL="0">
              <a:buNone/>
            </a:pPr>
            <a:r>
              <a:rPr lang="en-US" sz="1350" b="1" dirty="0">
                <a:solidFill>
                  <a:srgbClr val="0B5550"/>
                </a:solidFill>
                <a:latin typeface="Calibri" pitchFamily="34" charset="0"/>
                <a:ea typeface="Calibri" pitchFamily="34" charset="-122"/>
                <a:cs typeface="Calibri" pitchFamily="34" charset="-120"/>
              </a:rPr>
              <a:t>Keputusan: </a:t>
            </a:r>
            <a:pPr indent="0" marL="0">
              <a:buNone/>
            </a:pPr>
            <a:r>
              <a:rPr lang="en-US" sz="1350" dirty="0">
                <a:solidFill>
                  <a:srgbClr val="1F2933"/>
                </a:solidFill>
                <a:latin typeface="Calibri" pitchFamily="34" charset="0"/>
                <a:ea typeface="Calibri" pitchFamily="34" charset="-122"/>
                <a:cs typeface="Calibri" pitchFamily="34" charset="-120"/>
              </a:rPr>
              <a:t>B sekarang, C berikutnya — setelah ada test runner yang bisa menangkap drift, investasi ke spec baru masuk akal.</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Yang saya eskalasi, bukan putuskan sendiri</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§2.2 · Constraint signal — yang akan saya bawa ke Tech Lead sebelum menulis kode di proyek live.</a:t>
            </a:r>
            <a:endParaRPr lang="en-US" sz="1500" dirty="0"/>
          </a:p>
        </p:txBody>
      </p:sp>
      <p:sp>
        <p:nvSpPr>
          <p:cNvPr id="6" name="Shape 4"/>
          <p:cNvSpPr/>
          <p:nvPr/>
        </p:nvSpPr>
        <p:spPr>
          <a:xfrm>
            <a:off x="594360" y="1554480"/>
            <a:ext cx="11002975" cy="804672"/>
          </a:xfrm>
          <a:prstGeom prst="roundRect">
            <a:avLst>
              <a:gd name="adj" fmla="val 7955"/>
            </a:avLst>
          </a:prstGeom>
          <a:solidFill>
            <a:srgbClr val="F5F7F8"/>
          </a:solidFill>
          <a:ln w="9525">
            <a:solidFill>
              <a:srgbClr val="E2E7EB"/>
            </a:solidFill>
            <a:prstDash val="solid"/>
          </a:ln>
        </p:spPr>
      </p:sp>
      <p:sp>
        <p:nvSpPr>
          <p:cNvPr id="7" name="Shape 5"/>
          <p:cNvSpPr/>
          <p:nvPr/>
        </p:nvSpPr>
        <p:spPr>
          <a:xfrm>
            <a:off x="795528" y="1755648"/>
            <a:ext cx="402336" cy="402336"/>
          </a:xfrm>
          <a:prstGeom prst="ellipse">
            <a:avLst/>
          </a:prstGeom>
          <a:solidFill>
            <a:srgbClr val="B7791F"/>
          </a:solidFill>
          <a:ln w="12700">
            <a:solidFill>
              <a:srgbClr val="B7791F"/>
            </a:solidFill>
            <a:prstDash val="solid"/>
          </a:ln>
        </p:spPr>
      </p:sp>
      <p:sp>
        <p:nvSpPr>
          <p:cNvPr id="8" name="Text 6"/>
          <p:cNvSpPr txBox="1"/>
          <p:nvPr/>
        </p:nvSpPr>
        <p:spPr>
          <a:xfrm>
            <a:off x="795528"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71600" y="1645920"/>
            <a:ext cx="4754880" cy="640080"/>
          </a:xfrm>
          <a:prstGeom prst="rect">
            <a:avLst/>
          </a:prstGeom>
          <a:noFill/>
          <a:ln/>
        </p:spPr>
        <p:txBody>
          <a:bodyPr wrap="square" lIns="0" tIns="0" rIns="0" bIns="0" rtlCol="0" anchor="ctr"/>
          <a:lstStyle/>
          <a:p>
            <a:pPr indent="0" marL="0">
              <a:lnSpc>
                <a:spcPts val="1600"/>
              </a:lnSpc>
              <a:buNone/>
            </a:pPr>
            <a:r>
              <a:rPr lang="en-US" sz="1300" b="1" dirty="0">
                <a:solidFill>
                  <a:srgbClr val="1F2933"/>
                </a:solidFill>
                <a:latin typeface="Calibri" pitchFamily="34" charset="0"/>
                <a:ea typeface="Calibri" pitchFamily="34" charset="-122"/>
                <a:cs typeface="Calibri" pitchFamily="34" charset="-120"/>
              </a:rPr>
              <a:t>Perbaikan IDOR: lewat Session, atau tambah tenant_id dan backfill?</a:t>
            </a:r>
            <a:endParaRPr lang="en-US" sz="1300" dirty="0"/>
          </a:p>
        </p:txBody>
      </p:sp>
      <p:sp>
        <p:nvSpPr>
          <p:cNvPr id="10" name="Text 8"/>
          <p:cNvSpPr txBox="1"/>
          <p:nvPr/>
        </p:nvSpPr>
        <p:spPr>
          <a:xfrm>
            <a:off x="6309360" y="1627632"/>
            <a:ext cx="5105095" cy="676656"/>
          </a:xfrm>
          <a:prstGeom prst="rect">
            <a:avLst/>
          </a:prstGeom>
          <a:noFill/>
          <a:ln/>
        </p:spPr>
        <p:txBody>
          <a:bodyPr wrap="square" lIns="0" tIns="0" rIns="0" bIns="0" rtlCol="0" anchor="ctr"/>
          <a:lstStyle/>
          <a:p>
            <a:pPr indent="0" marL="0">
              <a:lnSpc>
                <a:spcPts val="1600"/>
              </a:lnSpc>
              <a:buNone/>
            </a:pPr>
            <a:r>
              <a:rPr lang="en-US" sz="1200" dirty="0">
                <a:solidFill>
                  <a:srgbClr val="5F6B76"/>
                </a:solidFill>
                <a:latin typeface="Calibri" pitchFamily="34" charset="0"/>
                <a:ea typeface="Calibri" pitchFamily="34" charset="-122"/>
                <a:cs typeface="Calibri" pitchFamily="34" charset="-120"/>
              </a:rPr>
              <a:t>Satu mengubah signature endpoint publik, satu memigrasi baris produksi. Saya ambil yang pertama dan mencatat asumsinya.</a:t>
            </a:r>
            <a:endParaRPr lang="en-US" sz="1200" dirty="0"/>
          </a:p>
        </p:txBody>
      </p:sp>
      <p:sp>
        <p:nvSpPr>
          <p:cNvPr id="11" name="Shape 9"/>
          <p:cNvSpPr/>
          <p:nvPr/>
        </p:nvSpPr>
        <p:spPr>
          <a:xfrm>
            <a:off x="594360" y="2441448"/>
            <a:ext cx="11002975" cy="804672"/>
          </a:xfrm>
          <a:prstGeom prst="roundRect">
            <a:avLst>
              <a:gd name="adj" fmla="val 7955"/>
            </a:avLst>
          </a:prstGeom>
          <a:solidFill>
            <a:srgbClr val="F5F7F8"/>
          </a:solidFill>
          <a:ln w="9525">
            <a:solidFill>
              <a:srgbClr val="E2E7EB"/>
            </a:solidFill>
            <a:prstDash val="solid"/>
          </a:ln>
        </p:spPr>
      </p:sp>
      <p:sp>
        <p:nvSpPr>
          <p:cNvPr id="12" name="Shape 10"/>
          <p:cNvSpPr/>
          <p:nvPr/>
        </p:nvSpPr>
        <p:spPr>
          <a:xfrm>
            <a:off x="795528" y="2642616"/>
            <a:ext cx="402336" cy="402336"/>
          </a:xfrm>
          <a:prstGeom prst="ellipse">
            <a:avLst/>
          </a:prstGeom>
          <a:solidFill>
            <a:srgbClr val="B7791F"/>
          </a:solidFill>
          <a:ln w="12700">
            <a:solidFill>
              <a:srgbClr val="B7791F"/>
            </a:solidFill>
            <a:prstDash val="solid"/>
          </a:ln>
        </p:spPr>
      </p:sp>
      <p:sp>
        <p:nvSpPr>
          <p:cNvPr id="13" name="Text 11"/>
          <p:cNvSpPr txBox="1"/>
          <p:nvPr/>
        </p:nvSpPr>
        <p:spPr>
          <a:xfrm>
            <a:off x="795528" y="2642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371600" y="2532888"/>
            <a:ext cx="4754880" cy="640080"/>
          </a:xfrm>
          <a:prstGeom prst="rect">
            <a:avLst/>
          </a:prstGeom>
          <a:noFill/>
          <a:ln/>
        </p:spPr>
        <p:txBody>
          <a:bodyPr wrap="square" lIns="0" tIns="0" rIns="0" bIns="0" rtlCol="0" anchor="ctr"/>
          <a:lstStyle/>
          <a:p>
            <a:pPr indent="0" marL="0">
              <a:lnSpc>
                <a:spcPts val="1600"/>
              </a:lnSpc>
              <a:buNone/>
            </a:pPr>
            <a:r>
              <a:rPr lang="en-US" sz="1300" b="1" dirty="0">
                <a:solidFill>
                  <a:srgbClr val="1F2933"/>
                </a:solidFill>
                <a:latin typeface="Calibri" pitchFamily="34" charset="0"/>
                <a:ea typeface="Calibri" pitchFamily="34" charset="-122"/>
                <a:cs typeface="Calibri" pitchFamily="34" charset="-120"/>
              </a:rPr>
              <a:t>Tidak ada satu sumber kebenaran untuk skala L1–L5</a:t>
            </a:r>
            <a:endParaRPr lang="en-US" sz="1300" dirty="0"/>
          </a:p>
        </p:txBody>
      </p:sp>
      <p:sp>
        <p:nvSpPr>
          <p:cNvPr id="15" name="Text 13"/>
          <p:cNvSpPr txBox="1"/>
          <p:nvPr/>
        </p:nvSpPr>
        <p:spPr>
          <a:xfrm>
            <a:off x="6309360" y="2514600"/>
            <a:ext cx="5105095" cy="676656"/>
          </a:xfrm>
          <a:prstGeom prst="rect">
            <a:avLst/>
          </a:prstGeom>
          <a:noFill/>
          <a:ln/>
        </p:spPr>
        <p:txBody>
          <a:bodyPr wrap="square" lIns="0" tIns="0" rIns="0" bIns="0" rtlCol="0" anchor="ctr"/>
          <a:lstStyle/>
          <a:p>
            <a:pPr indent="0" marL="0">
              <a:lnSpc>
                <a:spcPts val="1600"/>
              </a:lnSpc>
              <a:buNone/>
            </a:pPr>
            <a:r>
              <a:rPr lang="en-US" sz="1200" dirty="0">
                <a:solidFill>
                  <a:srgbClr val="5F6B76"/>
                </a:solidFill>
                <a:latin typeface="Calibri" pitchFamily="34" charset="0"/>
                <a:ea typeface="Calibri" pitchFamily="34" charset="-122"/>
                <a:cs typeface="Calibri" pitchFamily="34" charset="-120"/>
              </a:rPr>
              <a:t>Semantiknya ada di constants.ts, prompt Generator, anchor assessment_skills, dan skill_taxonomies.</a:t>
            </a:r>
            <a:endParaRPr lang="en-US" sz="1200" dirty="0"/>
          </a:p>
        </p:txBody>
      </p:sp>
      <p:sp>
        <p:nvSpPr>
          <p:cNvPr id="16" name="Shape 14"/>
          <p:cNvSpPr/>
          <p:nvPr/>
        </p:nvSpPr>
        <p:spPr>
          <a:xfrm>
            <a:off x="594360" y="3328416"/>
            <a:ext cx="11002975" cy="804672"/>
          </a:xfrm>
          <a:prstGeom prst="roundRect">
            <a:avLst>
              <a:gd name="adj" fmla="val 7955"/>
            </a:avLst>
          </a:prstGeom>
          <a:solidFill>
            <a:srgbClr val="F5F7F8"/>
          </a:solidFill>
          <a:ln w="9525">
            <a:solidFill>
              <a:srgbClr val="E2E7EB"/>
            </a:solidFill>
            <a:prstDash val="solid"/>
          </a:ln>
        </p:spPr>
      </p:sp>
      <p:sp>
        <p:nvSpPr>
          <p:cNvPr id="17" name="Shape 15"/>
          <p:cNvSpPr/>
          <p:nvPr/>
        </p:nvSpPr>
        <p:spPr>
          <a:xfrm>
            <a:off x="795528" y="3529584"/>
            <a:ext cx="402336" cy="402336"/>
          </a:xfrm>
          <a:prstGeom prst="ellipse">
            <a:avLst/>
          </a:prstGeom>
          <a:solidFill>
            <a:srgbClr val="B7791F"/>
          </a:solidFill>
          <a:ln w="12700">
            <a:solidFill>
              <a:srgbClr val="B7791F"/>
            </a:solidFill>
            <a:prstDash val="solid"/>
          </a:ln>
        </p:spPr>
      </p:sp>
      <p:sp>
        <p:nvSpPr>
          <p:cNvPr id="18" name="Text 16"/>
          <p:cNvSpPr txBox="1"/>
          <p:nvPr/>
        </p:nvSpPr>
        <p:spPr>
          <a:xfrm>
            <a:off x="795528" y="35295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71600" y="3419856"/>
            <a:ext cx="4754880" cy="640080"/>
          </a:xfrm>
          <a:prstGeom prst="rect">
            <a:avLst/>
          </a:prstGeom>
          <a:noFill/>
          <a:ln/>
        </p:spPr>
        <p:txBody>
          <a:bodyPr wrap="square" lIns="0" tIns="0" rIns="0" bIns="0" rtlCol="0" anchor="ctr"/>
          <a:lstStyle/>
          <a:p>
            <a:pPr indent="0" marL="0">
              <a:lnSpc>
                <a:spcPts val="1600"/>
              </a:lnSpc>
              <a:buNone/>
            </a:pPr>
            <a:r>
              <a:rPr lang="en-US" sz="1300" b="1" dirty="0">
                <a:solidFill>
                  <a:srgbClr val="1F2933"/>
                </a:solidFill>
                <a:latin typeface="Calibri" pitchFamily="34" charset="0"/>
                <a:ea typeface="Calibri" pitchFamily="34" charset="-122"/>
                <a:cs typeface="Calibri" pitchFamily="34" charset="-120"/>
              </a:rPr>
              <a:t>Tidak ada kontrak antar service</a:t>
            </a:r>
            <a:endParaRPr lang="en-US" sz="1300" dirty="0"/>
          </a:p>
        </p:txBody>
      </p:sp>
      <p:sp>
        <p:nvSpPr>
          <p:cNvPr id="20" name="Text 18"/>
          <p:cNvSpPr txBox="1"/>
          <p:nvPr/>
        </p:nvSpPr>
        <p:spPr>
          <a:xfrm>
            <a:off x="6309360" y="3401568"/>
            <a:ext cx="5105095" cy="676656"/>
          </a:xfrm>
          <a:prstGeom prst="rect">
            <a:avLst/>
          </a:prstGeom>
          <a:noFill/>
          <a:ln/>
        </p:spPr>
        <p:txBody>
          <a:bodyPr wrap="square" lIns="0" tIns="0" rIns="0" bIns="0" rtlCol="0" anchor="ctr"/>
          <a:lstStyle/>
          <a:p>
            <a:pPr indent="0" marL="0">
              <a:lnSpc>
                <a:spcPts val="1600"/>
              </a:lnSpc>
              <a:buNone/>
            </a:pPr>
            <a:r>
              <a:rPr lang="en-US" sz="1200" dirty="0">
                <a:solidFill>
                  <a:srgbClr val="5F6B76"/>
                </a:solidFill>
                <a:latin typeface="Calibri" pitchFamily="34" charset="0"/>
                <a:ea typeface="Calibri" pitchFamily="34" charset="-122"/>
                <a:cs typeface="Calibri" pitchFamily="34" charset="-120"/>
              </a:rPr>
              <a:t>types/index.ts tidak pernah dikonfrontasi dengan response asli — akar P0-1, P0-2, P0-3.</a:t>
            </a:r>
            <a:endParaRPr lang="en-US" sz="1200" dirty="0"/>
          </a:p>
        </p:txBody>
      </p:sp>
      <p:sp>
        <p:nvSpPr>
          <p:cNvPr id="21" name="Shape 19"/>
          <p:cNvSpPr/>
          <p:nvPr/>
        </p:nvSpPr>
        <p:spPr>
          <a:xfrm>
            <a:off x="594360" y="4215384"/>
            <a:ext cx="11002975" cy="804672"/>
          </a:xfrm>
          <a:prstGeom prst="roundRect">
            <a:avLst>
              <a:gd name="adj" fmla="val 7955"/>
            </a:avLst>
          </a:prstGeom>
          <a:solidFill>
            <a:srgbClr val="F5F7F8"/>
          </a:solidFill>
          <a:ln w="9525">
            <a:solidFill>
              <a:srgbClr val="E2E7EB"/>
            </a:solidFill>
            <a:prstDash val="solid"/>
          </a:ln>
        </p:spPr>
      </p:sp>
      <p:sp>
        <p:nvSpPr>
          <p:cNvPr id="22" name="Shape 20"/>
          <p:cNvSpPr/>
          <p:nvPr/>
        </p:nvSpPr>
        <p:spPr>
          <a:xfrm>
            <a:off x="795528" y="4416552"/>
            <a:ext cx="402336" cy="402336"/>
          </a:xfrm>
          <a:prstGeom prst="ellipse">
            <a:avLst/>
          </a:prstGeom>
          <a:solidFill>
            <a:srgbClr val="B7791F"/>
          </a:solidFill>
          <a:ln w="12700">
            <a:solidFill>
              <a:srgbClr val="B7791F"/>
            </a:solidFill>
            <a:prstDash val="solid"/>
          </a:ln>
        </p:spPr>
      </p:sp>
      <p:sp>
        <p:nvSpPr>
          <p:cNvPr id="23" name="Text 21"/>
          <p:cNvSpPr txBox="1"/>
          <p:nvPr/>
        </p:nvSpPr>
        <p:spPr>
          <a:xfrm>
            <a:off x="795528" y="4416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371600" y="4306824"/>
            <a:ext cx="4754880" cy="640080"/>
          </a:xfrm>
          <a:prstGeom prst="rect">
            <a:avLst/>
          </a:prstGeom>
          <a:noFill/>
          <a:ln/>
        </p:spPr>
        <p:txBody>
          <a:bodyPr wrap="square" lIns="0" tIns="0" rIns="0" bIns="0" rtlCol="0" anchor="ctr"/>
          <a:lstStyle/>
          <a:p>
            <a:pPr indent="0" marL="0">
              <a:lnSpc>
                <a:spcPts val="1600"/>
              </a:lnSpc>
              <a:buNone/>
            </a:pPr>
            <a:r>
              <a:rPr lang="en-US" sz="1300" b="1" dirty="0">
                <a:solidFill>
                  <a:srgbClr val="1F2933"/>
                </a:solidFill>
                <a:latin typeface="Calibri" pitchFamily="34" charset="0"/>
                <a:ea typeface="Calibri" pitchFamily="34" charset="-122"/>
                <a:cs typeface="Calibri" pitchFamily="34" charset="-120"/>
              </a:rPr>
              <a:t>web/ tidak punya test runner sama sekali</a:t>
            </a:r>
            <a:endParaRPr lang="en-US" sz="1300" dirty="0"/>
          </a:p>
        </p:txBody>
      </p:sp>
      <p:sp>
        <p:nvSpPr>
          <p:cNvPr id="25" name="Text 23"/>
          <p:cNvSpPr txBox="1"/>
          <p:nvPr/>
        </p:nvSpPr>
        <p:spPr>
          <a:xfrm>
            <a:off x="6309360" y="4288536"/>
            <a:ext cx="5105095" cy="676656"/>
          </a:xfrm>
          <a:prstGeom prst="rect">
            <a:avLst/>
          </a:prstGeom>
          <a:noFill/>
          <a:ln/>
        </p:spPr>
        <p:txBody>
          <a:bodyPr wrap="square" lIns="0" tIns="0" rIns="0" bIns="0" rtlCol="0" anchor="ctr"/>
          <a:lstStyle/>
          <a:p>
            <a:pPr indent="0" marL="0">
              <a:lnSpc>
                <a:spcPts val="1600"/>
              </a:lnSpc>
              <a:buNone/>
            </a:pPr>
            <a:r>
              <a:rPr lang="en-US" sz="1200" dirty="0">
                <a:solidFill>
                  <a:srgbClr val="5F6B76"/>
                </a:solidFill>
                <a:latin typeface="Calibri" pitchFamily="34" charset="0"/>
                <a:ea typeface="Calibri" pitchFamily="34" charset="-122"/>
                <a:cs typeface="Calibri" pitchFamily="34" charset="-120"/>
              </a:rPr>
              <a:t>Tidak ada yang bisa menangkap drift berikutnya. Karena itu ini yang pertama saya kerjakan.</a:t>
            </a:r>
            <a:endParaRPr lang="en-US" sz="1200" dirty="0"/>
          </a:p>
        </p:txBody>
      </p:sp>
      <p:sp>
        <p:nvSpPr>
          <p:cNvPr id="26" name="Shape 24"/>
          <p:cNvSpPr/>
          <p:nvPr/>
        </p:nvSpPr>
        <p:spPr>
          <a:xfrm>
            <a:off x="594360" y="5102352"/>
            <a:ext cx="11002975" cy="804672"/>
          </a:xfrm>
          <a:prstGeom prst="roundRect">
            <a:avLst>
              <a:gd name="adj" fmla="val 7955"/>
            </a:avLst>
          </a:prstGeom>
          <a:solidFill>
            <a:srgbClr val="F5F7F8"/>
          </a:solidFill>
          <a:ln w="9525">
            <a:solidFill>
              <a:srgbClr val="E2E7EB"/>
            </a:solidFill>
            <a:prstDash val="solid"/>
          </a:ln>
        </p:spPr>
      </p:sp>
      <p:sp>
        <p:nvSpPr>
          <p:cNvPr id="27" name="Shape 25"/>
          <p:cNvSpPr/>
          <p:nvPr/>
        </p:nvSpPr>
        <p:spPr>
          <a:xfrm>
            <a:off x="795528" y="5303520"/>
            <a:ext cx="402336" cy="402336"/>
          </a:xfrm>
          <a:prstGeom prst="ellipse">
            <a:avLst/>
          </a:prstGeom>
          <a:solidFill>
            <a:srgbClr val="B7791F"/>
          </a:solidFill>
          <a:ln w="12700">
            <a:solidFill>
              <a:srgbClr val="B7791F"/>
            </a:solidFill>
            <a:prstDash val="solid"/>
          </a:ln>
        </p:spPr>
      </p:sp>
      <p:sp>
        <p:nvSpPr>
          <p:cNvPr id="28" name="Text 26"/>
          <p:cNvSpPr txBox="1"/>
          <p:nvPr/>
        </p:nvSpPr>
        <p:spPr>
          <a:xfrm>
            <a:off x="795528" y="53035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1371600" y="5193792"/>
            <a:ext cx="4754880" cy="640080"/>
          </a:xfrm>
          <a:prstGeom prst="rect">
            <a:avLst/>
          </a:prstGeom>
          <a:noFill/>
          <a:ln/>
        </p:spPr>
        <p:txBody>
          <a:bodyPr wrap="square" lIns="0" tIns="0" rIns="0" bIns="0" rtlCol="0" anchor="ctr"/>
          <a:lstStyle/>
          <a:p>
            <a:pPr indent="0" marL="0">
              <a:lnSpc>
                <a:spcPts val="1600"/>
              </a:lnSpc>
              <a:buNone/>
            </a:pPr>
            <a:r>
              <a:rPr lang="en-US" sz="1300" b="1" dirty="0">
                <a:solidFill>
                  <a:srgbClr val="1F2933"/>
                </a:solidFill>
                <a:latin typeface="Calibri" pitchFamily="34" charset="0"/>
                <a:ea typeface="Calibri" pitchFamily="34" charset="-122"/>
                <a:cs typeface="Calibri" pitchFamily="34" charset="-120"/>
              </a:rPr>
              <a:t>Kebijakan retensi dan access trail data kandidat belum ada</a:t>
            </a:r>
            <a:endParaRPr lang="en-US" sz="1300" dirty="0"/>
          </a:p>
        </p:txBody>
      </p:sp>
      <p:sp>
        <p:nvSpPr>
          <p:cNvPr id="30" name="Text 28"/>
          <p:cNvSpPr txBox="1"/>
          <p:nvPr/>
        </p:nvSpPr>
        <p:spPr>
          <a:xfrm>
            <a:off x="6309360" y="5175504"/>
            <a:ext cx="5105095" cy="676656"/>
          </a:xfrm>
          <a:prstGeom prst="rect">
            <a:avLst/>
          </a:prstGeom>
          <a:noFill/>
          <a:ln/>
        </p:spPr>
        <p:txBody>
          <a:bodyPr wrap="square" lIns="0" tIns="0" rIns="0" bIns="0" rtlCol="0" anchor="ctr"/>
          <a:lstStyle/>
          <a:p>
            <a:pPr indent="0" marL="0">
              <a:lnSpc>
                <a:spcPts val="1600"/>
              </a:lnSpc>
              <a:buNone/>
            </a:pPr>
            <a:r>
              <a:rPr lang="en-US" sz="1200" dirty="0">
                <a:solidFill>
                  <a:srgbClr val="5F6B76"/>
                </a:solidFill>
                <a:latin typeface="Calibri" pitchFamily="34" charset="0"/>
                <a:ea typeface="Calibri" pitchFamily="34" charset="-122"/>
                <a:cs typeface="Calibri" pitchFamily="34" charset="-120"/>
              </a:rPr>
              <a:t>Di bawah UU PDP ini keputusan produk dan legal, bukan engineering.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Kenapa kedalaman saya di frontend</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§2.6 · Claimed engineering depth: frontend-heavy</a:t>
            </a:r>
            <a:endParaRPr lang="en-US" sz="1500" dirty="0"/>
          </a:p>
        </p:txBody>
      </p:sp>
      <p:sp>
        <p:nvSpPr>
          <p:cNvPr id="6" name="Shape 4"/>
          <p:cNvSpPr/>
          <p:nvPr/>
        </p:nvSpPr>
        <p:spPr>
          <a:xfrm>
            <a:off x="594360" y="1463040"/>
            <a:ext cx="11002975" cy="1005840"/>
          </a:xfrm>
          <a:prstGeom prst="roundRect">
            <a:avLst>
              <a:gd name="adj" fmla="val 6364"/>
            </a:avLst>
          </a:prstGeom>
          <a:solidFill>
            <a:srgbClr val="1F2933"/>
          </a:solidFill>
          <a:ln w="9525">
            <a:solidFill>
              <a:srgbClr val="1F2933"/>
            </a:solidFill>
            <a:prstDash val="solid"/>
          </a:ln>
        </p:spPr>
      </p:sp>
      <p:sp>
        <p:nvSpPr>
          <p:cNvPr id="7" name="Text 5"/>
          <p:cNvSpPr txBox="1"/>
          <p:nvPr/>
        </p:nvSpPr>
        <p:spPr>
          <a:xfrm>
            <a:off x="914400" y="1463040"/>
            <a:ext cx="10362895" cy="100584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Di produk asesmen, frontend bukan lapisan tampilan — dia yang membawa ketidakpastian dan asal-usul keputusan sampai ke mata orang yang harus mempertanggungjawabkannya. Frontend yang merender undefined jadi ruang kosong sedang membuat pernyataan palsu tentang seorang manusia.</a:t>
            </a:r>
            <a:endParaRPr lang="en-US" sz="1400" dirty="0"/>
          </a:p>
        </p:txBody>
      </p:sp>
      <p:sp>
        <p:nvSpPr>
          <p:cNvPr id="8" name="Shape 6"/>
          <p:cNvSpPr/>
          <p:nvPr/>
        </p:nvSpPr>
        <p:spPr>
          <a:xfrm>
            <a:off x="594360" y="2697480"/>
            <a:ext cx="3484778" cy="2011680"/>
          </a:xfrm>
          <a:prstGeom prst="roundRect">
            <a:avLst>
              <a:gd name="adj" fmla="val 3182"/>
            </a:avLst>
          </a:prstGeom>
          <a:solidFill>
            <a:srgbClr val="E6F3F1"/>
          </a:solidFill>
          <a:ln w="9525">
            <a:solidFill>
              <a:srgbClr val="E6F3F1"/>
            </a:solidFill>
            <a:prstDash val="solid"/>
          </a:ln>
        </p:spPr>
      </p:sp>
      <p:sp>
        <p:nvSpPr>
          <p:cNvPr id="9" name="Shape 7"/>
          <p:cNvSpPr/>
          <p:nvPr/>
        </p:nvSpPr>
        <p:spPr>
          <a:xfrm>
            <a:off x="822960" y="2852928"/>
            <a:ext cx="402336" cy="402336"/>
          </a:xfrm>
          <a:prstGeom prst="ellipse">
            <a:avLst/>
          </a:prstGeom>
          <a:solidFill>
            <a:srgbClr val="0F766E"/>
          </a:solidFill>
          <a:ln w="12700">
            <a:solidFill>
              <a:srgbClr val="0F766E"/>
            </a:solidFill>
            <a:prstDash val="solid"/>
          </a:ln>
        </p:spPr>
      </p:sp>
      <p:sp>
        <p:nvSpPr>
          <p:cNvPr id="10" name="Text 8"/>
          <p:cNvSpPr txBox="1"/>
          <p:nvPr/>
        </p:nvSpPr>
        <p:spPr>
          <a:xfrm>
            <a:off x="822960" y="2852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371600" y="2880360"/>
            <a:ext cx="2524658" cy="36576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Kontrak yang jujur</a:t>
            </a:r>
            <a:endParaRPr lang="en-US" sz="1500" dirty="0"/>
          </a:p>
        </p:txBody>
      </p:sp>
      <p:sp>
        <p:nvSpPr>
          <p:cNvPr id="12" name="Text 10"/>
          <p:cNvSpPr txBox="1"/>
          <p:nvPr/>
        </p:nvSpPr>
        <p:spPr>
          <a:xfrm>
            <a:off x="822960" y="3401568"/>
            <a:ext cx="3027578" cy="1234440"/>
          </a:xfrm>
          <a:prstGeom prst="rect">
            <a:avLst/>
          </a:prstGeom>
          <a:noFill/>
          <a:ln/>
        </p:spPr>
        <p:txBody>
          <a:bodyPr wrap="square" lIns="0" tIns="0" rIns="0" bIns="0" rtlCol="0" anchor="t"/>
          <a:lstStyle/>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Validasi Zod di service layer. Kalau kontrak bergeser, UI bilang “data tidak lengkap” — kelas bug P0-1 berubah dari diam jadi berisik, permanen.</a:t>
            </a:r>
            <a:endParaRPr lang="en-US" sz="1200" dirty="0"/>
          </a:p>
        </p:txBody>
      </p:sp>
      <p:sp>
        <p:nvSpPr>
          <p:cNvPr id="13" name="Shape 11"/>
          <p:cNvSpPr/>
          <p:nvPr/>
        </p:nvSpPr>
        <p:spPr>
          <a:xfrm>
            <a:off x="4353458" y="2697480"/>
            <a:ext cx="3484778" cy="2011680"/>
          </a:xfrm>
          <a:prstGeom prst="roundRect">
            <a:avLst>
              <a:gd name="adj" fmla="val 3182"/>
            </a:avLst>
          </a:prstGeom>
          <a:solidFill>
            <a:srgbClr val="E6F3F1"/>
          </a:solidFill>
          <a:ln w="9525">
            <a:solidFill>
              <a:srgbClr val="E6F3F1"/>
            </a:solidFill>
            <a:prstDash val="solid"/>
          </a:ln>
        </p:spPr>
      </p:sp>
      <p:sp>
        <p:nvSpPr>
          <p:cNvPr id="14" name="Shape 12"/>
          <p:cNvSpPr/>
          <p:nvPr/>
        </p:nvSpPr>
        <p:spPr>
          <a:xfrm>
            <a:off x="4582058" y="2852928"/>
            <a:ext cx="402336" cy="402336"/>
          </a:xfrm>
          <a:prstGeom prst="ellipse">
            <a:avLst/>
          </a:prstGeom>
          <a:solidFill>
            <a:srgbClr val="0F766E"/>
          </a:solidFill>
          <a:ln w="12700">
            <a:solidFill>
              <a:srgbClr val="0F766E"/>
            </a:solidFill>
            <a:prstDash val="solid"/>
          </a:ln>
        </p:spPr>
      </p:sp>
      <p:sp>
        <p:nvSpPr>
          <p:cNvPr id="15" name="Text 13"/>
          <p:cNvSpPr txBox="1"/>
          <p:nvPr/>
        </p:nvSpPr>
        <p:spPr>
          <a:xfrm>
            <a:off x="4582058" y="2852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5130698" y="2880360"/>
            <a:ext cx="2524658" cy="36576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Provenance &amp; ketidakpastian</a:t>
            </a:r>
            <a:endParaRPr lang="en-US" sz="1500" dirty="0"/>
          </a:p>
        </p:txBody>
      </p:sp>
      <p:sp>
        <p:nvSpPr>
          <p:cNvPr id="17" name="Text 15"/>
          <p:cNvSpPr txBox="1"/>
          <p:nvPr/>
        </p:nvSpPr>
        <p:spPr>
          <a:xfrm>
            <a:off x="4582058" y="3401568"/>
            <a:ext cx="3027578" cy="1234440"/>
          </a:xfrm>
          <a:prstGeom prst="rect">
            <a:avLst/>
          </a:prstGeom>
          <a:noFill/>
          <a:ln/>
        </p:spPr>
        <p:txBody>
          <a:bodyPr wrap="square" lIns="0" tIns="0" rIns="0" bIns="0" rtlCol="0" anchor="t"/>
          <a:lstStyle/>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Setiap baris dirender sebagai decision record: siapa menilai, seberapa yakin, berapa probe — konsisten di tabel, kartu, PDF, dan JSON.</a:t>
            </a:r>
            <a:endParaRPr lang="en-US" sz="1200" dirty="0"/>
          </a:p>
        </p:txBody>
      </p:sp>
      <p:sp>
        <p:nvSpPr>
          <p:cNvPr id="18" name="Shape 16"/>
          <p:cNvSpPr/>
          <p:nvPr/>
        </p:nvSpPr>
        <p:spPr>
          <a:xfrm>
            <a:off x="8112557" y="2697480"/>
            <a:ext cx="3484778" cy="2011680"/>
          </a:xfrm>
          <a:prstGeom prst="roundRect">
            <a:avLst>
              <a:gd name="adj" fmla="val 3182"/>
            </a:avLst>
          </a:prstGeom>
          <a:solidFill>
            <a:srgbClr val="E6F3F1"/>
          </a:solidFill>
          <a:ln w="9525">
            <a:solidFill>
              <a:srgbClr val="E6F3F1"/>
            </a:solidFill>
            <a:prstDash val="solid"/>
          </a:ln>
        </p:spPr>
      </p:sp>
      <p:sp>
        <p:nvSpPr>
          <p:cNvPr id="19" name="Shape 17"/>
          <p:cNvSpPr/>
          <p:nvPr/>
        </p:nvSpPr>
        <p:spPr>
          <a:xfrm>
            <a:off x="8341157" y="2852928"/>
            <a:ext cx="402336" cy="402336"/>
          </a:xfrm>
          <a:prstGeom prst="ellipse">
            <a:avLst/>
          </a:prstGeom>
          <a:solidFill>
            <a:srgbClr val="0F766E"/>
          </a:solidFill>
          <a:ln w="12700">
            <a:solidFill>
              <a:srgbClr val="0F766E"/>
            </a:solidFill>
            <a:prstDash val="solid"/>
          </a:ln>
        </p:spPr>
      </p:sp>
      <p:sp>
        <p:nvSpPr>
          <p:cNvPr id="20" name="Text 18"/>
          <p:cNvSpPr txBox="1"/>
          <p:nvPr/>
        </p:nvSpPr>
        <p:spPr>
          <a:xfrm>
            <a:off x="8341157" y="2852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8889797" y="2880360"/>
            <a:ext cx="2524658" cy="36576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Bisa diverifikasi</a:t>
            </a:r>
            <a:endParaRPr lang="en-US" sz="1500" dirty="0"/>
          </a:p>
        </p:txBody>
      </p:sp>
      <p:sp>
        <p:nvSpPr>
          <p:cNvPr id="22" name="Text 20"/>
          <p:cNvSpPr txBox="1"/>
          <p:nvPr/>
        </p:nvSpPr>
        <p:spPr>
          <a:xfrm>
            <a:off x="8341157" y="3401568"/>
            <a:ext cx="3027578" cy="1234440"/>
          </a:xfrm>
          <a:prstGeom prst="rect">
            <a:avLst/>
          </a:prstGeom>
          <a:noFill/>
          <a:ln/>
        </p:spPr>
        <p:txBody>
          <a:bodyPr wrap="square" lIns="0" tIns="0" rIns="0" bIns="0" rtlCol="0" anchor="t"/>
          <a:lstStyle/>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Setiap kutipan evidence terhubung ke turn transkrip tempat ia diucapkan. Model berubah dari oracle jadi alat yang bisa dicek.</a:t>
            </a:r>
            <a:endParaRPr lang="en-US" sz="1200" dirty="0"/>
          </a:p>
        </p:txBody>
      </p:sp>
      <p:sp>
        <p:nvSpPr>
          <p:cNvPr id="23" name="Shape 21"/>
          <p:cNvSpPr/>
          <p:nvPr/>
        </p:nvSpPr>
        <p:spPr>
          <a:xfrm>
            <a:off x="594360" y="4919472"/>
            <a:ext cx="11002975" cy="1097280"/>
          </a:xfrm>
          <a:prstGeom prst="roundRect">
            <a:avLst>
              <a:gd name="adj" fmla="val 5833"/>
            </a:avLst>
          </a:prstGeom>
          <a:solidFill>
            <a:srgbClr val="F5F7F8"/>
          </a:solidFill>
          <a:ln w="9525">
            <a:solidFill>
              <a:srgbClr val="E2E7EB"/>
            </a:solidFill>
            <a:prstDash val="solid"/>
          </a:ln>
        </p:spPr>
      </p:sp>
      <p:sp>
        <p:nvSpPr>
          <p:cNvPr id="24" name="Text 22"/>
          <p:cNvSpPr txBox="1"/>
          <p:nvPr/>
        </p:nvSpPr>
        <p:spPr>
          <a:xfrm>
            <a:off x="868680" y="4919472"/>
            <a:ext cx="10454335" cy="1097280"/>
          </a:xfrm>
          <a:prstGeom prst="rect">
            <a:avLst/>
          </a:prstGeom>
          <a:noFill/>
          <a:ln/>
        </p:spPr>
        <p:txBody>
          <a:bodyPr wrap="square" lIns="0" tIns="0" rIns="0" bIns="0" rtlCol="0" anchor="ctr"/>
          <a:lstStyle/>
          <a:p>
            <a:pPr indent="0" marL="0">
              <a:lnSpc>
                <a:spcPts val="1800"/>
              </a:lnSpc>
              <a:buNone/>
            </a:pPr>
            <a:r>
              <a:rPr lang="en-US" sz="1300" b="1" dirty="0">
                <a:solidFill>
                  <a:srgbClr val="1F2933"/>
                </a:solidFill>
                <a:latin typeface="Calibri" pitchFamily="34" charset="0"/>
                <a:ea typeface="Calibri" pitchFamily="34" charset="-122"/>
                <a:cs typeface="Calibri" pitchFamily="34" charset="-120"/>
              </a:rPr>
              <a:t>Kenapa bukan backend-heavy: </a:t>
            </a:r>
            <a:pPr indent="0" marL="0">
              <a:lnSpc>
                <a:spcPts val="1800"/>
              </a:lnSpc>
              <a:buNone/>
            </a:pPr>
            <a:r>
              <a:rPr lang="en-US" sz="1300" dirty="0">
                <a:solidFill>
                  <a:srgbClr val="1F2933"/>
                </a:solidFill>
                <a:latin typeface="Calibri" pitchFamily="34" charset="0"/>
                <a:ea typeface="Calibri" pitchFamily="34" charset="-122"/>
                <a:cs typeface="Calibri" pitchFamily="34" charset="-120"/>
              </a:rPr>
              <a:t>godaan terbesar saya adalah menulis ulang Portfolios::Generator. Tapi generator-nya sudah menghasilkan data yang benar — yang rusak adalah perjalanan data itu ke manusia. Menulis ulang generator menyentuh lebih banyak baris, tapi mengubah lebih sedikit untuk orang yang produk ini sentuh.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5550"/>
        </a:solidFill>
      </p:bgPr>
    </p:bg>
    <p:spTree>
      <p:nvGrpSpPr>
        <p:cNvPr id="1" name=""/>
        <p:cNvGrpSpPr/>
        <p:nvPr/>
      </p:nvGrpSpPr>
      <p:grpSpPr>
        <a:xfrm>
          <a:off x="0" y="0"/>
          <a:ext cx="0" cy="0"/>
          <a:chOff x="0" y="0"/>
          <a:chExt cx="0" cy="0"/>
        </a:xfrm>
      </p:grpSpPr>
      <p:sp>
        <p:nvSpPr>
          <p:cNvPr id="2" name="Text 0"/>
          <p:cNvSpPr txBox="1"/>
          <p:nvPr/>
        </p:nvSpPr>
        <p:spPr>
          <a:xfrm>
            <a:off x="594360" y="2103120"/>
            <a:ext cx="2743200" cy="548640"/>
          </a:xfrm>
          <a:prstGeom prst="rect">
            <a:avLst/>
          </a:prstGeom>
          <a:noFill/>
          <a:ln/>
        </p:spPr>
        <p:txBody>
          <a:bodyPr wrap="square" lIns="0" tIns="0" rIns="0" bIns="0" rtlCol="0" anchor="t"/>
          <a:lstStyle/>
          <a:p>
            <a:pPr indent="0" marL="0">
              <a:buNone/>
            </a:pPr>
            <a:r>
              <a:rPr lang="en-US" sz="2000" b="1" dirty="0">
                <a:solidFill>
                  <a:srgbClr val="8FD1C8"/>
                </a:solidFill>
                <a:latin typeface="Calibri" pitchFamily="34" charset="0"/>
                <a:ea typeface="Calibri" pitchFamily="34" charset="-122"/>
                <a:cs typeface="Calibri" pitchFamily="34" charset="-120"/>
              </a:rPr>
              <a:t>04</a:t>
            </a:r>
            <a:endParaRPr lang="en-US" sz="2000" dirty="0"/>
          </a:p>
        </p:txBody>
      </p:sp>
      <p:sp>
        <p:nvSpPr>
          <p:cNvPr id="3" name="Text 1"/>
          <p:cNvSpPr txBox="1"/>
          <p:nvPr/>
        </p:nvSpPr>
        <p:spPr>
          <a:xfrm>
            <a:off x="594360" y="2651760"/>
            <a:ext cx="11002975" cy="91440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Membangun</a:t>
            </a:r>
            <a:endParaRPr lang="en-US" sz="3800" dirty="0"/>
          </a:p>
        </p:txBody>
      </p:sp>
      <p:sp>
        <p:nvSpPr>
          <p:cNvPr id="4" name="Text 2"/>
          <p:cNvSpPr txBox="1"/>
          <p:nvPr/>
        </p:nvSpPr>
        <p:spPr>
          <a:xfrm>
            <a:off x="594360" y="3611880"/>
            <a:ext cx="9144000" cy="731520"/>
          </a:xfrm>
          <a:prstGeom prst="rect">
            <a:avLst/>
          </a:prstGeom>
          <a:noFill/>
          <a:ln/>
        </p:spPr>
        <p:txBody>
          <a:bodyPr wrap="square" lIns="0" tIns="0" rIns="0" bIns="0" rtlCol="0" anchor="t"/>
          <a:lstStyle/>
          <a:p>
            <a:pPr indent="0" marL="0">
              <a:lnSpc>
                <a:spcPts val="2300"/>
              </a:lnSpc>
              <a:buNone/>
            </a:pPr>
            <a:r>
              <a:rPr lang="en-US" sz="1700" dirty="0">
                <a:solidFill>
                  <a:srgbClr val="BFE3DE"/>
                </a:solidFill>
                <a:latin typeface="Calibri" pitchFamily="34" charset="0"/>
                <a:ea typeface="Calibri" pitchFamily="34" charset="-122"/>
                <a:cs typeface="Calibri" pitchFamily="34" charset="-120"/>
              </a:rPr>
              <a:t>Acceptance criteria dulu, lalu desain, lalu hasilnya di layar.</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Acceptance criteria, ditulis sebelum kode</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§2.4 · setiap kriteria terikat ke satu test.</a:t>
            </a:r>
            <a:endParaRPr lang="en-US" sz="1500" dirty="0"/>
          </a:p>
        </p:txBody>
      </p:sp>
      <p:sp>
        <p:nvSpPr>
          <p:cNvPr id="6" name="Shape 4"/>
          <p:cNvSpPr/>
          <p:nvPr/>
        </p:nvSpPr>
        <p:spPr>
          <a:xfrm>
            <a:off x="594360" y="1481328"/>
            <a:ext cx="7406640" cy="548640"/>
          </a:xfrm>
          <a:prstGeom prst="roundRect">
            <a:avLst>
              <a:gd name="adj" fmla="val 11667"/>
            </a:avLst>
          </a:prstGeom>
          <a:solidFill>
            <a:srgbClr val="F5F7F8"/>
          </a:solidFill>
          <a:ln w="9525">
            <a:solidFill>
              <a:srgbClr val="E2E7EB"/>
            </a:solidFill>
            <a:prstDash val="solid"/>
          </a:ln>
        </p:spPr>
      </p:sp>
      <p:sp>
        <p:nvSpPr>
          <p:cNvPr id="7" name="Text 5"/>
          <p:cNvSpPr txBox="1"/>
          <p:nvPr/>
        </p:nvSpPr>
        <p:spPr>
          <a:xfrm>
            <a:off x="777240" y="1481328"/>
            <a:ext cx="731520" cy="548640"/>
          </a:xfrm>
          <a:prstGeom prst="rect">
            <a:avLst/>
          </a:prstGeom>
          <a:noFill/>
          <a:ln/>
        </p:spPr>
        <p:txBody>
          <a:bodyPr wrap="square" lIns="0" tIns="0" rIns="0" bIns="0" rtlCol="0" anchor="ctr"/>
          <a:lstStyle/>
          <a:p>
            <a:pPr indent="0" marL="0">
              <a:buNone/>
            </a:pPr>
            <a:r>
              <a:rPr lang="en-US" sz="1250" b="1" dirty="0">
                <a:solidFill>
                  <a:srgbClr val="0B5550"/>
                </a:solidFill>
                <a:latin typeface="Courier New" pitchFamily="34" charset="0"/>
                <a:ea typeface="Courier New" pitchFamily="34" charset="-122"/>
                <a:cs typeface="Courier New" pitchFamily="34" charset="-120"/>
              </a:rPr>
              <a:t>AC-1</a:t>
            </a:r>
            <a:endParaRPr lang="en-US" sz="1250" dirty="0"/>
          </a:p>
        </p:txBody>
      </p:sp>
      <p:sp>
        <p:nvSpPr>
          <p:cNvPr id="8" name="Text 6"/>
          <p:cNvSpPr txBox="1"/>
          <p:nvPr/>
        </p:nvSpPr>
        <p:spPr>
          <a:xfrm>
            <a:off x="1554480" y="1481328"/>
            <a:ext cx="2651760" cy="548640"/>
          </a:xfrm>
          <a:prstGeom prst="rect">
            <a:avLst/>
          </a:prstGeom>
          <a:noFill/>
          <a:ln/>
        </p:spPr>
        <p:txBody>
          <a:bodyPr wrap="square" lIns="0" tIns="0" rIns="0" bIns="0" rtlCol="0" anchor="ctr"/>
          <a:lstStyle/>
          <a:p>
            <a:pPr indent="0" marL="0">
              <a:lnSpc>
                <a:spcPts val="1500"/>
              </a:lnSpc>
              <a:buNone/>
            </a:pPr>
            <a:r>
              <a:rPr lang="en-US" sz="1200" b="1" dirty="0">
                <a:solidFill>
                  <a:srgbClr val="1F2933"/>
                </a:solidFill>
                <a:latin typeface="Calibri" pitchFamily="34" charset="0"/>
                <a:ea typeface="Calibri" pitchFamily="34" charset="-122"/>
                <a:cs typeface="Calibri" pitchFamily="34" charset="-120"/>
              </a:rPr>
              <a:t>Kontrak divalidasi di boundary</a:t>
            </a:r>
            <a:endParaRPr lang="en-US" sz="1200" dirty="0"/>
          </a:p>
        </p:txBody>
      </p:sp>
      <p:sp>
        <p:nvSpPr>
          <p:cNvPr id="9" name="Text 7"/>
          <p:cNvSpPr txBox="1"/>
          <p:nvPr/>
        </p:nvSpPr>
        <p:spPr>
          <a:xfrm>
            <a:off x="4297680" y="1481328"/>
            <a:ext cx="3611880" cy="548640"/>
          </a:xfrm>
          <a:prstGeom prst="rect">
            <a:avLst/>
          </a:prstGeom>
          <a:noFill/>
          <a:ln/>
        </p:spPr>
        <p:txBody>
          <a:bodyPr wrap="square" lIns="0" tIns="0" rIns="0" bIns="0" rtlCol="0" anchor="ctr"/>
          <a:lstStyle/>
          <a:p>
            <a:pPr indent="0" marL="0">
              <a:lnSpc>
                <a:spcPts val="1400"/>
              </a:lnSpc>
              <a:buNone/>
            </a:pPr>
            <a:r>
              <a:rPr lang="en-US" sz="1100" dirty="0">
                <a:solidFill>
                  <a:srgbClr val="5F6B76"/>
                </a:solidFill>
                <a:latin typeface="Calibri" pitchFamily="34" charset="0"/>
                <a:ea typeface="Calibri" pitchFamily="34" charset="-122"/>
                <a:cs typeface="Calibri" pitchFamily="34" charset="-120"/>
              </a:rPr>
              <a:t>Field wajib hilang → “data tidak lengkap”, bukan sel kosong</a:t>
            </a:r>
            <a:endParaRPr lang="en-US" sz="1100" dirty="0"/>
          </a:p>
        </p:txBody>
      </p:sp>
      <p:sp>
        <p:nvSpPr>
          <p:cNvPr id="10" name="Shape 8"/>
          <p:cNvSpPr/>
          <p:nvPr/>
        </p:nvSpPr>
        <p:spPr>
          <a:xfrm>
            <a:off x="594360" y="2103120"/>
            <a:ext cx="7406640" cy="548640"/>
          </a:xfrm>
          <a:prstGeom prst="roundRect">
            <a:avLst>
              <a:gd name="adj" fmla="val 11667"/>
            </a:avLst>
          </a:prstGeom>
          <a:solidFill>
            <a:srgbClr val="F5F7F8"/>
          </a:solidFill>
          <a:ln w="9525">
            <a:solidFill>
              <a:srgbClr val="E2E7EB"/>
            </a:solidFill>
            <a:prstDash val="solid"/>
          </a:ln>
        </p:spPr>
      </p:sp>
      <p:sp>
        <p:nvSpPr>
          <p:cNvPr id="11" name="Text 9"/>
          <p:cNvSpPr txBox="1"/>
          <p:nvPr/>
        </p:nvSpPr>
        <p:spPr>
          <a:xfrm>
            <a:off x="777240" y="2103120"/>
            <a:ext cx="731520" cy="548640"/>
          </a:xfrm>
          <a:prstGeom prst="rect">
            <a:avLst/>
          </a:prstGeom>
          <a:noFill/>
          <a:ln/>
        </p:spPr>
        <p:txBody>
          <a:bodyPr wrap="square" lIns="0" tIns="0" rIns="0" bIns="0" rtlCol="0" anchor="ctr"/>
          <a:lstStyle/>
          <a:p>
            <a:pPr indent="0" marL="0">
              <a:buNone/>
            </a:pPr>
            <a:r>
              <a:rPr lang="en-US" sz="1250" b="1" dirty="0">
                <a:solidFill>
                  <a:srgbClr val="0B5550"/>
                </a:solidFill>
                <a:latin typeface="Courier New" pitchFamily="34" charset="0"/>
                <a:ea typeface="Courier New" pitchFamily="34" charset="-122"/>
                <a:cs typeface="Courier New" pitchFamily="34" charset="-120"/>
              </a:rPr>
              <a:t>AC-2</a:t>
            </a:r>
            <a:endParaRPr lang="en-US" sz="1250" dirty="0"/>
          </a:p>
        </p:txBody>
      </p:sp>
      <p:sp>
        <p:nvSpPr>
          <p:cNvPr id="12" name="Text 10"/>
          <p:cNvSpPr txBox="1"/>
          <p:nvPr/>
        </p:nvSpPr>
        <p:spPr>
          <a:xfrm>
            <a:off x="1554480" y="2103120"/>
            <a:ext cx="2651760" cy="548640"/>
          </a:xfrm>
          <a:prstGeom prst="rect">
            <a:avLst/>
          </a:prstGeom>
          <a:noFill/>
          <a:ln/>
        </p:spPr>
        <p:txBody>
          <a:bodyPr wrap="square" lIns="0" tIns="0" rIns="0" bIns="0" rtlCol="0" anchor="ctr"/>
          <a:lstStyle/>
          <a:p>
            <a:pPr indent="0" marL="0">
              <a:lnSpc>
                <a:spcPts val="1500"/>
              </a:lnSpc>
              <a:buNone/>
            </a:pPr>
            <a:r>
              <a:rPr lang="en-US" sz="1200" b="1" dirty="0">
                <a:solidFill>
                  <a:srgbClr val="1F2933"/>
                </a:solidFill>
                <a:latin typeface="Calibri" pitchFamily="34" charset="0"/>
                <a:ea typeface="Calibri" pitchFamily="34" charset="-122"/>
                <a:cs typeface="Calibri" pitchFamily="34" charset="-120"/>
              </a:rPr>
              <a:t>Asal-usul keputusan terlihat</a:t>
            </a:r>
            <a:endParaRPr lang="en-US" sz="1200" dirty="0"/>
          </a:p>
        </p:txBody>
      </p:sp>
      <p:sp>
        <p:nvSpPr>
          <p:cNvPr id="13" name="Text 11"/>
          <p:cNvSpPr txBox="1"/>
          <p:nvPr/>
        </p:nvSpPr>
        <p:spPr>
          <a:xfrm>
            <a:off x="4297680" y="2103120"/>
            <a:ext cx="3611880" cy="548640"/>
          </a:xfrm>
          <a:prstGeom prst="rect">
            <a:avLst/>
          </a:prstGeom>
          <a:noFill/>
          <a:ln/>
        </p:spPr>
        <p:txBody>
          <a:bodyPr wrap="square" lIns="0" tIns="0" rIns="0" bIns="0" rtlCol="0" anchor="ctr"/>
          <a:lstStyle/>
          <a:p>
            <a:pPr indent="0" marL="0">
              <a:lnSpc>
                <a:spcPts val="1400"/>
              </a:lnSpc>
              <a:buNone/>
            </a:pPr>
            <a:r>
              <a:rPr lang="en-US" sz="1100" dirty="0">
                <a:solidFill>
                  <a:srgbClr val="5F6B76"/>
                </a:solidFill>
                <a:latin typeface="Calibri" pitchFamily="34" charset="0"/>
                <a:ea typeface="Calibri" pitchFamily="34" charset="-122"/>
                <a:cs typeface="Calibri" pitchFamily="34" charset="-120"/>
              </a:rPr>
              <a:t>AI L2 → L4, siapa, kapan — override tanpa nama tetap keputusan manusia</a:t>
            </a:r>
            <a:endParaRPr lang="en-US" sz="1100" dirty="0"/>
          </a:p>
        </p:txBody>
      </p:sp>
      <p:sp>
        <p:nvSpPr>
          <p:cNvPr id="14" name="Shape 12"/>
          <p:cNvSpPr/>
          <p:nvPr/>
        </p:nvSpPr>
        <p:spPr>
          <a:xfrm>
            <a:off x="594360" y="2724912"/>
            <a:ext cx="7406640" cy="548640"/>
          </a:xfrm>
          <a:prstGeom prst="roundRect">
            <a:avLst>
              <a:gd name="adj" fmla="val 11667"/>
            </a:avLst>
          </a:prstGeom>
          <a:solidFill>
            <a:srgbClr val="F5F7F8"/>
          </a:solidFill>
          <a:ln w="9525">
            <a:solidFill>
              <a:srgbClr val="E2E7EB"/>
            </a:solidFill>
            <a:prstDash val="solid"/>
          </a:ln>
        </p:spPr>
      </p:sp>
      <p:sp>
        <p:nvSpPr>
          <p:cNvPr id="15" name="Text 13"/>
          <p:cNvSpPr txBox="1"/>
          <p:nvPr/>
        </p:nvSpPr>
        <p:spPr>
          <a:xfrm>
            <a:off x="777240" y="2724912"/>
            <a:ext cx="731520" cy="548640"/>
          </a:xfrm>
          <a:prstGeom prst="rect">
            <a:avLst/>
          </a:prstGeom>
          <a:noFill/>
          <a:ln/>
        </p:spPr>
        <p:txBody>
          <a:bodyPr wrap="square" lIns="0" tIns="0" rIns="0" bIns="0" rtlCol="0" anchor="ctr"/>
          <a:lstStyle/>
          <a:p>
            <a:pPr indent="0" marL="0">
              <a:buNone/>
            </a:pPr>
            <a:r>
              <a:rPr lang="en-US" sz="1250" b="1" dirty="0">
                <a:solidFill>
                  <a:srgbClr val="0B5550"/>
                </a:solidFill>
                <a:latin typeface="Courier New" pitchFamily="34" charset="0"/>
                <a:ea typeface="Courier New" pitchFamily="34" charset="-122"/>
                <a:cs typeface="Courier New" pitchFamily="34" charset="-120"/>
              </a:rPr>
              <a:t>AC-3</a:t>
            </a:r>
            <a:endParaRPr lang="en-US" sz="1250" dirty="0"/>
          </a:p>
        </p:txBody>
      </p:sp>
      <p:sp>
        <p:nvSpPr>
          <p:cNvPr id="16" name="Text 14"/>
          <p:cNvSpPr txBox="1"/>
          <p:nvPr/>
        </p:nvSpPr>
        <p:spPr>
          <a:xfrm>
            <a:off x="1554480" y="2724912"/>
            <a:ext cx="2651760" cy="548640"/>
          </a:xfrm>
          <a:prstGeom prst="rect">
            <a:avLst/>
          </a:prstGeom>
          <a:noFill/>
          <a:ln/>
        </p:spPr>
        <p:txBody>
          <a:bodyPr wrap="square" lIns="0" tIns="0" rIns="0" bIns="0" rtlCol="0" anchor="ctr"/>
          <a:lstStyle/>
          <a:p>
            <a:pPr indent="0" marL="0">
              <a:lnSpc>
                <a:spcPts val="1500"/>
              </a:lnSpc>
              <a:buNone/>
            </a:pPr>
            <a:r>
              <a:rPr lang="en-US" sz="1200" b="1" dirty="0">
                <a:solidFill>
                  <a:srgbClr val="1F2933"/>
                </a:solidFill>
                <a:latin typeface="Calibri" pitchFamily="34" charset="0"/>
                <a:ea typeface="Calibri" pitchFamily="34" charset="-122"/>
                <a:cs typeface="Calibri" pitchFamily="34" charset="-120"/>
              </a:rPr>
              <a:t>Ketidakpastian sampai ke titik keputusan</a:t>
            </a:r>
            <a:endParaRPr lang="en-US" sz="1200" dirty="0"/>
          </a:p>
        </p:txBody>
      </p:sp>
      <p:sp>
        <p:nvSpPr>
          <p:cNvPr id="17" name="Text 15"/>
          <p:cNvSpPr txBox="1"/>
          <p:nvPr/>
        </p:nvSpPr>
        <p:spPr>
          <a:xfrm>
            <a:off x="4297680" y="2724912"/>
            <a:ext cx="3611880" cy="548640"/>
          </a:xfrm>
          <a:prstGeom prst="rect">
            <a:avLst/>
          </a:prstGeom>
          <a:noFill/>
          <a:ln/>
        </p:spPr>
        <p:txBody>
          <a:bodyPr wrap="square" lIns="0" tIns="0" rIns="0" bIns="0" rtlCol="0" anchor="ctr"/>
          <a:lstStyle/>
          <a:p>
            <a:pPr indent="0" marL="0">
              <a:lnSpc>
                <a:spcPts val="1400"/>
              </a:lnSpc>
              <a:buNone/>
            </a:pPr>
            <a:r>
              <a:rPr lang="en-US" sz="1100" dirty="0">
                <a:solidFill>
                  <a:srgbClr val="5F6B76"/>
                </a:solidFill>
                <a:latin typeface="Calibri" pitchFamily="34" charset="0"/>
                <a:ea typeface="Calibri" pitchFamily="34" charset="-122"/>
                <a:cs typeface="Calibri" pitchFamily="34" charset="-120"/>
              </a:rPr>
              <a:t>Confidence null → “belum terukur”, bukan LOW</a:t>
            </a:r>
            <a:endParaRPr lang="en-US" sz="1100" dirty="0"/>
          </a:p>
        </p:txBody>
      </p:sp>
      <p:sp>
        <p:nvSpPr>
          <p:cNvPr id="18" name="Shape 16"/>
          <p:cNvSpPr/>
          <p:nvPr/>
        </p:nvSpPr>
        <p:spPr>
          <a:xfrm>
            <a:off x="594360" y="3346704"/>
            <a:ext cx="7406640" cy="548640"/>
          </a:xfrm>
          <a:prstGeom prst="roundRect">
            <a:avLst>
              <a:gd name="adj" fmla="val 11667"/>
            </a:avLst>
          </a:prstGeom>
          <a:solidFill>
            <a:srgbClr val="F5F7F8"/>
          </a:solidFill>
          <a:ln w="9525">
            <a:solidFill>
              <a:srgbClr val="E2E7EB"/>
            </a:solidFill>
            <a:prstDash val="solid"/>
          </a:ln>
        </p:spPr>
      </p:sp>
      <p:sp>
        <p:nvSpPr>
          <p:cNvPr id="19" name="Text 17"/>
          <p:cNvSpPr txBox="1"/>
          <p:nvPr/>
        </p:nvSpPr>
        <p:spPr>
          <a:xfrm>
            <a:off x="777240" y="3346704"/>
            <a:ext cx="731520" cy="548640"/>
          </a:xfrm>
          <a:prstGeom prst="rect">
            <a:avLst/>
          </a:prstGeom>
          <a:noFill/>
          <a:ln/>
        </p:spPr>
        <p:txBody>
          <a:bodyPr wrap="square" lIns="0" tIns="0" rIns="0" bIns="0" rtlCol="0" anchor="ctr"/>
          <a:lstStyle/>
          <a:p>
            <a:pPr indent="0" marL="0">
              <a:buNone/>
            </a:pPr>
            <a:r>
              <a:rPr lang="en-US" sz="1250" b="1" dirty="0">
                <a:solidFill>
                  <a:srgbClr val="0B5550"/>
                </a:solidFill>
                <a:latin typeface="Courier New" pitchFamily="34" charset="0"/>
                <a:ea typeface="Courier New" pitchFamily="34" charset="-122"/>
                <a:cs typeface="Courier New" pitchFamily="34" charset="-120"/>
              </a:rPr>
              <a:t>AC-4</a:t>
            </a:r>
            <a:endParaRPr lang="en-US" sz="1250" dirty="0"/>
          </a:p>
        </p:txBody>
      </p:sp>
      <p:sp>
        <p:nvSpPr>
          <p:cNvPr id="20" name="Text 18"/>
          <p:cNvSpPr txBox="1"/>
          <p:nvPr/>
        </p:nvSpPr>
        <p:spPr>
          <a:xfrm>
            <a:off x="1554480" y="3346704"/>
            <a:ext cx="2651760" cy="548640"/>
          </a:xfrm>
          <a:prstGeom prst="rect">
            <a:avLst/>
          </a:prstGeom>
          <a:noFill/>
          <a:ln/>
        </p:spPr>
        <p:txBody>
          <a:bodyPr wrap="square" lIns="0" tIns="0" rIns="0" bIns="0" rtlCol="0" anchor="ctr"/>
          <a:lstStyle/>
          <a:p>
            <a:pPr indent="0" marL="0">
              <a:lnSpc>
                <a:spcPts val="1500"/>
              </a:lnSpc>
              <a:buNone/>
            </a:pPr>
            <a:r>
              <a:rPr lang="en-US" sz="1200" b="1" dirty="0">
                <a:solidFill>
                  <a:srgbClr val="1F2933"/>
                </a:solidFill>
                <a:latin typeface="Calibri" pitchFamily="34" charset="0"/>
                <a:ea typeface="Calibri" pitchFamily="34" charset="-122"/>
                <a:cs typeface="Calibri" pitchFamily="34" charset="-120"/>
              </a:rPr>
              <a:t>Level tidak valid bukan rating</a:t>
            </a:r>
            <a:endParaRPr lang="en-US" sz="1200" dirty="0"/>
          </a:p>
        </p:txBody>
      </p:sp>
      <p:sp>
        <p:nvSpPr>
          <p:cNvPr id="21" name="Text 19"/>
          <p:cNvSpPr txBox="1"/>
          <p:nvPr/>
        </p:nvSpPr>
        <p:spPr>
          <a:xfrm>
            <a:off x="4297680" y="3346704"/>
            <a:ext cx="3611880" cy="548640"/>
          </a:xfrm>
          <a:prstGeom prst="rect">
            <a:avLst/>
          </a:prstGeom>
          <a:noFill/>
          <a:ln/>
        </p:spPr>
        <p:txBody>
          <a:bodyPr wrap="square" lIns="0" tIns="0" rIns="0" bIns="0" rtlCol="0" anchor="ctr"/>
          <a:lstStyle/>
          <a:p>
            <a:pPr indent="0" marL="0">
              <a:lnSpc>
                <a:spcPts val="1400"/>
              </a:lnSpc>
              <a:buNone/>
            </a:pPr>
            <a:r>
              <a:rPr lang="en-US" sz="1100" dirty="0">
                <a:solidFill>
                  <a:srgbClr val="5F6B76"/>
                </a:solidFill>
                <a:latin typeface="Calibri" pitchFamily="34" charset="0"/>
                <a:ea typeface="Calibri" pitchFamily="34" charset="-122"/>
                <a:cs typeface="Calibri" pitchFamily="34" charset="-120"/>
              </a:rPr>
              <a:t>Null, kosong, atau di luar 1–5 → “—”, tidak pernah L1</a:t>
            </a:r>
            <a:endParaRPr lang="en-US" sz="1100" dirty="0"/>
          </a:p>
        </p:txBody>
      </p:sp>
      <p:sp>
        <p:nvSpPr>
          <p:cNvPr id="22" name="Shape 20"/>
          <p:cNvSpPr/>
          <p:nvPr/>
        </p:nvSpPr>
        <p:spPr>
          <a:xfrm>
            <a:off x="594360" y="3968496"/>
            <a:ext cx="7406640" cy="548640"/>
          </a:xfrm>
          <a:prstGeom prst="roundRect">
            <a:avLst>
              <a:gd name="adj" fmla="val 11667"/>
            </a:avLst>
          </a:prstGeom>
          <a:solidFill>
            <a:srgbClr val="F5F7F8"/>
          </a:solidFill>
          <a:ln w="9525">
            <a:solidFill>
              <a:srgbClr val="E2E7EB"/>
            </a:solidFill>
            <a:prstDash val="solid"/>
          </a:ln>
        </p:spPr>
      </p:sp>
      <p:sp>
        <p:nvSpPr>
          <p:cNvPr id="23" name="Text 21"/>
          <p:cNvSpPr txBox="1"/>
          <p:nvPr/>
        </p:nvSpPr>
        <p:spPr>
          <a:xfrm>
            <a:off x="777240" y="3968496"/>
            <a:ext cx="731520" cy="548640"/>
          </a:xfrm>
          <a:prstGeom prst="rect">
            <a:avLst/>
          </a:prstGeom>
          <a:noFill/>
          <a:ln/>
        </p:spPr>
        <p:txBody>
          <a:bodyPr wrap="square" lIns="0" tIns="0" rIns="0" bIns="0" rtlCol="0" anchor="ctr"/>
          <a:lstStyle/>
          <a:p>
            <a:pPr indent="0" marL="0">
              <a:buNone/>
            </a:pPr>
            <a:r>
              <a:rPr lang="en-US" sz="1250" b="1" dirty="0">
                <a:solidFill>
                  <a:srgbClr val="0B5550"/>
                </a:solidFill>
                <a:latin typeface="Courier New" pitchFamily="34" charset="0"/>
                <a:ea typeface="Courier New" pitchFamily="34" charset="-122"/>
                <a:cs typeface="Courier New" pitchFamily="34" charset="-120"/>
              </a:rPr>
              <a:t>AC-5</a:t>
            </a:r>
            <a:endParaRPr lang="en-US" sz="1250" dirty="0"/>
          </a:p>
        </p:txBody>
      </p:sp>
      <p:sp>
        <p:nvSpPr>
          <p:cNvPr id="24" name="Text 22"/>
          <p:cNvSpPr txBox="1"/>
          <p:nvPr/>
        </p:nvSpPr>
        <p:spPr>
          <a:xfrm>
            <a:off x="1554480" y="3968496"/>
            <a:ext cx="2651760" cy="548640"/>
          </a:xfrm>
          <a:prstGeom prst="rect">
            <a:avLst/>
          </a:prstGeom>
          <a:noFill/>
          <a:ln/>
        </p:spPr>
        <p:txBody>
          <a:bodyPr wrap="square" lIns="0" tIns="0" rIns="0" bIns="0" rtlCol="0" anchor="ctr"/>
          <a:lstStyle/>
          <a:p>
            <a:pPr indent="0" marL="0">
              <a:lnSpc>
                <a:spcPts val="1500"/>
              </a:lnSpc>
              <a:buNone/>
            </a:pPr>
            <a:r>
              <a:rPr lang="en-US" sz="1200" b="1" dirty="0">
                <a:solidFill>
                  <a:srgbClr val="1F2933"/>
                </a:solidFill>
                <a:latin typeface="Calibri" pitchFamily="34" charset="0"/>
                <a:ea typeface="Calibri" pitchFamily="34" charset="-122"/>
                <a:cs typeface="Calibri" pitchFamily="34" charset="-120"/>
              </a:rPr>
              <a:t>Generate punya jalan keluar</a:t>
            </a:r>
            <a:endParaRPr lang="en-US" sz="1200" dirty="0"/>
          </a:p>
        </p:txBody>
      </p:sp>
      <p:sp>
        <p:nvSpPr>
          <p:cNvPr id="25" name="Text 23"/>
          <p:cNvSpPr txBox="1"/>
          <p:nvPr/>
        </p:nvSpPr>
        <p:spPr>
          <a:xfrm>
            <a:off x="4297680" y="3968496"/>
            <a:ext cx="3611880" cy="548640"/>
          </a:xfrm>
          <a:prstGeom prst="rect">
            <a:avLst/>
          </a:prstGeom>
          <a:noFill/>
          <a:ln/>
        </p:spPr>
        <p:txBody>
          <a:bodyPr wrap="square" lIns="0" tIns="0" rIns="0" bIns="0" rtlCol="0" anchor="ctr"/>
          <a:lstStyle/>
          <a:p>
            <a:pPr indent="0" marL="0">
              <a:lnSpc>
                <a:spcPts val="1400"/>
              </a:lnSpc>
              <a:buNone/>
            </a:pPr>
            <a:r>
              <a:rPr lang="en-US" sz="1100" dirty="0">
                <a:solidFill>
                  <a:srgbClr val="5F6B76"/>
                </a:solidFill>
                <a:latin typeface="Calibri" pitchFamily="34" charset="0"/>
                <a:ea typeface="Calibri" pitchFamily="34" charset="-122"/>
                <a:cs typeface="Calibri" pitchFamily="34" charset="-120"/>
              </a:rPr>
              <a:t>Pending &gt; 5 menit → stalled + retry; polling berhenti saat tab tersembunyi</a:t>
            </a:r>
            <a:endParaRPr lang="en-US" sz="1100" dirty="0"/>
          </a:p>
        </p:txBody>
      </p:sp>
      <p:sp>
        <p:nvSpPr>
          <p:cNvPr id="26" name="Shape 24"/>
          <p:cNvSpPr/>
          <p:nvPr/>
        </p:nvSpPr>
        <p:spPr>
          <a:xfrm>
            <a:off x="594360" y="4590288"/>
            <a:ext cx="7406640" cy="548640"/>
          </a:xfrm>
          <a:prstGeom prst="roundRect">
            <a:avLst>
              <a:gd name="adj" fmla="val 11667"/>
            </a:avLst>
          </a:prstGeom>
          <a:solidFill>
            <a:srgbClr val="F5F7F8"/>
          </a:solidFill>
          <a:ln w="9525">
            <a:solidFill>
              <a:srgbClr val="E2E7EB"/>
            </a:solidFill>
            <a:prstDash val="solid"/>
          </a:ln>
        </p:spPr>
      </p:sp>
      <p:sp>
        <p:nvSpPr>
          <p:cNvPr id="27" name="Text 25"/>
          <p:cNvSpPr txBox="1"/>
          <p:nvPr/>
        </p:nvSpPr>
        <p:spPr>
          <a:xfrm>
            <a:off x="777240" y="4590288"/>
            <a:ext cx="731520" cy="548640"/>
          </a:xfrm>
          <a:prstGeom prst="rect">
            <a:avLst/>
          </a:prstGeom>
          <a:noFill/>
          <a:ln/>
        </p:spPr>
        <p:txBody>
          <a:bodyPr wrap="square" lIns="0" tIns="0" rIns="0" bIns="0" rtlCol="0" anchor="ctr"/>
          <a:lstStyle/>
          <a:p>
            <a:pPr indent="0" marL="0">
              <a:buNone/>
            </a:pPr>
            <a:r>
              <a:rPr lang="en-US" sz="1250" b="1" dirty="0">
                <a:solidFill>
                  <a:srgbClr val="0B5550"/>
                </a:solidFill>
                <a:latin typeface="Courier New" pitchFamily="34" charset="0"/>
                <a:ea typeface="Courier New" pitchFamily="34" charset="-122"/>
                <a:cs typeface="Courier New" pitchFamily="34" charset="-120"/>
              </a:rPr>
              <a:t>AC-6</a:t>
            </a:r>
            <a:endParaRPr lang="en-US" sz="1250" dirty="0"/>
          </a:p>
        </p:txBody>
      </p:sp>
      <p:sp>
        <p:nvSpPr>
          <p:cNvPr id="28" name="Text 26"/>
          <p:cNvSpPr txBox="1"/>
          <p:nvPr/>
        </p:nvSpPr>
        <p:spPr>
          <a:xfrm>
            <a:off x="1554480" y="4590288"/>
            <a:ext cx="2651760" cy="548640"/>
          </a:xfrm>
          <a:prstGeom prst="rect">
            <a:avLst/>
          </a:prstGeom>
          <a:noFill/>
          <a:ln/>
        </p:spPr>
        <p:txBody>
          <a:bodyPr wrap="square" lIns="0" tIns="0" rIns="0" bIns="0" rtlCol="0" anchor="ctr"/>
          <a:lstStyle/>
          <a:p>
            <a:pPr indent="0" marL="0">
              <a:lnSpc>
                <a:spcPts val="1500"/>
              </a:lnSpc>
              <a:buNone/>
            </a:pPr>
            <a:r>
              <a:rPr lang="en-US" sz="1200" b="1" dirty="0">
                <a:solidFill>
                  <a:srgbClr val="1F2933"/>
                </a:solidFill>
                <a:latin typeface="Calibri" pitchFamily="34" charset="0"/>
                <a:ea typeface="Calibri" pitchFamily="34" charset="-122"/>
                <a:cs typeface="Calibri" pitchFamily="34" charset="-120"/>
              </a:rPr>
              <a:t>Kegagalan didesain, tidak ditelan</a:t>
            </a:r>
            <a:endParaRPr lang="en-US" sz="1200" dirty="0"/>
          </a:p>
        </p:txBody>
      </p:sp>
      <p:sp>
        <p:nvSpPr>
          <p:cNvPr id="29" name="Text 27"/>
          <p:cNvSpPr txBox="1"/>
          <p:nvPr/>
        </p:nvSpPr>
        <p:spPr>
          <a:xfrm>
            <a:off x="4297680" y="4590288"/>
            <a:ext cx="3611880" cy="548640"/>
          </a:xfrm>
          <a:prstGeom prst="rect">
            <a:avLst/>
          </a:prstGeom>
          <a:noFill/>
          <a:ln/>
        </p:spPr>
        <p:txBody>
          <a:bodyPr wrap="square" lIns="0" tIns="0" rIns="0" bIns="0" rtlCol="0" anchor="ctr"/>
          <a:lstStyle/>
          <a:p>
            <a:pPr indent="0" marL="0">
              <a:lnSpc>
                <a:spcPts val="1400"/>
              </a:lnSpc>
              <a:buNone/>
            </a:pPr>
            <a:r>
              <a:rPr lang="en-US" sz="1100" dirty="0">
                <a:solidFill>
                  <a:srgbClr val="5F6B76"/>
                </a:solidFill>
                <a:latin typeface="Calibri" pitchFamily="34" charset="0"/>
                <a:ea typeface="Calibri" pitchFamily="34" charset="-122"/>
                <a:cs typeface="Calibri" pitchFamily="34" charset="-120"/>
              </a:rPr>
              <a:t>500 → error + retry; error export di-decode; job ganda idempoten</a:t>
            </a:r>
            <a:endParaRPr lang="en-US" sz="1100" dirty="0"/>
          </a:p>
        </p:txBody>
      </p:sp>
      <p:sp>
        <p:nvSpPr>
          <p:cNvPr id="30" name="Shape 28"/>
          <p:cNvSpPr/>
          <p:nvPr/>
        </p:nvSpPr>
        <p:spPr>
          <a:xfrm>
            <a:off x="594360" y="5212080"/>
            <a:ext cx="7406640" cy="548640"/>
          </a:xfrm>
          <a:prstGeom prst="roundRect">
            <a:avLst>
              <a:gd name="adj" fmla="val 11667"/>
            </a:avLst>
          </a:prstGeom>
          <a:solidFill>
            <a:srgbClr val="F5F7F8"/>
          </a:solidFill>
          <a:ln w="9525">
            <a:solidFill>
              <a:srgbClr val="E2E7EB"/>
            </a:solidFill>
            <a:prstDash val="solid"/>
          </a:ln>
        </p:spPr>
      </p:sp>
      <p:sp>
        <p:nvSpPr>
          <p:cNvPr id="31" name="Text 29"/>
          <p:cNvSpPr txBox="1"/>
          <p:nvPr/>
        </p:nvSpPr>
        <p:spPr>
          <a:xfrm>
            <a:off x="777240" y="5212080"/>
            <a:ext cx="731520" cy="548640"/>
          </a:xfrm>
          <a:prstGeom prst="rect">
            <a:avLst/>
          </a:prstGeom>
          <a:noFill/>
          <a:ln/>
        </p:spPr>
        <p:txBody>
          <a:bodyPr wrap="square" lIns="0" tIns="0" rIns="0" bIns="0" rtlCol="0" anchor="ctr"/>
          <a:lstStyle/>
          <a:p>
            <a:pPr indent="0" marL="0">
              <a:buNone/>
            </a:pPr>
            <a:r>
              <a:rPr lang="en-US" sz="1250" b="1" dirty="0">
                <a:solidFill>
                  <a:srgbClr val="0B5550"/>
                </a:solidFill>
                <a:latin typeface="Courier New" pitchFamily="34" charset="0"/>
                <a:ea typeface="Courier New" pitchFamily="34" charset="-122"/>
                <a:cs typeface="Courier New" pitchFamily="34" charset="-120"/>
              </a:rPr>
              <a:t>AC-7</a:t>
            </a:r>
            <a:endParaRPr lang="en-US" sz="1250" dirty="0"/>
          </a:p>
        </p:txBody>
      </p:sp>
      <p:sp>
        <p:nvSpPr>
          <p:cNvPr id="32" name="Text 30"/>
          <p:cNvSpPr txBox="1"/>
          <p:nvPr/>
        </p:nvSpPr>
        <p:spPr>
          <a:xfrm>
            <a:off x="1554480" y="5212080"/>
            <a:ext cx="2651760" cy="548640"/>
          </a:xfrm>
          <a:prstGeom prst="rect">
            <a:avLst/>
          </a:prstGeom>
          <a:noFill/>
          <a:ln/>
        </p:spPr>
        <p:txBody>
          <a:bodyPr wrap="square" lIns="0" tIns="0" rIns="0" bIns="0" rtlCol="0" anchor="ctr"/>
          <a:lstStyle/>
          <a:p>
            <a:pPr indent="0" marL="0">
              <a:lnSpc>
                <a:spcPts val="1500"/>
              </a:lnSpc>
              <a:buNone/>
            </a:pPr>
            <a:r>
              <a:rPr lang="en-US" sz="1200" b="1" dirty="0">
                <a:solidFill>
                  <a:srgbClr val="1F2933"/>
                </a:solidFill>
                <a:latin typeface="Calibri" pitchFamily="34" charset="0"/>
                <a:ea typeface="Calibri" pitchFamily="34" charset="-122"/>
                <a:cs typeface="Calibri" pitchFamily="34" charset="-120"/>
              </a:rPr>
              <a:t>Kualitas interface</a:t>
            </a:r>
            <a:endParaRPr lang="en-US" sz="1200" dirty="0"/>
          </a:p>
        </p:txBody>
      </p:sp>
      <p:sp>
        <p:nvSpPr>
          <p:cNvPr id="33" name="Text 31"/>
          <p:cNvSpPr txBox="1"/>
          <p:nvPr/>
        </p:nvSpPr>
        <p:spPr>
          <a:xfrm>
            <a:off x="4297680" y="5212080"/>
            <a:ext cx="3611880" cy="548640"/>
          </a:xfrm>
          <a:prstGeom prst="rect">
            <a:avLst/>
          </a:prstGeom>
          <a:noFill/>
          <a:ln/>
        </p:spPr>
        <p:txBody>
          <a:bodyPr wrap="square" lIns="0" tIns="0" rIns="0" bIns="0" rtlCol="0" anchor="ctr"/>
          <a:lstStyle/>
          <a:p>
            <a:pPr indent="0" marL="0">
              <a:lnSpc>
                <a:spcPts val="1400"/>
              </a:lnSpc>
              <a:buNone/>
            </a:pPr>
            <a:r>
              <a:rPr lang="en-US" sz="1100" dirty="0">
                <a:solidFill>
                  <a:srgbClr val="5F6B76"/>
                </a:solidFill>
                <a:latin typeface="Calibri" pitchFamily="34" charset="0"/>
                <a:ea typeface="Calibri" pitchFamily="34" charset="-122"/>
                <a:cs typeface="Calibri" pitchFamily="34" charset="-120"/>
              </a:rPr>
              <a:t>Label teks, kontras 4,5:1, 375px, teks 2.000 karakter, keyboard &amp; scope</a:t>
            </a:r>
            <a:endParaRPr lang="en-US" sz="1100" dirty="0"/>
          </a:p>
        </p:txBody>
      </p:sp>
      <p:sp>
        <p:nvSpPr>
          <p:cNvPr id="34" name="Shape 32"/>
          <p:cNvSpPr/>
          <p:nvPr/>
        </p:nvSpPr>
        <p:spPr>
          <a:xfrm>
            <a:off x="8275320" y="1481328"/>
            <a:ext cx="3322015" cy="4297680"/>
          </a:xfrm>
          <a:prstGeom prst="roundRect">
            <a:avLst>
              <a:gd name="adj" fmla="val 1927"/>
            </a:avLst>
          </a:prstGeom>
          <a:solidFill>
            <a:srgbClr val="E6F3F1"/>
          </a:solidFill>
          <a:ln w="9525">
            <a:solidFill>
              <a:srgbClr val="E6F3F1"/>
            </a:solidFill>
            <a:prstDash val="solid"/>
          </a:ln>
        </p:spPr>
      </p:sp>
      <p:sp>
        <p:nvSpPr>
          <p:cNvPr id="35" name="Text 33"/>
          <p:cNvSpPr txBox="1"/>
          <p:nvPr/>
        </p:nvSpPr>
        <p:spPr>
          <a:xfrm>
            <a:off x="8531352" y="1645920"/>
            <a:ext cx="2809951" cy="320040"/>
          </a:xfrm>
          <a:prstGeom prst="rect">
            <a:avLst/>
          </a:prstGeom>
          <a:noFill/>
          <a:ln/>
        </p:spPr>
        <p:txBody>
          <a:bodyPr wrap="square" lIns="0" tIns="0" rIns="0" bIns="0" rtlCol="0" anchor="t"/>
          <a:lstStyle/>
          <a:p>
            <a:pPr indent="0" marL="0">
              <a:buNone/>
            </a:pPr>
            <a:r>
              <a:rPr lang="en-US" sz="1450" b="1" dirty="0">
                <a:solidFill>
                  <a:srgbClr val="0B5550"/>
                </a:solidFill>
                <a:latin typeface="Calibri" pitchFamily="34" charset="0"/>
                <a:ea typeface="Calibri" pitchFamily="34" charset="-122"/>
                <a:cs typeface="Calibri" pitchFamily="34" charset="-120"/>
              </a:rPr>
              <a:t>Kategori edge case</a:t>
            </a:r>
            <a:endParaRPr lang="en-US" sz="1450" dirty="0"/>
          </a:p>
        </p:txBody>
      </p:sp>
      <p:sp>
        <p:nvSpPr>
          <p:cNvPr id="36" name="Text 34"/>
          <p:cNvSpPr txBox="1"/>
          <p:nvPr/>
        </p:nvSpPr>
        <p:spPr>
          <a:xfrm>
            <a:off x="8531352" y="2057400"/>
            <a:ext cx="2809951" cy="356616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Skill yang tidak pernah diprobe</a:t>
            </a:r>
            <a:endParaRPr lang="en-US" sz="1250" dirty="0"/>
          </a:p>
          <a:p>
            <a:pPr marL="342900" indent="-342900">
              <a:lnSpc>
                <a:spcPts val="16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Rating yang hilang</a:t>
            </a:r>
            <a:endParaRPr lang="en-US" sz="1250" dirty="0"/>
          </a:p>
          <a:p>
            <a:pPr marL="342900" indent="-342900">
              <a:lnSpc>
                <a:spcPts val="16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Kegagalan model: timeout, JSON rusak, enum asing</a:t>
            </a:r>
            <a:endParaRPr lang="en-US" sz="1250" dirty="0"/>
          </a:p>
          <a:p>
            <a:pPr marL="342900" indent="-342900">
              <a:lnSpc>
                <a:spcPts val="16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Tipe data salah: string vs number, delta 0</a:t>
            </a:r>
            <a:endParaRPr lang="en-US" sz="1250" dirty="0"/>
          </a:p>
          <a:p>
            <a:pPr marL="342900" indent="-342900">
              <a:lnSpc>
                <a:spcPts val="16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Teks panjang: 2.000 karakter, label tanpa spasi</a:t>
            </a:r>
            <a:endParaRPr lang="en-US" sz="1250" dirty="0"/>
          </a:p>
          <a:p>
            <a:pPr marL="342900" indent="-342900">
              <a:lnSpc>
                <a:spcPts val="16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Konkurensi: dua tab, dua job</a:t>
            </a:r>
            <a:endParaRPr lang="en-US" sz="1250" dirty="0"/>
          </a:p>
          <a:p>
            <a:pPr marL="342900" indent="-342900">
              <a:lnSpc>
                <a:spcPts val="16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Otorisasi lintas tenant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Desain solusinya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Validasi di satu tempat — service layer, sebelum data menyentuh komponen.</a:t>
            </a:r>
            <a:endParaRPr lang="en-US" sz="1500" dirty="0"/>
          </a:p>
        </p:txBody>
      </p:sp>
      <p:sp>
        <p:nvSpPr>
          <p:cNvPr id="6" name="Shape 4"/>
          <p:cNvSpPr/>
          <p:nvPr/>
        </p:nvSpPr>
        <p:spPr>
          <a:xfrm>
            <a:off x="594360" y="1645920"/>
            <a:ext cx="3108960" cy="868680"/>
          </a:xfrm>
          <a:prstGeom prst="roundRect">
            <a:avLst>
              <a:gd name="adj" fmla="val 7368"/>
            </a:avLst>
          </a:prstGeom>
          <a:solidFill>
            <a:srgbClr val="F5F7F8"/>
          </a:solidFill>
          <a:ln w="9525">
            <a:solidFill>
              <a:srgbClr val="E2E7EB"/>
            </a:solidFill>
            <a:prstDash val="solid"/>
          </a:ln>
        </p:spPr>
      </p:sp>
      <p:sp>
        <p:nvSpPr>
          <p:cNvPr id="7" name="Text 5"/>
          <p:cNvSpPr txBox="1"/>
          <p:nvPr/>
        </p:nvSpPr>
        <p:spPr>
          <a:xfrm>
            <a:off x="777240" y="1755648"/>
            <a:ext cx="2743200" cy="320040"/>
          </a:xfrm>
          <a:prstGeom prst="rect">
            <a:avLst/>
          </a:prstGeom>
          <a:noFill/>
          <a:ln/>
        </p:spPr>
        <p:txBody>
          <a:bodyPr wrap="square" lIns="0" tIns="0" rIns="0" bIns="0" rtlCol="0" anchor="t"/>
          <a:lstStyle/>
          <a:p>
            <a:pPr indent="0" marL="0">
              <a:buNone/>
            </a:pPr>
            <a:r>
              <a:rPr lang="en-US" sz="1350" b="1" dirty="0">
                <a:solidFill>
                  <a:srgbClr val="1F2933"/>
                </a:solidFill>
                <a:latin typeface="Courier New" pitchFamily="34" charset="0"/>
                <a:ea typeface="Courier New" pitchFamily="34" charset="-122"/>
                <a:cs typeface="Courier New" pitchFamily="34" charset="-120"/>
              </a:rPr>
              <a:t>GET …/fitgap</a:t>
            </a:r>
            <a:endParaRPr lang="en-US" sz="1350" dirty="0"/>
          </a:p>
        </p:txBody>
      </p:sp>
      <p:sp>
        <p:nvSpPr>
          <p:cNvPr id="8" name="Text 6"/>
          <p:cNvSpPr txBox="1"/>
          <p:nvPr/>
        </p:nvSpPr>
        <p:spPr>
          <a:xfrm>
            <a:off x="777240" y="2103120"/>
            <a:ext cx="2743200" cy="36576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Response mentah dari API</a:t>
            </a:r>
            <a:endParaRPr lang="en-US" sz="1150" dirty="0"/>
          </a:p>
        </p:txBody>
      </p:sp>
      <p:sp>
        <p:nvSpPr>
          <p:cNvPr id="9" name="Shape 7"/>
          <p:cNvSpPr/>
          <p:nvPr/>
        </p:nvSpPr>
        <p:spPr>
          <a:xfrm>
            <a:off x="2148840" y="2532888"/>
            <a:ext cx="0" cy="329184"/>
          </a:xfrm>
          <a:prstGeom prst="line">
            <a:avLst/>
          </a:prstGeom>
          <a:noFill/>
          <a:ln w="19050">
            <a:solidFill>
              <a:srgbClr val="8B96A0"/>
            </a:solidFill>
            <a:prstDash val="solid"/>
            <a:tailEnd type="triangle"/>
          </a:ln>
        </p:spPr>
      </p:sp>
      <p:sp>
        <p:nvSpPr>
          <p:cNvPr id="10" name="Shape 8"/>
          <p:cNvSpPr/>
          <p:nvPr/>
        </p:nvSpPr>
        <p:spPr>
          <a:xfrm>
            <a:off x="594360" y="2880360"/>
            <a:ext cx="3108960" cy="868680"/>
          </a:xfrm>
          <a:prstGeom prst="roundRect">
            <a:avLst>
              <a:gd name="adj" fmla="val 7368"/>
            </a:avLst>
          </a:prstGeom>
          <a:solidFill>
            <a:srgbClr val="E6F3F1"/>
          </a:solidFill>
          <a:ln w="9525">
            <a:solidFill>
              <a:srgbClr val="0F766E"/>
            </a:solidFill>
            <a:prstDash val="solid"/>
          </a:ln>
        </p:spPr>
      </p:sp>
      <p:sp>
        <p:nvSpPr>
          <p:cNvPr id="11" name="Text 9"/>
          <p:cNvSpPr txBox="1"/>
          <p:nvPr/>
        </p:nvSpPr>
        <p:spPr>
          <a:xfrm>
            <a:off x="777240" y="2990088"/>
            <a:ext cx="2743200" cy="320040"/>
          </a:xfrm>
          <a:prstGeom prst="rect">
            <a:avLst/>
          </a:prstGeom>
          <a:noFill/>
          <a:ln/>
        </p:spPr>
        <p:txBody>
          <a:bodyPr wrap="square" lIns="0" tIns="0" rIns="0" bIns="0" rtlCol="0" anchor="t"/>
          <a:lstStyle/>
          <a:p>
            <a:pPr indent="0" marL="0">
              <a:buNone/>
            </a:pPr>
            <a:r>
              <a:rPr lang="en-US" sz="1350" b="1" dirty="0">
                <a:solidFill>
                  <a:srgbClr val="1F2933"/>
                </a:solidFill>
                <a:latin typeface="Courier New" pitchFamily="34" charset="0"/>
                <a:ea typeface="Courier New" pitchFamily="34" charset="-122"/>
                <a:cs typeface="Courier New" pitchFamily="34" charset="-120"/>
              </a:rPr>
              <a:t>parseContract()</a:t>
            </a:r>
            <a:endParaRPr lang="en-US" sz="1350" dirty="0"/>
          </a:p>
        </p:txBody>
      </p:sp>
      <p:sp>
        <p:nvSpPr>
          <p:cNvPr id="12" name="Text 10"/>
          <p:cNvSpPr txBox="1"/>
          <p:nvPr/>
        </p:nvSpPr>
        <p:spPr>
          <a:xfrm>
            <a:off x="777240" y="3337560"/>
            <a:ext cx="2743200" cy="36576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Zod schema di services/schemas.ts</a:t>
            </a:r>
            <a:endParaRPr lang="en-US" sz="1150" dirty="0"/>
          </a:p>
        </p:txBody>
      </p:sp>
      <p:sp>
        <p:nvSpPr>
          <p:cNvPr id="13" name="Shape 11"/>
          <p:cNvSpPr/>
          <p:nvPr/>
        </p:nvSpPr>
        <p:spPr>
          <a:xfrm>
            <a:off x="1417320" y="3767328"/>
            <a:ext cx="0" cy="365760"/>
          </a:xfrm>
          <a:prstGeom prst="line">
            <a:avLst/>
          </a:prstGeom>
          <a:noFill/>
          <a:ln w="19050">
            <a:solidFill>
              <a:srgbClr val="0F766E"/>
            </a:solidFill>
            <a:prstDash val="solid"/>
            <a:tailEnd type="triangle"/>
          </a:ln>
        </p:spPr>
      </p:sp>
      <p:sp>
        <p:nvSpPr>
          <p:cNvPr id="14" name="Shape 12"/>
          <p:cNvSpPr/>
          <p:nvPr/>
        </p:nvSpPr>
        <p:spPr>
          <a:xfrm>
            <a:off x="2880360" y="3767328"/>
            <a:ext cx="0" cy="365760"/>
          </a:xfrm>
          <a:prstGeom prst="line">
            <a:avLst/>
          </a:prstGeom>
          <a:noFill/>
          <a:ln w="19050">
            <a:solidFill>
              <a:srgbClr val="C8553D"/>
            </a:solidFill>
            <a:prstDash val="solid"/>
            <a:tailEnd type="triangle"/>
          </a:ln>
        </p:spPr>
      </p:sp>
      <p:sp>
        <p:nvSpPr>
          <p:cNvPr id="15" name="Shape 13"/>
          <p:cNvSpPr/>
          <p:nvPr/>
        </p:nvSpPr>
        <p:spPr>
          <a:xfrm>
            <a:off x="548640" y="4169664"/>
            <a:ext cx="1691640" cy="1280160"/>
          </a:xfrm>
          <a:prstGeom prst="roundRect">
            <a:avLst>
              <a:gd name="adj" fmla="val 5000"/>
            </a:avLst>
          </a:prstGeom>
          <a:solidFill>
            <a:srgbClr val="E6F3F1"/>
          </a:solidFill>
          <a:ln w="9525">
            <a:solidFill>
              <a:srgbClr val="0F766E"/>
            </a:solidFill>
            <a:prstDash val="solid"/>
          </a:ln>
        </p:spPr>
      </p:sp>
      <p:sp>
        <p:nvSpPr>
          <p:cNvPr id="16" name="Text 14"/>
          <p:cNvSpPr txBox="1"/>
          <p:nvPr/>
        </p:nvSpPr>
        <p:spPr>
          <a:xfrm>
            <a:off x="685800" y="4261104"/>
            <a:ext cx="1463040" cy="27432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Valid</a:t>
            </a:r>
            <a:endParaRPr lang="en-US" sz="1250" dirty="0"/>
          </a:p>
        </p:txBody>
      </p:sp>
      <p:sp>
        <p:nvSpPr>
          <p:cNvPr id="17" name="Text 15"/>
          <p:cNvSpPr txBox="1"/>
          <p:nvPr/>
        </p:nvSpPr>
        <p:spPr>
          <a:xfrm>
            <a:off x="685800" y="4535424"/>
            <a:ext cx="1463040" cy="82296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Render decision record per baris</a:t>
            </a:r>
            <a:endParaRPr lang="en-US" sz="1150" dirty="0"/>
          </a:p>
        </p:txBody>
      </p:sp>
      <p:sp>
        <p:nvSpPr>
          <p:cNvPr id="18" name="Shape 16"/>
          <p:cNvSpPr/>
          <p:nvPr/>
        </p:nvSpPr>
        <p:spPr>
          <a:xfrm>
            <a:off x="2377440" y="4169664"/>
            <a:ext cx="1371600" cy="1280160"/>
          </a:xfrm>
          <a:prstGeom prst="roundRect">
            <a:avLst>
              <a:gd name="adj" fmla="val 5000"/>
            </a:avLst>
          </a:prstGeom>
          <a:solidFill>
            <a:srgbClr val="FCEDE8"/>
          </a:solidFill>
          <a:ln w="9525">
            <a:solidFill>
              <a:srgbClr val="C8553D"/>
            </a:solidFill>
            <a:prstDash val="solid"/>
          </a:ln>
        </p:spPr>
      </p:sp>
      <p:sp>
        <p:nvSpPr>
          <p:cNvPr id="19" name="Text 17"/>
          <p:cNvSpPr txBox="1"/>
          <p:nvPr/>
        </p:nvSpPr>
        <p:spPr>
          <a:xfrm>
            <a:off x="2496312" y="4261104"/>
            <a:ext cx="1188720" cy="274320"/>
          </a:xfrm>
          <a:prstGeom prst="rect">
            <a:avLst/>
          </a:prstGeom>
          <a:noFill/>
          <a:ln/>
        </p:spPr>
        <p:txBody>
          <a:bodyPr wrap="square" lIns="0" tIns="0" rIns="0" bIns="0" rtlCol="0" anchor="t"/>
          <a:lstStyle/>
          <a:p>
            <a:pPr indent="0" marL="0">
              <a:buNone/>
            </a:pPr>
            <a:r>
              <a:rPr lang="en-US" sz="1250" b="1" dirty="0">
                <a:solidFill>
                  <a:srgbClr val="C8553D"/>
                </a:solidFill>
                <a:latin typeface="Calibri" pitchFamily="34" charset="0"/>
                <a:ea typeface="Calibri" pitchFamily="34" charset="-122"/>
                <a:cs typeface="Calibri" pitchFamily="34" charset="-120"/>
              </a:rPr>
              <a:t>Tidak valid</a:t>
            </a:r>
            <a:endParaRPr lang="en-US" sz="1250" dirty="0"/>
          </a:p>
        </p:txBody>
      </p:sp>
      <p:sp>
        <p:nvSpPr>
          <p:cNvPr id="20" name="Text 18"/>
          <p:cNvSpPr txBox="1"/>
          <p:nvPr/>
        </p:nvSpPr>
        <p:spPr>
          <a:xfrm>
            <a:off x="2496312" y="4535424"/>
            <a:ext cx="1188720" cy="868680"/>
          </a:xfrm>
          <a:prstGeom prst="rect">
            <a:avLst/>
          </a:prstGeom>
          <a:noFill/>
          <a:ln/>
        </p:spPr>
        <p:txBody>
          <a:bodyPr wrap="square" lIns="0" tIns="0" rIns="0" bIns="0" rtlCol="0" anchor="t"/>
          <a:lstStyle/>
          <a:p>
            <a:pPr indent="0" marL="0">
              <a:lnSpc>
                <a:spcPts val="1300"/>
              </a:lnSpc>
              <a:buNone/>
            </a:pPr>
            <a:r>
              <a:rPr lang="en-US" sz="1050" dirty="0">
                <a:solidFill>
                  <a:srgbClr val="1F2933"/>
                </a:solidFill>
                <a:latin typeface="Calibri" pitchFamily="34" charset="0"/>
                <a:ea typeface="Calibri" pitchFamily="34" charset="-122"/>
                <a:cs typeface="Calibri" pitchFamily="34" charset="-120"/>
              </a:rPr>
              <a:t>ContractError: “data laporan tidak lengkap” + field dicatat</a:t>
            </a:r>
            <a:endParaRPr lang="en-US" sz="1050" dirty="0"/>
          </a:p>
        </p:txBody>
      </p:sp>
      <p:sp>
        <p:nvSpPr>
          <p:cNvPr id="21" name="Text 19"/>
          <p:cNvSpPr txBox="1"/>
          <p:nvPr/>
        </p:nvSpPr>
        <p:spPr>
          <a:xfrm>
            <a:off x="4206240" y="1645920"/>
            <a:ext cx="3886200"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Payload backend sekarang membawa</a:t>
            </a:r>
            <a:endParaRPr lang="en-US" sz="1450" dirty="0"/>
          </a:p>
        </p:txBody>
      </p:sp>
      <p:sp>
        <p:nvSpPr>
          <p:cNvPr id="22" name="Shape 20"/>
          <p:cNvSpPr/>
          <p:nvPr/>
        </p:nvSpPr>
        <p:spPr>
          <a:xfrm>
            <a:off x="4206240" y="2011680"/>
            <a:ext cx="3886200" cy="3474720"/>
          </a:xfrm>
          <a:prstGeom prst="roundRect">
            <a:avLst>
              <a:gd name="adj" fmla="val 1842"/>
            </a:avLst>
          </a:prstGeom>
          <a:solidFill>
            <a:srgbClr val="1F2530"/>
          </a:solidFill>
          <a:ln w="12700">
            <a:solidFill>
              <a:srgbClr val="1F2530"/>
            </a:solidFill>
            <a:prstDash val="solid"/>
          </a:ln>
        </p:spPr>
      </p:sp>
      <p:sp>
        <p:nvSpPr>
          <p:cNvPr id="23" name="Text 21"/>
          <p:cNvSpPr txBox="1"/>
          <p:nvPr/>
        </p:nvSpPr>
        <p:spPr>
          <a:xfrm>
            <a:off x="4480560" y="2194560"/>
            <a:ext cx="3429000" cy="3154680"/>
          </a:xfrm>
          <a:prstGeom prst="rect">
            <a:avLst/>
          </a:prstGeom>
          <a:noFill/>
          <a:ln/>
        </p:spPr>
        <p:txBody>
          <a:bodyPr wrap="square" lIns="0" tIns="0" rIns="0" bIns="0" rtlCol="0" anchor="t"/>
          <a:lstStyle/>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required_level</a:t>
            </a:r>
            <a:pPr indent="0" marL="0">
              <a:lnSpc>
                <a:spcPts val="1900"/>
              </a:lnSpc>
              <a:buNone/>
            </a:pPr>
            <a:r>
              <a:rPr lang="en-US" sz="1150" dirty="0">
                <a:solidFill>
                  <a:srgbClr val="8A95A3"/>
                </a:solidFill>
                <a:latin typeface="Courier New" pitchFamily="34" charset="0"/>
                <a:ea typeface="Courier New" pitchFamily="34" charset="-122"/>
                <a:cs typeface="Courier New" pitchFamily="34" charset="-120"/>
              </a:rPr>
              <a:t>   + alias expected_level</a:t>
            </a: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ai_level</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is_override</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overridden_by_email</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overridden_at</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confidence</a:t>
            </a:r>
            <a:pPr indent="0" marL="0">
              <a:lnSpc>
                <a:spcPts val="1900"/>
              </a:lnSpc>
              <a:buNone/>
            </a:pPr>
            <a:r>
              <a:rPr lang="en-US" sz="1150" dirty="0">
                <a:solidFill>
                  <a:srgbClr val="8A95A3"/>
                </a:solidFill>
                <a:latin typeface="Courier New" pitchFamily="34" charset="0"/>
                <a:ea typeface="Courier New" pitchFamily="34" charset="-122"/>
                <a:cs typeface="Courier New" pitchFamily="34" charset="-120"/>
              </a:rPr>
              <a:t>   nullable = belum terukur</a:t>
            </a: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probe_count</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evidence_turn_ids</a:t>
            </a:r>
            <a:pPr indent="0" marL="0">
              <a:lnSpc>
                <a:spcPts val="1900"/>
              </a:lnSpc>
              <a:buNone/>
            </a:pPr>
            <a:r>
              <a:rPr lang="en-US" sz="1150" dirty="0">
                <a:solidFill>
                  <a:srgbClr val="8A95A3"/>
                </a:solidFill>
                <a:latin typeface="Courier New" pitchFamily="34" charset="0"/>
                <a:ea typeface="Courier New" pitchFamily="34" charset="-122"/>
                <a:cs typeface="Courier New" pitchFamily="34" charset="-120"/>
              </a:rPr>
              <a:t>   → turn</a:t>
            </a: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narrative_is_fallback</a:t>
            </a:r>
            <a:pPr indent="0" marL="0">
              <a:lnSpc>
                <a:spcPts val="1900"/>
              </a:lnSpc>
              <a:buNone/>
            </a:pPr>
            <a:endParaRPr lang="en-US" sz="1150" dirty="0"/>
          </a:p>
        </p:txBody>
      </p:sp>
      <p:sp>
        <p:nvSpPr>
          <p:cNvPr id="24" name="Text 22"/>
          <p:cNvSpPr txBox="1"/>
          <p:nvPr/>
        </p:nvSpPr>
        <p:spPr>
          <a:xfrm>
            <a:off x="8412480" y="1645920"/>
            <a:ext cx="318485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Detail yang penting</a:t>
            </a:r>
            <a:endParaRPr lang="en-US" sz="1450" dirty="0"/>
          </a:p>
        </p:txBody>
      </p:sp>
      <p:sp>
        <p:nvSpPr>
          <p:cNvPr id="25" name="Text 23"/>
          <p:cNvSpPr txBox="1"/>
          <p:nvPr/>
        </p:nvSpPr>
        <p:spPr>
          <a:xfrm>
            <a:off x="8412480" y="2057400"/>
            <a:ext cx="3184855" cy="34747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1F2933"/>
                </a:solidFill>
                <a:latin typeface="Calibri" pitchFamily="34" charset="0"/>
                <a:ea typeface="Calibri" pitchFamily="34" charset="-122"/>
                <a:cs typeface="Calibri" pitchFamily="34" charset="-120"/>
              </a:rPr>
              <a:t>Schema menerima required_level ?? expected_level, dan .refine() menolak baris tanpa keduanya.</a:t>
            </a:r>
            <a:endParaRPr lang="en-US" sz="1250" dirty="0"/>
          </a:p>
          <a:p>
            <a:pPr marL="342900" indent="-342900">
              <a:lnSpc>
                <a:spcPts val="1700"/>
              </a:lnSpc>
              <a:spcAft>
                <a:spcPts val="900"/>
              </a:spcAft>
              <a:buSzPct val="100000"/>
              <a:buChar char="•"/>
            </a:pPr>
            <a:r>
              <a:rPr lang="en-US" sz="1250" dirty="0">
                <a:solidFill>
                  <a:srgbClr val="1F2933"/>
                </a:solidFill>
                <a:latin typeface="Calibri" pitchFamily="34" charset="0"/>
                <a:ea typeface="Calibri" pitchFamily="34" charset="-122"/>
                <a:cs typeface="Calibri" pitchFamily="34" charset="-120"/>
              </a:rPr>
              <a:t>Field asing diabaikan, jadi backend bisa menambah field tanpa merusak frontend.</a:t>
            </a:r>
            <a:endParaRPr lang="en-US" sz="1250" dirty="0"/>
          </a:p>
          <a:p>
            <a:pPr marL="342900" indent="-342900">
              <a:lnSpc>
                <a:spcPts val="1700"/>
              </a:lnSpc>
              <a:spcAft>
                <a:spcPts val="900"/>
              </a:spcAft>
              <a:buSzPct val="100000"/>
              <a:buChar char="•"/>
            </a:pPr>
            <a:r>
              <a:rPr lang="en-US" sz="1250" dirty="0">
                <a:solidFill>
                  <a:srgbClr val="1F2933"/>
                </a:solidFill>
                <a:latin typeface="Calibri" pitchFamily="34" charset="0"/>
                <a:ea typeface="Calibri" pitchFamily="34" charset="-122"/>
                <a:cs typeface="Calibri" pitchFamily="34" charset="-120"/>
              </a:rPr>
              <a:t>Type frontend di-infer dari schema — type dan runtime check tidak bisa berbeda lagi.</a:t>
            </a:r>
            <a:endParaRPr lang="en-US" sz="1250" dirty="0"/>
          </a:p>
          <a:p>
            <a:pPr marL="342900" indent="-342900">
              <a:lnSpc>
                <a:spcPts val="1700"/>
              </a:lnSpc>
              <a:spcAft>
                <a:spcPts val="900"/>
              </a:spcAft>
              <a:buSzPct val="100000"/>
              <a:buChar char="•"/>
            </a:pPr>
            <a:r>
              <a:rPr lang="en-US" sz="1250" dirty="0">
                <a:solidFill>
                  <a:srgbClr val="1F2933"/>
                </a:solidFill>
                <a:latin typeface="Calibri" pitchFamily="34" charset="0"/>
                <a:ea typeface="Calibri" pitchFamily="34" charset="-122"/>
                <a:cs typeface="Calibri" pitchFamily="34" charset="-120"/>
              </a:rPr>
              <a:t>parseLevel mengembalikan null, tidak pernah jatuh ke L1.</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Hasil: bar yang jadi pembanding kandidat</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§3.2 · P0-1 · data yang sama, sebelum dan sesudah.</a:t>
            </a:r>
            <a:endParaRPr lang="en-US" sz="1500" dirty="0"/>
          </a:p>
        </p:txBody>
      </p:sp>
      <p:sp>
        <p:nvSpPr>
          <p:cNvPr id="6" name="Text 4"/>
          <p:cNvSpPr txBox="1"/>
          <p:nvPr/>
        </p:nvSpPr>
        <p:spPr>
          <a:xfrm>
            <a:off x="594360" y="1536192"/>
            <a:ext cx="1828800" cy="256032"/>
          </a:xfrm>
          <a:prstGeom prst="rect">
            <a:avLst/>
          </a:prstGeom>
          <a:noFill/>
          <a:ln/>
        </p:spPr>
        <p:txBody>
          <a:bodyPr wrap="square" lIns="0" tIns="0" rIns="0" bIns="0" rtlCol="0" anchor="t"/>
          <a:lstStyle/>
          <a:p>
            <a:pPr indent="0" marL="0">
              <a:buNone/>
            </a:pPr>
            <a:r>
              <a:rPr lang="en-US" sz="1200" b="1" dirty="0">
                <a:solidFill>
                  <a:srgbClr val="C8553D"/>
                </a:solidFill>
                <a:latin typeface="Calibri" pitchFamily="34" charset="0"/>
                <a:ea typeface="Calibri" pitchFamily="34" charset="-122"/>
                <a:cs typeface="Calibri" pitchFamily="34" charset="-120"/>
              </a:rPr>
              <a:t>Sebelum</a:t>
            </a:r>
            <a:endParaRPr lang="en-US" sz="1200" dirty="0"/>
          </a:p>
        </p:txBody>
      </p:sp>
      <p:pic>
        <p:nvPicPr>
          <p:cNvPr id="7" name="Image 0" descr="img/p01_before.png">    </p:cNvPr>
          <p:cNvPicPr>
            <a:picLocks noChangeAspect="1"/>
          </p:cNvPicPr>
          <p:nvPr/>
        </p:nvPicPr>
        <p:blipFill>
          <a:blip r:embed="rId1"/>
          <a:stretch>
            <a:fillRect/>
          </a:stretch>
        </p:blipFill>
        <p:spPr>
          <a:xfrm>
            <a:off x="594360" y="1810512"/>
            <a:ext cx="6309360" cy="1638795"/>
          </a:xfrm>
          <a:prstGeom prst="rect">
            <a:avLst/>
          </a:prstGeom>
        </p:spPr>
      </p:pic>
      <p:sp>
        <p:nvSpPr>
          <p:cNvPr id="8" name="Shape 5"/>
          <p:cNvSpPr/>
          <p:nvPr/>
        </p:nvSpPr>
        <p:spPr>
          <a:xfrm>
            <a:off x="594360" y="1810512"/>
            <a:ext cx="6309360" cy="1638795"/>
          </a:xfrm>
          <a:prstGeom prst="rect">
            <a:avLst/>
          </a:prstGeom>
          <a:ln w="9525">
            <a:solidFill>
              <a:srgbClr val="E2E7EB"/>
            </a:solidFill>
            <a:prstDash val="solid"/>
          </a:ln>
        </p:spPr>
      </p:sp>
      <p:sp>
        <p:nvSpPr>
          <p:cNvPr id="9" name="Text 6"/>
          <p:cNvSpPr txBox="1"/>
          <p:nvPr/>
        </p:nvSpPr>
        <p:spPr>
          <a:xfrm>
            <a:off x="594360" y="3705339"/>
            <a:ext cx="182880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Sesudah</a:t>
            </a:r>
            <a:endParaRPr lang="en-US" sz="1200" dirty="0"/>
          </a:p>
        </p:txBody>
      </p:sp>
      <p:pic>
        <p:nvPicPr>
          <p:cNvPr id="10" name="Image 1" descr="img/p01_after.png">    </p:cNvPr>
          <p:cNvPicPr>
            <a:picLocks noChangeAspect="1"/>
          </p:cNvPicPr>
          <p:nvPr/>
        </p:nvPicPr>
        <p:blipFill>
          <a:blip r:embed="rId2"/>
          <a:stretch>
            <a:fillRect/>
          </a:stretch>
        </p:blipFill>
        <p:spPr>
          <a:xfrm>
            <a:off x="594360" y="3979659"/>
            <a:ext cx="6309360" cy="2190750"/>
          </a:xfrm>
          <a:prstGeom prst="rect">
            <a:avLst/>
          </a:prstGeom>
        </p:spPr>
      </p:pic>
      <p:sp>
        <p:nvSpPr>
          <p:cNvPr id="11" name="Shape 7"/>
          <p:cNvSpPr/>
          <p:nvPr/>
        </p:nvSpPr>
        <p:spPr>
          <a:xfrm>
            <a:off x="594360" y="3979659"/>
            <a:ext cx="6309360" cy="2190750"/>
          </a:xfrm>
          <a:prstGeom prst="rect">
            <a:avLst/>
          </a:prstGeom>
          <a:ln w="9525">
            <a:solidFill>
              <a:srgbClr val="E2E7EB"/>
            </a:solidFill>
            <a:prstDash val="solid"/>
          </a:ln>
        </p:spPr>
      </p:sp>
      <p:sp>
        <p:nvSpPr>
          <p:cNvPr id="12" name="Shape 8"/>
          <p:cNvSpPr/>
          <p:nvPr/>
        </p:nvSpPr>
        <p:spPr>
          <a:xfrm>
            <a:off x="7315200" y="1536192"/>
            <a:ext cx="4282135" cy="4526280"/>
          </a:xfrm>
          <a:prstGeom prst="roundRect">
            <a:avLst>
              <a:gd name="adj" fmla="val 1495"/>
            </a:avLst>
          </a:prstGeom>
          <a:solidFill>
            <a:srgbClr val="E6F3F1"/>
          </a:solidFill>
          <a:ln w="9525">
            <a:solidFill>
              <a:srgbClr val="E6F3F1"/>
            </a:solidFill>
            <a:prstDash val="solid"/>
          </a:ln>
        </p:spPr>
      </p:sp>
      <p:sp>
        <p:nvSpPr>
          <p:cNvPr id="13" name="Text 9"/>
          <p:cNvSpPr txBox="1"/>
          <p:nvPr/>
        </p:nvSpPr>
        <p:spPr>
          <a:xfrm>
            <a:off x="7589520" y="1700784"/>
            <a:ext cx="3733495" cy="32004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Yang berubah untuk user</a:t>
            </a:r>
            <a:endParaRPr lang="en-US" sz="1500" dirty="0"/>
          </a:p>
        </p:txBody>
      </p:sp>
      <p:sp>
        <p:nvSpPr>
          <p:cNvPr id="14" name="Text 10"/>
          <p:cNvSpPr txBox="1"/>
          <p:nvPr/>
        </p:nvSpPr>
        <p:spPr>
          <a:xfrm>
            <a:off x="7589520" y="2121408"/>
            <a:ext cx="3733495" cy="37490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1F2933"/>
                </a:solidFill>
                <a:latin typeface="Calibri" pitchFamily="34" charset="0"/>
                <a:ea typeface="Calibri" pitchFamily="34" charset="-122"/>
                <a:cs typeface="Calibri" pitchFamily="34" charset="-120"/>
              </a:rPr>
              <a:t>Level yang dituntut role terlihat di setiap baris.</a:t>
            </a:r>
            <a:endParaRPr lang="en-US" sz="1300" dirty="0"/>
          </a:p>
          <a:p>
            <a:pPr marL="342900" indent="-342900">
              <a:lnSpc>
                <a:spcPts val="1800"/>
              </a:lnSpc>
              <a:spcAft>
                <a:spcPts val="900"/>
              </a:spcAft>
              <a:buSzPct val="100000"/>
              <a:buChar char="•"/>
            </a:pPr>
            <a:r>
              <a:rPr lang="en-US" sz="1300" dirty="0">
                <a:solidFill>
                  <a:srgbClr val="1F2933"/>
                </a:solidFill>
                <a:latin typeface="Calibri" pitchFamily="34" charset="0"/>
                <a:ea typeface="Calibri" pitchFamily="34" charset="-122"/>
                <a:cs typeface="Calibri" pitchFamily="34" charset="-120"/>
              </a:rPr>
              <a:t>Tingkat keyakinan dan jumlah probe ikut tampil.</a:t>
            </a:r>
            <a:endParaRPr lang="en-US" sz="1300" dirty="0"/>
          </a:p>
          <a:p>
            <a:pPr marL="342900" indent="-342900">
              <a:lnSpc>
                <a:spcPts val="1800"/>
              </a:lnSpc>
              <a:spcAft>
                <a:spcPts val="900"/>
              </a:spcAft>
              <a:buSzPct val="100000"/>
              <a:buChar char="•"/>
            </a:pPr>
            <a:r>
              <a:rPr lang="en-US" sz="1300" dirty="0">
                <a:solidFill>
                  <a:srgbClr val="1F2933"/>
                </a:solidFill>
                <a:latin typeface="Calibri" pitchFamily="34" charset="0"/>
                <a:ea typeface="Calibri" pitchFamily="34" charset="-122"/>
                <a:cs typeface="Calibri" pitchFamily="34" charset="-120"/>
              </a:rPr>
              <a:t>Gap yang hanya didukung satu probe memunculkan saran sesi lanjutan sebelum menolak kandidat (AC-3.3).</a:t>
            </a:r>
            <a:endParaRPr lang="en-US" sz="1300" dirty="0"/>
          </a:p>
          <a:p>
            <a:pPr marL="342900" indent="-342900">
              <a:lnSpc>
                <a:spcPts val="1800"/>
              </a:lnSpc>
              <a:spcAft>
                <a:spcPts val="900"/>
              </a:spcAft>
              <a:buSzPct val="100000"/>
              <a:buChar char="•"/>
            </a:pPr>
            <a:r>
              <a:rPr lang="en-US" sz="1300" dirty="0">
                <a:solidFill>
                  <a:srgbClr val="1F2933"/>
                </a:solidFill>
                <a:latin typeface="Calibri" pitchFamily="34" charset="0"/>
                <a:ea typeface="Calibri" pitchFamily="34" charset="-122"/>
                <a:cs typeface="Calibri" pitchFamily="34" charset="-120"/>
              </a:rPr>
              <a:t>Skill yang tidak pernah diprobe tertulis “Belum dinilai”, bukan L1 (AC-4.4).</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Hasil: siapa yang menilai, dan seberapa yakin</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§3.2 · P0-2 dan P0-3</a:t>
            </a:r>
            <a:endParaRPr lang="en-US" sz="1500" dirty="0"/>
          </a:p>
        </p:txBody>
      </p:sp>
      <p:sp>
        <p:nvSpPr>
          <p:cNvPr id="6" name="Text 4"/>
          <p:cNvSpPr txBox="1"/>
          <p:nvPr/>
        </p:nvSpPr>
        <p:spPr>
          <a:xfrm>
            <a:off x="594360" y="1536192"/>
            <a:ext cx="694944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Override assessor terlihat: AI L2 → L4, oleh siapa, kapan</a:t>
            </a:r>
            <a:endParaRPr lang="en-US" sz="1200" dirty="0"/>
          </a:p>
        </p:txBody>
      </p:sp>
      <p:pic>
        <p:nvPicPr>
          <p:cNvPr id="7" name="Image 0" descr="img/p02_after.png">    </p:cNvPr>
          <p:cNvPicPr>
            <a:picLocks noChangeAspect="1"/>
          </p:cNvPicPr>
          <p:nvPr/>
        </p:nvPicPr>
        <p:blipFill>
          <a:blip r:embed="rId1"/>
          <a:stretch>
            <a:fillRect/>
          </a:stretch>
        </p:blipFill>
        <p:spPr>
          <a:xfrm>
            <a:off x="594360" y="1810512"/>
            <a:ext cx="6949440" cy="1662545"/>
          </a:xfrm>
          <a:prstGeom prst="rect">
            <a:avLst/>
          </a:prstGeom>
        </p:spPr>
      </p:pic>
      <p:sp>
        <p:nvSpPr>
          <p:cNvPr id="8" name="Shape 5"/>
          <p:cNvSpPr/>
          <p:nvPr/>
        </p:nvSpPr>
        <p:spPr>
          <a:xfrm>
            <a:off x="594360" y="1810512"/>
            <a:ext cx="6949440" cy="1662545"/>
          </a:xfrm>
          <a:prstGeom prst="rect">
            <a:avLst/>
          </a:prstGeom>
          <a:ln w="9525">
            <a:solidFill>
              <a:srgbClr val="E2E7EB"/>
            </a:solidFill>
            <a:prstDash val="solid"/>
          </a:ln>
        </p:spPr>
      </p:sp>
      <p:sp>
        <p:nvSpPr>
          <p:cNvPr id="9" name="Text 6"/>
          <p:cNvSpPr txBox="1"/>
          <p:nvPr/>
        </p:nvSpPr>
        <p:spPr>
          <a:xfrm>
            <a:off x="594360" y="3765665"/>
            <a:ext cx="694944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Keyakinan ikut bersama verdict</a:t>
            </a:r>
            <a:endParaRPr lang="en-US" sz="1200" dirty="0"/>
          </a:p>
        </p:txBody>
      </p:sp>
      <p:pic>
        <p:nvPicPr>
          <p:cNvPr id="10" name="Image 1" descr="img/p03_after.png">    </p:cNvPr>
          <p:cNvPicPr>
            <a:picLocks noChangeAspect="1"/>
          </p:cNvPicPr>
          <p:nvPr/>
        </p:nvPicPr>
        <p:blipFill>
          <a:blip r:embed="rId2"/>
          <a:stretch>
            <a:fillRect/>
          </a:stretch>
        </p:blipFill>
        <p:spPr>
          <a:xfrm>
            <a:off x="594360" y="4039985"/>
            <a:ext cx="6949440" cy="2026076"/>
          </a:xfrm>
          <a:prstGeom prst="rect">
            <a:avLst/>
          </a:prstGeom>
        </p:spPr>
      </p:pic>
      <p:sp>
        <p:nvSpPr>
          <p:cNvPr id="11" name="Shape 7"/>
          <p:cNvSpPr/>
          <p:nvPr/>
        </p:nvSpPr>
        <p:spPr>
          <a:xfrm>
            <a:off x="594360" y="4039985"/>
            <a:ext cx="6949440" cy="2026076"/>
          </a:xfrm>
          <a:prstGeom prst="rect">
            <a:avLst/>
          </a:prstGeom>
          <a:ln w="9525">
            <a:solidFill>
              <a:srgbClr val="E2E7EB"/>
            </a:solidFill>
            <a:prstDash val="solid"/>
          </a:ln>
        </p:spPr>
      </p:sp>
      <p:sp>
        <p:nvSpPr>
          <p:cNvPr id="12" name="Text 8"/>
          <p:cNvSpPr txBox="1"/>
          <p:nvPr/>
        </p:nvSpPr>
        <p:spPr>
          <a:xfrm>
            <a:off x="7955280" y="1572768"/>
            <a:ext cx="364205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Edge case yang saya jaga</a:t>
            </a:r>
            <a:endParaRPr lang="en-US" sz="1450" dirty="0"/>
          </a:p>
        </p:txBody>
      </p:sp>
      <p:sp>
        <p:nvSpPr>
          <p:cNvPr id="13" name="Shape 9"/>
          <p:cNvSpPr/>
          <p:nvPr/>
        </p:nvSpPr>
        <p:spPr>
          <a:xfrm>
            <a:off x="7955280" y="2011680"/>
            <a:ext cx="3642055" cy="1188720"/>
          </a:xfrm>
          <a:prstGeom prst="roundRect">
            <a:avLst>
              <a:gd name="adj" fmla="val 5385"/>
            </a:avLst>
          </a:prstGeom>
          <a:solidFill>
            <a:srgbClr val="F5F7F8"/>
          </a:solidFill>
          <a:ln w="9525">
            <a:solidFill>
              <a:srgbClr val="E2E7EB"/>
            </a:solidFill>
            <a:prstDash val="solid"/>
          </a:ln>
        </p:spPr>
      </p:sp>
      <p:sp>
        <p:nvSpPr>
          <p:cNvPr id="14" name="Text 10"/>
          <p:cNvSpPr txBox="1"/>
          <p:nvPr/>
        </p:nvSpPr>
        <p:spPr>
          <a:xfrm>
            <a:off x="8156448" y="2121408"/>
            <a:ext cx="3239719" cy="256032"/>
          </a:xfrm>
          <a:prstGeom prst="rect">
            <a:avLst/>
          </a:prstGeom>
          <a:noFill/>
          <a:ln/>
        </p:spPr>
        <p:txBody>
          <a:bodyPr wrap="square" lIns="0" tIns="0" rIns="0" bIns="0" rtlCol="0" anchor="t"/>
          <a:lstStyle/>
          <a:p>
            <a:pPr indent="0" marL="0">
              <a:buNone/>
            </a:pPr>
            <a:r>
              <a:rPr lang="en-US" sz="1150" b="1" dirty="0">
                <a:solidFill>
                  <a:srgbClr val="0B5550"/>
                </a:solidFill>
                <a:latin typeface="Courier New" pitchFamily="34" charset="0"/>
                <a:ea typeface="Courier New" pitchFamily="34" charset="-122"/>
                <a:cs typeface="Courier New" pitchFamily="34" charset="-120"/>
              </a:rPr>
              <a:t>AC-2.3</a:t>
            </a:r>
            <a:endParaRPr lang="en-US" sz="1150" dirty="0"/>
          </a:p>
        </p:txBody>
      </p:sp>
      <p:sp>
        <p:nvSpPr>
          <p:cNvPr id="15" name="Text 11"/>
          <p:cNvSpPr txBox="1"/>
          <p:nvPr/>
        </p:nvSpPr>
        <p:spPr>
          <a:xfrm>
            <a:off x="8156448" y="2395728"/>
            <a:ext cx="3239719" cy="7772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Override tanpa overridden_by tetap ditandai keputusan manusia, atribusi “unknown”.</a:t>
            </a:r>
            <a:endParaRPr lang="en-US" sz="1200" dirty="0"/>
          </a:p>
        </p:txBody>
      </p:sp>
      <p:sp>
        <p:nvSpPr>
          <p:cNvPr id="16" name="Shape 12"/>
          <p:cNvSpPr/>
          <p:nvPr/>
        </p:nvSpPr>
        <p:spPr>
          <a:xfrm>
            <a:off x="7955280" y="3310128"/>
            <a:ext cx="3642055" cy="1188720"/>
          </a:xfrm>
          <a:prstGeom prst="roundRect">
            <a:avLst>
              <a:gd name="adj" fmla="val 5385"/>
            </a:avLst>
          </a:prstGeom>
          <a:solidFill>
            <a:srgbClr val="F5F7F8"/>
          </a:solidFill>
          <a:ln w="9525">
            <a:solidFill>
              <a:srgbClr val="E2E7EB"/>
            </a:solidFill>
            <a:prstDash val="solid"/>
          </a:ln>
        </p:spPr>
      </p:sp>
      <p:sp>
        <p:nvSpPr>
          <p:cNvPr id="17" name="Text 13"/>
          <p:cNvSpPr txBox="1"/>
          <p:nvPr/>
        </p:nvSpPr>
        <p:spPr>
          <a:xfrm>
            <a:off x="8156448" y="3419856"/>
            <a:ext cx="3239719" cy="256032"/>
          </a:xfrm>
          <a:prstGeom prst="rect">
            <a:avLst/>
          </a:prstGeom>
          <a:noFill/>
          <a:ln/>
        </p:spPr>
        <p:txBody>
          <a:bodyPr wrap="square" lIns="0" tIns="0" rIns="0" bIns="0" rtlCol="0" anchor="t"/>
          <a:lstStyle/>
          <a:p>
            <a:pPr indent="0" marL="0">
              <a:buNone/>
            </a:pPr>
            <a:r>
              <a:rPr lang="en-US" sz="1150" b="1" dirty="0">
                <a:solidFill>
                  <a:srgbClr val="0B5550"/>
                </a:solidFill>
                <a:latin typeface="Courier New" pitchFamily="34" charset="0"/>
                <a:ea typeface="Courier New" pitchFamily="34" charset="-122"/>
                <a:cs typeface="Courier New" pitchFamily="34" charset="-120"/>
              </a:rPr>
              <a:t>AC-2.4</a:t>
            </a:r>
            <a:endParaRPr lang="en-US" sz="1150" dirty="0"/>
          </a:p>
        </p:txBody>
      </p:sp>
      <p:sp>
        <p:nvSpPr>
          <p:cNvPr id="18" name="Text 14"/>
          <p:cNvSpPr txBox="1"/>
          <p:nvPr/>
        </p:nvSpPr>
        <p:spPr>
          <a:xfrm>
            <a:off x="8156448" y="3694176"/>
            <a:ext cx="3239719" cy="7772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Legend override hanya muncul kalau memang ada override.</a:t>
            </a:r>
            <a:endParaRPr lang="en-US" sz="1200" dirty="0"/>
          </a:p>
        </p:txBody>
      </p:sp>
      <p:sp>
        <p:nvSpPr>
          <p:cNvPr id="19" name="Shape 15"/>
          <p:cNvSpPr/>
          <p:nvPr/>
        </p:nvSpPr>
        <p:spPr>
          <a:xfrm>
            <a:off x="7955280" y="4608576"/>
            <a:ext cx="3642055" cy="1188720"/>
          </a:xfrm>
          <a:prstGeom prst="roundRect">
            <a:avLst>
              <a:gd name="adj" fmla="val 5385"/>
            </a:avLst>
          </a:prstGeom>
          <a:solidFill>
            <a:srgbClr val="F5F7F8"/>
          </a:solidFill>
          <a:ln w="9525">
            <a:solidFill>
              <a:srgbClr val="E2E7EB"/>
            </a:solidFill>
            <a:prstDash val="solid"/>
          </a:ln>
        </p:spPr>
      </p:sp>
      <p:sp>
        <p:nvSpPr>
          <p:cNvPr id="20" name="Text 16"/>
          <p:cNvSpPr txBox="1"/>
          <p:nvPr/>
        </p:nvSpPr>
        <p:spPr>
          <a:xfrm>
            <a:off x="8156448" y="4718304"/>
            <a:ext cx="3239719" cy="256032"/>
          </a:xfrm>
          <a:prstGeom prst="rect">
            <a:avLst/>
          </a:prstGeom>
          <a:noFill/>
          <a:ln/>
        </p:spPr>
        <p:txBody>
          <a:bodyPr wrap="square" lIns="0" tIns="0" rIns="0" bIns="0" rtlCol="0" anchor="t"/>
          <a:lstStyle/>
          <a:p>
            <a:pPr indent="0" marL="0">
              <a:buNone/>
            </a:pPr>
            <a:r>
              <a:rPr lang="en-US" sz="1150" b="1" dirty="0">
                <a:solidFill>
                  <a:srgbClr val="0B5550"/>
                </a:solidFill>
                <a:latin typeface="Courier New" pitchFamily="34" charset="0"/>
                <a:ea typeface="Courier New" pitchFamily="34" charset="-122"/>
                <a:cs typeface="Courier New" pitchFamily="34" charset="-120"/>
              </a:rPr>
              <a:t>AC-3.2</a:t>
            </a:r>
            <a:endParaRPr lang="en-US" sz="1150" dirty="0"/>
          </a:p>
        </p:txBody>
      </p:sp>
      <p:sp>
        <p:nvSpPr>
          <p:cNvPr id="21" name="Text 17"/>
          <p:cNvSpPr txBox="1"/>
          <p:nvPr/>
        </p:nvSpPr>
        <p:spPr>
          <a:xfrm>
            <a:off x="8156448" y="4992624"/>
            <a:ext cx="3239719" cy="7772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Confidence null atau asing tampil “belum terukur”, bukan LOW merah.</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Hasil: data kosong tidak lagi jadi vonis</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§3.2 · semantik level di frontend — default yang dulu merugikan kandidat.</a:t>
            </a:r>
            <a:endParaRPr lang="en-US" sz="1500" dirty="0"/>
          </a:p>
        </p:txBody>
      </p:sp>
      <p:sp>
        <p:nvSpPr>
          <p:cNvPr id="6" name="Text 4"/>
          <p:cNvSpPr txBox="1"/>
          <p:nvPr/>
        </p:nvSpPr>
        <p:spPr>
          <a:xfrm>
            <a:off x="594360" y="1572768"/>
            <a:ext cx="7498080" cy="256032"/>
          </a:xfrm>
          <a:prstGeom prst="rect">
            <a:avLst/>
          </a:prstGeom>
          <a:noFill/>
          <a:ln/>
        </p:spPr>
        <p:txBody>
          <a:bodyPr wrap="square" lIns="0" tIns="0" rIns="0" bIns="0" rtlCol="0" anchor="t"/>
          <a:lstStyle/>
          <a:p>
            <a:pPr indent="0" marL="0">
              <a:buNone/>
            </a:pPr>
            <a:r>
              <a:rPr lang="en-US" sz="1200" b="1" dirty="0">
                <a:solidFill>
                  <a:srgbClr val="C8553D"/>
                </a:solidFill>
                <a:latin typeface="Calibri" pitchFamily="34" charset="0"/>
                <a:ea typeface="Calibri" pitchFamily="34" charset="-122"/>
                <a:cs typeface="Calibri" pitchFamily="34" charset="-120"/>
              </a:rPr>
              <a:t>Sebelum — level null atau kosong dirender sebagai L1 Foundational</a:t>
            </a:r>
            <a:endParaRPr lang="en-US" sz="1200" dirty="0"/>
          </a:p>
        </p:txBody>
      </p:sp>
      <p:pic>
        <p:nvPicPr>
          <p:cNvPr id="7" name="Image 0" descr="img/p04_before.png">    </p:cNvPr>
          <p:cNvPicPr>
            <a:picLocks noChangeAspect="1"/>
          </p:cNvPicPr>
          <p:nvPr/>
        </p:nvPicPr>
        <p:blipFill>
          <a:blip r:embed="rId1"/>
          <a:stretch>
            <a:fillRect/>
          </a:stretch>
        </p:blipFill>
        <p:spPr>
          <a:xfrm>
            <a:off x="594360" y="1865376"/>
            <a:ext cx="7498080" cy="1505639"/>
          </a:xfrm>
          <a:prstGeom prst="rect">
            <a:avLst/>
          </a:prstGeom>
        </p:spPr>
      </p:pic>
      <p:sp>
        <p:nvSpPr>
          <p:cNvPr id="8" name="Shape 5"/>
          <p:cNvSpPr/>
          <p:nvPr/>
        </p:nvSpPr>
        <p:spPr>
          <a:xfrm>
            <a:off x="594360" y="1865376"/>
            <a:ext cx="7498080" cy="1505639"/>
          </a:xfrm>
          <a:prstGeom prst="rect">
            <a:avLst/>
          </a:prstGeom>
          <a:ln w="9525">
            <a:solidFill>
              <a:srgbClr val="E2E7EB"/>
            </a:solidFill>
            <a:prstDash val="solid"/>
          </a:ln>
        </p:spPr>
      </p:sp>
      <p:sp>
        <p:nvSpPr>
          <p:cNvPr id="9" name="Text 6"/>
          <p:cNvSpPr txBox="1"/>
          <p:nvPr/>
        </p:nvSpPr>
        <p:spPr>
          <a:xfrm>
            <a:off x="594360" y="3736775"/>
            <a:ext cx="749808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Sesudah — input yang sama dirender “—” dengan label “tidak dinilai” untuk screen reader</a:t>
            </a:r>
            <a:endParaRPr lang="en-US" sz="1200" dirty="0"/>
          </a:p>
        </p:txBody>
      </p:sp>
      <p:pic>
        <p:nvPicPr>
          <p:cNvPr id="10" name="Image 1" descr="img/p04_after.png">    </p:cNvPr>
          <p:cNvPicPr>
            <a:picLocks noChangeAspect="1"/>
          </p:cNvPicPr>
          <p:nvPr/>
        </p:nvPicPr>
        <p:blipFill>
          <a:blip r:embed="rId2"/>
          <a:stretch>
            <a:fillRect/>
          </a:stretch>
        </p:blipFill>
        <p:spPr>
          <a:xfrm>
            <a:off x="594360" y="4029383"/>
            <a:ext cx="7498080" cy="1520909"/>
          </a:xfrm>
          <a:prstGeom prst="rect">
            <a:avLst/>
          </a:prstGeom>
        </p:spPr>
      </p:pic>
      <p:sp>
        <p:nvSpPr>
          <p:cNvPr id="11" name="Shape 7"/>
          <p:cNvSpPr/>
          <p:nvPr/>
        </p:nvSpPr>
        <p:spPr>
          <a:xfrm>
            <a:off x="594360" y="4029383"/>
            <a:ext cx="7498080" cy="1520909"/>
          </a:xfrm>
          <a:prstGeom prst="rect">
            <a:avLst/>
          </a:prstGeom>
          <a:ln w="9525">
            <a:solidFill>
              <a:srgbClr val="E2E7EB"/>
            </a:solidFill>
            <a:prstDash val="solid"/>
          </a:ln>
        </p:spPr>
      </p:sp>
      <p:sp>
        <p:nvSpPr>
          <p:cNvPr id="12" name="Shape 8"/>
          <p:cNvSpPr/>
          <p:nvPr/>
        </p:nvSpPr>
        <p:spPr>
          <a:xfrm>
            <a:off x="8503920" y="1572768"/>
            <a:ext cx="3093415" cy="4434840"/>
          </a:xfrm>
          <a:prstGeom prst="roundRect">
            <a:avLst>
              <a:gd name="adj" fmla="val 2069"/>
            </a:avLst>
          </a:prstGeom>
          <a:solidFill>
            <a:srgbClr val="FCEDE8"/>
          </a:solidFill>
          <a:ln w="9525">
            <a:solidFill>
              <a:srgbClr val="FCEDE8"/>
            </a:solidFill>
            <a:prstDash val="solid"/>
          </a:ln>
        </p:spPr>
      </p:sp>
      <p:sp>
        <p:nvSpPr>
          <p:cNvPr id="13" name="Text 9"/>
          <p:cNvSpPr txBox="1"/>
          <p:nvPr/>
        </p:nvSpPr>
        <p:spPr>
          <a:xfrm>
            <a:off x="8759952" y="1737360"/>
            <a:ext cx="2581351" cy="320040"/>
          </a:xfrm>
          <a:prstGeom prst="rect">
            <a:avLst/>
          </a:prstGeom>
          <a:noFill/>
          <a:ln/>
        </p:spPr>
        <p:txBody>
          <a:bodyPr wrap="square" lIns="0" tIns="0" rIns="0" bIns="0" rtlCol="0" anchor="t"/>
          <a:lstStyle/>
          <a:p>
            <a:pPr indent="0" marL="0">
              <a:buNone/>
            </a:pPr>
            <a:r>
              <a:rPr lang="en-US" sz="1450" b="1" dirty="0">
                <a:solidFill>
                  <a:srgbClr val="C8553D"/>
                </a:solidFill>
                <a:latin typeface="Calibri" pitchFamily="34" charset="0"/>
                <a:ea typeface="Calibri" pitchFamily="34" charset="-122"/>
                <a:cs typeface="Calibri" pitchFamily="34" charset="-120"/>
              </a:rPr>
              <a:t>Kenapa ini penting</a:t>
            </a:r>
            <a:endParaRPr lang="en-US" sz="1450" dirty="0"/>
          </a:p>
        </p:txBody>
      </p:sp>
      <p:sp>
        <p:nvSpPr>
          <p:cNvPr id="14" name="Text 10"/>
          <p:cNvSpPr txBox="1"/>
          <p:nvPr/>
        </p:nvSpPr>
        <p:spPr>
          <a:xfrm>
            <a:off x="8759952" y="2148840"/>
            <a:ext cx="2581351" cy="3657600"/>
          </a:xfrm>
          <a:prstGeom prst="rect">
            <a:avLst/>
          </a:prstGeom>
          <a:noFill/>
          <a:ln/>
        </p:spPr>
        <p:txBody>
          <a:bodyPr wrap="square" lIns="0" tIns="0" rIns="0" bIns="0" rtlCol="0" anchor="t"/>
          <a:lstStyle/>
          <a:p>
            <a:pPr indent="0" marL="0">
              <a:lnSpc>
                <a:spcPts val="1800"/>
              </a:lnSpc>
              <a:buNone/>
            </a:pPr>
            <a:r>
              <a:rPr lang="en-US" sz="1250" b="1" dirty="0">
                <a:solidFill>
                  <a:srgbClr val="1F2933"/>
                </a:solidFill>
                <a:latin typeface="Calibri" pitchFamily="34" charset="0"/>
                <a:ea typeface="Calibri" pitchFamily="34" charset="-122"/>
                <a:cs typeface="Calibri" pitchFamily="34" charset="-120"/>
              </a:rPr>
              <a:t>L1 bukan nilai netral — itu rating paling merusak di skala.</a:t>
            </a:r>
            <a:endParaRPr lang="en-US" sz="1250" dirty="0"/>
          </a:p>
          <a:p>
            <a:pPr indent="0" marL="0">
              <a:lnSpc>
                <a:spcPts val="180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800"/>
              </a:lnSpc>
              <a:buNone/>
            </a:pPr>
            <a:r>
              <a:rPr lang="en-US" sz="1250" dirty="0">
                <a:solidFill>
                  <a:srgbClr val="1F2933"/>
                </a:solidFill>
                <a:latin typeface="Calibri" pitchFamily="34" charset="0"/>
                <a:ea typeface="Calibri" pitchFamily="34" charset="-122"/>
                <a:cs typeface="Calibri" pitchFamily="34" charset="-120"/>
              </a:rPr>
              <a:t>parseLevel lama mengubah “kami tidak punya penilaian” jadi “orang ini paling lemah”, tentang orang yang tidak bisa melihat atau membantah hasilnya.</a:t>
            </a:r>
            <a:endParaRPr lang="en-US" sz="1250" dirty="0"/>
          </a:p>
          <a:p>
            <a:pPr indent="0" marL="0">
              <a:lnSpc>
                <a:spcPts val="180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800"/>
              </a:lnSpc>
              <a:buNone/>
            </a:pPr>
            <a:r>
              <a:rPr lang="en-US" sz="1250" dirty="0">
                <a:solidFill>
                  <a:srgbClr val="1F2933"/>
                </a:solidFill>
                <a:latin typeface="Calibri" pitchFamily="34" charset="0"/>
                <a:ea typeface="Calibri" pitchFamily="34" charset="-122"/>
                <a:cs typeface="Calibri" pitchFamily="34" charset="-120"/>
              </a:rPr>
              <a:t>Sekarang mengembalikan null. Ketiadaan rating bukan sebuah rating.</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Aksesibilitas dan responsive</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§3.4 · status tidak boleh hanya dibawa warna, dan tabel tetap bisa dipakai di ponsel.</a:t>
            </a:r>
            <a:endParaRPr lang="en-US" sz="1500" dirty="0"/>
          </a:p>
        </p:txBody>
      </p:sp>
      <p:sp>
        <p:nvSpPr>
          <p:cNvPr id="6" name="Text 4"/>
          <p:cNvSpPr txBox="1"/>
          <p:nvPr/>
        </p:nvSpPr>
        <p:spPr>
          <a:xfrm>
            <a:off x="594360" y="1536192"/>
            <a:ext cx="4937760" cy="256032"/>
          </a:xfrm>
          <a:prstGeom prst="rect">
            <a:avLst/>
          </a:prstGeom>
          <a:noFill/>
          <a:ln/>
        </p:spPr>
        <p:txBody>
          <a:bodyPr wrap="square" lIns="0" tIns="0" rIns="0" bIns="0" rtlCol="0" anchor="t"/>
          <a:lstStyle/>
          <a:p>
            <a:pPr indent="0" marL="0">
              <a:buNone/>
            </a:pPr>
            <a:r>
              <a:rPr lang="en-US" sz="1200" b="1" dirty="0">
                <a:solidFill>
                  <a:srgbClr val="C8553D"/>
                </a:solidFill>
                <a:latin typeface="Calibri" pitchFamily="34" charset="0"/>
                <a:ea typeface="Calibri" pitchFamily="34" charset="-122"/>
                <a:cs typeface="Calibri" pitchFamily="34" charset="-120"/>
              </a:rPr>
              <a:t>Sebelum — simulasi buta warna: emoji jadi kotak abu-abu</a:t>
            </a:r>
            <a:endParaRPr lang="en-US" sz="1200" dirty="0"/>
          </a:p>
        </p:txBody>
      </p:sp>
      <p:pic>
        <p:nvPicPr>
          <p:cNvPr id="7" name="Image 0" descr="img/a11y_before.png">    </p:cNvPr>
          <p:cNvPicPr>
            <a:picLocks noChangeAspect="1"/>
          </p:cNvPicPr>
          <p:nvPr/>
        </p:nvPicPr>
        <p:blipFill>
          <a:blip r:embed="rId1"/>
          <a:stretch>
            <a:fillRect/>
          </a:stretch>
        </p:blipFill>
        <p:spPr>
          <a:xfrm>
            <a:off x="594360" y="1810512"/>
            <a:ext cx="4937760" cy="1645920"/>
          </a:xfrm>
          <a:prstGeom prst="rect">
            <a:avLst/>
          </a:prstGeom>
        </p:spPr>
      </p:pic>
      <p:sp>
        <p:nvSpPr>
          <p:cNvPr id="8" name="Shape 5"/>
          <p:cNvSpPr/>
          <p:nvPr/>
        </p:nvSpPr>
        <p:spPr>
          <a:xfrm>
            <a:off x="594360" y="1810512"/>
            <a:ext cx="4937760" cy="1645920"/>
          </a:xfrm>
          <a:prstGeom prst="rect">
            <a:avLst/>
          </a:prstGeom>
          <a:ln w="9525">
            <a:solidFill>
              <a:srgbClr val="E2E7EB"/>
            </a:solidFill>
            <a:prstDash val="solid"/>
          </a:ln>
        </p:spPr>
      </p:sp>
      <p:sp>
        <p:nvSpPr>
          <p:cNvPr id="9" name="Text 6"/>
          <p:cNvSpPr txBox="1"/>
          <p:nvPr/>
        </p:nvSpPr>
        <p:spPr>
          <a:xfrm>
            <a:off x="594360" y="3712464"/>
            <a:ext cx="493776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Sesudah — glyph teks dan label tetap terbaca tanpa warna</a:t>
            </a:r>
            <a:endParaRPr lang="en-US" sz="1200" dirty="0"/>
          </a:p>
        </p:txBody>
      </p:sp>
      <p:pic>
        <p:nvPicPr>
          <p:cNvPr id="10" name="Image 1" descr="img/a11y_after.png">    </p:cNvPr>
          <p:cNvPicPr>
            <a:picLocks noChangeAspect="1"/>
          </p:cNvPicPr>
          <p:nvPr/>
        </p:nvPicPr>
        <p:blipFill>
          <a:blip r:embed="rId2"/>
          <a:stretch>
            <a:fillRect/>
          </a:stretch>
        </p:blipFill>
        <p:spPr>
          <a:xfrm>
            <a:off x="594360" y="3986784"/>
            <a:ext cx="4937760" cy="2234281"/>
          </a:xfrm>
          <a:prstGeom prst="rect">
            <a:avLst/>
          </a:prstGeom>
        </p:spPr>
      </p:pic>
      <p:sp>
        <p:nvSpPr>
          <p:cNvPr id="11" name="Shape 7"/>
          <p:cNvSpPr/>
          <p:nvPr/>
        </p:nvSpPr>
        <p:spPr>
          <a:xfrm>
            <a:off x="594360" y="3986784"/>
            <a:ext cx="4937760" cy="2234281"/>
          </a:xfrm>
          <a:prstGeom prst="rect">
            <a:avLst/>
          </a:prstGeom>
          <a:ln w="9525">
            <a:solidFill>
              <a:srgbClr val="E2E7EB"/>
            </a:solidFill>
            <a:prstDash val="solid"/>
          </a:ln>
        </p:spPr>
      </p:sp>
      <p:pic>
        <p:nvPicPr>
          <p:cNvPr id="12" name="Image 2" descr="img/mobile375.png">    </p:cNvPr>
          <p:cNvPicPr>
            <a:picLocks noChangeAspect="1"/>
          </p:cNvPicPr>
          <p:nvPr/>
        </p:nvPicPr>
        <p:blipFill>
          <a:blip r:embed="rId3"/>
          <a:stretch>
            <a:fillRect/>
          </a:stretch>
        </p:blipFill>
        <p:spPr>
          <a:xfrm>
            <a:off x="5852160" y="1536192"/>
            <a:ext cx="2313432" cy="4206240"/>
          </a:xfrm>
          <a:prstGeom prst="rect">
            <a:avLst/>
          </a:prstGeom>
        </p:spPr>
      </p:pic>
      <p:sp>
        <p:nvSpPr>
          <p:cNvPr id="13" name="Shape 8"/>
          <p:cNvSpPr/>
          <p:nvPr/>
        </p:nvSpPr>
        <p:spPr>
          <a:xfrm>
            <a:off x="5852160" y="1536192"/>
            <a:ext cx="2313432" cy="4206240"/>
          </a:xfrm>
          <a:prstGeom prst="rect">
            <a:avLst/>
          </a:prstGeom>
          <a:ln w="9525">
            <a:solidFill>
              <a:srgbClr val="E2E7EB"/>
            </a:solidFill>
            <a:prstDash val="solid"/>
          </a:ln>
        </p:spPr>
      </p:sp>
      <p:sp>
        <p:nvSpPr>
          <p:cNvPr id="14" name="Text 9"/>
          <p:cNvSpPr txBox="1"/>
          <p:nvPr/>
        </p:nvSpPr>
        <p:spPr>
          <a:xfrm>
            <a:off x="5852160" y="5797296"/>
            <a:ext cx="2313432" cy="457200"/>
          </a:xfrm>
          <a:prstGeom prst="rect">
            <a:avLst/>
          </a:prstGeom>
          <a:noFill/>
          <a:ln/>
        </p:spPr>
        <p:txBody>
          <a:bodyPr wrap="square" lIns="0" tIns="0" rIns="0" bIns="0" rtlCol="0" anchor="t"/>
          <a:lstStyle/>
          <a:p>
            <a:pPr indent="0" marL="0">
              <a:lnSpc>
                <a:spcPts val="1300"/>
              </a:lnSpc>
              <a:buNone/>
            </a:pPr>
            <a:r>
              <a:rPr lang="en-US" sz="1050" i="1" dirty="0">
                <a:solidFill>
                  <a:srgbClr val="8B96A0"/>
                </a:solidFill>
                <a:latin typeface="Calibri" pitchFamily="34" charset="0"/>
                <a:ea typeface="Calibri" pitchFamily="34" charset="-122"/>
                <a:cs typeface="Calibri" pitchFamily="34" charset="-120"/>
              </a:rPr>
              <a:t>375px — tabel scroll di dalam container sendiri</a:t>
            </a:r>
            <a:endParaRPr lang="en-US" sz="1050" dirty="0"/>
          </a:p>
        </p:txBody>
      </p:sp>
      <p:sp>
        <p:nvSpPr>
          <p:cNvPr id="15" name="Text 10"/>
          <p:cNvSpPr txBox="1"/>
          <p:nvPr/>
        </p:nvSpPr>
        <p:spPr>
          <a:xfrm>
            <a:off x="8485632" y="1536192"/>
            <a:ext cx="3111703" cy="320040"/>
          </a:xfrm>
          <a:prstGeom prst="rect">
            <a:avLst/>
          </a:prstGeom>
          <a:noFill/>
          <a:ln/>
        </p:spPr>
        <p:txBody>
          <a:bodyPr wrap="square" lIns="0" tIns="0" rIns="0" bIns="0"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Yang saya pastikan</a:t>
            </a:r>
            <a:endParaRPr lang="en-US" sz="1350" dirty="0"/>
          </a:p>
        </p:txBody>
      </p:sp>
      <p:sp>
        <p:nvSpPr>
          <p:cNvPr id="16" name="Text 11"/>
          <p:cNvSpPr txBox="1"/>
          <p:nvPr/>
        </p:nvSpPr>
        <p:spPr>
          <a:xfrm>
            <a:off x="8485632" y="1920240"/>
            <a:ext cx="3111703" cy="411480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250" dirty="0">
                <a:solidFill>
                  <a:srgbClr val="1F2933"/>
                </a:solidFill>
                <a:latin typeface="Calibri" pitchFamily="34" charset="0"/>
                <a:ea typeface="Calibri" pitchFamily="34" charset="-122"/>
                <a:cs typeface="Calibri" pitchFamily="34" charset="-120"/>
              </a:rPr>
              <a:t>WCAG 1.4.1: setiap status punya label teks</a:t>
            </a:r>
            <a:endParaRPr lang="en-US" sz="1250" dirty="0"/>
          </a:p>
          <a:p>
            <a:pPr marL="342900" indent="-342900">
              <a:lnSpc>
                <a:spcPts val="1700"/>
              </a:lnSpc>
              <a:spcAft>
                <a:spcPts val="1000"/>
              </a:spcAft>
              <a:buSzPct val="100000"/>
              <a:buChar char="•"/>
            </a:pPr>
            <a:r>
              <a:rPr lang="en-US" sz="1250" dirty="0">
                <a:solidFill>
                  <a:srgbClr val="1F2933"/>
                </a:solidFill>
                <a:latin typeface="Calibri" pitchFamily="34" charset="0"/>
                <a:ea typeface="Calibri" pitchFamily="34" charset="-122"/>
                <a:cs typeface="Calibri" pitchFamily="34" charset="-120"/>
              </a:rPr>
              <a:t>Tabel punya caption, scope di header, row header per skill</a:t>
            </a:r>
            <a:endParaRPr lang="en-US" sz="1250" dirty="0"/>
          </a:p>
          <a:p>
            <a:pPr marL="342900" indent="-342900">
              <a:lnSpc>
                <a:spcPts val="1700"/>
              </a:lnSpc>
              <a:spcAft>
                <a:spcPts val="1000"/>
              </a:spcAft>
              <a:buSzPct val="100000"/>
              <a:buChar char="•"/>
            </a:pPr>
            <a:r>
              <a:rPr lang="en-US" sz="1250" dirty="0">
                <a:solidFill>
                  <a:srgbClr val="1F2933"/>
                </a:solidFill>
                <a:latin typeface="Calibri" pitchFamily="34" charset="0"/>
                <a:ea typeface="Calibri" pitchFamily="34" charset="-122"/>
                <a:cs typeface="Calibri" pitchFamily="34" charset="-120"/>
              </a:rPr>
              <a:t>Emoji diganti glyph teks — dulu dibaca screen reader “check mark button Match”</a:t>
            </a:r>
            <a:endParaRPr lang="en-US" sz="1250" dirty="0"/>
          </a:p>
          <a:p>
            <a:pPr marL="342900" indent="-342900">
              <a:lnSpc>
                <a:spcPts val="1700"/>
              </a:lnSpc>
              <a:spcAft>
                <a:spcPts val="1000"/>
              </a:spcAft>
              <a:buSzPct val="100000"/>
              <a:buChar char="•"/>
            </a:pPr>
            <a:r>
              <a:rPr lang="en-US" sz="1250" dirty="0">
                <a:solidFill>
                  <a:srgbClr val="1F2933"/>
                </a:solidFill>
                <a:latin typeface="Calibri" pitchFamily="34" charset="0"/>
                <a:ea typeface="Calibri" pitchFamily="34" charset="-122"/>
                <a:cs typeface="Calibri" pitchFamily="34" charset="-120"/>
              </a:rPr>
              <a:t>Halaman tidak scroll ke samping di 375px</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Backend yang cukup — dan satu celah keamanan</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Brief minta kedalaman di satu sisi tanpa ketiadaan di sisi lain.</a:t>
            </a:r>
            <a:endParaRPr lang="en-US" sz="1500" dirty="0"/>
          </a:p>
        </p:txBody>
      </p:sp>
      <p:pic>
        <p:nvPicPr>
          <p:cNvPr id="6" name="Image 0" descr="img/idor.png">    </p:cNvPr>
          <p:cNvPicPr>
            <a:picLocks noChangeAspect="1"/>
          </p:cNvPicPr>
          <p:nvPr/>
        </p:nvPicPr>
        <p:blipFill>
          <a:blip r:embed="rId1"/>
          <a:stretch>
            <a:fillRect/>
          </a:stretch>
        </p:blipFill>
        <p:spPr>
          <a:xfrm>
            <a:off x="594360" y="1536192"/>
            <a:ext cx="6400800" cy="2319130"/>
          </a:xfrm>
          <a:prstGeom prst="rect">
            <a:avLst/>
          </a:prstGeom>
        </p:spPr>
      </p:pic>
      <p:sp>
        <p:nvSpPr>
          <p:cNvPr id="7" name="Shape 4"/>
          <p:cNvSpPr/>
          <p:nvPr/>
        </p:nvSpPr>
        <p:spPr>
          <a:xfrm>
            <a:off x="594360" y="1536192"/>
            <a:ext cx="6400800" cy="2319130"/>
          </a:xfrm>
          <a:prstGeom prst="rect">
            <a:avLst/>
          </a:prstGeom>
          <a:ln w="9525">
            <a:solidFill>
              <a:srgbClr val="E2E7EB"/>
            </a:solidFill>
            <a:prstDash val="solid"/>
          </a:ln>
        </p:spPr>
      </p:sp>
      <p:sp>
        <p:nvSpPr>
          <p:cNvPr id="8" name="Shape 5"/>
          <p:cNvSpPr/>
          <p:nvPr/>
        </p:nvSpPr>
        <p:spPr>
          <a:xfrm>
            <a:off x="594360" y="4038202"/>
            <a:ext cx="6400800" cy="1951118"/>
          </a:xfrm>
          <a:prstGeom prst="roundRect">
            <a:avLst>
              <a:gd name="adj" fmla="val 3281"/>
            </a:avLst>
          </a:prstGeom>
          <a:solidFill>
            <a:srgbClr val="FCEDE8"/>
          </a:solidFill>
          <a:ln w="9525">
            <a:solidFill>
              <a:srgbClr val="FCEDE8"/>
            </a:solidFill>
            <a:prstDash val="solid"/>
          </a:ln>
        </p:spPr>
      </p:sp>
      <p:sp>
        <p:nvSpPr>
          <p:cNvPr id="9" name="Text 6"/>
          <p:cNvSpPr txBox="1"/>
          <p:nvPr/>
        </p:nvSpPr>
        <p:spPr>
          <a:xfrm>
            <a:off x="822960" y="4038202"/>
            <a:ext cx="5943600" cy="1951118"/>
          </a:xfrm>
          <a:prstGeom prst="rect">
            <a:avLst/>
          </a:prstGeom>
          <a:noFill/>
          <a:ln/>
        </p:spPr>
        <p:txBody>
          <a:bodyPr wrap="square" lIns="0" tIns="0" rIns="0" bIns="0" rtlCol="0" anchor="ctr"/>
          <a:lstStyle/>
          <a:p>
            <a:pPr indent="0" marL="0">
              <a:lnSpc>
                <a:spcPts val="1700"/>
              </a:lnSpc>
              <a:buNone/>
            </a:pPr>
            <a:r>
              <a:rPr lang="en-US" sz="1250" b="1" dirty="0">
                <a:solidFill>
                  <a:srgbClr val="C8553D"/>
                </a:solidFill>
                <a:latin typeface="Calibri" pitchFamily="34" charset="0"/>
                <a:ea typeface="Calibri" pitchFamily="34" charset="-122"/>
                <a:cs typeface="Calibri" pitchFamily="34" charset="-120"/>
              </a:rPr>
              <a:t>P0-4 · IDOR lintas tenant.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Portfolio dijangkau dengan id polos di empat endpoint. Assessor organisasi lain bisa mengunduh kutipan wawancara dan menulis override. Sekarang lewat Session yang tenant-scoped; lintas tenant dapat 404, bukan 403.</a:t>
            </a:r>
            <a:endParaRPr lang="en-US" sz="1250" dirty="0"/>
          </a:p>
        </p:txBody>
      </p:sp>
      <p:sp>
        <p:nvSpPr>
          <p:cNvPr id="10" name="Text 7"/>
          <p:cNvSpPr txBox="1"/>
          <p:nvPr/>
        </p:nvSpPr>
        <p:spPr>
          <a:xfrm>
            <a:off x="7315200" y="1536192"/>
            <a:ext cx="428213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Yang saya kerjakan di api/</a:t>
            </a:r>
            <a:endParaRPr lang="en-US" sz="1450" dirty="0"/>
          </a:p>
        </p:txBody>
      </p:sp>
      <p:sp>
        <p:nvSpPr>
          <p:cNvPr id="11" name="Text 8"/>
          <p:cNvSpPr txBox="1"/>
          <p:nvPr/>
        </p:nvSpPr>
        <p:spPr>
          <a:xfrm>
            <a:off x="7315200" y="1938528"/>
            <a:ext cx="4282135" cy="406908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FitGap::Engine: payload dilebarkan jadi decision record</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evidence_turn_ids: kutipan bisa ditelusuri ke transkrip</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Tenant scoping di empat endpoint</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Idempotency guard untuk regenerate fit/gap</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generation_started_at: job macet bisa dideteksi</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Pesan error disanitasi sebelum keluar service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Migrasi reversible, aman terhadap baris lama</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RSpec pertama di repo, termasuk request spec lintas tenant</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Jalur gagal yang saya desain</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Brief minta timeout, model error, dan job duplikat ditangani eksplisit.</a:t>
            </a:r>
            <a:endParaRPr lang="en-US" sz="1500" dirty="0"/>
          </a:p>
        </p:txBody>
      </p:sp>
      <p:sp>
        <p:nvSpPr>
          <p:cNvPr id="6" name="Shape 4"/>
          <p:cNvSpPr/>
          <p:nvPr/>
        </p:nvSpPr>
        <p:spPr>
          <a:xfrm>
            <a:off x="594360" y="1508760"/>
            <a:ext cx="5364328" cy="2148840"/>
          </a:xfrm>
          <a:prstGeom prst="roundRect">
            <a:avLst>
              <a:gd name="adj" fmla="val 2979"/>
            </a:avLst>
          </a:prstGeom>
          <a:solidFill>
            <a:srgbClr val="F5F7F8"/>
          </a:solidFill>
          <a:ln w="9525">
            <a:solidFill>
              <a:srgbClr val="E2E7EB"/>
            </a:solidFill>
            <a:prstDash val="solid"/>
          </a:ln>
        </p:spPr>
      </p:sp>
      <p:sp>
        <p:nvSpPr>
          <p:cNvPr id="7" name="Text 5"/>
          <p:cNvSpPr txBox="1"/>
          <p:nvPr/>
        </p:nvSpPr>
        <p:spPr>
          <a:xfrm>
            <a:off x="850392" y="1645920"/>
            <a:ext cx="4852264" cy="292608"/>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Generate macet di pending</a:t>
            </a:r>
            <a:endParaRPr lang="en-US" sz="1450" dirty="0"/>
          </a:p>
        </p:txBody>
      </p:sp>
      <p:sp>
        <p:nvSpPr>
          <p:cNvPr id="8" name="Text 6"/>
          <p:cNvSpPr txBox="1"/>
          <p:nvPr/>
        </p:nvSpPr>
        <p:spPr>
          <a:xfrm>
            <a:off x="850392" y="2011680"/>
            <a:ext cx="4852264" cy="640080"/>
          </a:xfrm>
          <a:prstGeom prst="rect">
            <a:avLst/>
          </a:prstGeom>
          <a:noFill/>
          <a:ln/>
        </p:spPr>
        <p:txBody>
          <a:bodyPr wrap="square" lIns="0" tIns="0" rIns="0" bIns="0" rtlCol="0" anchor="t"/>
          <a:lstStyle/>
          <a:p>
            <a:pPr indent="0" marL="0">
              <a:lnSpc>
                <a:spcPts val="1600"/>
              </a:lnSpc>
              <a:buNone/>
            </a:pPr>
            <a:r>
              <a:rPr lang="en-US" sz="1200" b="1" dirty="0">
                <a:solidFill>
                  <a:srgbClr val="C8553D"/>
                </a:solidFill>
                <a:latin typeface="Calibri" pitchFamily="34" charset="0"/>
                <a:ea typeface="Calibri" pitchFamily="34" charset="-122"/>
                <a:cs typeface="Calibri" pitchFamily="34" charset="-120"/>
              </a:rPr>
              <a:t>Sebelum  </a:t>
            </a:r>
            <a:pPr indent="0" marL="0">
              <a:lnSpc>
                <a:spcPts val="1600"/>
              </a:lnSpc>
              <a:buNone/>
            </a:pPr>
            <a:r>
              <a:rPr lang="en-US" sz="1200" dirty="0">
                <a:solidFill>
                  <a:srgbClr val="5F6B76"/>
                </a:solidFill>
                <a:latin typeface="Calibri" pitchFamily="34" charset="0"/>
                <a:ea typeface="Calibri" pitchFamily="34" charset="-122"/>
                <a:cs typeface="Calibri" pitchFamily="34" charset="-120"/>
              </a:rPr>
              <a:t>Polling tiap 5 detik selamanya; retry hanya untuk failed.</a:t>
            </a:r>
            <a:endParaRPr lang="en-US" sz="1200" dirty="0"/>
          </a:p>
        </p:txBody>
      </p:sp>
      <p:sp>
        <p:nvSpPr>
          <p:cNvPr id="9" name="Text 7"/>
          <p:cNvSpPr txBox="1"/>
          <p:nvPr/>
        </p:nvSpPr>
        <p:spPr>
          <a:xfrm>
            <a:off x="850392" y="2697480"/>
            <a:ext cx="4852264" cy="868680"/>
          </a:xfrm>
          <a:prstGeom prst="rect">
            <a:avLst/>
          </a:prstGeom>
          <a:noFill/>
          <a:ln/>
        </p:spPr>
        <p:txBody>
          <a:bodyPr wrap="square" lIns="0" tIns="0" rIns="0" bIns="0" rtlCol="0" anchor="t"/>
          <a:lstStyle/>
          <a:p>
            <a:pPr indent="0" marL="0">
              <a:lnSpc>
                <a:spcPts val="1600"/>
              </a:lnSpc>
              <a:buNone/>
            </a:pPr>
            <a:r>
              <a:rPr lang="en-US" sz="1200" b="1" dirty="0">
                <a:solidFill>
                  <a:srgbClr val="0B5550"/>
                </a:solidFill>
                <a:latin typeface="Calibri" pitchFamily="34" charset="0"/>
                <a:ea typeface="Calibri" pitchFamily="34" charset="-122"/>
                <a:cs typeface="Calibri" pitchFamily="34" charset="-120"/>
              </a:rPr>
              <a:t>Sekarang  </a:t>
            </a:r>
            <a:pPr indent="0" marL="0">
              <a:lnSpc>
                <a:spcPts val="1600"/>
              </a:lnSpc>
              <a:buNone/>
            </a:pPr>
            <a:r>
              <a:rPr lang="en-US" sz="1200" dirty="0">
                <a:solidFill>
                  <a:srgbClr val="1F2933"/>
                </a:solidFill>
                <a:latin typeface="Calibri" pitchFamily="34" charset="0"/>
                <a:ea typeface="Calibri" pitchFamily="34" charset="-122"/>
                <a:cs typeface="Calibri" pitchFamily="34" charset="-120"/>
              </a:rPr>
              <a:t>Deteksi stalled &gt; 5 menit, retry saat pending di belakang guard, polling berhenti saat tab tersembunyi.</a:t>
            </a:r>
            <a:endParaRPr lang="en-US" sz="1200" dirty="0"/>
          </a:p>
        </p:txBody>
      </p:sp>
      <p:sp>
        <p:nvSpPr>
          <p:cNvPr id="10" name="Shape 8"/>
          <p:cNvSpPr/>
          <p:nvPr/>
        </p:nvSpPr>
        <p:spPr>
          <a:xfrm>
            <a:off x="6233008" y="1508760"/>
            <a:ext cx="5364328" cy="2148840"/>
          </a:xfrm>
          <a:prstGeom prst="roundRect">
            <a:avLst>
              <a:gd name="adj" fmla="val 2979"/>
            </a:avLst>
          </a:prstGeom>
          <a:solidFill>
            <a:srgbClr val="F5F7F8"/>
          </a:solidFill>
          <a:ln w="9525">
            <a:solidFill>
              <a:srgbClr val="E2E7EB"/>
            </a:solidFill>
            <a:prstDash val="solid"/>
          </a:ln>
        </p:spPr>
      </p:sp>
      <p:sp>
        <p:nvSpPr>
          <p:cNvPr id="11" name="Text 9"/>
          <p:cNvSpPr txBox="1"/>
          <p:nvPr/>
        </p:nvSpPr>
        <p:spPr>
          <a:xfrm>
            <a:off x="6489040" y="1645920"/>
            <a:ext cx="4852264" cy="292608"/>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Job fit/gap ganda</a:t>
            </a:r>
            <a:endParaRPr lang="en-US" sz="1450" dirty="0"/>
          </a:p>
        </p:txBody>
      </p:sp>
      <p:sp>
        <p:nvSpPr>
          <p:cNvPr id="12" name="Text 10"/>
          <p:cNvSpPr txBox="1"/>
          <p:nvPr/>
        </p:nvSpPr>
        <p:spPr>
          <a:xfrm>
            <a:off x="6489040" y="2011680"/>
            <a:ext cx="4852264" cy="640080"/>
          </a:xfrm>
          <a:prstGeom prst="rect">
            <a:avLst/>
          </a:prstGeom>
          <a:noFill/>
          <a:ln/>
        </p:spPr>
        <p:txBody>
          <a:bodyPr wrap="square" lIns="0" tIns="0" rIns="0" bIns="0" rtlCol="0" anchor="t"/>
          <a:lstStyle/>
          <a:p>
            <a:pPr indent="0" marL="0">
              <a:lnSpc>
                <a:spcPts val="1600"/>
              </a:lnSpc>
              <a:buNone/>
            </a:pPr>
            <a:r>
              <a:rPr lang="en-US" sz="1200" b="1" dirty="0">
                <a:solidFill>
                  <a:srgbClr val="C8553D"/>
                </a:solidFill>
                <a:latin typeface="Calibri" pitchFamily="34" charset="0"/>
                <a:ea typeface="Calibri" pitchFamily="34" charset="-122"/>
                <a:cs typeface="Calibri" pitchFamily="34" charset="-120"/>
              </a:rPr>
              <a:t>Sebelum  </a:t>
            </a:r>
            <a:pPr indent="0" marL="0">
              <a:lnSpc>
                <a:spcPts val="1600"/>
              </a:lnSpc>
              <a:buNone/>
            </a:pPr>
            <a:r>
              <a:rPr lang="en-US" sz="1200" dirty="0">
                <a:solidFill>
                  <a:srgbClr val="5F6B76"/>
                </a:solidFill>
                <a:latin typeface="Calibri" pitchFamily="34" charset="0"/>
                <a:ea typeface="Calibri" pitchFamily="34" charset="-122"/>
                <a:cs typeface="Calibri" pitchFamily="34" charset="-120"/>
              </a:rPr>
              <a:t>Override dan 404 sama-sama enqueue — dua panggilan model berbayar.</a:t>
            </a:r>
            <a:endParaRPr lang="en-US" sz="1200" dirty="0"/>
          </a:p>
        </p:txBody>
      </p:sp>
      <p:sp>
        <p:nvSpPr>
          <p:cNvPr id="13" name="Text 11"/>
          <p:cNvSpPr txBox="1"/>
          <p:nvPr/>
        </p:nvSpPr>
        <p:spPr>
          <a:xfrm>
            <a:off x="6489040" y="2697480"/>
            <a:ext cx="4852264" cy="868680"/>
          </a:xfrm>
          <a:prstGeom prst="rect">
            <a:avLst/>
          </a:prstGeom>
          <a:noFill/>
          <a:ln/>
        </p:spPr>
        <p:txBody>
          <a:bodyPr wrap="square" lIns="0" tIns="0" rIns="0" bIns="0" rtlCol="0" anchor="t"/>
          <a:lstStyle/>
          <a:p>
            <a:pPr indent="0" marL="0">
              <a:lnSpc>
                <a:spcPts val="1600"/>
              </a:lnSpc>
              <a:buNone/>
            </a:pPr>
            <a:r>
              <a:rPr lang="en-US" sz="1200" b="1" dirty="0">
                <a:solidFill>
                  <a:srgbClr val="0B5550"/>
                </a:solidFill>
                <a:latin typeface="Calibri" pitchFamily="34" charset="0"/>
                <a:ea typeface="Calibri" pitchFamily="34" charset="-122"/>
                <a:cs typeface="Calibri" pitchFamily="34" charset="-120"/>
              </a:rPr>
              <a:t>Sekarang  </a:t>
            </a:r>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Redis SET NX EX, sengaja fail-open: kalau Redis mati fitur tetap jalan; terburuk satu duplikat yang ditahan unique index.</a:t>
            </a:r>
            <a:endParaRPr lang="en-US" sz="1200" dirty="0"/>
          </a:p>
        </p:txBody>
      </p:sp>
      <p:sp>
        <p:nvSpPr>
          <p:cNvPr id="14" name="Shape 12"/>
          <p:cNvSpPr/>
          <p:nvPr/>
        </p:nvSpPr>
        <p:spPr>
          <a:xfrm>
            <a:off x="594360" y="3858768"/>
            <a:ext cx="5364328" cy="2148840"/>
          </a:xfrm>
          <a:prstGeom prst="roundRect">
            <a:avLst>
              <a:gd name="adj" fmla="val 2979"/>
            </a:avLst>
          </a:prstGeom>
          <a:solidFill>
            <a:srgbClr val="F5F7F8"/>
          </a:solidFill>
          <a:ln w="9525">
            <a:solidFill>
              <a:srgbClr val="E2E7EB"/>
            </a:solidFill>
            <a:prstDash val="solid"/>
          </a:ln>
        </p:spPr>
      </p:sp>
      <p:sp>
        <p:nvSpPr>
          <p:cNvPr id="15" name="Text 13"/>
          <p:cNvSpPr txBox="1"/>
          <p:nvPr/>
        </p:nvSpPr>
        <p:spPr>
          <a:xfrm>
            <a:off x="850392" y="3995928"/>
            <a:ext cx="4852264" cy="292608"/>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Error bocor ke klien</a:t>
            </a:r>
            <a:endParaRPr lang="en-US" sz="1450" dirty="0"/>
          </a:p>
        </p:txBody>
      </p:sp>
      <p:sp>
        <p:nvSpPr>
          <p:cNvPr id="16" name="Text 14"/>
          <p:cNvSpPr txBox="1"/>
          <p:nvPr/>
        </p:nvSpPr>
        <p:spPr>
          <a:xfrm>
            <a:off x="850392" y="4361688"/>
            <a:ext cx="4852264" cy="640080"/>
          </a:xfrm>
          <a:prstGeom prst="rect">
            <a:avLst/>
          </a:prstGeom>
          <a:noFill/>
          <a:ln/>
        </p:spPr>
        <p:txBody>
          <a:bodyPr wrap="square" lIns="0" tIns="0" rIns="0" bIns="0" rtlCol="0" anchor="t"/>
          <a:lstStyle/>
          <a:p>
            <a:pPr indent="0" marL="0">
              <a:lnSpc>
                <a:spcPts val="1600"/>
              </a:lnSpc>
              <a:buNone/>
            </a:pPr>
            <a:r>
              <a:rPr lang="en-US" sz="1200" b="1" dirty="0">
                <a:solidFill>
                  <a:srgbClr val="C8553D"/>
                </a:solidFill>
                <a:latin typeface="Calibri" pitchFamily="34" charset="0"/>
                <a:ea typeface="Calibri" pitchFamily="34" charset="-122"/>
                <a:cs typeface="Calibri" pitchFamily="34" charset="-120"/>
              </a:rPr>
              <a:t>Sebelum  </a:t>
            </a:r>
            <a:pPr indent="0" marL="0">
              <a:lnSpc>
                <a:spcPts val="1600"/>
              </a:lnSpc>
              <a:buNone/>
            </a:pPr>
            <a:r>
              <a:rPr lang="en-US" sz="1200" dirty="0">
                <a:solidFill>
                  <a:srgbClr val="5F6B76"/>
                </a:solidFill>
                <a:latin typeface="Calibri" pitchFamily="34" charset="0"/>
                <a:ea typeface="Calibri" pitchFamily="34" charset="-122"/>
                <a:cs typeface="Calibri" pitchFamily="34" charset="-120"/>
              </a:rPr>
              <a:t>generation_error menyimpan exception mentah berisi transkrip.</a:t>
            </a:r>
            <a:endParaRPr lang="en-US" sz="1200" dirty="0"/>
          </a:p>
        </p:txBody>
      </p:sp>
      <p:sp>
        <p:nvSpPr>
          <p:cNvPr id="17" name="Text 15"/>
          <p:cNvSpPr txBox="1"/>
          <p:nvPr/>
        </p:nvSpPr>
        <p:spPr>
          <a:xfrm>
            <a:off x="850392" y="5047488"/>
            <a:ext cx="4852264" cy="868680"/>
          </a:xfrm>
          <a:prstGeom prst="rect">
            <a:avLst/>
          </a:prstGeom>
          <a:noFill/>
          <a:ln/>
        </p:spPr>
        <p:txBody>
          <a:bodyPr wrap="square" lIns="0" tIns="0" rIns="0" bIns="0" rtlCol="0" anchor="t"/>
          <a:lstStyle/>
          <a:p>
            <a:pPr indent="0" marL="0">
              <a:lnSpc>
                <a:spcPts val="1600"/>
              </a:lnSpc>
              <a:buNone/>
            </a:pPr>
            <a:r>
              <a:rPr lang="en-US" sz="1200" b="1" dirty="0">
                <a:solidFill>
                  <a:srgbClr val="0B5550"/>
                </a:solidFill>
                <a:latin typeface="Calibri" pitchFamily="34" charset="0"/>
                <a:ea typeface="Calibri" pitchFamily="34" charset="-122"/>
                <a:cs typeface="Calibri" pitchFamily="34" charset="-120"/>
              </a:rPr>
              <a:t>Sekarang  </a:t>
            </a:r>
            <a:pPr indent="0" marL="0">
              <a:lnSpc>
                <a:spcPts val="1600"/>
              </a:lnSpc>
              <a:buNone/>
            </a:pPr>
            <a:r>
              <a:rPr lang="en-US" sz="1200" dirty="0">
                <a:solidFill>
                  <a:srgbClr val="1F2933"/>
                </a:solidFill>
                <a:latin typeface="Calibri" pitchFamily="34" charset="0"/>
                <a:ea typeface="Calibri" pitchFamily="34" charset="-122"/>
                <a:cs typeface="Calibri" pitchFamily="34" charset="-120"/>
              </a:rPr>
              <a:t>Disanitasi sebelum melewati boundary service.</a:t>
            </a:r>
            <a:endParaRPr lang="en-US" sz="1200" dirty="0"/>
          </a:p>
        </p:txBody>
      </p:sp>
      <p:sp>
        <p:nvSpPr>
          <p:cNvPr id="18" name="Shape 16"/>
          <p:cNvSpPr/>
          <p:nvPr/>
        </p:nvSpPr>
        <p:spPr>
          <a:xfrm>
            <a:off x="6233008" y="3858768"/>
            <a:ext cx="5364328" cy="2148840"/>
          </a:xfrm>
          <a:prstGeom prst="roundRect">
            <a:avLst>
              <a:gd name="adj" fmla="val 2979"/>
            </a:avLst>
          </a:prstGeom>
          <a:solidFill>
            <a:srgbClr val="F5F7F8"/>
          </a:solidFill>
          <a:ln w="9525">
            <a:solidFill>
              <a:srgbClr val="E2E7EB"/>
            </a:solidFill>
            <a:prstDash val="solid"/>
          </a:ln>
        </p:spPr>
      </p:sp>
      <p:sp>
        <p:nvSpPr>
          <p:cNvPr id="19" name="Text 17"/>
          <p:cNvSpPr txBox="1"/>
          <p:nvPr/>
        </p:nvSpPr>
        <p:spPr>
          <a:xfrm>
            <a:off x="6489040" y="3995928"/>
            <a:ext cx="4852264" cy="292608"/>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Export gagal tanpa pesan</a:t>
            </a:r>
            <a:endParaRPr lang="en-US" sz="1450" dirty="0"/>
          </a:p>
        </p:txBody>
      </p:sp>
      <p:sp>
        <p:nvSpPr>
          <p:cNvPr id="20" name="Text 18"/>
          <p:cNvSpPr txBox="1"/>
          <p:nvPr/>
        </p:nvSpPr>
        <p:spPr>
          <a:xfrm>
            <a:off x="6489040" y="4361688"/>
            <a:ext cx="4852264" cy="640080"/>
          </a:xfrm>
          <a:prstGeom prst="rect">
            <a:avLst/>
          </a:prstGeom>
          <a:noFill/>
          <a:ln/>
        </p:spPr>
        <p:txBody>
          <a:bodyPr wrap="square" lIns="0" tIns="0" rIns="0" bIns="0" rtlCol="0" anchor="t"/>
          <a:lstStyle/>
          <a:p>
            <a:pPr indent="0" marL="0">
              <a:lnSpc>
                <a:spcPts val="1600"/>
              </a:lnSpc>
              <a:buNone/>
            </a:pPr>
            <a:r>
              <a:rPr lang="en-US" sz="1200" b="1" dirty="0">
                <a:solidFill>
                  <a:srgbClr val="C8553D"/>
                </a:solidFill>
                <a:latin typeface="Calibri" pitchFamily="34" charset="0"/>
                <a:ea typeface="Calibri" pitchFamily="34" charset="-122"/>
                <a:cs typeface="Calibri" pitchFamily="34" charset="-120"/>
              </a:rPr>
              <a:t>Sebelum  </a:t>
            </a:r>
            <a:pPr indent="0" marL="0">
              <a:lnSpc>
                <a:spcPts val="1600"/>
              </a:lnSpc>
              <a:buNone/>
            </a:pPr>
            <a:r>
              <a:rPr lang="en-US" sz="1200" dirty="0">
                <a:solidFill>
                  <a:srgbClr val="5F6B76"/>
                </a:solidFill>
                <a:latin typeface="Calibri" pitchFamily="34" charset="0"/>
                <a:ea typeface="Calibri" pitchFamily="34" charset="-122"/>
                <a:cs typeface="Calibri" pitchFamily="34" charset="-120"/>
              </a:rPr>
              <a:t>Tidak ada catch; body error bertipe Blob tak terbaca.</a:t>
            </a:r>
            <a:endParaRPr lang="en-US" sz="1200" dirty="0"/>
          </a:p>
        </p:txBody>
      </p:sp>
      <p:sp>
        <p:nvSpPr>
          <p:cNvPr id="21" name="Text 19"/>
          <p:cNvSpPr txBox="1"/>
          <p:nvPr/>
        </p:nvSpPr>
        <p:spPr>
          <a:xfrm>
            <a:off x="6489040" y="5047488"/>
            <a:ext cx="4852264" cy="868680"/>
          </a:xfrm>
          <a:prstGeom prst="rect">
            <a:avLst/>
          </a:prstGeom>
          <a:noFill/>
          <a:ln/>
        </p:spPr>
        <p:txBody>
          <a:bodyPr wrap="square" lIns="0" tIns="0" rIns="0" bIns="0" rtlCol="0" anchor="t"/>
          <a:lstStyle/>
          <a:p>
            <a:pPr indent="0" marL="0">
              <a:lnSpc>
                <a:spcPts val="1600"/>
              </a:lnSpc>
              <a:buNone/>
            </a:pPr>
            <a:r>
              <a:rPr lang="en-US" sz="1200" b="1" dirty="0">
                <a:solidFill>
                  <a:srgbClr val="0B5550"/>
                </a:solidFill>
                <a:latin typeface="Calibri" pitchFamily="34" charset="0"/>
                <a:ea typeface="Calibri" pitchFamily="34" charset="-122"/>
                <a:cs typeface="Calibri" pitchFamily="34" charset="-120"/>
              </a:rPr>
              <a:t>Sekarang  </a:t>
            </a:r>
            <a:pPr indent="0" marL="0">
              <a:lnSpc>
                <a:spcPts val="1600"/>
              </a:lnSpc>
              <a:buNone/>
            </a:pPr>
            <a:r>
              <a:rPr lang="en-US" sz="1200" dirty="0">
                <a:solidFill>
                  <a:srgbClr val="1F2933"/>
                </a:solidFill>
                <a:latin typeface="Calibri" pitchFamily="34" charset="0"/>
                <a:ea typeface="Calibri" pitchFamily="34" charset="-122"/>
                <a:cs typeface="Calibri" pitchFamily="34" charset="-120"/>
              </a:rPr>
              <a:t>Blob di-decode, pesan server asli ditampilkan.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5550"/>
        </a:solidFill>
      </p:bgPr>
    </p:bg>
    <p:spTree>
      <p:nvGrpSpPr>
        <p:cNvPr id="1" name=""/>
        <p:cNvGrpSpPr/>
        <p:nvPr/>
      </p:nvGrpSpPr>
      <p:grpSpPr>
        <a:xfrm>
          <a:off x="0" y="0"/>
          <a:ext cx="0" cy="0"/>
          <a:chOff x="0" y="0"/>
          <a:chExt cx="0" cy="0"/>
        </a:xfrm>
      </p:grpSpPr>
      <p:sp>
        <p:nvSpPr>
          <p:cNvPr id="2" name="Text 0"/>
          <p:cNvSpPr txBox="1"/>
          <p:nvPr/>
        </p:nvSpPr>
        <p:spPr>
          <a:xfrm>
            <a:off x="594360" y="2103120"/>
            <a:ext cx="2743200" cy="548640"/>
          </a:xfrm>
          <a:prstGeom prst="rect">
            <a:avLst/>
          </a:prstGeom>
          <a:noFill/>
          <a:ln/>
        </p:spPr>
        <p:txBody>
          <a:bodyPr wrap="square" lIns="0" tIns="0" rIns="0" bIns="0" rtlCol="0" anchor="t"/>
          <a:lstStyle/>
          <a:p>
            <a:pPr indent="0" marL="0">
              <a:buNone/>
            </a:pPr>
            <a:r>
              <a:rPr lang="en-US" sz="2000" b="1" dirty="0">
                <a:solidFill>
                  <a:srgbClr val="8FD1C8"/>
                </a:solidFill>
                <a:latin typeface="Calibri" pitchFamily="34" charset="0"/>
                <a:ea typeface="Calibri" pitchFamily="34" charset="-122"/>
                <a:cs typeface="Calibri" pitchFamily="34" charset="-120"/>
              </a:rPr>
              <a:t>05</a:t>
            </a:r>
            <a:endParaRPr lang="en-US" sz="2000" dirty="0"/>
          </a:p>
        </p:txBody>
      </p:sp>
      <p:sp>
        <p:nvSpPr>
          <p:cNvPr id="3" name="Text 1"/>
          <p:cNvSpPr txBox="1"/>
          <p:nvPr/>
        </p:nvSpPr>
        <p:spPr>
          <a:xfrm>
            <a:off x="594360" y="2651760"/>
            <a:ext cx="11002975" cy="91440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Membuktikan</a:t>
            </a:r>
            <a:endParaRPr lang="en-US" sz="3800" dirty="0"/>
          </a:p>
        </p:txBody>
      </p:sp>
      <p:sp>
        <p:nvSpPr>
          <p:cNvPr id="4" name="Text 2"/>
          <p:cNvSpPr txBox="1"/>
          <p:nvPr/>
        </p:nvSpPr>
        <p:spPr>
          <a:xfrm>
            <a:off x="594360" y="3611880"/>
            <a:ext cx="9144000" cy="731520"/>
          </a:xfrm>
          <a:prstGeom prst="rect">
            <a:avLst/>
          </a:prstGeom>
          <a:noFill/>
          <a:ln/>
        </p:spPr>
        <p:txBody>
          <a:bodyPr wrap="square" lIns="0" tIns="0" rIns="0" bIns="0" rtlCol="0" anchor="t"/>
          <a:lstStyle/>
          <a:p>
            <a:pPr indent="0" marL="0">
              <a:lnSpc>
                <a:spcPts val="2300"/>
              </a:lnSpc>
              <a:buNone/>
            </a:pPr>
            <a:r>
              <a:rPr lang="en-US" sz="1700" dirty="0">
                <a:solidFill>
                  <a:srgbClr val="BFE3DE"/>
                </a:solidFill>
                <a:latin typeface="Calibri" pitchFamily="34" charset="0"/>
                <a:ea typeface="Calibri" pitchFamily="34" charset="-122"/>
                <a:cs typeface="Calibri" pitchFamily="34" charset="-120"/>
              </a:rPr>
              <a:t>Test ditulis dulu, ditonton gagal, lalu kode saya sendiri sengaja dirusak.</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27</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Bagaimana saya membuktikannya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§2.5 · test ditulis dulu, dijalankan ke kode lama, dan ditonton gagal.</a:t>
            </a:r>
            <a:endParaRPr lang="en-US" sz="1500" dirty="0"/>
          </a:p>
        </p:txBody>
      </p:sp>
      <p:sp>
        <p:nvSpPr>
          <p:cNvPr id="6" name="Shape 4"/>
          <p:cNvSpPr/>
          <p:nvPr/>
        </p:nvSpPr>
        <p:spPr>
          <a:xfrm>
            <a:off x="594360" y="1536192"/>
            <a:ext cx="2613584" cy="1645920"/>
          </a:xfrm>
          <a:prstGeom prst="roundRect">
            <a:avLst>
              <a:gd name="adj" fmla="val 3889"/>
            </a:avLst>
          </a:prstGeom>
          <a:solidFill>
            <a:srgbClr val="F5F7F8"/>
          </a:solidFill>
          <a:ln w="9525">
            <a:solidFill>
              <a:srgbClr val="E2E7EB"/>
            </a:solidFill>
            <a:prstDash val="solid"/>
          </a:ln>
        </p:spPr>
      </p:sp>
      <p:sp>
        <p:nvSpPr>
          <p:cNvPr id="7" name="Text 5"/>
          <p:cNvSpPr txBox="1"/>
          <p:nvPr/>
        </p:nvSpPr>
        <p:spPr>
          <a:xfrm>
            <a:off x="822960" y="1645920"/>
            <a:ext cx="2156384" cy="548640"/>
          </a:xfrm>
          <a:prstGeom prst="rect">
            <a:avLst/>
          </a:prstGeom>
          <a:noFill/>
          <a:ln/>
        </p:spPr>
        <p:txBody>
          <a:bodyPr wrap="square" lIns="0" tIns="0" rIns="0" bIns="0" rtlCol="0" anchor="t"/>
          <a:lstStyle/>
          <a:p>
            <a:pPr indent="0" marL="0">
              <a:buNone/>
            </a:pPr>
            <a:r>
              <a:rPr lang="en-US" sz="2800" b="1" dirty="0">
                <a:solidFill>
                  <a:srgbClr val="0B5550"/>
                </a:solidFill>
                <a:latin typeface="Calibri" pitchFamily="34" charset="0"/>
                <a:ea typeface="Calibri" pitchFamily="34" charset="-122"/>
                <a:cs typeface="Calibri" pitchFamily="34" charset="-120"/>
              </a:rPr>
              <a:t>0 → 34</a:t>
            </a:r>
            <a:endParaRPr lang="en-US" sz="2800" dirty="0"/>
          </a:p>
        </p:txBody>
      </p:sp>
      <p:sp>
        <p:nvSpPr>
          <p:cNvPr id="8" name="Text 6"/>
          <p:cNvSpPr txBox="1"/>
          <p:nvPr/>
        </p:nvSpPr>
        <p:spPr>
          <a:xfrm>
            <a:off x="822960" y="2212848"/>
            <a:ext cx="2156384" cy="32004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test Vitest</a:t>
            </a:r>
            <a:endParaRPr lang="en-US" sz="1300" dirty="0"/>
          </a:p>
        </p:txBody>
      </p:sp>
      <p:sp>
        <p:nvSpPr>
          <p:cNvPr id="9" name="Text 7"/>
          <p:cNvSpPr txBox="1"/>
          <p:nvPr/>
        </p:nvSpPr>
        <p:spPr>
          <a:xfrm>
            <a:off x="822960" y="2542032"/>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Test runner pertama di web/</a:t>
            </a:r>
            <a:endParaRPr lang="en-US" sz="1150" dirty="0"/>
          </a:p>
        </p:txBody>
      </p:sp>
      <p:sp>
        <p:nvSpPr>
          <p:cNvPr id="10" name="Shape 8"/>
          <p:cNvSpPr/>
          <p:nvPr/>
        </p:nvSpPr>
        <p:spPr>
          <a:xfrm>
            <a:off x="3390824" y="1536192"/>
            <a:ext cx="2613584" cy="1645920"/>
          </a:xfrm>
          <a:prstGeom prst="roundRect">
            <a:avLst>
              <a:gd name="adj" fmla="val 3889"/>
            </a:avLst>
          </a:prstGeom>
          <a:solidFill>
            <a:srgbClr val="F5F7F8"/>
          </a:solidFill>
          <a:ln w="9525">
            <a:solidFill>
              <a:srgbClr val="E2E7EB"/>
            </a:solidFill>
            <a:prstDash val="solid"/>
          </a:ln>
        </p:spPr>
      </p:sp>
      <p:sp>
        <p:nvSpPr>
          <p:cNvPr id="11" name="Text 9"/>
          <p:cNvSpPr txBox="1"/>
          <p:nvPr/>
        </p:nvSpPr>
        <p:spPr>
          <a:xfrm>
            <a:off x="3619424" y="1645920"/>
            <a:ext cx="2156384" cy="548640"/>
          </a:xfrm>
          <a:prstGeom prst="rect">
            <a:avLst/>
          </a:prstGeom>
          <a:noFill/>
          <a:ln/>
        </p:spPr>
        <p:txBody>
          <a:bodyPr wrap="square" lIns="0" tIns="0" rIns="0" bIns="0" rtlCol="0" anchor="t"/>
          <a:lstStyle/>
          <a:p>
            <a:pPr indent="0" marL="0">
              <a:buNone/>
            </a:pPr>
            <a:r>
              <a:rPr lang="en-US" sz="2800" b="1" dirty="0">
                <a:solidFill>
                  <a:srgbClr val="C8553D"/>
                </a:solidFill>
                <a:latin typeface="Calibri" pitchFamily="34" charset="0"/>
                <a:ea typeface="Calibri" pitchFamily="34" charset="-122"/>
                <a:cs typeface="Calibri" pitchFamily="34" charset="-120"/>
              </a:rPr>
              <a:t>8 / 1</a:t>
            </a:r>
            <a:endParaRPr lang="en-US" sz="2800" dirty="0"/>
          </a:p>
        </p:txBody>
      </p:sp>
      <p:sp>
        <p:nvSpPr>
          <p:cNvPr id="12" name="Text 10"/>
          <p:cNvSpPr txBox="1"/>
          <p:nvPr/>
        </p:nvSpPr>
        <p:spPr>
          <a:xfrm>
            <a:off x="3619424" y="2212848"/>
            <a:ext cx="2156384" cy="32004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gagal / lulus di kode lama</a:t>
            </a:r>
            <a:endParaRPr lang="en-US" sz="1300" dirty="0"/>
          </a:p>
        </p:txBody>
      </p:sp>
      <p:sp>
        <p:nvSpPr>
          <p:cNvPr id="13" name="Text 11"/>
          <p:cNvSpPr txBox="1"/>
          <p:nvPr/>
        </p:nvSpPr>
        <p:spPr>
          <a:xfrm>
            <a:off x="3619424" y="2542032"/>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Log mentah dilampirkan di report</a:t>
            </a:r>
            <a:endParaRPr lang="en-US" sz="1150" dirty="0"/>
          </a:p>
        </p:txBody>
      </p:sp>
      <p:sp>
        <p:nvSpPr>
          <p:cNvPr id="14" name="Shape 12"/>
          <p:cNvSpPr/>
          <p:nvPr/>
        </p:nvSpPr>
        <p:spPr>
          <a:xfrm>
            <a:off x="6187288" y="1536192"/>
            <a:ext cx="2613584" cy="1645920"/>
          </a:xfrm>
          <a:prstGeom prst="roundRect">
            <a:avLst>
              <a:gd name="adj" fmla="val 3889"/>
            </a:avLst>
          </a:prstGeom>
          <a:solidFill>
            <a:srgbClr val="F5F7F8"/>
          </a:solidFill>
          <a:ln w="9525">
            <a:solidFill>
              <a:srgbClr val="E2E7EB"/>
            </a:solidFill>
            <a:prstDash val="solid"/>
          </a:ln>
        </p:spPr>
      </p:sp>
      <p:sp>
        <p:nvSpPr>
          <p:cNvPr id="15" name="Text 13"/>
          <p:cNvSpPr txBox="1"/>
          <p:nvPr/>
        </p:nvSpPr>
        <p:spPr>
          <a:xfrm>
            <a:off x="6415888" y="1645920"/>
            <a:ext cx="2156384" cy="548640"/>
          </a:xfrm>
          <a:prstGeom prst="rect">
            <a:avLst/>
          </a:prstGeom>
          <a:noFill/>
          <a:ln/>
        </p:spPr>
        <p:txBody>
          <a:bodyPr wrap="square" lIns="0" tIns="0" rIns="0" bIns="0" rtlCol="0" anchor="t"/>
          <a:lstStyle/>
          <a:p>
            <a:pPr indent="0" marL="0">
              <a:buNone/>
            </a:pPr>
            <a:r>
              <a:rPr lang="en-US" sz="2800" b="1" dirty="0">
                <a:solidFill>
                  <a:srgbClr val="B7791F"/>
                </a:solidFill>
                <a:latin typeface="Calibri" pitchFamily="34" charset="0"/>
                <a:ea typeface="Calibri" pitchFamily="34" charset="-122"/>
                <a:cs typeface="Calibri" pitchFamily="34" charset="-120"/>
              </a:rPr>
              <a:t>2 · 3 · 2</a:t>
            </a:r>
            <a:endParaRPr lang="en-US" sz="2800" dirty="0"/>
          </a:p>
        </p:txBody>
      </p:sp>
      <p:sp>
        <p:nvSpPr>
          <p:cNvPr id="16" name="Text 14"/>
          <p:cNvSpPr txBox="1"/>
          <p:nvPr/>
        </p:nvSpPr>
        <p:spPr>
          <a:xfrm>
            <a:off x="6415888" y="2212848"/>
            <a:ext cx="2156384" cy="32004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test merah per seeded fault</a:t>
            </a:r>
            <a:endParaRPr lang="en-US" sz="1300" dirty="0"/>
          </a:p>
        </p:txBody>
      </p:sp>
      <p:sp>
        <p:nvSpPr>
          <p:cNvPr id="17" name="Text 15"/>
          <p:cNvSpPr txBox="1"/>
          <p:nvPr/>
        </p:nvSpPr>
        <p:spPr>
          <a:xfrm>
            <a:off x="6415888" y="2542032"/>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Tiap fault di-commit &amp; di-revert terpisah</a:t>
            </a:r>
            <a:endParaRPr lang="en-US" sz="1150" dirty="0"/>
          </a:p>
        </p:txBody>
      </p:sp>
      <p:sp>
        <p:nvSpPr>
          <p:cNvPr id="18" name="Shape 16"/>
          <p:cNvSpPr/>
          <p:nvPr/>
        </p:nvSpPr>
        <p:spPr>
          <a:xfrm>
            <a:off x="8983751" y="1536192"/>
            <a:ext cx="2613584" cy="1645920"/>
          </a:xfrm>
          <a:prstGeom prst="roundRect">
            <a:avLst>
              <a:gd name="adj" fmla="val 3889"/>
            </a:avLst>
          </a:prstGeom>
          <a:solidFill>
            <a:srgbClr val="F5F7F8"/>
          </a:solidFill>
          <a:ln w="9525">
            <a:solidFill>
              <a:srgbClr val="E2E7EB"/>
            </a:solidFill>
            <a:prstDash val="solid"/>
          </a:ln>
        </p:spPr>
      </p:sp>
      <p:sp>
        <p:nvSpPr>
          <p:cNvPr id="19" name="Text 17"/>
          <p:cNvSpPr txBox="1"/>
          <p:nvPr/>
        </p:nvSpPr>
        <p:spPr>
          <a:xfrm>
            <a:off x="9212351" y="1645920"/>
            <a:ext cx="2156384" cy="548640"/>
          </a:xfrm>
          <a:prstGeom prst="rect">
            <a:avLst/>
          </a:prstGeom>
          <a:noFill/>
          <a:ln/>
        </p:spPr>
        <p:txBody>
          <a:bodyPr wrap="square" lIns="0" tIns="0" rIns="0" bIns="0" rtlCol="0" anchor="t"/>
          <a:lstStyle/>
          <a:p>
            <a:pPr indent="0" marL="0">
              <a:buNone/>
            </a:pPr>
            <a:r>
              <a:rPr lang="en-US" sz="2800" b="1" dirty="0">
                <a:solidFill>
                  <a:srgbClr val="0B5550"/>
                </a:solidFill>
                <a:latin typeface="Calibri" pitchFamily="34" charset="0"/>
                <a:ea typeface="Calibri" pitchFamily="34" charset="-122"/>
                <a:cs typeface="Calibri" pitchFamily="34" charset="-120"/>
              </a:rPr>
              <a:t>RSpec</a:t>
            </a:r>
            <a:endParaRPr lang="en-US" sz="2800" dirty="0"/>
          </a:p>
        </p:txBody>
      </p:sp>
      <p:sp>
        <p:nvSpPr>
          <p:cNvPr id="20" name="Text 18"/>
          <p:cNvSpPr txBox="1"/>
          <p:nvPr/>
        </p:nvSpPr>
        <p:spPr>
          <a:xfrm>
            <a:off x="9212351" y="2212848"/>
            <a:ext cx="2156384" cy="32004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spec pertama di api/</a:t>
            </a:r>
            <a:endParaRPr lang="en-US" sz="1300" dirty="0"/>
          </a:p>
        </p:txBody>
      </p:sp>
      <p:sp>
        <p:nvSpPr>
          <p:cNvPr id="21" name="Text 19"/>
          <p:cNvSpPr txBox="1"/>
          <p:nvPr/>
        </p:nvSpPr>
        <p:spPr>
          <a:xfrm>
            <a:off x="9212351" y="2542032"/>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Engine, generator, tenancy</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4360" y="3429000"/>
          <a:ext cx="11002975" cy="914400"/>
        </p:xfrm>
        <a:graphic>
          <a:graphicData uri="http://schemas.openxmlformats.org/drawingml/2006/table">
            <a:tbl>
              <a:tblPr/>
              <a:tblGrid>
                <a:gridCol w="4754880"/>
                <a:gridCol w="1280160"/>
                <a:gridCol w="4965192"/>
              </a:tblGrid>
              <a:tr h="38404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Fault yang saya suntikkan</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Test merah</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Kenapa fault ini</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r>
              <a:tr h="402336">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Hapus mapping expected_level → required_level</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algn="ctr" indent="0" marL="0">
                        <a:buNone/>
                      </a:pPr>
                      <a:r>
                        <a:rPr lang="en-US" sz="1250" b="1" dirty="0">
                          <a:solidFill>
                            <a:srgbClr val="C8553D"/>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Persis bug P0-1 yang terkirim</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402336">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Kembalikan fallback parseLevel ke L1</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algn="ctr" indent="0" marL="0">
                        <a:buNone/>
                      </a:pPr>
                      <a:r>
                        <a:rPr lang="en-US" sz="1250" b="1" dirty="0">
                          <a:solidFill>
                            <a:srgbClr val="C8553D"/>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Default yang merugikan kandidat</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402336">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Petakan confidence tak dikenal ke LOW</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algn="ctr" indent="0" marL="0">
                        <a:buNone/>
                      </a:pPr>
                      <a:r>
                        <a:rPr lang="en-US" sz="1250" b="1" dirty="0">
                          <a:solidFill>
                            <a:srgbClr val="C8553D"/>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“Tidak terukur” jadi temuan tentang kandidat</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bl>
          </a:graphicData>
        </a:graphic>
      </p:graphicFrame>
      <p:sp>
        <p:nvSpPr>
          <p:cNvPr id="23" name="Text 20"/>
          <p:cNvSpPr txBox="1"/>
          <p:nvPr/>
        </p:nvSpPr>
        <p:spPr>
          <a:xfrm>
            <a:off x="594360" y="5212080"/>
            <a:ext cx="11002975" cy="640080"/>
          </a:xfrm>
          <a:prstGeom prst="rect">
            <a:avLst/>
          </a:prstGeom>
          <a:noFill/>
          <a:ln/>
        </p:spPr>
        <p:txBody>
          <a:bodyPr wrap="square" lIns="0" tIns="0" rIns="0" bIns="0" rtlCol="0" anchor="t"/>
          <a:lstStyle/>
          <a:p>
            <a:pPr indent="0" marL="0">
              <a:lnSpc>
                <a:spcPts val="1800"/>
              </a:lnSpc>
              <a:buNone/>
            </a:pPr>
            <a:r>
              <a:rPr lang="en-US" sz="1300" dirty="0">
                <a:solidFill>
                  <a:srgbClr val="5F6B76"/>
                </a:solidFill>
                <a:latin typeface="Calibri" pitchFamily="34" charset="0"/>
                <a:ea typeface="Calibri" pitchFamily="34" charset="-122"/>
                <a:cs typeface="Calibri" pitchFamily="34" charset="-120"/>
              </a:rPr>
              <a:t>Tiga fault ini dipilih karena mereka persis tiga hal yang saya klaim sudah diperbaiki. Menyuntik fault di tempat lain akan membuktikan sesuatu yang tidak saya klaim.</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Dua kali saya salah, dan test yang menangkapnya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§2.5 · AI verification — brief minta satu contoh, saya punya dua.</a:t>
            </a:r>
            <a:endParaRPr lang="en-US" sz="1500" dirty="0"/>
          </a:p>
        </p:txBody>
      </p:sp>
      <p:sp>
        <p:nvSpPr>
          <p:cNvPr id="6" name="Shape 4"/>
          <p:cNvSpPr/>
          <p:nvPr/>
        </p:nvSpPr>
        <p:spPr>
          <a:xfrm>
            <a:off x="594360" y="1536192"/>
            <a:ext cx="5318608" cy="3840480"/>
          </a:xfrm>
          <a:prstGeom prst="roundRect">
            <a:avLst>
              <a:gd name="adj" fmla="val 1667"/>
            </a:avLst>
          </a:prstGeom>
          <a:solidFill>
            <a:srgbClr val="F5F7F8"/>
          </a:solidFill>
          <a:ln w="9525">
            <a:solidFill>
              <a:srgbClr val="E2E7EB"/>
            </a:solidFill>
            <a:prstDash val="solid"/>
          </a:ln>
        </p:spPr>
      </p:sp>
      <p:sp>
        <p:nvSpPr>
          <p:cNvPr id="7" name="Text 5"/>
          <p:cNvSpPr txBox="1"/>
          <p:nvPr/>
        </p:nvSpPr>
        <p:spPr>
          <a:xfrm>
            <a:off x="868680" y="1700784"/>
            <a:ext cx="4769968"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Hipotesis yang salah</a:t>
            </a:r>
            <a:endParaRPr lang="en-US" sz="1600" dirty="0"/>
          </a:p>
        </p:txBody>
      </p:sp>
      <p:sp>
        <p:nvSpPr>
          <p:cNvPr id="8" name="Text 6"/>
          <p:cNvSpPr txBox="1"/>
          <p:nvPr/>
        </p:nvSpPr>
        <p:spPr>
          <a:xfrm>
            <a:off x="868680" y="2066544"/>
            <a:ext cx="4769968" cy="274320"/>
          </a:xfrm>
          <a:prstGeom prst="rect">
            <a:avLst/>
          </a:prstGeom>
          <a:noFill/>
          <a:ln/>
        </p:spPr>
        <p:txBody>
          <a:bodyPr wrap="square" lIns="0" tIns="0" rIns="0" bIns="0" rtlCol="0" anchor="t"/>
          <a:lstStyle/>
          <a:p>
            <a:pPr indent="0" marL="0">
              <a:buNone/>
            </a:pPr>
            <a:r>
              <a:rPr lang="en-US" sz="1150" dirty="0">
                <a:solidFill>
                  <a:srgbClr val="5F6B76"/>
                </a:solidFill>
                <a:latin typeface="Courier New" pitchFamily="34" charset="0"/>
                <a:ea typeface="Courier New" pitchFamily="34" charset="-122"/>
                <a:cs typeface="Courier New" pitchFamily="34" charset="-120"/>
              </a:rPr>
              <a:t>ConfidenceIndicator.tsx</a:t>
            </a:r>
            <a:endParaRPr lang="en-US" sz="1150" dirty="0"/>
          </a:p>
        </p:txBody>
      </p:sp>
      <p:sp>
        <p:nvSpPr>
          <p:cNvPr id="9" name="Text 7"/>
          <p:cNvSpPr txBox="1"/>
          <p:nvPr/>
        </p:nvSpPr>
        <p:spPr>
          <a:xfrm>
            <a:off x="868680" y="2468880"/>
            <a:ext cx="4769968" cy="1737360"/>
          </a:xfrm>
          <a:prstGeom prst="rect">
            <a:avLst/>
          </a:prstGeom>
          <a:noFill/>
          <a:ln/>
        </p:spPr>
        <p:txBody>
          <a:bodyPr wrap="square" lIns="0" tIns="0" rIns="0" bIns="0" rtlCol="0" anchor="t"/>
          <a:lstStyle/>
          <a:p>
            <a:pPr indent="0" marL="0">
              <a:lnSpc>
                <a:spcPts val="1900"/>
              </a:lnSpc>
              <a:buNone/>
            </a:pPr>
            <a:r>
              <a:rPr lang="en-US" sz="1300" dirty="0">
                <a:solidFill>
                  <a:srgbClr val="1F2933"/>
                </a:solidFill>
                <a:latin typeface="Calibri" pitchFamily="34" charset="0"/>
                <a:ea typeface="Calibri" pitchFamily="34" charset="-122"/>
                <a:cs typeface="Calibri" pitchFamily="34" charset="-120"/>
              </a:rPr>
              <a:t>Saya yakin getLabel salah menangani output berkapital — “High” akan jatuh ke LOW. Saya tulis test-nya, dan test-nya lulus: baris 6 sudah memanggil toLowerCase(). Saya yang membaca terlalu cepat.</a:t>
            </a:r>
            <a:endParaRPr lang="en-US" sz="1300" dirty="0"/>
          </a:p>
        </p:txBody>
      </p:sp>
      <p:sp>
        <p:nvSpPr>
          <p:cNvPr id="10" name="Shape 8"/>
          <p:cNvSpPr/>
          <p:nvPr/>
        </p:nvSpPr>
        <p:spPr>
          <a:xfrm>
            <a:off x="868680" y="4279392"/>
            <a:ext cx="4769968" cy="914400"/>
          </a:xfrm>
          <a:prstGeom prst="roundRect">
            <a:avLst>
              <a:gd name="adj" fmla="val 7000"/>
            </a:avLst>
          </a:prstGeom>
          <a:solidFill>
            <a:srgbClr val="E6F3F1"/>
          </a:solidFill>
          <a:ln w="9525">
            <a:solidFill>
              <a:srgbClr val="E6F3F1"/>
            </a:solidFill>
            <a:prstDash val="solid"/>
          </a:ln>
        </p:spPr>
      </p:sp>
      <p:sp>
        <p:nvSpPr>
          <p:cNvPr id="11" name="Text 9"/>
          <p:cNvSpPr txBox="1"/>
          <p:nvPr/>
        </p:nvSpPr>
        <p:spPr>
          <a:xfrm>
            <a:off x="1051560" y="4279392"/>
            <a:ext cx="4404208" cy="914400"/>
          </a:xfrm>
          <a:prstGeom prst="rect">
            <a:avLst/>
          </a:prstGeom>
          <a:noFill/>
          <a:ln/>
        </p:spPr>
        <p:txBody>
          <a:bodyPr wrap="square" lIns="0" tIns="0" rIns="0" bIns="0" rtlCol="0" anchor="ctr"/>
          <a:lstStyle/>
          <a:p>
            <a:pPr indent="0" marL="0">
              <a:lnSpc>
                <a:spcPts val="1700"/>
              </a:lnSpc>
              <a:buNone/>
            </a:pPr>
            <a:r>
              <a:rPr lang="en-US" sz="1250" dirty="0">
                <a:solidFill>
                  <a:srgbClr val="0B5550"/>
                </a:solidFill>
                <a:latin typeface="Calibri" pitchFamily="34" charset="0"/>
                <a:ea typeface="Calibri" pitchFamily="34" charset="-122"/>
                <a:cs typeface="Calibri" pitchFamily="34" charset="-120"/>
              </a:rPr>
              <a:t>Temuan dihapus dari laporan. Test dipertahankan sebagai regression guard.</a:t>
            </a:r>
            <a:endParaRPr lang="en-US" sz="1250" dirty="0"/>
          </a:p>
        </p:txBody>
      </p:sp>
      <p:sp>
        <p:nvSpPr>
          <p:cNvPr id="12" name="Shape 10"/>
          <p:cNvSpPr/>
          <p:nvPr/>
        </p:nvSpPr>
        <p:spPr>
          <a:xfrm>
            <a:off x="6278728" y="1536192"/>
            <a:ext cx="5318608" cy="3840480"/>
          </a:xfrm>
          <a:prstGeom prst="roundRect">
            <a:avLst>
              <a:gd name="adj" fmla="val 1667"/>
            </a:avLst>
          </a:prstGeom>
          <a:solidFill>
            <a:srgbClr val="F5F7F8"/>
          </a:solidFill>
          <a:ln w="9525">
            <a:solidFill>
              <a:srgbClr val="E2E7EB"/>
            </a:solidFill>
            <a:prstDash val="solid"/>
          </a:ln>
        </p:spPr>
      </p:sp>
      <p:sp>
        <p:nvSpPr>
          <p:cNvPr id="13" name="Text 11"/>
          <p:cNvSpPr txBox="1"/>
          <p:nvPr/>
        </p:nvSpPr>
        <p:spPr>
          <a:xfrm>
            <a:off x="6553048" y="1700784"/>
            <a:ext cx="4769968"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Kode pengganti yang punya bug</a:t>
            </a:r>
            <a:endParaRPr lang="en-US" sz="1600" dirty="0"/>
          </a:p>
        </p:txBody>
      </p:sp>
      <p:sp>
        <p:nvSpPr>
          <p:cNvPr id="14" name="Text 12"/>
          <p:cNvSpPr txBox="1"/>
          <p:nvPr/>
        </p:nvSpPr>
        <p:spPr>
          <a:xfrm>
            <a:off x="6553048" y="2066544"/>
            <a:ext cx="4769968" cy="274320"/>
          </a:xfrm>
          <a:prstGeom prst="rect">
            <a:avLst/>
          </a:prstGeom>
          <a:noFill/>
          <a:ln/>
        </p:spPr>
        <p:txBody>
          <a:bodyPr wrap="square" lIns="0" tIns="0" rIns="0" bIns="0" rtlCol="0" anchor="t"/>
          <a:lstStyle/>
          <a:p>
            <a:pPr indent="0" marL="0">
              <a:buNone/>
            </a:pPr>
            <a:r>
              <a:rPr lang="en-US" sz="1150" dirty="0">
                <a:solidFill>
                  <a:srgbClr val="5F6B76"/>
                </a:solidFill>
                <a:latin typeface="Courier New" pitchFamily="34" charset="0"/>
                <a:ea typeface="Courier New" pitchFamily="34" charset="-122"/>
                <a:cs typeface="Courier New" pitchFamily="34" charset="-120"/>
              </a:rPr>
              <a:t>hooks/usePolling.ts</a:t>
            </a:r>
            <a:endParaRPr lang="en-US" sz="1150" dirty="0"/>
          </a:p>
        </p:txBody>
      </p:sp>
      <p:sp>
        <p:nvSpPr>
          <p:cNvPr id="15" name="Text 13"/>
          <p:cNvSpPr txBox="1"/>
          <p:nvPr/>
        </p:nvSpPr>
        <p:spPr>
          <a:xfrm>
            <a:off x="6553048" y="2468880"/>
            <a:ext cx="4769968" cy="1737360"/>
          </a:xfrm>
          <a:prstGeom prst="rect">
            <a:avLst/>
          </a:prstGeom>
          <a:noFill/>
          <a:ln/>
        </p:spPr>
        <p:txBody>
          <a:bodyPr wrap="square" lIns="0" tIns="0" rIns="0" bIns="0" rtlCol="0" anchor="t"/>
          <a:lstStyle/>
          <a:p>
            <a:pPr indent="0" marL="0">
              <a:lnSpc>
                <a:spcPts val="1900"/>
              </a:lnSpc>
              <a:buNone/>
            </a:pPr>
            <a:r>
              <a:rPr lang="en-US" sz="1300" dirty="0">
                <a:solidFill>
                  <a:srgbClr val="1F2933"/>
                </a:solidFill>
                <a:latin typeface="Calibri" pitchFamily="34" charset="0"/>
                <a:ea typeface="Calibri" pitchFamily="34" charset="-122"/>
                <a:cs typeface="Calibri" pitchFamily="34" charset="-120"/>
              </a:rPr>
              <a:t>onTimeout terpanggil dua kali. Update state React asinkron sementara interval tidak, jadi cabang deadline menyala lagi sebelum effect sempat jalan ulang.</a:t>
            </a:r>
            <a:endParaRPr lang="en-US" sz="1300" dirty="0"/>
          </a:p>
        </p:txBody>
      </p:sp>
      <p:sp>
        <p:nvSpPr>
          <p:cNvPr id="16" name="Shape 14"/>
          <p:cNvSpPr/>
          <p:nvPr/>
        </p:nvSpPr>
        <p:spPr>
          <a:xfrm>
            <a:off x="6553048" y="4279392"/>
            <a:ext cx="4769968" cy="914400"/>
          </a:xfrm>
          <a:prstGeom prst="roundRect">
            <a:avLst>
              <a:gd name="adj" fmla="val 7000"/>
            </a:avLst>
          </a:prstGeom>
          <a:solidFill>
            <a:srgbClr val="E6F3F1"/>
          </a:solidFill>
          <a:ln w="9525">
            <a:solidFill>
              <a:srgbClr val="E6F3F1"/>
            </a:solidFill>
            <a:prstDash val="solid"/>
          </a:ln>
        </p:spPr>
      </p:sp>
      <p:sp>
        <p:nvSpPr>
          <p:cNvPr id="17" name="Text 15"/>
          <p:cNvSpPr txBox="1"/>
          <p:nvPr/>
        </p:nvSpPr>
        <p:spPr>
          <a:xfrm>
            <a:off x="6735928" y="4279392"/>
            <a:ext cx="4404208" cy="914400"/>
          </a:xfrm>
          <a:prstGeom prst="rect">
            <a:avLst/>
          </a:prstGeom>
          <a:noFill/>
          <a:ln/>
        </p:spPr>
        <p:txBody>
          <a:bodyPr wrap="square" lIns="0" tIns="0" rIns="0" bIns="0" rtlCol="0" anchor="ctr"/>
          <a:lstStyle/>
          <a:p>
            <a:pPr indent="0" marL="0">
              <a:lnSpc>
                <a:spcPts val="1700"/>
              </a:lnSpc>
              <a:buNone/>
            </a:pPr>
            <a:r>
              <a:rPr lang="en-US" sz="1250" dirty="0">
                <a:solidFill>
                  <a:srgbClr val="0B5550"/>
                </a:solidFill>
                <a:latin typeface="Calibri" pitchFamily="34" charset="0"/>
                <a:ea typeface="Calibri" pitchFamily="34" charset="-122"/>
                <a:cs typeface="Calibri" pitchFamily="34" charset="-120"/>
              </a:rPr>
              <a:t>Diperbaiki dengan latch sinkron di closure effect. Ditangkap test sebelum kodenya pernah jalan di browser.</a:t>
            </a:r>
            <a:endParaRPr lang="en-US" sz="1250" dirty="0"/>
          </a:p>
        </p:txBody>
      </p:sp>
      <p:sp>
        <p:nvSpPr>
          <p:cNvPr id="18" name="Text 16"/>
          <p:cNvSpPr txBox="1"/>
          <p:nvPr/>
        </p:nvSpPr>
        <p:spPr>
          <a:xfrm>
            <a:off x="594360" y="5559552"/>
            <a:ext cx="11002975" cy="548640"/>
          </a:xfrm>
          <a:prstGeom prst="rect">
            <a:avLst/>
          </a:prstGeom>
          <a:noFill/>
          <a:ln/>
        </p:spPr>
        <p:txBody>
          <a:bodyPr wrap="square" lIns="0" tIns="0" rIns="0" bIns="0" rtlCol="0" anchor="t"/>
          <a:lstStyle/>
          <a:p>
            <a:pPr indent="0" marL="0">
              <a:lnSpc>
                <a:spcPts val="1900"/>
              </a:lnSpc>
              <a:buNone/>
            </a:pPr>
            <a:r>
              <a:rPr lang="en-US" sz="1350" dirty="0">
                <a:solidFill>
                  <a:srgbClr val="5F6B76"/>
                </a:solidFill>
                <a:latin typeface="Calibri" pitchFamily="34" charset="0"/>
                <a:ea typeface="Calibri" pitchFamily="34" charset="-122"/>
                <a:cs typeface="Calibri" pitchFamily="34" charset="-120"/>
              </a:rPr>
              <a:t>AI saya pakai sebagai leverage yang saya verifikasi, bukan jawaban yang saya percaya begitu saja. Hipotesis diuji, dan laporannya dikoreksi kalau buktinya berkata lain.</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5550"/>
        </a:solidFill>
      </p:bgPr>
    </p:bg>
    <p:spTree>
      <p:nvGrpSpPr>
        <p:cNvPr id="1" name=""/>
        <p:cNvGrpSpPr/>
        <p:nvPr/>
      </p:nvGrpSpPr>
      <p:grpSpPr>
        <a:xfrm>
          <a:off x="0" y="0"/>
          <a:ext cx="0" cy="0"/>
          <a:chOff x="0" y="0"/>
          <a:chExt cx="0" cy="0"/>
        </a:xfrm>
      </p:grpSpPr>
      <p:sp>
        <p:nvSpPr>
          <p:cNvPr id="2" name="Text 0"/>
          <p:cNvSpPr txBox="1"/>
          <p:nvPr/>
        </p:nvSpPr>
        <p:spPr>
          <a:xfrm>
            <a:off x="594360" y="2103120"/>
            <a:ext cx="2743200" cy="548640"/>
          </a:xfrm>
          <a:prstGeom prst="rect">
            <a:avLst/>
          </a:prstGeom>
          <a:noFill/>
          <a:ln/>
        </p:spPr>
        <p:txBody>
          <a:bodyPr wrap="square" lIns="0" tIns="0" rIns="0" bIns="0" rtlCol="0" anchor="t"/>
          <a:lstStyle/>
          <a:p>
            <a:pPr indent="0" marL="0">
              <a:buNone/>
            </a:pPr>
            <a:r>
              <a:rPr lang="en-US" sz="2000" b="1" dirty="0">
                <a:solidFill>
                  <a:srgbClr val="8FD1C8"/>
                </a:solidFill>
                <a:latin typeface="Calibri" pitchFamily="34" charset="0"/>
                <a:ea typeface="Calibri" pitchFamily="34" charset="-122"/>
                <a:cs typeface="Calibri" pitchFamily="34" charset="-120"/>
              </a:rPr>
              <a:t>06</a:t>
            </a:r>
            <a:endParaRPr lang="en-US" sz="2000" dirty="0"/>
          </a:p>
        </p:txBody>
      </p:sp>
      <p:sp>
        <p:nvSpPr>
          <p:cNvPr id="3" name="Text 1"/>
          <p:cNvSpPr txBox="1"/>
          <p:nvPr/>
        </p:nvSpPr>
        <p:spPr>
          <a:xfrm>
            <a:off x="594360" y="2651760"/>
            <a:ext cx="11002975" cy="91440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Ke depan</a:t>
            </a:r>
            <a:endParaRPr lang="en-US" sz="3800" dirty="0"/>
          </a:p>
        </p:txBody>
      </p:sp>
      <p:sp>
        <p:nvSpPr>
          <p:cNvPr id="4" name="Text 2"/>
          <p:cNvSpPr txBox="1"/>
          <p:nvPr/>
        </p:nvSpPr>
        <p:spPr>
          <a:xfrm>
            <a:off x="594360" y="3611880"/>
            <a:ext cx="9144000" cy="731520"/>
          </a:xfrm>
          <a:prstGeom prst="rect">
            <a:avLst/>
          </a:prstGeom>
          <a:noFill/>
          <a:ln/>
        </p:spPr>
        <p:txBody>
          <a:bodyPr wrap="square" lIns="0" tIns="0" rIns="0" bIns="0" rtlCol="0" anchor="t"/>
          <a:lstStyle/>
          <a:p>
            <a:pPr indent="0" marL="0">
              <a:lnSpc>
                <a:spcPts val="2300"/>
              </a:lnSpc>
              <a:buNone/>
            </a:pPr>
            <a:r>
              <a:rPr lang="en-US" sz="1700" dirty="0">
                <a:solidFill>
                  <a:srgbClr val="BFE3DE"/>
                </a:solidFill>
                <a:latin typeface="Calibri" pitchFamily="34" charset="0"/>
                <a:ea typeface="Calibri" pitchFamily="34" charset="-122"/>
                <a:cs typeface="Calibri" pitchFamily="34" charset="-120"/>
              </a:rPr>
              <a:t>Risiko yang masih ada, apa yang ditunjukkan pekerjaan ini, dan rencana kalau saya bergabung.</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30</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Risiko terbesar yang masih ada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Semuanya P0, belum saya perbaiki — beberapa lebih berat dari yang sudah saya perbaiki.</a:t>
            </a:r>
            <a:endParaRPr 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4360" y="1508760"/>
          <a:ext cx="11002975" cy="914400"/>
        </p:xfrm>
        <a:graphic>
          <a:graphicData uri="http://schemas.openxmlformats.org/drawingml/2006/table">
            <a:tbl>
              <a:tblPr/>
              <a:tblGrid>
                <a:gridCol w="3840480"/>
                <a:gridCol w="3200400"/>
                <a:gridCol w="3959352"/>
              </a:tblGrid>
              <a:tr h="347472">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Temuan</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Lokasi</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Dampak</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r>
              <a:tr h="53035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Tenant ditentukan dari header X-Tenant-Scheme</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authentication_controller.rb:24-29</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Satu kredensial admin bisa masuk ke organisasi mana pun</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3035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JWT tidak pernah dicek ulang ke database</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authorize_api_request.rb:33-39</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Admin yang dicabut tetap valid sampai 3 hari</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3035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EventMachine mati di worker Puma hasil fork</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config/puma.rb:27-38</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Audio proxy &amp; coverage push tidak jalan di multi-worker</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3035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Refresh halaman mengakhiri wawancara</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audio_websocket_middleware.rb:38-47</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Timer koneksi lama mengakhiri sesi yang sudah resume</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3035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Transkrip masuk prompt scoring tanpa delimiter</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portfolios/generator.rb:41-74</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Kandidat bisa mengarahkan rating-nya sendiri</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3035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Dropout 7 detik dirender “Interview Complete”</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report §3.1, Figure 2</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Kandidat diberi terima kasih untuk wawancara yang terpotong</a:t>
                      </a:r>
                      <a:endParaRPr lang="en-US" sz="120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bl>
          </a:graphicData>
        </a:graphic>
      </p:graphicFrame>
      <p:sp>
        <p:nvSpPr>
          <p:cNvPr id="7" name="Shape 4"/>
          <p:cNvSpPr/>
          <p:nvPr/>
        </p:nvSpPr>
        <p:spPr>
          <a:xfrm>
            <a:off x="594360" y="5440680"/>
            <a:ext cx="11002975" cy="566928"/>
          </a:xfrm>
          <a:prstGeom prst="roundRect">
            <a:avLst>
              <a:gd name="adj" fmla="val 11290"/>
            </a:avLst>
          </a:prstGeom>
          <a:solidFill>
            <a:srgbClr val="FBF3E2"/>
          </a:solidFill>
          <a:ln w="9525">
            <a:solidFill>
              <a:srgbClr val="FBF3E2"/>
            </a:solidFill>
            <a:prstDash val="solid"/>
          </a:ln>
        </p:spPr>
      </p:sp>
      <p:sp>
        <p:nvSpPr>
          <p:cNvPr id="8" name="Text 5"/>
          <p:cNvSpPr txBox="1"/>
          <p:nvPr/>
        </p:nvSpPr>
        <p:spPr>
          <a:xfrm>
            <a:off x="868680" y="5440680"/>
            <a:ext cx="10454335" cy="56692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Tidak saya perbaiki karena sebagian butuh migrasi data produksi dan keputusan struktur user–organisasi — itu saya diskusikan dulu dengan tim.</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31</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Apa yang ditunjukkan pekerjaan ini tentang cara saya bekerja</a:t>
            </a:r>
            <a:endParaRPr lang="en-US" sz="2800" dirty="0"/>
          </a:p>
        </p:txBody>
      </p:sp>
      <p:sp>
        <p:nvSpPr>
          <p:cNvPr id="5" name="Shape 3"/>
          <p:cNvSpPr/>
          <p:nvPr/>
        </p:nvSpPr>
        <p:spPr>
          <a:xfrm>
            <a:off x="594360" y="1280160"/>
            <a:ext cx="5364328" cy="2011680"/>
          </a:xfrm>
          <a:prstGeom prst="roundRect">
            <a:avLst>
              <a:gd name="adj" fmla="val 3182"/>
            </a:avLst>
          </a:prstGeom>
          <a:solidFill>
            <a:srgbClr val="E6F3F1"/>
          </a:solidFill>
          <a:ln w="9525">
            <a:solidFill>
              <a:srgbClr val="E6F3F1"/>
            </a:solidFill>
            <a:prstDash val="solid"/>
          </a:ln>
        </p:spPr>
      </p:sp>
      <p:sp>
        <p:nvSpPr>
          <p:cNvPr id="6" name="Shape 4"/>
          <p:cNvSpPr/>
          <p:nvPr/>
        </p:nvSpPr>
        <p:spPr>
          <a:xfrm>
            <a:off x="868680" y="1554480"/>
            <a:ext cx="402336" cy="402336"/>
          </a:xfrm>
          <a:prstGeom prst="ellipse">
            <a:avLst/>
          </a:prstGeom>
          <a:solidFill>
            <a:srgbClr val="0F766E"/>
          </a:solidFill>
          <a:ln w="12700">
            <a:solidFill>
              <a:srgbClr val="0F766E"/>
            </a:solidFill>
            <a:prstDash val="solid"/>
          </a:ln>
        </p:spPr>
      </p:sp>
      <p:sp>
        <p:nvSpPr>
          <p:cNvPr id="7" name="Text 5"/>
          <p:cNvSpPr txBox="1"/>
          <p:nvPr/>
        </p:nvSpPr>
        <p:spPr>
          <a:xfrm>
            <a:off x="86868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463040" y="1581912"/>
            <a:ext cx="4221328" cy="365760"/>
          </a:xfrm>
          <a:prstGeom prst="rect">
            <a:avLst/>
          </a:prstGeom>
          <a:noFill/>
          <a:ln/>
        </p:spPr>
        <p:txBody>
          <a:bodyPr wrap="square" lIns="0" tIns="0" rIns="0" bIns="0" rtlCol="0" anchor="t"/>
          <a:lstStyle/>
          <a:p>
            <a:pPr indent="0" marL="0">
              <a:buNone/>
            </a:pPr>
            <a:r>
              <a:rPr lang="en-US" sz="1700" b="1" dirty="0">
                <a:solidFill>
                  <a:srgbClr val="0B5550"/>
                </a:solidFill>
                <a:latin typeface="Calibri" pitchFamily="34" charset="0"/>
                <a:ea typeface="Calibri" pitchFamily="34" charset="-122"/>
                <a:cs typeface="Calibri" pitchFamily="34" charset="-120"/>
              </a:rPr>
              <a:t>Mulai dari user, bukan dari kode</a:t>
            </a:r>
            <a:endParaRPr lang="en-US" sz="1700" dirty="0"/>
          </a:p>
        </p:txBody>
      </p:sp>
      <p:sp>
        <p:nvSpPr>
          <p:cNvPr id="9" name="Text 7"/>
          <p:cNvSpPr txBox="1"/>
          <p:nvPr/>
        </p:nvSpPr>
        <p:spPr>
          <a:xfrm>
            <a:off x="1463040" y="2057400"/>
            <a:ext cx="4221328" cy="1097280"/>
          </a:xfrm>
          <a:prstGeom prst="rect">
            <a:avLst/>
          </a:prstGeom>
          <a:noFill/>
          <a:ln/>
        </p:spPr>
        <p:txBody>
          <a:bodyPr wrap="square" lIns="0" tIns="0" rIns="0" bIns="0" rtlCol="0" anchor="t"/>
          <a:lstStyle/>
          <a:p>
            <a:pPr indent="0" marL="0">
              <a:lnSpc>
                <a:spcPts val="2000"/>
              </a:lnSpc>
              <a:buNone/>
            </a:pPr>
            <a:r>
              <a:rPr lang="en-US" sz="1400" dirty="0">
                <a:solidFill>
                  <a:srgbClr val="1F2933"/>
                </a:solidFill>
                <a:latin typeface="Calibri" pitchFamily="34" charset="0"/>
                <a:ea typeface="Calibri" pitchFamily="34" charset="-122"/>
                <a:cs typeface="Calibri" pitchFamily="34" charset="-120"/>
              </a:rPr>
              <a:t>Saya pakai produknya dulu, dan mengurutkan prioritas berdasarkan siapa yang dirugikan.</a:t>
            </a:r>
            <a:endParaRPr lang="en-US" sz="1400" dirty="0"/>
          </a:p>
        </p:txBody>
      </p:sp>
      <p:sp>
        <p:nvSpPr>
          <p:cNvPr id="10" name="Shape 8"/>
          <p:cNvSpPr/>
          <p:nvPr/>
        </p:nvSpPr>
        <p:spPr>
          <a:xfrm>
            <a:off x="6233008" y="1280160"/>
            <a:ext cx="5364328" cy="2011680"/>
          </a:xfrm>
          <a:prstGeom prst="roundRect">
            <a:avLst>
              <a:gd name="adj" fmla="val 3182"/>
            </a:avLst>
          </a:prstGeom>
          <a:solidFill>
            <a:srgbClr val="E6F3F1"/>
          </a:solidFill>
          <a:ln w="9525">
            <a:solidFill>
              <a:srgbClr val="E6F3F1"/>
            </a:solidFill>
            <a:prstDash val="solid"/>
          </a:ln>
        </p:spPr>
      </p:sp>
      <p:sp>
        <p:nvSpPr>
          <p:cNvPr id="11" name="Shape 9"/>
          <p:cNvSpPr/>
          <p:nvPr/>
        </p:nvSpPr>
        <p:spPr>
          <a:xfrm>
            <a:off x="6507328" y="1554480"/>
            <a:ext cx="402336" cy="402336"/>
          </a:xfrm>
          <a:prstGeom prst="ellipse">
            <a:avLst/>
          </a:prstGeom>
          <a:solidFill>
            <a:srgbClr val="0F766E"/>
          </a:solidFill>
          <a:ln w="12700">
            <a:solidFill>
              <a:srgbClr val="0F766E"/>
            </a:solidFill>
            <a:prstDash val="solid"/>
          </a:ln>
        </p:spPr>
      </p:sp>
      <p:sp>
        <p:nvSpPr>
          <p:cNvPr id="12" name="Text 10"/>
          <p:cNvSpPr txBox="1"/>
          <p:nvPr/>
        </p:nvSpPr>
        <p:spPr>
          <a:xfrm>
            <a:off x="6507328"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7101688" y="1581912"/>
            <a:ext cx="4221328" cy="365760"/>
          </a:xfrm>
          <a:prstGeom prst="rect">
            <a:avLst/>
          </a:prstGeom>
          <a:noFill/>
          <a:ln/>
        </p:spPr>
        <p:txBody>
          <a:bodyPr wrap="square" lIns="0" tIns="0" rIns="0" bIns="0" rtlCol="0" anchor="t"/>
          <a:lstStyle/>
          <a:p>
            <a:pPr indent="0" marL="0">
              <a:buNone/>
            </a:pPr>
            <a:r>
              <a:rPr lang="en-US" sz="1700" b="1" dirty="0">
                <a:solidFill>
                  <a:srgbClr val="0B5550"/>
                </a:solidFill>
                <a:latin typeface="Calibri" pitchFamily="34" charset="0"/>
                <a:ea typeface="Calibri" pitchFamily="34" charset="-122"/>
                <a:cs typeface="Calibri" pitchFamily="34" charset="-120"/>
              </a:rPr>
              <a:t>Frontend sebagai tanggung jawab</a:t>
            </a:r>
            <a:endParaRPr lang="en-US" sz="1700" dirty="0"/>
          </a:p>
        </p:txBody>
      </p:sp>
      <p:sp>
        <p:nvSpPr>
          <p:cNvPr id="14" name="Text 12"/>
          <p:cNvSpPr txBox="1"/>
          <p:nvPr/>
        </p:nvSpPr>
        <p:spPr>
          <a:xfrm>
            <a:off x="7101688" y="2057400"/>
            <a:ext cx="4221328" cy="1097280"/>
          </a:xfrm>
          <a:prstGeom prst="rect">
            <a:avLst/>
          </a:prstGeom>
          <a:noFill/>
          <a:ln/>
        </p:spPr>
        <p:txBody>
          <a:bodyPr wrap="square" lIns="0" tIns="0" rIns="0" bIns="0" rtlCol="0" anchor="t"/>
          <a:lstStyle/>
          <a:p>
            <a:pPr indent="0" marL="0">
              <a:lnSpc>
                <a:spcPts val="2000"/>
              </a:lnSpc>
              <a:buNone/>
            </a:pPr>
            <a:r>
              <a:rPr lang="en-US" sz="1400" dirty="0">
                <a:solidFill>
                  <a:srgbClr val="1F2933"/>
                </a:solidFill>
                <a:latin typeface="Calibri" pitchFamily="34" charset="0"/>
                <a:ea typeface="Calibri" pitchFamily="34" charset="-122"/>
                <a:cs typeface="Calibri" pitchFamily="34" charset="-120"/>
              </a:rPr>
              <a:t>Saya memperlakukan layar sebagai tempat keputusan tentang manusia dibuat — bukan sekadar tempat data ditampilkan.</a:t>
            </a:r>
            <a:endParaRPr lang="en-US" sz="1400" dirty="0"/>
          </a:p>
        </p:txBody>
      </p:sp>
      <p:sp>
        <p:nvSpPr>
          <p:cNvPr id="15" name="Shape 13"/>
          <p:cNvSpPr/>
          <p:nvPr/>
        </p:nvSpPr>
        <p:spPr>
          <a:xfrm>
            <a:off x="594360" y="3566160"/>
            <a:ext cx="5364328" cy="2011680"/>
          </a:xfrm>
          <a:prstGeom prst="roundRect">
            <a:avLst>
              <a:gd name="adj" fmla="val 3182"/>
            </a:avLst>
          </a:prstGeom>
          <a:solidFill>
            <a:srgbClr val="E6F3F1"/>
          </a:solidFill>
          <a:ln w="9525">
            <a:solidFill>
              <a:srgbClr val="E6F3F1"/>
            </a:solidFill>
            <a:prstDash val="solid"/>
          </a:ln>
        </p:spPr>
      </p:sp>
      <p:sp>
        <p:nvSpPr>
          <p:cNvPr id="16" name="Shape 14"/>
          <p:cNvSpPr/>
          <p:nvPr/>
        </p:nvSpPr>
        <p:spPr>
          <a:xfrm>
            <a:off x="868680" y="3840480"/>
            <a:ext cx="402336" cy="402336"/>
          </a:xfrm>
          <a:prstGeom prst="ellipse">
            <a:avLst/>
          </a:prstGeom>
          <a:solidFill>
            <a:srgbClr val="0F766E"/>
          </a:solidFill>
          <a:ln w="12700">
            <a:solidFill>
              <a:srgbClr val="0F766E"/>
            </a:solidFill>
            <a:prstDash val="solid"/>
          </a:ln>
        </p:spPr>
      </p:sp>
      <p:sp>
        <p:nvSpPr>
          <p:cNvPr id="17" name="Text 15"/>
          <p:cNvSpPr txBox="1"/>
          <p:nvPr/>
        </p:nvSpPr>
        <p:spPr>
          <a:xfrm>
            <a:off x="868680" y="3840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463040" y="3867912"/>
            <a:ext cx="4221328" cy="365760"/>
          </a:xfrm>
          <a:prstGeom prst="rect">
            <a:avLst/>
          </a:prstGeom>
          <a:noFill/>
          <a:ln/>
        </p:spPr>
        <p:txBody>
          <a:bodyPr wrap="square" lIns="0" tIns="0" rIns="0" bIns="0" rtlCol="0" anchor="t"/>
          <a:lstStyle/>
          <a:p>
            <a:pPr indent="0" marL="0">
              <a:buNone/>
            </a:pPr>
            <a:r>
              <a:rPr lang="en-US" sz="1700" b="1" dirty="0">
                <a:solidFill>
                  <a:srgbClr val="0B5550"/>
                </a:solidFill>
                <a:latin typeface="Calibri" pitchFamily="34" charset="0"/>
                <a:ea typeface="Calibri" pitchFamily="34" charset="-122"/>
                <a:cs typeface="Calibri" pitchFamily="34" charset="-120"/>
              </a:rPr>
              <a:t>Jujur soal kesalahan</a:t>
            </a:r>
            <a:endParaRPr lang="en-US" sz="1700" dirty="0"/>
          </a:p>
        </p:txBody>
      </p:sp>
      <p:sp>
        <p:nvSpPr>
          <p:cNvPr id="19" name="Text 17"/>
          <p:cNvSpPr txBox="1"/>
          <p:nvPr/>
        </p:nvSpPr>
        <p:spPr>
          <a:xfrm>
            <a:off x="1463040" y="4343400"/>
            <a:ext cx="4221328" cy="1097280"/>
          </a:xfrm>
          <a:prstGeom prst="rect">
            <a:avLst/>
          </a:prstGeom>
          <a:noFill/>
          <a:ln/>
        </p:spPr>
        <p:txBody>
          <a:bodyPr wrap="square" lIns="0" tIns="0" rIns="0" bIns="0" rtlCol="0" anchor="t"/>
          <a:lstStyle/>
          <a:p>
            <a:pPr indent="0" marL="0">
              <a:lnSpc>
                <a:spcPts val="2000"/>
              </a:lnSpc>
              <a:buNone/>
            </a:pPr>
            <a:r>
              <a:rPr lang="en-US" sz="1400" dirty="0">
                <a:solidFill>
                  <a:srgbClr val="1F2933"/>
                </a:solidFill>
                <a:latin typeface="Calibri" pitchFamily="34" charset="0"/>
                <a:ea typeface="Calibri" pitchFamily="34" charset="-122"/>
                <a:cs typeface="Calibri" pitchFamily="34" charset="-120"/>
              </a:rPr>
              <a:t>Hipotesis yang salah saya hapus dari laporan. Bug di kode saya sendiri saya akui dan perbaiki.</a:t>
            </a:r>
            <a:endParaRPr lang="en-US" sz="1400" dirty="0"/>
          </a:p>
        </p:txBody>
      </p:sp>
      <p:sp>
        <p:nvSpPr>
          <p:cNvPr id="20" name="Shape 18"/>
          <p:cNvSpPr/>
          <p:nvPr/>
        </p:nvSpPr>
        <p:spPr>
          <a:xfrm>
            <a:off x="6233008" y="3566160"/>
            <a:ext cx="5364328" cy="2011680"/>
          </a:xfrm>
          <a:prstGeom prst="roundRect">
            <a:avLst>
              <a:gd name="adj" fmla="val 3182"/>
            </a:avLst>
          </a:prstGeom>
          <a:solidFill>
            <a:srgbClr val="E6F3F1"/>
          </a:solidFill>
          <a:ln w="9525">
            <a:solidFill>
              <a:srgbClr val="E6F3F1"/>
            </a:solidFill>
            <a:prstDash val="solid"/>
          </a:ln>
        </p:spPr>
      </p:sp>
      <p:sp>
        <p:nvSpPr>
          <p:cNvPr id="21" name="Shape 19"/>
          <p:cNvSpPr/>
          <p:nvPr/>
        </p:nvSpPr>
        <p:spPr>
          <a:xfrm>
            <a:off x="6507328" y="3840480"/>
            <a:ext cx="402336" cy="402336"/>
          </a:xfrm>
          <a:prstGeom prst="ellipse">
            <a:avLst/>
          </a:prstGeom>
          <a:solidFill>
            <a:srgbClr val="0F766E"/>
          </a:solidFill>
          <a:ln w="12700">
            <a:solidFill>
              <a:srgbClr val="0F766E"/>
            </a:solidFill>
            <a:prstDash val="solid"/>
          </a:ln>
        </p:spPr>
      </p:sp>
      <p:sp>
        <p:nvSpPr>
          <p:cNvPr id="22" name="Text 20"/>
          <p:cNvSpPr txBox="1"/>
          <p:nvPr/>
        </p:nvSpPr>
        <p:spPr>
          <a:xfrm>
            <a:off x="6507328" y="3840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7101688" y="3867912"/>
            <a:ext cx="4221328" cy="365760"/>
          </a:xfrm>
          <a:prstGeom prst="rect">
            <a:avLst/>
          </a:prstGeom>
          <a:noFill/>
          <a:ln/>
        </p:spPr>
        <p:txBody>
          <a:bodyPr wrap="square" lIns="0" tIns="0" rIns="0" bIns="0" rtlCol="0" anchor="t"/>
          <a:lstStyle/>
          <a:p>
            <a:pPr indent="0" marL="0">
              <a:buNone/>
            </a:pPr>
            <a:r>
              <a:rPr lang="en-US" sz="1700" b="1" dirty="0">
                <a:solidFill>
                  <a:srgbClr val="0B5550"/>
                </a:solidFill>
                <a:latin typeface="Calibri" pitchFamily="34" charset="0"/>
                <a:ea typeface="Calibri" pitchFamily="34" charset="-122"/>
                <a:cs typeface="Calibri" pitchFamily="34" charset="-120"/>
              </a:rPr>
              <a:t>Bertanggung jawab lintas stack</a:t>
            </a:r>
            <a:endParaRPr lang="en-US" sz="1700" dirty="0"/>
          </a:p>
        </p:txBody>
      </p:sp>
      <p:sp>
        <p:nvSpPr>
          <p:cNvPr id="24" name="Text 22"/>
          <p:cNvSpPr txBox="1"/>
          <p:nvPr/>
        </p:nvSpPr>
        <p:spPr>
          <a:xfrm>
            <a:off x="7101688" y="4343400"/>
            <a:ext cx="4221328" cy="1097280"/>
          </a:xfrm>
          <a:prstGeom prst="rect">
            <a:avLst/>
          </a:prstGeom>
          <a:noFill/>
          <a:ln/>
        </p:spPr>
        <p:txBody>
          <a:bodyPr wrap="square" lIns="0" tIns="0" rIns="0" bIns="0" rtlCol="0" anchor="t"/>
          <a:lstStyle/>
          <a:p>
            <a:pPr indent="0" marL="0">
              <a:lnSpc>
                <a:spcPts val="2000"/>
              </a:lnSpc>
              <a:buNone/>
            </a:pPr>
            <a:r>
              <a:rPr lang="en-US" sz="1400" dirty="0">
                <a:solidFill>
                  <a:srgbClr val="1F2933"/>
                </a:solidFill>
                <a:latin typeface="Calibri" pitchFamily="34" charset="0"/>
                <a:ea typeface="Calibri" pitchFamily="34" charset="-122"/>
                <a:cs typeface="Calibri" pitchFamily="34" charset="-120"/>
              </a:rPr>
              <a:t>Fokus saya frontend, tapi celah keamanan di backend tetap saya tangani, lengkap dengan test.</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32</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 Frontend depth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Kalau saya bergabung</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Yang ingin saya lakukan di bulan-bulan pertama — tentu disesuaikan dengan prioritas tim.</a:t>
            </a:r>
            <a:endParaRPr lang="en-US" sz="1500" dirty="0"/>
          </a:p>
        </p:txBody>
      </p:sp>
      <p:sp>
        <p:nvSpPr>
          <p:cNvPr id="6" name="Shape 4"/>
          <p:cNvSpPr/>
          <p:nvPr/>
        </p:nvSpPr>
        <p:spPr>
          <a:xfrm>
            <a:off x="594360" y="1536192"/>
            <a:ext cx="3484778" cy="3566160"/>
          </a:xfrm>
          <a:prstGeom prst="roundRect">
            <a:avLst>
              <a:gd name="adj" fmla="val 1837"/>
            </a:avLst>
          </a:prstGeom>
          <a:solidFill>
            <a:srgbClr val="F5F7F8"/>
          </a:solidFill>
          <a:ln w="9525">
            <a:solidFill>
              <a:srgbClr val="E2E7EB"/>
            </a:solidFill>
            <a:prstDash val="solid"/>
          </a:ln>
        </p:spPr>
      </p:sp>
      <p:sp>
        <p:nvSpPr>
          <p:cNvPr id="7" name="Shape 5"/>
          <p:cNvSpPr/>
          <p:nvPr/>
        </p:nvSpPr>
        <p:spPr>
          <a:xfrm>
            <a:off x="850392" y="1719072"/>
            <a:ext cx="1097280" cy="274320"/>
          </a:xfrm>
          <a:prstGeom prst="roundRect">
            <a:avLst>
              <a:gd name="adj" fmla="val 20000"/>
            </a:avLst>
          </a:prstGeom>
          <a:solidFill>
            <a:srgbClr val="C8553D"/>
          </a:solidFill>
          <a:ln w="12700">
            <a:solidFill>
              <a:srgbClr val="C8553D"/>
            </a:solidFill>
            <a:prstDash val="solid"/>
          </a:ln>
        </p:spPr>
      </p:sp>
      <p:sp>
        <p:nvSpPr>
          <p:cNvPr id="8" name="Text 6"/>
          <p:cNvSpPr txBox="1"/>
          <p:nvPr/>
        </p:nvSpPr>
        <p:spPr>
          <a:xfrm>
            <a:off x="850392" y="171907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30 hari</a:t>
            </a:r>
            <a:endParaRPr lang="en-US" sz="1100" dirty="0"/>
          </a:p>
        </p:txBody>
      </p:sp>
      <p:sp>
        <p:nvSpPr>
          <p:cNvPr id="9" name="Text 7"/>
          <p:cNvSpPr txBox="1"/>
          <p:nvPr/>
        </p:nvSpPr>
        <p:spPr>
          <a:xfrm>
            <a:off x="850392" y="2130552"/>
            <a:ext cx="2972714" cy="365760"/>
          </a:xfrm>
          <a:prstGeom prst="rect">
            <a:avLst/>
          </a:prstGeom>
          <a:noFill/>
          <a:ln/>
        </p:spPr>
        <p:txBody>
          <a:bodyPr wrap="square" lIns="0" tIns="0" rIns="0" bIns="0" rtlCol="0" anchor="t"/>
          <a:lstStyle/>
          <a:p>
            <a:pPr indent="0" marL="0">
              <a:buNone/>
            </a:pPr>
            <a:r>
              <a:rPr lang="en-US" sz="1650" b="1" dirty="0">
                <a:solidFill>
                  <a:srgbClr val="1F2933"/>
                </a:solidFill>
                <a:latin typeface="Calibri" pitchFamily="34" charset="0"/>
                <a:ea typeface="Calibri" pitchFamily="34" charset="-122"/>
                <a:cs typeface="Calibri" pitchFamily="34" charset="-120"/>
              </a:rPr>
              <a:t>Memahami &amp; menutup celah</a:t>
            </a:r>
            <a:endParaRPr lang="en-US" sz="1650" dirty="0"/>
          </a:p>
        </p:txBody>
      </p:sp>
      <p:sp>
        <p:nvSpPr>
          <p:cNvPr id="10" name="Text 8"/>
          <p:cNvSpPr txBox="1"/>
          <p:nvPr/>
        </p:nvSpPr>
        <p:spPr>
          <a:xfrm>
            <a:off x="850392" y="2606040"/>
            <a:ext cx="2972714" cy="228600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Belajar produk, user, dan cara tim bekerja</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Membantu menutup celah akses bersama tim</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Memasang test yang sudah saya buat ke CI</a:t>
            </a:r>
            <a:endParaRPr lang="en-US" sz="1350" dirty="0"/>
          </a:p>
        </p:txBody>
      </p:sp>
      <p:sp>
        <p:nvSpPr>
          <p:cNvPr id="11" name="Shape 9"/>
          <p:cNvSpPr/>
          <p:nvPr/>
        </p:nvSpPr>
        <p:spPr>
          <a:xfrm>
            <a:off x="4353458" y="1536192"/>
            <a:ext cx="3484778" cy="3566160"/>
          </a:xfrm>
          <a:prstGeom prst="roundRect">
            <a:avLst>
              <a:gd name="adj" fmla="val 1837"/>
            </a:avLst>
          </a:prstGeom>
          <a:solidFill>
            <a:srgbClr val="F5F7F8"/>
          </a:solidFill>
          <a:ln w="9525">
            <a:solidFill>
              <a:srgbClr val="E2E7EB"/>
            </a:solidFill>
            <a:prstDash val="solid"/>
          </a:ln>
        </p:spPr>
      </p:sp>
      <p:sp>
        <p:nvSpPr>
          <p:cNvPr id="12" name="Shape 10"/>
          <p:cNvSpPr/>
          <p:nvPr/>
        </p:nvSpPr>
        <p:spPr>
          <a:xfrm>
            <a:off x="4609490" y="1719072"/>
            <a:ext cx="1097280" cy="274320"/>
          </a:xfrm>
          <a:prstGeom prst="roundRect">
            <a:avLst>
              <a:gd name="adj" fmla="val 20000"/>
            </a:avLst>
          </a:prstGeom>
          <a:solidFill>
            <a:srgbClr val="B7791F"/>
          </a:solidFill>
          <a:ln w="12700">
            <a:solidFill>
              <a:srgbClr val="B7791F"/>
            </a:solidFill>
            <a:prstDash val="solid"/>
          </a:ln>
        </p:spPr>
      </p:sp>
      <p:sp>
        <p:nvSpPr>
          <p:cNvPr id="13" name="Text 11"/>
          <p:cNvSpPr txBox="1"/>
          <p:nvPr/>
        </p:nvSpPr>
        <p:spPr>
          <a:xfrm>
            <a:off x="4609490" y="171907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60 hari</a:t>
            </a:r>
            <a:endParaRPr lang="en-US" sz="1100" dirty="0"/>
          </a:p>
        </p:txBody>
      </p:sp>
      <p:sp>
        <p:nvSpPr>
          <p:cNvPr id="14" name="Text 12"/>
          <p:cNvSpPr txBox="1"/>
          <p:nvPr/>
        </p:nvSpPr>
        <p:spPr>
          <a:xfrm>
            <a:off x="4609490" y="2130552"/>
            <a:ext cx="2972714" cy="365760"/>
          </a:xfrm>
          <a:prstGeom prst="rect">
            <a:avLst/>
          </a:prstGeom>
          <a:noFill/>
          <a:ln/>
        </p:spPr>
        <p:txBody>
          <a:bodyPr wrap="square" lIns="0" tIns="0" rIns="0" bIns="0" rtlCol="0" anchor="t"/>
          <a:lstStyle/>
          <a:p>
            <a:pPr indent="0" marL="0">
              <a:buNone/>
            </a:pPr>
            <a:r>
              <a:rPr lang="en-US" sz="1650" b="1" dirty="0">
                <a:solidFill>
                  <a:srgbClr val="1F2933"/>
                </a:solidFill>
                <a:latin typeface="Calibri" pitchFamily="34" charset="0"/>
                <a:ea typeface="Calibri" pitchFamily="34" charset="-122"/>
                <a:cs typeface="Calibri" pitchFamily="34" charset="-120"/>
              </a:rPr>
              <a:t>Wawancara live yang andal</a:t>
            </a:r>
            <a:endParaRPr lang="en-US" sz="1650" dirty="0"/>
          </a:p>
        </p:txBody>
      </p:sp>
      <p:sp>
        <p:nvSpPr>
          <p:cNvPr id="15" name="Text 13"/>
          <p:cNvSpPr txBox="1"/>
          <p:nvPr/>
        </p:nvSpPr>
        <p:spPr>
          <a:xfrm>
            <a:off x="4609490" y="2606040"/>
            <a:ext cx="2972714" cy="228600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Refresh halaman tidak lagi mengakhiri wawancara</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Audio kandidat tidak hilang saat koneksi terputus</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Status koneksi yang jujur di layar kandidat</a:t>
            </a:r>
            <a:endParaRPr lang="en-US" sz="1350" dirty="0"/>
          </a:p>
        </p:txBody>
      </p:sp>
      <p:sp>
        <p:nvSpPr>
          <p:cNvPr id="16" name="Shape 14"/>
          <p:cNvSpPr/>
          <p:nvPr/>
        </p:nvSpPr>
        <p:spPr>
          <a:xfrm>
            <a:off x="8112557" y="1536192"/>
            <a:ext cx="3484778" cy="3566160"/>
          </a:xfrm>
          <a:prstGeom prst="roundRect">
            <a:avLst>
              <a:gd name="adj" fmla="val 1837"/>
            </a:avLst>
          </a:prstGeom>
          <a:solidFill>
            <a:srgbClr val="F5F7F8"/>
          </a:solidFill>
          <a:ln w="9525">
            <a:solidFill>
              <a:srgbClr val="E2E7EB"/>
            </a:solidFill>
            <a:prstDash val="solid"/>
          </a:ln>
        </p:spPr>
      </p:sp>
      <p:sp>
        <p:nvSpPr>
          <p:cNvPr id="17" name="Shape 15"/>
          <p:cNvSpPr/>
          <p:nvPr/>
        </p:nvSpPr>
        <p:spPr>
          <a:xfrm>
            <a:off x="8368589" y="1719072"/>
            <a:ext cx="1097280" cy="274320"/>
          </a:xfrm>
          <a:prstGeom prst="roundRect">
            <a:avLst>
              <a:gd name="adj" fmla="val 20000"/>
            </a:avLst>
          </a:prstGeom>
          <a:solidFill>
            <a:srgbClr val="0F766E"/>
          </a:solidFill>
          <a:ln w="12700">
            <a:solidFill>
              <a:srgbClr val="0F766E"/>
            </a:solidFill>
            <a:prstDash val="solid"/>
          </a:ln>
        </p:spPr>
      </p:sp>
      <p:sp>
        <p:nvSpPr>
          <p:cNvPr id="18" name="Text 16"/>
          <p:cNvSpPr txBox="1"/>
          <p:nvPr/>
        </p:nvSpPr>
        <p:spPr>
          <a:xfrm>
            <a:off x="8368589" y="171907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90 hari</a:t>
            </a:r>
            <a:endParaRPr lang="en-US" sz="1100" dirty="0"/>
          </a:p>
        </p:txBody>
      </p:sp>
      <p:sp>
        <p:nvSpPr>
          <p:cNvPr id="19" name="Text 17"/>
          <p:cNvSpPr txBox="1"/>
          <p:nvPr/>
        </p:nvSpPr>
        <p:spPr>
          <a:xfrm>
            <a:off x="8368589" y="2130552"/>
            <a:ext cx="2972714" cy="365760"/>
          </a:xfrm>
          <a:prstGeom prst="rect">
            <a:avLst/>
          </a:prstGeom>
          <a:noFill/>
          <a:ln/>
        </p:spPr>
        <p:txBody>
          <a:bodyPr wrap="square" lIns="0" tIns="0" rIns="0" bIns="0" rtlCol="0" anchor="t"/>
          <a:lstStyle/>
          <a:p>
            <a:pPr indent="0" marL="0">
              <a:buNone/>
            </a:pPr>
            <a:r>
              <a:rPr lang="en-US" sz="1650" b="1" dirty="0">
                <a:solidFill>
                  <a:srgbClr val="1F2933"/>
                </a:solidFill>
                <a:latin typeface="Calibri" pitchFamily="34" charset="0"/>
                <a:ea typeface="Calibri" pitchFamily="34" charset="-122"/>
                <a:cs typeface="Calibri" pitchFamily="34" charset="-120"/>
              </a:rPr>
              <a:t>Kontrak data yang kuat</a:t>
            </a:r>
            <a:endParaRPr lang="en-US" sz="1650" dirty="0"/>
          </a:p>
        </p:txBody>
      </p:sp>
      <p:sp>
        <p:nvSpPr>
          <p:cNvPr id="20" name="Text 18"/>
          <p:cNvSpPr txBox="1"/>
          <p:nvPr/>
        </p:nvSpPr>
        <p:spPr>
          <a:xfrm>
            <a:off x="8368589" y="2606040"/>
            <a:ext cx="2972714" cy="228600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Satu definisi level L1–L5 untuk semua service</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Kontrak API formal antara backend dan frontend</a:t>
            </a:r>
            <a:endParaRPr lang="en-US" sz="1350" dirty="0"/>
          </a:p>
        </p:txBody>
      </p:sp>
      <p:sp>
        <p:nvSpPr>
          <p:cNvPr id="21" name="Text 19"/>
          <p:cNvSpPr txBox="1"/>
          <p:nvPr/>
        </p:nvSpPr>
        <p:spPr>
          <a:xfrm>
            <a:off x="594360" y="5349240"/>
            <a:ext cx="11002975" cy="640080"/>
          </a:xfrm>
          <a:prstGeom prst="rect">
            <a:avLst/>
          </a:prstGeom>
          <a:noFill/>
          <a:ln/>
        </p:spPr>
        <p:txBody>
          <a:bodyPr wrap="square" lIns="0" tIns="0" rIns="0" bIns="0" rtlCol="0" anchor="t"/>
          <a:lstStyle/>
          <a:p>
            <a:pPr indent="0" marL="0">
              <a:lnSpc>
                <a:spcPts val="1900"/>
              </a:lnSpc>
              <a:buNone/>
            </a:pPr>
            <a:r>
              <a:rPr lang="en-US" sz="1350" dirty="0">
                <a:solidFill>
                  <a:srgbClr val="5F6B76"/>
                </a:solidFill>
                <a:latin typeface="Calibri" pitchFamily="34" charset="0"/>
                <a:ea typeface="Calibri" pitchFamily="34" charset="-122"/>
                <a:cs typeface="Calibri" pitchFamily="34" charset="-120"/>
              </a:rPr>
              <a:t>Urutannya: data pribadi dulu, lalu pengalaman kandidat saat wawancara, lalu fondasi supaya bug seperti yang saya temukan tidak terulang.</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766E"/>
        </a:solidFill>
      </p:bgPr>
    </p:bg>
    <p:spTree>
      <p:nvGrpSpPr>
        <p:cNvPr id="1" name=""/>
        <p:cNvGrpSpPr/>
        <p:nvPr/>
      </p:nvGrpSpPr>
      <p:grpSpPr>
        <a:xfrm>
          <a:off x="0" y="0"/>
          <a:ext cx="0" cy="0"/>
          <a:chOff x="0" y="0"/>
          <a:chExt cx="0" cy="0"/>
        </a:xfrm>
      </p:grpSpPr>
      <p:sp>
        <p:nvSpPr>
          <p:cNvPr id="2" name="Text 0"/>
          <p:cNvSpPr txBox="1"/>
          <p:nvPr/>
        </p:nvSpPr>
        <p:spPr>
          <a:xfrm>
            <a:off x="594360" y="1371600"/>
            <a:ext cx="11002975" cy="8229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Terima kasih</a:t>
            </a:r>
            <a:endParaRPr lang="en-US" sz="4400" dirty="0"/>
          </a:p>
        </p:txBody>
      </p:sp>
      <p:sp>
        <p:nvSpPr>
          <p:cNvPr id="3" name="Text 1"/>
          <p:cNvSpPr txBox="1"/>
          <p:nvPr/>
        </p:nvSpPr>
        <p:spPr>
          <a:xfrm>
            <a:off x="594360" y="2331720"/>
            <a:ext cx="11002975" cy="457200"/>
          </a:xfrm>
          <a:prstGeom prst="rect">
            <a:avLst/>
          </a:prstGeom>
          <a:noFill/>
          <a:ln/>
        </p:spPr>
        <p:txBody>
          <a:bodyPr wrap="square" lIns="0" tIns="0" rIns="0" bIns="0" rtlCol="0" anchor="t"/>
          <a:lstStyle/>
          <a:p>
            <a:pPr indent="0" marL="0">
              <a:buNone/>
            </a:pPr>
            <a:r>
              <a:rPr lang="en-US" sz="1800" dirty="0">
                <a:solidFill>
                  <a:srgbClr val="D8EFEC"/>
                </a:solidFill>
                <a:latin typeface="Calibri" pitchFamily="34" charset="0"/>
                <a:ea typeface="Calibri" pitchFamily="34" charset="-122"/>
                <a:cs typeface="Calibri" pitchFamily="34" charset="-120"/>
              </a:rPr>
              <a:t>Saya senang menerima pertanyaan. Dan kalau boleh, dua hal yang ingin saya tanyakan:</a:t>
            </a:r>
            <a:endParaRPr lang="en-US" sz="1800" dirty="0"/>
          </a:p>
        </p:txBody>
      </p:sp>
      <p:sp>
        <p:nvSpPr>
          <p:cNvPr id="4" name="Shape 2"/>
          <p:cNvSpPr/>
          <p:nvPr/>
        </p:nvSpPr>
        <p:spPr>
          <a:xfrm>
            <a:off x="594360" y="3017520"/>
            <a:ext cx="11002975" cy="777240"/>
          </a:xfrm>
          <a:prstGeom prst="roundRect">
            <a:avLst>
              <a:gd name="adj" fmla="val 8235"/>
            </a:avLst>
          </a:prstGeom>
          <a:solidFill>
            <a:srgbClr val="0B5550"/>
          </a:solidFill>
          <a:ln w="12700">
            <a:solidFill>
              <a:srgbClr val="0B5550"/>
            </a:solidFill>
            <a:prstDash val="solid"/>
          </a:ln>
        </p:spPr>
      </p:sp>
      <p:sp>
        <p:nvSpPr>
          <p:cNvPr id="5" name="Text 3"/>
          <p:cNvSpPr txBox="1"/>
          <p:nvPr/>
        </p:nvSpPr>
        <p:spPr>
          <a:xfrm>
            <a:off x="914400" y="3017520"/>
            <a:ext cx="10362895"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1.  Bagaimana tim memutuskan apa yang masuk sprint ketika masalahnya jauh lebih banyak dari kapasitas?</a:t>
            </a:r>
            <a:endParaRPr lang="en-US" sz="1500" dirty="0"/>
          </a:p>
        </p:txBody>
      </p:sp>
      <p:sp>
        <p:nvSpPr>
          <p:cNvPr id="6" name="Shape 4"/>
          <p:cNvSpPr/>
          <p:nvPr/>
        </p:nvSpPr>
        <p:spPr>
          <a:xfrm>
            <a:off x="594360" y="3931920"/>
            <a:ext cx="11002975" cy="777240"/>
          </a:xfrm>
          <a:prstGeom prst="roundRect">
            <a:avLst>
              <a:gd name="adj" fmla="val 8235"/>
            </a:avLst>
          </a:prstGeom>
          <a:solidFill>
            <a:srgbClr val="0B5550"/>
          </a:solidFill>
          <a:ln w="12700">
            <a:solidFill>
              <a:srgbClr val="0B5550"/>
            </a:solidFill>
            <a:prstDash val="solid"/>
          </a:ln>
        </p:spPr>
      </p:sp>
      <p:sp>
        <p:nvSpPr>
          <p:cNvPr id="7" name="Text 5"/>
          <p:cNvSpPr txBox="1"/>
          <p:nvPr/>
        </p:nvSpPr>
        <p:spPr>
          <a:xfrm>
            <a:off x="914400" y="3931920"/>
            <a:ext cx="10362895"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2.  Seperti apa peran product engineer di tim ini — seberapa jauh ikut menentukan apa yang dibangun?</a:t>
            </a:r>
            <a:endParaRPr lang="en-US" sz="1500" dirty="0"/>
          </a:p>
        </p:txBody>
      </p:sp>
      <p:sp>
        <p:nvSpPr>
          <p:cNvPr id="8" name="Text 6"/>
          <p:cNvSpPr txBox="1"/>
          <p:nvPr/>
        </p:nvSpPr>
        <p:spPr>
          <a:xfrm>
            <a:off x="594360" y="5486400"/>
            <a:ext cx="11002975" cy="365760"/>
          </a:xfrm>
          <a:prstGeom prst="rect">
            <a:avLst/>
          </a:prstGeom>
          <a:noFill/>
          <a:ln/>
        </p:spPr>
        <p:txBody>
          <a:bodyPr wrap="square" lIns="0" tIns="0" rIns="0" bIns="0" rtlCol="0" anchor="t"/>
          <a:lstStyle/>
          <a:p>
            <a:pPr indent="0" marL="0">
              <a:buNone/>
            </a:pPr>
            <a:r>
              <a:rPr lang="en-US" sz="1400" dirty="0">
                <a:solidFill>
                  <a:srgbClr val="BFE3DE"/>
                </a:solidFill>
                <a:latin typeface="Calibri" pitchFamily="34" charset="0"/>
                <a:ea typeface="Calibri" pitchFamily="34" charset="-122"/>
                <a:cs typeface="Calibri" pitchFamily="34" charset="-120"/>
              </a:rPr>
              <a:t>Aulia Afriza  ·  github.com/auliaafriza/code-challenge-rakamin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Laporan Hasil Case Study — Aulia Afriza</dc:title>
  <dc:subject>PptxGenJS Presentation</dc:subject>
  <dc:creator>Aulia Afriza</dc:creator>
  <cp:lastModifiedBy>Aulia Afriza</cp:lastModifiedBy>
  <cp:revision>1</cp:revision>
  <dcterms:created xsi:type="dcterms:W3CDTF">2026-09-21T08:41:45Z</dcterms:created>
  <dcterms:modified xsi:type="dcterms:W3CDTF">2026-09-21T08:41:45Z</dcterms:modified>
</cp:coreProperties>
</file>