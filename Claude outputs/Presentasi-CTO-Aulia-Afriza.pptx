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Temuan backend per kategori dan severity</a:t>
            </a:r>
          </a:p>
        </c:rich>
      </c:tx>
      <c:layout/>
      <c:overlay val="0"/>
    </c:title>
    <c:autoTitleDeleted val="0"/>
    <c:plotArea>
      <c:layout/>
      <c:barChart>
        <c:barDir val="bar"/>
        <c:grouping val="stacked"/>
        <c:varyColors val="0"/>
        <c:ser>
          <c:idx val="0"/>
          <c:order val="0"/>
          <c:tx>
            <c:strRef>
              <c:f>Sheet1!$B$1</c:f>
              <c:strCache>
                <c:ptCount val="1"/>
                <c:pt idx="0">
                  <c:v>P0</c:v>
                </c:pt>
              </c:strCache>
            </c:strRef>
          </c:tx>
          <c:spPr>
            <a:solidFill>
              <a:srgbClr val="C8553D"/>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Auth &amp; multi-tenancy</c:v>
                  </c:pt>
                  <c:pt idx="1">
                    <c:v>Realtime / WebSocket</c:v>
                  </c:pt>
                  <c:pt idx="2">
                    <c:v>Trusting model output</c:v>
                  </c:pt>
                  <c:pt idx="3">
                    <c:v>Job lifecycle &amp; cost</c:v>
                  </c:pt>
                  <c:pt idx="4">
                    <c:v>Data integrity &amp; migrasi</c:v>
                  </c:pt>
                  <c:pt idx="5">
                    <c:v>Export &amp; accountability</c:v>
                  </c:pt>
                  <c:pt idx="6">
                    <c:v>Privacy / UU PDP</c:v>
                  </c:pt>
                  <c:pt idx="7">
                    <c:v>Performance</c:v>
                  </c:pt>
                </c:lvl>
              </c:multiLvlStrCache>
            </c:multiLvlStrRef>
          </c:cat>
          <c:val>
            <c:numRef>
              <c:f>Sheet1!$B$2:$B$9</c:f>
              <c:numCache>
                <c:formatCode>General</c:formatCode>
                <c:ptCount val="8"/>
                <c:pt idx="0">
                  <c:v>2</c:v>
                </c:pt>
                <c:pt idx="1">
                  <c:v>2</c:v>
                </c:pt>
                <c:pt idx="2">
                  <c:v>1</c:v>
                </c:pt>
                <c:pt idx="3">
                  <c:v>0</c:v>
                </c:pt>
                <c:pt idx="4">
                  <c:v>2</c:v>
                </c:pt>
                <c:pt idx="5">
                  <c:v>0</c:v>
                </c:pt>
                <c:pt idx="6">
                  <c:v>0</c:v>
                </c:pt>
                <c:pt idx="7">
                  <c:v>0</c:v>
                </c:pt>
              </c:numCache>
            </c:numRef>
          </c:val>
        </c:ser>
        <c:ser>
          <c:idx val="1"/>
          <c:order val="1"/>
          <c:tx>
            <c:strRef>
              <c:f>Sheet1!$C$1</c:f>
              <c:strCache>
                <c:ptCount val="1"/>
                <c:pt idx="0">
                  <c:v>P1</c:v>
                </c:pt>
              </c:strCache>
            </c:strRef>
          </c:tx>
          <c:spPr>
            <a:solidFill>
              <a:srgbClr val="B7791F"/>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Auth &amp; multi-tenancy</c:v>
                  </c:pt>
                  <c:pt idx="1">
                    <c:v>Realtime / WebSocket</c:v>
                  </c:pt>
                  <c:pt idx="2">
                    <c:v>Trusting model output</c:v>
                  </c:pt>
                  <c:pt idx="3">
                    <c:v>Job lifecycle &amp; cost</c:v>
                  </c:pt>
                  <c:pt idx="4">
                    <c:v>Data integrity &amp; migrasi</c:v>
                  </c:pt>
                  <c:pt idx="5">
                    <c:v>Export &amp; accountability</c:v>
                  </c:pt>
                  <c:pt idx="6">
                    <c:v>Privacy / UU PDP</c:v>
                  </c:pt>
                  <c:pt idx="7">
                    <c:v>Performance</c:v>
                  </c:pt>
                </c:lvl>
              </c:multiLvlStrCache>
            </c:multiLvlStrRef>
          </c:cat>
          <c:val>
            <c:numRef>
              <c:f>Sheet1!$C$2:$C$9</c:f>
              <c:numCache>
                <c:formatCode>General</c:formatCode>
                <c:ptCount val="8"/>
                <c:pt idx="0">
                  <c:v>1</c:v>
                </c:pt>
                <c:pt idx="1">
                  <c:v>4</c:v>
                </c:pt>
                <c:pt idx="2">
                  <c:v>2</c:v>
                </c:pt>
                <c:pt idx="3">
                  <c:v>2</c:v>
                </c:pt>
                <c:pt idx="4">
                  <c:v>2</c:v>
                </c:pt>
                <c:pt idx="5">
                  <c:v>1</c:v>
                </c:pt>
                <c:pt idx="6">
                  <c:v>1</c:v>
                </c:pt>
                <c:pt idx="7">
                  <c:v>0</c:v>
                </c:pt>
              </c:numCache>
            </c:numRef>
          </c:val>
        </c:ser>
        <c:ser>
          <c:idx val="2"/>
          <c:order val="2"/>
          <c:tx>
            <c:strRef>
              <c:f>Sheet1!$D$1</c:f>
              <c:strCache>
                <c:ptCount val="1"/>
                <c:pt idx="0">
                  <c:v>P2</c:v>
                </c:pt>
              </c:strCache>
            </c:strRef>
          </c:tx>
          <c:spPr>
            <a:solidFill>
              <a:srgbClr val="9AA5AF"/>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Auth &amp; multi-tenancy</c:v>
                  </c:pt>
                  <c:pt idx="1">
                    <c:v>Realtime / WebSocket</c:v>
                  </c:pt>
                  <c:pt idx="2">
                    <c:v>Trusting model output</c:v>
                  </c:pt>
                  <c:pt idx="3">
                    <c:v>Job lifecycle &amp; cost</c:v>
                  </c:pt>
                  <c:pt idx="4">
                    <c:v>Data integrity &amp; migrasi</c:v>
                  </c:pt>
                  <c:pt idx="5">
                    <c:v>Export &amp; accountability</c:v>
                  </c:pt>
                  <c:pt idx="6">
                    <c:v>Privacy / UU PDP</c:v>
                  </c:pt>
                  <c:pt idx="7">
                    <c:v>Performance</c:v>
                  </c:pt>
                </c:lvl>
              </c:multiLvlStrCache>
            </c:multiLvlStrRef>
          </c:cat>
          <c:val>
            <c:numRef>
              <c:f>Sheet1!$D$2:$D$9</c:f>
              <c:numCache>
                <c:formatCode>General</c:formatCode>
                <c:ptCount val="8"/>
                <c:pt idx="0">
                  <c:v>2</c:v>
                </c:pt>
                <c:pt idx="1">
                  <c:v>4</c:v>
                </c:pt>
                <c:pt idx="2">
                  <c:v>1</c:v>
                </c:pt>
                <c:pt idx="3">
                  <c:v>3</c:v>
                </c:pt>
                <c:pt idx="4">
                  <c:v>2</c:v>
                </c:pt>
                <c:pt idx="5">
                  <c:v>1</c:v>
                </c:pt>
                <c:pt idx="6">
                  <c:v>2</c:v>
                </c:pt>
                <c:pt idx="7">
                  <c:v>3</c:v>
                </c:pt>
              </c:numCache>
            </c:numRef>
          </c:val>
        </c:ser>
        <c:ser>
          <c:idx val="3"/>
          <c:order val="3"/>
          <c:tx>
            <c:strRef>
              <c:f>Sheet1!$E$1</c:f>
              <c:strCache>
                <c:ptCount val="1"/>
                <c:pt idx="0">
                  <c:v>P3</c:v>
                </c:pt>
              </c:strCache>
            </c:strRef>
          </c:tx>
          <c:spPr>
            <a:solidFill>
              <a:srgbClr val="D3D9DE"/>
            </a:solidFill>
            <a:effectLst/>
          </c:spPr>
          <c:invertIfNegative val="0"/>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Auth &amp; multi-tenancy</c:v>
                  </c:pt>
                  <c:pt idx="1">
                    <c:v>Realtime / WebSocket</c:v>
                  </c:pt>
                  <c:pt idx="2">
                    <c:v>Trusting model output</c:v>
                  </c:pt>
                  <c:pt idx="3">
                    <c:v>Job lifecycle &amp; cost</c:v>
                  </c:pt>
                  <c:pt idx="4">
                    <c:v>Data integrity &amp; migrasi</c:v>
                  </c:pt>
                  <c:pt idx="5">
                    <c:v>Export &amp; accountability</c:v>
                  </c:pt>
                  <c:pt idx="6">
                    <c:v>Privacy / UU PDP</c:v>
                  </c:pt>
                  <c:pt idx="7">
                    <c:v>Performance</c:v>
                  </c:pt>
                </c:lvl>
              </c:multiLvlStrCache>
            </c:multiLvlStrRef>
          </c:cat>
          <c:val>
            <c:numRef>
              <c:f>Sheet1!$E$2:$E$9</c:f>
              <c:numCache>
                <c:formatCode>General</c:formatCode>
                <c:ptCount val="8"/>
                <c:pt idx="0">
                  <c:v>0</c:v>
                </c:pt>
                <c:pt idx="1">
                  <c:v>2</c:v>
                </c:pt>
                <c:pt idx="2">
                  <c:v>0</c:v>
                </c:pt>
                <c:pt idx="3">
                  <c:v>1</c:v>
                </c:pt>
                <c:pt idx="4">
                  <c:v>2</c:v>
                </c:pt>
                <c:pt idx="5">
                  <c:v>0</c:v>
                </c:pt>
                <c:pt idx="6">
                  <c:v>0</c:v>
                </c:pt>
                <c:pt idx="7">
                  <c:v>2</c:v>
                </c:pt>
              </c:numCache>
            </c:numRef>
          </c:val>
        </c:ser>
        <c:dLbls>
          <c:numFmt formatCode="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2"/>
        </c:scaling>
        <c:delete val="0"/>
        <c:axPos val="b"/>
        <c:majorGridlines>
          <c:spPr>
            <a:ln w="9525" cap="flat">
              <a:solidFill>
                <a:srgbClr val="E9ED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B96A0"/>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5F6B7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waktunya. Saya akan jalan dari masalah, keputusan arsitektur, apa yang saya ship, cara saya membuktikannya, sampai risiko yang masih ada di codebase. Silakan potong kapan saja kalau ada yang mau digali.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versi pendeknya. Sisa presentasi membongkar setiap baris ini. Yang paling ingin saya diskusikan adalah baris kedua — akarnya — dan baris terakhir, karena ada risiko di codebase yang menurut saya lebih penting dari yang sudah saya perbaiki.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mulai dengan memakai produknya — itu memberi 13 temuan sebelum saya membuka kode. Lalu audit dua service, 77 temuan. Dari situ saya pilih satu slice, tulis acceptance criteria dan test lebih dulu, jalankan test itu ke kode lama sampai merah, baru implementasi. Terakhir saya rusak kode saya sendiri di tiga tempat untuk membuktikan test-nya benar-benar menangkap regresi.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audit backend dari dokumen analisis saya. Merah adalah P0. Yang ingin saya tekankan: kategori auth dan realtime punya P0 yang lebih berat dari IDOR yang saya perbaiki. Saya kembali ke ini di slide risiko.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masalahnya. Engine di backend menghitung semuanya dengan benar dan mengirim expected_level. Tapi type di frontend ditulis tangan dan mengharapkan required_level. TypeScript tidak protes karena type hanya klaim tentang server, tidak ada yang memverifikasinya. Tidak ada test, dan runtime tidak error. Hasilnya sel kosong — di DOM-nya bahkan self-closing. Override dan confidence hilang dengan pola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murah tapi tidak menyelesaikan akarnya — drift berikutnya akan diam-diam lagi, dan tidak ada test yang menangkap. C paling benar secara arsitektur, tapi API belum punya spec sama sekali; saya akan menghabiskan waktu menulis spec dan tidak mengirim apa-apa yang dirasakan user. B memberi sebagian besar manfaat C, biayanya kecil karena Zod sudah terpasang, dan tidak menutup jalan ke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Validasi saya taruh di service layer, bukan di komponen, supaya ada satu tempat yang tahu bentuk response. Kalau valid, setiap baris dirender sebagai decision record. Kalau tidak, UI bilang datanya tidak lengkap dan mencatat field yang hilang. Di sisi backend, payload Engine saya lebarkan. Satu detail yang saya jaga: type di frontend sekarang di-infer dari schema Zod, jadi type dan runtime check tidak mungkin berbeda lagi — itu persis akar bug awalnya.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Hasilnya dengan data yang sama. Yang ingin saya tunjukkan di sini bukan cuma kolomnya terisi, tapi peringatan thin-evidence: kalau sebuah gap hanya didukung satu probe, UI menyarankan sesi lanjutan sebelum menolak kandidat. Itu keputusan produk, bukan sekadar perbaikan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hasil berikutnya. Rating yang dikoreksi assessor sekarang tertulis AI L2 ke L4, siapa, dan kapan. Dan tingkat keyakinan ikut bersama verdict. Edge case yang paling saya pikirkan adalah AC-2.3: kalau override ada tapi siapa yang mengubahnya kosong, saya tetap tandai sebagai keputusan manusia. Kalau diturunkan jadi rating AI, kita malah menghapus jejak intervensi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di luar tema frontend, tapi transkrip wawancara adalah data pribadi. Membiarkannya bukan scoping. Saya pilih jalur lewat Session karena tidak menyentuh data yang ada dan bisa dibatalkan. Opsi menambah tenant_id dan backfill lebih bersih jangka panjang, tapi itu migrasi data produksi — saya catat sebagai constraint signal untuk didiskusikan.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hal soal data. Migrasi saya bisa di-rollback dengan aman, termasuk untuk kolom yang saya longgarkan. Sebagai pembanding, ada migrasi lama di repo yang rollback-nya akan gagal kalau datanya sudah ada. Yang kedua, dan ini saya akui: kode yang saya kirim pertama kali masih membawa bug destroy_all yang menghapus override assessor. Saya temukan waktu audit. Sekarang override dipertahankan dalam satu transaction, dan ada spec yang menguncinya.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minta failure path ditangani secara eksplisit. Empat yang saya kerjakan. Yang paling mungkin ditanya adalah fail-open di job guard: kalau Redis mati dan saya fail-closed, regenerate mati untuk semua orang. Kasus terburuk fail-open hanya satu job duplikat yang sudah ditahan unique index. Kalau biaya panggilan model jadi masalah nyata, keputusan ini layak dibalik.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Buktinya ada di lampiran report: output Vitest terhadap kode asli, 8 gagal 1 lulus, lengkap dengan DOM yang gagal. Setelah implementasi 34 lulus. Lalu saya rusak kode saya sendiri di tiga tempat — tiga hal yang saya klaim sudah diperbaiki — dan test-nya merah 2, 3, 2. Setelah submit saya lanjutkan ke 49 test plus 6 request spec, tapi yang ada di PDF adalah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momen. Yang pertama hipotesis saya sendiri salah — test-nya lulus, jadi temuannya saya hapus dari laporan. Yang kedua kode pengganti yang saya tulis punya bug timing React. Dua-duanya ditangkap oleh test yang ditulis sebelum kodenya jalan di browser. Silakan tunjuk baris mana pun di PR, saya bisa jelaskan.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bagian yang paling ingin saya diskusikan. Enam P0 yang belum saya sentuh. 1.1 menurut saya paling berat: tenant ditentukan dari header, jadi satu kredensial admin bisa memilih organisasi. Saya tidak memperbaikinya karena butuh migrasi data dan keputusan tentang bagaimana user dipetakan ke organisasi. 3.1 menarik karena mitigasinya sudah ada di repo — hanya tidak dipakai di tempat yang paling berbahaya.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saya lanjut, minggu pertama untuk akses — karena itu menyangkut data pribadi lintas organisasi. Minggu kedua keandalan wawancara live, karena itu yang dirasakan kandidat langsung. Setelah itu integritas penilaian. Dua hal di bawah butuh keputusan tim, bukan saya putuskan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Saya juga punya dua pertanyaan untuk tim, kalau masih ada waktu.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645920"/>
            <a:ext cx="11002975" cy="365760"/>
          </a:xfrm>
          <a:prstGeom prst="rect">
            <a:avLst/>
          </a:prstGeom>
          <a:noFill/>
          <a:ln/>
        </p:spPr>
        <p:txBody>
          <a:bodyPr wrap="square" lIns="0" tIns="0" rIns="0" bIns="0" rtlCol="0" anchor="t"/>
          <a:lstStyle/>
          <a:p>
            <a:pPr indent="0" marL="0">
              <a:buNone/>
            </a:pPr>
            <a:r>
              <a:rPr lang="en-US" sz="1500" dirty="0">
                <a:solidFill>
                  <a:srgbClr val="BFE3DE"/>
                </a:solidFill>
                <a:latin typeface="Calibri" pitchFamily="34" charset="0"/>
                <a:ea typeface="Calibri" pitchFamily="34" charset="-122"/>
                <a:cs typeface="Calibri" pitchFamily="34" charset="-120"/>
              </a:rPr>
              <a:t>Case Study · Fullstack Product Engineer · Technical walkthrough</a:t>
            </a:r>
            <a:endParaRPr lang="en-US" sz="1500" dirty="0"/>
          </a:p>
        </p:txBody>
      </p:sp>
      <p:sp>
        <p:nvSpPr>
          <p:cNvPr id="3" name="Text 1"/>
          <p:cNvSpPr txBox="1"/>
          <p:nvPr/>
        </p:nvSpPr>
        <p:spPr>
          <a:xfrm>
            <a:off x="594360" y="2103120"/>
            <a:ext cx="10058400" cy="1645920"/>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Membuat penilaian AI</a:t>
            </a:r>
            <a:endParaRPr lang="en-US" sz="4400" dirty="0"/>
          </a:p>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bisa dipertanggungjawabkan</a:t>
            </a:r>
            <a:endParaRPr lang="en-US" sz="4400" dirty="0"/>
          </a:p>
        </p:txBody>
      </p:sp>
      <p:sp>
        <p:nvSpPr>
          <p:cNvPr id="4" name="Text 2"/>
          <p:cNvSpPr txBox="1"/>
          <p:nvPr/>
        </p:nvSpPr>
        <p:spPr>
          <a:xfrm>
            <a:off x="594360" y="3886200"/>
            <a:ext cx="11002975" cy="411480"/>
          </a:xfrm>
          <a:prstGeom prst="rect">
            <a:avLst/>
          </a:prstGeom>
          <a:noFill/>
          <a:ln/>
        </p:spPr>
        <p:txBody>
          <a:bodyPr wrap="square" lIns="0" tIns="0" rIns="0" bIns="0" rtlCol="0" anchor="t"/>
          <a:lstStyle/>
          <a:p>
            <a:pPr indent="0" marL="0">
              <a:buNone/>
            </a:pPr>
            <a:r>
              <a:rPr lang="en-US" sz="1700" dirty="0">
                <a:solidFill>
                  <a:srgbClr val="D8EFEC"/>
                </a:solidFill>
                <a:latin typeface="Calibri" pitchFamily="34" charset="0"/>
                <a:ea typeface="Calibri" pitchFamily="34" charset="-122"/>
                <a:cs typeface="Calibri" pitchFamily="34" charset="-120"/>
              </a:rPr>
              <a:t>Slice: Portfolio → Fit/Gap → Export  ·  Klaim depth: frontend, dengan backend yang cukup</a:t>
            </a:r>
            <a:endParaRPr lang="en-US" sz="1700" dirty="0"/>
          </a:p>
        </p:txBody>
      </p:sp>
      <p:sp>
        <p:nvSpPr>
          <p:cNvPr id="5" name="Text 3"/>
          <p:cNvSpPr txBox="1"/>
          <p:nvPr/>
        </p:nvSpPr>
        <p:spPr>
          <a:xfrm>
            <a:off x="594360" y="5120640"/>
            <a:ext cx="54864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Aulia Afriza</a:t>
            </a:r>
            <a:endParaRPr lang="en-US" sz="2000" dirty="0"/>
          </a:p>
        </p:txBody>
      </p:sp>
      <p:sp>
        <p:nvSpPr>
          <p:cNvPr id="6" name="Text 4"/>
          <p:cNvSpPr txBox="1"/>
          <p:nvPr/>
        </p:nvSpPr>
        <p:spPr>
          <a:xfrm>
            <a:off x="594360" y="5532120"/>
            <a:ext cx="7315200" cy="320040"/>
          </a:xfrm>
          <a:prstGeom prst="rect">
            <a:avLst/>
          </a:prstGeom>
          <a:noFill/>
          <a:ln/>
        </p:spPr>
        <p:txBody>
          <a:bodyPr wrap="square" lIns="0" tIns="0" rIns="0" bIns="0" rtlCol="0" anchor="t"/>
          <a:lstStyle/>
          <a:p>
            <a:pPr indent="0" marL="0">
              <a:buNone/>
            </a:pPr>
            <a:r>
              <a:rPr lang="en-US" sz="1300" dirty="0">
                <a:solidFill>
                  <a:srgbClr val="BFE3DE"/>
                </a:solidFill>
                <a:latin typeface="Calibri" pitchFamily="34" charset="0"/>
                <a:ea typeface="Calibri" pitchFamily="34" charset="-122"/>
                <a:cs typeface="Calibri" pitchFamily="34" charset="-120"/>
              </a:rPr>
              <a:t>github.com/auliaafriza/code-challenge-rakamin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Ringkasnya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Kalau hanya ada waktu satu slide, ini isinya.</a:t>
            </a:r>
            <a:endParaRPr lang="en-US" sz="1500" dirty="0"/>
          </a:p>
        </p:txBody>
      </p:sp>
      <p:sp>
        <p:nvSpPr>
          <p:cNvPr id="6" name="Shape 4"/>
          <p:cNvSpPr/>
          <p:nvPr/>
        </p:nvSpPr>
        <p:spPr>
          <a:xfrm>
            <a:off x="594360" y="1572768"/>
            <a:ext cx="11002975" cy="822960"/>
          </a:xfrm>
          <a:prstGeom prst="roundRect">
            <a:avLst>
              <a:gd name="adj" fmla="val 7778"/>
            </a:avLst>
          </a:prstGeom>
          <a:solidFill>
            <a:srgbClr val="F5F7F8"/>
          </a:solidFill>
          <a:ln w="9525">
            <a:solidFill>
              <a:srgbClr val="F5F7F8"/>
            </a:solidFill>
            <a:prstDash val="solid"/>
          </a:ln>
        </p:spPr>
      </p:sp>
      <p:sp>
        <p:nvSpPr>
          <p:cNvPr id="7" name="Shape 5"/>
          <p:cNvSpPr/>
          <p:nvPr/>
        </p:nvSpPr>
        <p:spPr>
          <a:xfrm>
            <a:off x="850392" y="1901952"/>
            <a:ext cx="164592" cy="164592"/>
          </a:xfrm>
          <a:prstGeom prst="ellipse">
            <a:avLst/>
          </a:prstGeom>
          <a:solidFill>
            <a:srgbClr val="C8553D"/>
          </a:solidFill>
          <a:ln w="12700">
            <a:solidFill>
              <a:srgbClr val="C8553D"/>
            </a:solidFill>
            <a:prstDash val="solid"/>
          </a:ln>
        </p:spPr>
      </p:sp>
      <p:sp>
        <p:nvSpPr>
          <p:cNvPr id="8" name="Text 6"/>
          <p:cNvSpPr txBox="1"/>
          <p:nvPr/>
        </p:nvSpPr>
        <p:spPr>
          <a:xfrm>
            <a:off x="1161288" y="1572768"/>
            <a:ext cx="1737360" cy="8229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Masalah</a:t>
            </a:r>
            <a:endParaRPr lang="en-US" sz="1500" dirty="0"/>
          </a:p>
        </p:txBody>
      </p:sp>
      <p:sp>
        <p:nvSpPr>
          <p:cNvPr id="9" name="Text 7"/>
          <p:cNvSpPr txBox="1"/>
          <p:nvPr/>
        </p:nvSpPr>
        <p:spPr>
          <a:xfrm>
            <a:off x="2926080" y="1572768"/>
            <a:ext cx="8396935" cy="822960"/>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Backend menghitung level yang dituntut role, siapa yang menilai, dan tingkat keyakinan. Frontend membuang ketiganya tanpa error — tabel keputusan hiring menampilkan sel kosong.</a:t>
            </a:r>
            <a:endParaRPr lang="en-US" sz="1300" dirty="0"/>
          </a:p>
        </p:txBody>
      </p:sp>
      <p:sp>
        <p:nvSpPr>
          <p:cNvPr id="10" name="Shape 8"/>
          <p:cNvSpPr/>
          <p:nvPr/>
        </p:nvSpPr>
        <p:spPr>
          <a:xfrm>
            <a:off x="594360" y="2487168"/>
            <a:ext cx="11002975" cy="822960"/>
          </a:xfrm>
          <a:prstGeom prst="roundRect">
            <a:avLst>
              <a:gd name="adj" fmla="val 7778"/>
            </a:avLst>
          </a:prstGeom>
          <a:solidFill>
            <a:srgbClr val="F5F7F8"/>
          </a:solidFill>
          <a:ln w="9525">
            <a:solidFill>
              <a:srgbClr val="F5F7F8"/>
            </a:solidFill>
            <a:prstDash val="solid"/>
          </a:ln>
        </p:spPr>
      </p:sp>
      <p:sp>
        <p:nvSpPr>
          <p:cNvPr id="11" name="Shape 9"/>
          <p:cNvSpPr/>
          <p:nvPr/>
        </p:nvSpPr>
        <p:spPr>
          <a:xfrm>
            <a:off x="850392" y="2816352"/>
            <a:ext cx="164592" cy="164592"/>
          </a:xfrm>
          <a:prstGeom prst="ellipse">
            <a:avLst/>
          </a:prstGeom>
          <a:solidFill>
            <a:srgbClr val="C8553D"/>
          </a:solidFill>
          <a:ln w="12700">
            <a:solidFill>
              <a:srgbClr val="C8553D"/>
            </a:solidFill>
            <a:prstDash val="solid"/>
          </a:ln>
        </p:spPr>
      </p:sp>
      <p:sp>
        <p:nvSpPr>
          <p:cNvPr id="12" name="Text 10"/>
          <p:cNvSpPr txBox="1"/>
          <p:nvPr/>
        </p:nvSpPr>
        <p:spPr>
          <a:xfrm>
            <a:off x="1161288" y="2487168"/>
            <a:ext cx="1737360" cy="8229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Akar</a:t>
            </a:r>
            <a:endParaRPr lang="en-US" sz="1500" dirty="0"/>
          </a:p>
        </p:txBody>
      </p:sp>
      <p:sp>
        <p:nvSpPr>
          <p:cNvPr id="13" name="Text 11"/>
          <p:cNvSpPr txBox="1"/>
          <p:nvPr/>
        </p:nvSpPr>
        <p:spPr>
          <a:xfrm>
            <a:off x="2926080" y="2487168"/>
            <a:ext cx="8396935" cy="822960"/>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Tidak ada kontrak antar service. types/index.ts ditulis tangan dan tidak pernah dicocokkan dengan response asli. Tiga P0 berasal dari akar yang sama.</a:t>
            </a:r>
            <a:endParaRPr lang="en-US" sz="1300" dirty="0"/>
          </a:p>
        </p:txBody>
      </p:sp>
      <p:sp>
        <p:nvSpPr>
          <p:cNvPr id="14" name="Shape 12"/>
          <p:cNvSpPr/>
          <p:nvPr/>
        </p:nvSpPr>
        <p:spPr>
          <a:xfrm>
            <a:off x="594360" y="3401568"/>
            <a:ext cx="11002975" cy="822960"/>
          </a:xfrm>
          <a:prstGeom prst="roundRect">
            <a:avLst>
              <a:gd name="adj" fmla="val 7778"/>
            </a:avLst>
          </a:prstGeom>
          <a:solidFill>
            <a:srgbClr val="F5F7F8"/>
          </a:solidFill>
          <a:ln w="9525">
            <a:solidFill>
              <a:srgbClr val="F5F7F8"/>
            </a:solidFill>
            <a:prstDash val="solid"/>
          </a:ln>
        </p:spPr>
      </p:sp>
      <p:sp>
        <p:nvSpPr>
          <p:cNvPr id="15" name="Shape 13"/>
          <p:cNvSpPr/>
          <p:nvPr/>
        </p:nvSpPr>
        <p:spPr>
          <a:xfrm>
            <a:off x="850392" y="3730752"/>
            <a:ext cx="164592" cy="164592"/>
          </a:xfrm>
          <a:prstGeom prst="ellipse">
            <a:avLst/>
          </a:prstGeom>
          <a:solidFill>
            <a:srgbClr val="0F766E"/>
          </a:solidFill>
          <a:ln w="12700">
            <a:solidFill>
              <a:srgbClr val="0F766E"/>
            </a:solidFill>
            <a:prstDash val="solid"/>
          </a:ln>
        </p:spPr>
      </p:sp>
      <p:sp>
        <p:nvSpPr>
          <p:cNvPr id="16" name="Text 14"/>
          <p:cNvSpPr txBox="1"/>
          <p:nvPr/>
        </p:nvSpPr>
        <p:spPr>
          <a:xfrm>
            <a:off x="1161288" y="3401568"/>
            <a:ext cx="1737360" cy="8229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Keputusan</a:t>
            </a:r>
            <a:endParaRPr lang="en-US" sz="1500" dirty="0"/>
          </a:p>
        </p:txBody>
      </p:sp>
      <p:sp>
        <p:nvSpPr>
          <p:cNvPr id="17" name="Text 15"/>
          <p:cNvSpPr txBox="1"/>
          <p:nvPr/>
        </p:nvSpPr>
        <p:spPr>
          <a:xfrm>
            <a:off x="2926080" y="3401568"/>
            <a:ext cx="8396935" cy="822960"/>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Contract-first slice: validasi Zod di boundary API, payload dilebarkan jadi decision record. Bukan tambal nama field.</a:t>
            </a:r>
            <a:endParaRPr lang="en-US" sz="1300" dirty="0"/>
          </a:p>
        </p:txBody>
      </p:sp>
      <p:sp>
        <p:nvSpPr>
          <p:cNvPr id="18" name="Shape 16"/>
          <p:cNvSpPr/>
          <p:nvPr/>
        </p:nvSpPr>
        <p:spPr>
          <a:xfrm>
            <a:off x="594360" y="4315968"/>
            <a:ext cx="11002975" cy="822960"/>
          </a:xfrm>
          <a:prstGeom prst="roundRect">
            <a:avLst>
              <a:gd name="adj" fmla="val 7778"/>
            </a:avLst>
          </a:prstGeom>
          <a:solidFill>
            <a:srgbClr val="F5F7F8"/>
          </a:solidFill>
          <a:ln w="9525">
            <a:solidFill>
              <a:srgbClr val="F5F7F8"/>
            </a:solidFill>
            <a:prstDash val="solid"/>
          </a:ln>
        </p:spPr>
      </p:sp>
      <p:sp>
        <p:nvSpPr>
          <p:cNvPr id="19" name="Shape 17"/>
          <p:cNvSpPr/>
          <p:nvPr/>
        </p:nvSpPr>
        <p:spPr>
          <a:xfrm>
            <a:off x="850392" y="4645152"/>
            <a:ext cx="164592" cy="164592"/>
          </a:xfrm>
          <a:prstGeom prst="ellipse">
            <a:avLst/>
          </a:prstGeom>
          <a:solidFill>
            <a:srgbClr val="0F766E"/>
          </a:solidFill>
          <a:ln w="12700">
            <a:solidFill>
              <a:srgbClr val="0F766E"/>
            </a:solidFill>
            <a:prstDash val="solid"/>
          </a:ln>
        </p:spPr>
      </p:sp>
      <p:sp>
        <p:nvSpPr>
          <p:cNvPr id="20" name="Text 18"/>
          <p:cNvSpPr txBox="1"/>
          <p:nvPr/>
        </p:nvSpPr>
        <p:spPr>
          <a:xfrm>
            <a:off x="1161288" y="4315968"/>
            <a:ext cx="1737360" cy="8229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Yang di-ship</a:t>
            </a:r>
            <a:endParaRPr lang="en-US" sz="1500" dirty="0"/>
          </a:p>
        </p:txBody>
      </p:sp>
      <p:sp>
        <p:nvSpPr>
          <p:cNvPr id="21" name="Text 19"/>
          <p:cNvSpPr txBox="1"/>
          <p:nvPr/>
        </p:nvSpPr>
        <p:spPr>
          <a:xfrm>
            <a:off x="2926080" y="4315968"/>
            <a:ext cx="8396935" cy="822960"/>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4 P0 (termasuk IDOR lintas tenant), 3 P1, migrasi reversible, test runner pertama di web/, RSpec pertama di api/.</a:t>
            </a:r>
            <a:endParaRPr lang="en-US" sz="1300" dirty="0"/>
          </a:p>
        </p:txBody>
      </p:sp>
      <p:sp>
        <p:nvSpPr>
          <p:cNvPr id="22" name="Shape 20"/>
          <p:cNvSpPr/>
          <p:nvPr/>
        </p:nvSpPr>
        <p:spPr>
          <a:xfrm>
            <a:off x="594360" y="5230368"/>
            <a:ext cx="11002975" cy="822960"/>
          </a:xfrm>
          <a:prstGeom prst="roundRect">
            <a:avLst>
              <a:gd name="adj" fmla="val 7778"/>
            </a:avLst>
          </a:prstGeom>
          <a:solidFill>
            <a:srgbClr val="F5F7F8"/>
          </a:solidFill>
          <a:ln w="9525">
            <a:solidFill>
              <a:srgbClr val="F5F7F8"/>
            </a:solidFill>
            <a:prstDash val="solid"/>
          </a:ln>
        </p:spPr>
      </p:sp>
      <p:sp>
        <p:nvSpPr>
          <p:cNvPr id="23" name="Shape 21"/>
          <p:cNvSpPr/>
          <p:nvPr/>
        </p:nvSpPr>
        <p:spPr>
          <a:xfrm>
            <a:off x="850392" y="5559552"/>
            <a:ext cx="164592" cy="164592"/>
          </a:xfrm>
          <a:prstGeom prst="ellipse">
            <a:avLst/>
          </a:prstGeom>
          <a:solidFill>
            <a:srgbClr val="B7791F"/>
          </a:solidFill>
          <a:ln w="12700">
            <a:solidFill>
              <a:srgbClr val="B7791F"/>
            </a:solidFill>
            <a:prstDash val="solid"/>
          </a:ln>
        </p:spPr>
      </p:sp>
      <p:sp>
        <p:nvSpPr>
          <p:cNvPr id="24" name="Text 22"/>
          <p:cNvSpPr txBox="1"/>
          <p:nvPr/>
        </p:nvSpPr>
        <p:spPr>
          <a:xfrm>
            <a:off x="1161288" y="5230368"/>
            <a:ext cx="1737360" cy="8229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Yang belum</a:t>
            </a:r>
            <a:endParaRPr lang="en-US" sz="1500" dirty="0"/>
          </a:p>
        </p:txBody>
      </p:sp>
      <p:sp>
        <p:nvSpPr>
          <p:cNvPr id="25" name="Text 23"/>
          <p:cNvSpPr txBox="1"/>
          <p:nvPr/>
        </p:nvSpPr>
        <p:spPr>
          <a:xfrm>
            <a:off x="2926080" y="5230368"/>
            <a:ext cx="8396935" cy="822960"/>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Beberapa P0 backend lebih berat dari yang saya perbaiki — tenant dari header, JWT tanpa re-check, EventMachine mati di worker Puma. Semua tercatat dengan file:line.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Cara saya mengerjakannya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Urutannya sengaja: pakai dulu, baru baca kode, baru putuskan.</a:t>
            </a:r>
            <a:endParaRPr lang="en-US" sz="1500" dirty="0"/>
          </a:p>
        </p:txBody>
      </p:sp>
      <p:sp>
        <p:nvSpPr>
          <p:cNvPr id="6" name="Shape 4"/>
          <p:cNvSpPr/>
          <p:nvPr/>
        </p:nvSpPr>
        <p:spPr>
          <a:xfrm>
            <a:off x="594360" y="1737360"/>
            <a:ext cx="2011680" cy="2331720"/>
          </a:xfrm>
          <a:prstGeom prst="roundRect">
            <a:avLst>
              <a:gd name="adj" fmla="val 3182"/>
            </a:avLst>
          </a:prstGeom>
          <a:solidFill>
            <a:srgbClr val="F5F7F8"/>
          </a:solidFill>
          <a:ln w="9525">
            <a:solidFill>
              <a:srgbClr val="E2E7EB"/>
            </a:solidFill>
            <a:prstDash val="solid"/>
          </a:ln>
        </p:spPr>
      </p:sp>
      <p:sp>
        <p:nvSpPr>
          <p:cNvPr id="7" name="Shape 5"/>
          <p:cNvSpPr/>
          <p:nvPr/>
        </p:nvSpPr>
        <p:spPr>
          <a:xfrm>
            <a:off x="795528" y="1901952"/>
            <a:ext cx="402336" cy="402336"/>
          </a:xfrm>
          <a:prstGeom prst="ellipse">
            <a:avLst/>
          </a:prstGeom>
          <a:solidFill>
            <a:srgbClr val="0F766E"/>
          </a:solidFill>
          <a:ln w="12700">
            <a:solidFill>
              <a:srgbClr val="0F766E"/>
            </a:solidFill>
            <a:prstDash val="solid"/>
          </a:ln>
        </p:spPr>
      </p:sp>
      <p:sp>
        <p:nvSpPr>
          <p:cNvPr id="8" name="Text 6"/>
          <p:cNvSpPr txBox="1"/>
          <p:nvPr/>
        </p:nvSpPr>
        <p:spPr>
          <a:xfrm>
            <a:off x="795528"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795528" y="242316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Pakai produknya</a:t>
            </a:r>
            <a:endParaRPr lang="en-US" sz="1450" dirty="0"/>
          </a:p>
        </p:txBody>
      </p:sp>
      <p:sp>
        <p:nvSpPr>
          <p:cNvPr id="10" name="Text 8"/>
          <p:cNvSpPr txBox="1"/>
          <p:nvPr/>
        </p:nvSpPr>
        <p:spPr>
          <a:xfrm>
            <a:off x="795528" y="278892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Berperan sebagai assessor dari awal sampai akhir</a:t>
            </a:r>
            <a:endParaRPr lang="en-US" sz="1200" dirty="0"/>
          </a:p>
        </p:txBody>
      </p:sp>
      <p:sp>
        <p:nvSpPr>
          <p:cNvPr id="11" name="Text 9"/>
          <p:cNvSpPr txBox="1"/>
          <p:nvPr/>
        </p:nvSpPr>
        <p:spPr>
          <a:xfrm>
            <a:off x="795528" y="358444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13 temuan UX</a:t>
            </a:r>
            <a:endParaRPr lang="en-US" sz="1250" dirty="0"/>
          </a:p>
        </p:txBody>
      </p:sp>
      <p:sp>
        <p:nvSpPr>
          <p:cNvPr id="12" name="Shape 10"/>
          <p:cNvSpPr/>
          <p:nvPr/>
        </p:nvSpPr>
        <p:spPr>
          <a:xfrm>
            <a:off x="2633472" y="2898648"/>
            <a:ext cx="181280" cy="0"/>
          </a:xfrm>
          <a:prstGeom prst="line">
            <a:avLst/>
          </a:prstGeom>
          <a:noFill/>
          <a:ln w="19050">
            <a:solidFill>
              <a:srgbClr val="8B96A0"/>
            </a:solidFill>
            <a:prstDash val="solid"/>
            <a:tailEnd type="triangle"/>
          </a:ln>
        </p:spPr>
      </p:sp>
      <p:sp>
        <p:nvSpPr>
          <p:cNvPr id="13" name="Shape 11"/>
          <p:cNvSpPr/>
          <p:nvPr/>
        </p:nvSpPr>
        <p:spPr>
          <a:xfrm>
            <a:off x="2842184" y="1737360"/>
            <a:ext cx="2011680" cy="2331720"/>
          </a:xfrm>
          <a:prstGeom prst="roundRect">
            <a:avLst>
              <a:gd name="adj" fmla="val 3182"/>
            </a:avLst>
          </a:prstGeom>
          <a:solidFill>
            <a:srgbClr val="F5F7F8"/>
          </a:solidFill>
          <a:ln w="9525">
            <a:solidFill>
              <a:srgbClr val="E2E7EB"/>
            </a:solidFill>
            <a:prstDash val="solid"/>
          </a:ln>
        </p:spPr>
      </p:sp>
      <p:sp>
        <p:nvSpPr>
          <p:cNvPr id="14" name="Shape 12"/>
          <p:cNvSpPr/>
          <p:nvPr/>
        </p:nvSpPr>
        <p:spPr>
          <a:xfrm>
            <a:off x="3043352" y="1901952"/>
            <a:ext cx="402336" cy="402336"/>
          </a:xfrm>
          <a:prstGeom prst="ellipse">
            <a:avLst/>
          </a:prstGeom>
          <a:solidFill>
            <a:srgbClr val="0F766E"/>
          </a:solidFill>
          <a:ln w="12700">
            <a:solidFill>
              <a:srgbClr val="0F766E"/>
            </a:solidFill>
            <a:prstDash val="solid"/>
          </a:ln>
        </p:spPr>
      </p:sp>
      <p:sp>
        <p:nvSpPr>
          <p:cNvPr id="15" name="Text 13"/>
          <p:cNvSpPr txBox="1"/>
          <p:nvPr/>
        </p:nvSpPr>
        <p:spPr>
          <a:xfrm>
            <a:off x="3043352"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043352" y="242316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Audit dua service</a:t>
            </a:r>
            <a:endParaRPr lang="en-US" sz="1450" dirty="0"/>
          </a:p>
        </p:txBody>
      </p:sp>
      <p:sp>
        <p:nvSpPr>
          <p:cNvPr id="17" name="Text 15"/>
          <p:cNvSpPr txBox="1"/>
          <p:nvPr/>
        </p:nvSpPr>
        <p:spPr>
          <a:xfrm>
            <a:off x="3043352" y="278892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Setiap temuan diverifikasi dengan membaca kode</a:t>
            </a:r>
            <a:endParaRPr lang="en-US" sz="1200" dirty="0"/>
          </a:p>
        </p:txBody>
      </p:sp>
      <p:sp>
        <p:nvSpPr>
          <p:cNvPr id="18" name="Text 16"/>
          <p:cNvSpPr txBox="1"/>
          <p:nvPr/>
        </p:nvSpPr>
        <p:spPr>
          <a:xfrm>
            <a:off x="3043352" y="358444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77 temuan</a:t>
            </a:r>
            <a:endParaRPr lang="en-US" sz="1250" dirty="0"/>
          </a:p>
        </p:txBody>
      </p:sp>
      <p:sp>
        <p:nvSpPr>
          <p:cNvPr id="19" name="Shape 17"/>
          <p:cNvSpPr/>
          <p:nvPr/>
        </p:nvSpPr>
        <p:spPr>
          <a:xfrm>
            <a:off x="4881296" y="2898648"/>
            <a:ext cx="181280" cy="0"/>
          </a:xfrm>
          <a:prstGeom prst="line">
            <a:avLst/>
          </a:prstGeom>
          <a:noFill/>
          <a:ln w="19050">
            <a:solidFill>
              <a:srgbClr val="8B96A0"/>
            </a:solidFill>
            <a:prstDash val="solid"/>
            <a:tailEnd type="triangle"/>
          </a:ln>
        </p:spPr>
      </p:sp>
      <p:sp>
        <p:nvSpPr>
          <p:cNvPr id="20" name="Shape 18"/>
          <p:cNvSpPr/>
          <p:nvPr/>
        </p:nvSpPr>
        <p:spPr>
          <a:xfrm>
            <a:off x="5090008" y="1737360"/>
            <a:ext cx="2011680" cy="2331720"/>
          </a:xfrm>
          <a:prstGeom prst="roundRect">
            <a:avLst>
              <a:gd name="adj" fmla="val 3182"/>
            </a:avLst>
          </a:prstGeom>
          <a:solidFill>
            <a:srgbClr val="E6F3F1"/>
          </a:solidFill>
          <a:ln w="9525">
            <a:solidFill>
              <a:srgbClr val="0F766E"/>
            </a:solidFill>
            <a:prstDash val="solid"/>
          </a:ln>
        </p:spPr>
      </p:sp>
      <p:sp>
        <p:nvSpPr>
          <p:cNvPr id="21" name="Shape 19"/>
          <p:cNvSpPr/>
          <p:nvPr/>
        </p:nvSpPr>
        <p:spPr>
          <a:xfrm>
            <a:off x="5291176" y="1901952"/>
            <a:ext cx="402336" cy="402336"/>
          </a:xfrm>
          <a:prstGeom prst="ellipse">
            <a:avLst/>
          </a:prstGeom>
          <a:solidFill>
            <a:srgbClr val="0F766E"/>
          </a:solidFill>
          <a:ln w="12700">
            <a:solidFill>
              <a:srgbClr val="0F766E"/>
            </a:solidFill>
            <a:prstDash val="solid"/>
          </a:ln>
        </p:spPr>
      </p:sp>
      <p:sp>
        <p:nvSpPr>
          <p:cNvPr id="22" name="Text 20"/>
          <p:cNvSpPr txBox="1"/>
          <p:nvPr/>
        </p:nvSpPr>
        <p:spPr>
          <a:xfrm>
            <a:off x="5291176"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txBox="1"/>
          <p:nvPr/>
        </p:nvSpPr>
        <p:spPr>
          <a:xfrm>
            <a:off x="5291176" y="242316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Pilih satu slice</a:t>
            </a:r>
            <a:endParaRPr lang="en-US" sz="1450" dirty="0"/>
          </a:p>
        </p:txBody>
      </p:sp>
      <p:sp>
        <p:nvSpPr>
          <p:cNvPr id="24" name="Text 22"/>
          <p:cNvSpPr txBox="1"/>
          <p:nvPr/>
        </p:nvSpPr>
        <p:spPr>
          <a:xfrm>
            <a:off x="5291176" y="278892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Satu alur utuh, bukan banyak tambalan</a:t>
            </a:r>
            <a:endParaRPr lang="en-US" sz="1200" dirty="0"/>
          </a:p>
        </p:txBody>
      </p:sp>
      <p:sp>
        <p:nvSpPr>
          <p:cNvPr id="25" name="Text 23"/>
          <p:cNvSpPr txBox="1"/>
          <p:nvPr/>
        </p:nvSpPr>
        <p:spPr>
          <a:xfrm>
            <a:off x="5291176" y="358444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Portfolio → Fit/Gap</a:t>
            </a:r>
            <a:endParaRPr lang="en-US" sz="1250" dirty="0"/>
          </a:p>
        </p:txBody>
      </p:sp>
      <p:sp>
        <p:nvSpPr>
          <p:cNvPr id="26" name="Shape 24"/>
          <p:cNvSpPr/>
          <p:nvPr/>
        </p:nvSpPr>
        <p:spPr>
          <a:xfrm>
            <a:off x="7129120" y="2898648"/>
            <a:ext cx="181280" cy="0"/>
          </a:xfrm>
          <a:prstGeom prst="line">
            <a:avLst/>
          </a:prstGeom>
          <a:noFill/>
          <a:ln w="19050">
            <a:solidFill>
              <a:srgbClr val="8B96A0"/>
            </a:solidFill>
            <a:prstDash val="solid"/>
            <a:tailEnd type="triangle"/>
          </a:ln>
        </p:spPr>
      </p:sp>
      <p:sp>
        <p:nvSpPr>
          <p:cNvPr id="27" name="Shape 25"/>
          <p:cNvSpPr/>
          <p:nvPr/>
        </p:nvSpPr>
        <p:spPr>
          <a:xfrm>
            <a:off x="7337831" y="1737360"/>
            <a:ext cx="2011680" cy="2331720"/>
          </a:xfrm>
          <a:prstGeom prst="roundRect">
            <a:avLst>
              <a:gd name="adj" fmla="val 3182"/>
            </a:avLst>
          </a:prstGeom>
          <a:solidFill>
            <a:srgbClr val="F5F7F8"/>
          </a:solidFill>
          <a:ln w="9525">
            <a:solidFill>
              <a:srgbClr val="E2E7EB"/>
            </a:solidFill>
            <a:prstDash val="solid"/>
          </a:ln>
        </p:spPr>
      </p:sp>
      <p:sp>
        <p:nvSpPr>
          <p:cNvPr id="28" name="Shape 26"/>
          <p:cNvSpPr/>
          <p:nvPr/>
        </p:nvSpPr>
        <p:spPr>
          <a:xfrm>
            <a:off x="7538999" y="1901952"/>
            <a:ext cx="402336" cy="402336"/>
          </a:xfrm>
          <a:prstGeom prst="ellipse">
            <a:avLst/>
          </a:prstGeom>
          <a:solidFill>
            <a:srgbClr val="0F766E"/>
          </a:solidFill>
          <a:ln w="12700">
            <a:solidFill>
              <a:srgbClr val="0F766E"/>
            </a:solidFill>
            <a:prstDash val="solid"/>
          </a:ln>
        </p:spPr>
      </p:sp>
      <p:sp>
        <p:nvSpPr>
          <p:cNvPr id="29" name="Text 27"/>
          <p:cNvSpPr txBox="1"/>
          <p:nvPr/>
        </p:nvSpPr>
        <p:spPr>
          <a:xfrm>
            <a:off x="7538999"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txBox="1"/>
          <p:nvPr/>
        </p:nvSpPr>
        <p:spPr>
          <a:xfrm>
            <a:off x="7538999" y="242316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AC &amp; test dulu</a:t>
            </a:r>
            <a:endParaRPr lang="en-US" sz="1450" dirty="0"/>
          </a:p>
        </p:txBody>
      </p:sp>
      <p:sp>
        <p:nvSpPr>
          <p:cNvPr id="31" name="Text 29"/>
          <p:cNvSpPr txBox="1"/>
          <p:nvPr/>
        </p:nvSpPr>
        <p:spPr>
          <a:xfrm>
            <a:off x="7538999" y="278892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Test dijalankan ke kode lama dan ditonton gagal</a:t>
            </a:r>
            <a:endParaRPr lang="en-US" sz="1200" dirty="0"/>
          </a:p>
        </p:txBody>
      </p:sp>
      <p:sp>
        <p:nvSpPr>
          <p:cNvPr id="32" name="Text 30"/>
          <p:cNvSpPr txBox="1"/>
          <p:nvPr/>
        </p:nvSpPr>
        <p:spPr>
          <a:xfrm>
            <a:off x="7538999" y="358444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8 gagal / 1 lulus</a:t>
            </a:r>
            <a:endParaRPr lang="en-US" sz="1250" dirty="0"/>
          </a:p>
        </p:txBody>
      </p:sp>
      <p:sp>
        <p:nvSpPr>
          <p:cNvPr id="33" name="Shape 31"/>
          <p:cNvSpPr/>
          <p:nvPr/>
        </p:nvSpPr>
        <p:spPr>
          <a:xfrm>
            <a:off x="9376943" y="2898648"/>
            <a:ext cx="181280" cy="0"/>
          </a:xfrm>
          <a:prstGeom prst="line">
            <a:avLst/>
          </a:prstGeom>
          <a:noFill/>
          <a:ln w="19050">
            <a:solidFill>
              <a:srgbClr val="8B96A0"/>
            </a:solidFill>
            <a:prstDash val="solid"/>
            <a:tailEnd type="triangle"/>
          </a:ln>
        </p:spPr>
      </p:sp>
      <p:sp>
        <p:nvSpPr>
          <p:cNvPr id="34" name="Shape 32"/>
          <p:cNvSpPr/>
          <p:nvPr/>
        </p:nvSpPr>
        <p:spPr>
          <a:xfrm>
            <a:off x="9585655" y="1737360"/>
            <a:ext cx="2011680" cy="2331720"/>
          </a:xfrm>
          <a:prstGeom prst="roundRect">
            <a:avLst>
              <a:gd name="adj" fmla="val 3182"/>
            </a:avLst>
          </a:prstGeom>
          <a:solidFill>
            <a:srgbClr val="F5F7F8"/>
          </a:solidFill>
          <a:ln w="9525">
            <a:solidFill>
              <a:srgbClr val="E2E7EB"/>
            </a:solidFill>
            <a:prstDash val="solid"/>
          </a:ln>
        </p:spPr>
      </p:sp>
      <p:sp>
        <p:nvSpPr>
          <p:cNvPr id="35" name="Shape 33"/>
          <p:cNvSpPr/>
          <p:nvPr/>
        </p:nvSpPr>
        <p:spPr>
          <a:xfrm>
            <a:off x="9786823" y="1901952"/>
            <a:ext cx="402336" cy="402336"/>
          </a:xfrm>
          <a:prstGeom prst="ellipse">
            <a:avLst/>
          </a:prstGeom>
          <a:solidFill>
            <a:srgbClr val="0F766E"/>
          </a:solidFill>
          <a:ln w="12700">
            <a:solidFill>
              <a:srgbClr val="0F766E"/>
            </a:solidFill>
            <a:prstDash val="solid"/>
          </a:ln>
        </p:spPr>
      </p:sp>
      <p:sp>
        <p:nvSpPr>
          <p:cNvPr id="36" name="Text 34"/>
          <p:cNvSpPr txBox="1"/>
          <p:nvPr/>
        </p:nvSpPr>
        <p:spPr>
          <a:xfrm>
            <a:off x="9786823"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7" name="Text 35"/>
          <p:cNvSpPr txBox="1"/>
          <p:nvPr/>
        </p:nvSpPr>
        <p:spPr>
          <a:xfrm>
            <a:off x="9786823" y="242316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Implementasi</a:t>
            </a:r>
            <a:endParaRPr lang="en-US" sz="1450" dirty="0"/>
          </a:p>
        </p:txBody>
      </p:sp>
      <p:sp>
        <p:nvSpPr>
          <p:cNvPr id="38" name="Text 36"/>
          <p:cNvSpPr txBox="1"/>
          <p:nvPr/>
        </p:nvSpPr>
        <p:spPr>
          <a:xfrm>
            <a:off x="9786823" y="278892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Lalu rusak sengaja untuk membuktikan test-nya</a:t>
            </a:r>
            <a:endParaRPr lang="en-US" sz="1200" dirty="0"/>
          </a:p>
        </p:txBody>
      </p:sp>
      <p:sp>
        <p:nvSpPr>
          <p:cNvPr id="39" name="Text 37"/>
          <p:cNvSpPr txBox="1"/>
          <p:nvPr/>
        </p:nvSpPr>
        <p:spPr>
          <a:xfrm>
            <a:off x="9786823" y="358444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3 seeded fault</a:t>
            </a:r>
            <a:endParaRPr lang="en-US" sz="1250" dirty="0"/>
          </a:p>
        </p:txBody>
      </p:sp>
      <p:sp>
        <p:nvSpPr>
          <p:cNvPr id="40" name="Shape 38"/>
          <p:cNvSpPr/>
          <p:nvPr/>
        </p:nvSpPr>
        <p:spPr>
          <a:xfrm>
            <a:off x="594360" y="4389120"/>
            <a:ext cx="11002975" cy="1508760"/>
          </a:xfrm>
          <a:prstGeom prst="roundRect">
            <a:avLst>
              <a:gd name="adj" fmla="val 4242"/>
            </a:avLst>
          </a:prstGeom>
          <a:solidFill>
            <a:srgbClr val="F5F7F8"/>
          </a:solidFill>
          <a:ln w="9525">
            <a:solidFill>
              <a:srgbClr val="E2E7EB"/>
            </a:solidFill>
            <a:prstDash val="solid"/>
          </a:ln>
        </p:spPr>
      </p:sp>
      <p:sp>
        <p:nvSpPr>
          <p:cNvPr id="41" name="Text 39"/>
          <p:cNvSpPr txBox="1"/>
          <p:nvPr/>
        </p:nvSpPr>
        <p:spPr>
          <a:xfrm>
            <a:off x="868680" y="4553712"/>
            <a:ext cx="1045433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Kenapa satu slice, bukan banyak perbaikan kecil</a:t>
            </a:r>
            <a:endParaRPr lang="en-US" sz="1450" dirty="0"/>
          </a:p>
        </p:txBody>
      </p:sp>
      <p:sp>
        <p:nvSpPr>
          <p:cNvPr id="42" name="Text 40"/>
          <p:cNvSpPr txBox="1"/>
          <p:nvPr/>
        </p:nvSpPr>
        <p:spPr>
          <a:xfrm>
            <a:off x="868680" y="4901184"/>
            <a:ext cx="10454335" cy="914400"/>
          </a:xfrm>
          <a:prstGeom prst="rect">
            <a:avLst/>
          </a:prstGeom>
          <a:noFill/>
          <a:ln/>
        </p:spPr>
        <p:txBody>
          <a:bodyPr wrap="square" lIns="0" tIns="0" rIns="0" bIns="0" rtlCol="0" anchor="t"/>
          <a:lstStyle/>
          <a:p>
            <a:pPr indent="0" marL="0">
              <a:lnSpc>
                <a:spcPts val="1800"/>
              </a:lnSpc>
              <a:buNone/>
            </a:pPr>
            <a:r>
              <a:rPr lang="en-US" sz="1300" dirty="0">
                <a:solidFill>
                  <a:srgbClr val="5F6B76"/>
                </a:solidFill>
                <a:latin typeface="Calibri" pitchFamily="34" charset="0"/>
                <a:ea typeface="Calibri" pitchFamily="34" charset="-122"/>
                <a:cs typeface="Calibri" pitchFamily="34" charset="-120"/>
              </a:rPr>
              <a:t>77 temuan tidak mungkin selesai dalam satu case study, dan menambal banyak hal setengah jalan tidak membuat satu pun alur jadi bisa dipercaya. Saya pilih satu alur yang paling dekat ke keputusan hiring, lalu kerjakan sampai punya test, migrasi yang aman, dan spec. Sisanya terdokumentasi supaya bisa dijadwalkan.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Peta audit backend</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Setiap temuan dicatat dengan file:line dan diverifikasi dengan membaca kodenya, bukan ditebak dari nama file.</a:t>
            </a:r>
            <a:endParaRPr lang="en-US" sz="1500" dirty="0"/>
          </a:p>
        </p:txBody>
      </p:sp>
      <p:graphicFrame>
        <p:nvGraphicFramePr>
          <p:cNvPr id="6" name="Chart 0" descr=""/>
          <p:cNvGraphicFramePr/>
          <p:nvPr/>
        </p:nvGraphicFramePr>
        <p:xfrm>
          <a:off x="594360" y="1508760"/>
          <a:ext cx="6949440" cy="46177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863840" y="1572768"/>
            <a:ext cx="3733495"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Yang paling menonjol</a:t>
            </a:r>
            <a:endParaRPr lang="en-US" sz="1500" dirty="0"/>
          </a:p>
        </p:txBody>
      </p:sp>
      <p:sp>
        <p:nvSpPr>
          <p:cNvPr id="8" name="Shape 5"/>
          <p:cNvSpPr/>
          <p:nvPr/>
        </p:nvSpPr>
        <p:spPr>
          <a:xfrm>
            <a:off x="7863840" y="1993392"/>
            <a:ext cx="3733495" cy="960120"/>
          </a:xfrm>
          <a:prstGeom prst="roundRect">
            <a:avLst>
              <a:gd name="adj" fmla="val 6667"/>
            </a:avLst>
          </a:prstGeom>
          <a:solidFill>
            <a:srgbClr val="FCEDE8"/>
          </a:solidFill>
          <a:ln w="9525">
            <a:solidFill>
              <a:srgbClr val="FCEDE8"/>
            </a:solidFill>
            <a:prstDash val="solid"/>
          </a:ln>
        </p:spPr>
      </p:sp>
      <p:sp>
        <p:nvSpPr>
          <p:cNvPr id="9" name="Text 6"/>
          <p:cNvSpPr txBox="1"/>
          <p:nvPr/>
        </p:nvSpPr>
        <p:spPr>
          <a:xfrm>
            <a:off x="8065008" y="2084832"/>
            <a:ext cx="3331159" cy="274320"/>
          </a:xfrm>
          <a:prstGeom prst="rect">
            <a:avLst/>
          </a:prstGeom>
          <a:noFill/>
          <a:ln/>
        </p:spPr>
        <p:txBody>
          <a:bodyPr wrap="square" lIns="0" tIns="0" rIns="0" bIns="0" rtlCol="0" anchor="t"/>
          <a:lstStyle/>
          <a:p>
            <a:pPr indent="0" marL="0">
              <a:buNone/>
            </a:pPr>
            <a:r>
              <a:rPr lang="en-US" sz="1250" b="1" dirty="0">
                <a:solidFill>
                  <a:srgbClr val="C8553D"/>
                </a:solidFill>
                <a:latin typeface="Calibri" pitchFamily="34" charset="0"/>
                <a:ea typeface="Calibri" pitchFamily="34" charset="-122"/>
                <a:cs typeface="Calibri" pitchFamily="34" charset="-120"/>
              </a:rPr>
              <a:t>Auth</a:t>
            </a:r>
            <a:endParaRPr lang="en-US" sz="1250" dirty="0"/>
          </a:p>
        </p:txBody>
      </p:sp>
      <p:sp>
        <p:nvSpPr>
          <p:cNvPr id="10" name="Text 7"/>
          <p:cNvSpPr txBox="1"/>
          <p:nvPr/>
        </p:nvSpPr>
        <p:spPr>
          <a:xfrm>
            <a:off x="8065008" y="2359152"/>
            <a:ext cx="3331159" cy="566928"/>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Tenant dipilih dari header, JWT tidak pernah dicek ulang ke database.</a:t>
            </a:r>
            <a:endParaRPr lang="en-US" sz="1150" dirty="0"/>
          </a:p>
        </p:txBody>
      </p:sp>
      <p:sp>
        <p:nvSpPr>
          <p:cNvPr id="11" name="Shape 8"/>
          <p:cNvSpPr/>
          <p:nvPr/>
        </p:nvSpPr>
        <p:spPr>
          <a:xfrm>
            <a:off x="7863840" y="3035808"/>
            <a:ext cx="3733495" cy="960120"/>
          </a:xfrm>
          <a:prstGeom prst="roundRect">
            <a:avLst>
              <a:gd name="adj" fmla="val 6667"/>
            </a:avLst>
          </a:prstGeom>
          <a:solidFill>
            <a:srgbClr val="FCEDE8"/>
          </a:solidFill>
          <a:ln w="9525">
            <a:solidFill>
              <a:srgbClr val="FCEDE8"/>
            </a:solidFill>
            <a:prstDash val="solid"/>
          </a:ln>
        </p:spPr>
      </p:sp>
      <p:sp>
        <p:nvSpPr>
          <p:cNvPr id="12" name="Text 9"/>
          <p:cNvSpPr txBox="1"/>
          <p:nvPr/>
        </p:nvSpPr>
        <p:spPr>
          <a:xfrm>
            <a:off x="8065008" y="3127248"/>
            <a:ext cx="3331159" cy="274320"/>
          </a:xfrm>
          <a:prstGeom prst="rect">
            <a:avLst/>
          </a:prstGeom>
          <a:noFill/>
          <a:ln/>
        </p:spPr>
        <p:txBody>
          <a:bodyPr wrap="square" lIns="0" tIns="0" rIns="0" bIns="0" rtlCol="0" anchor="t"/>
          <a:lstStyle/>
          <a:p>
            <a:pPr indent="0" marL="0">
              <a:buNone/>
            </a:pPr>
            <a:r>
              <a:rPr lang="en-US" sz="1250" b="1" dirty="0">
                <a:solidFill>
                  <a:srgbClr val="C8553D"/>
                </a:solidFill>
                <a:latin typeface="Calibri" pitchFamily="34" charset="0"/>
                <a:ea typeface="Calibri" pitchFamily="34" charset="-122"/>
                <a:cs typeface="Calibri" pitchFamily="34" charset="-120"/>
              </a:rPr>
              <a:t>Realtime</a:t>
            </a:r>
            <a:endParaRPr lang="en-US" sz="1250" dirty="0"/>
          </a:p>
        </p:txBody>
      </p:sp>
      <p:sp>
        <p:nvSpPr>
          <p:cNvPr id="13" name="Text 10"/>
          <p:cNvSpPr txBox="1"/>
          <p:nvPr/>
        </p:nvSpPr>
        <p:spPr>
          <a:xfrm>
            <a:off x="8065008" y="3401568"/>
            <a:ext cx="3331159" cy="566928"/>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EventMachine mati di setiap worker Puma hasil fork; refresh halaman bisa mengakhiri wawancara.</a:t>
            </a:r>
            <a:endParaRPr lang="en-US" sz="1150" dirty="0"/>
          </a:p>
        </p:txBody>
      </p:sp>
      <p:sp>
        <p:nvSpPr>
          <p:cNvPr id="14" name="Shape 11"/>
          <p:cNvSpPr/>
          <p:nvPr/>
        </p:nvSpPr>
        <p:spPr>
          <a:xfrm>
            <a:off x="7863840" y="4078224"/>
            <a:ext cx="3733495" cy="960120"/>
          </a:xfrm>
          <a:prstGeom prst="roundRect">
            <a:avLst>
              <a:gd name="adj" fmla="val 6667"/>
            </a:avLst>
          </a:prstGeom>
          <a:solidFill>
            <a:srgbClr val="FCEDE8"/>
          </a:solidFill>
          <a:ln w="9525">
            <a:solidFill>
              <a:srgbClr val="FCEDE8"/>
            </a:solidFill>
            <a:prstDash val="solid"/>
          </a:ln>
        </p:spPr>
      </p:sp>
      <p:sp>
        <p:nvSpPr>
          <p:cNvPr id="15" name="Text 12"/>
          <p:cNvSpPr txBox="1"/>
          <p:nvPr/>
        </p:nvSpPr>
        <p:spPr>
          <a:xfrm>
            <a:off x="8065008" y="4169664"/>
            <a:ext cx="3331159" cy="274320"/>
          </a:xfrm>
          <a:prstGeom prst="rect">
            <a:avLst/>
          </a:prstGeom>
          <a:noFill/>
          <a:ln/>
        </p:spPr>
        <p:txBody>
          <a:bodyPr wrap="square" lIns="0" tIns="0" rIns="0" bIns="0" rtlCol="0" anchor="t"/>
          <a:lstStyle/>
          <a:p>
            <a:pPr indent="0" marL="0">
              <a:buNone/>
            </a:pPr>
            <a:r>
              <a:rPr lang="en-US" sz="1250" b="1" dirty="0">
                <a:solidFill>
                  <a:srgbClr val="C8553D"/>
                </a:solidFill>
                <a:latin typeface="Calibri" pitchFamily="34" charset="0"/>
                <a:ea typeface="Calibri" pitchFamily="34" charset="-122"/>
                <a:cs typeface="Calibri" pitchFamily="34" charset="-120"/>
              </a:rPr>
              <a:t>Model output</a:t>
            </a:r>
            <a:endParaRPr lang="en-US" sz="1250" dirty="0"/>
          </a:p>
        </p:txBody>
      </p:sp>
      <p:sp>
        <p:nvSpPr>
          <p:cNvPr id="16" name="Text 13"/>
          <p:cNvSpPr txBox="1"/>
          <p:nvPr/>
        </p:nvSpPr>
        <p:spPr>
          <a:xfrm>
            <a:off x="8065008" y="4443984"/>
            <a:ext cx="3331159" cy="566928"/>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Transkrip masuk prompt scoring tanpa delimiter — padahal mitigasinya sudah ada di Coverage::Analyzer.</a:t>
            </a:r>
            <a:endParaRPr lang="en-US" sz="1150" dirty="0"/>
          </a:p>
        </p:txBody>
      </p:sp>
      <p:sp>
        <p:nvSpPr>
          <p:cNvPr id="17" name="Shape 14"/>
          <p:cNvSpPr/>
          <p:nvPr/>
        </p:nvSpPr>
        <p:spPr>
          <a:xfrm>
            <a:off x="7863840" y="5120640"/>
            <a:ext cx="3733495" cy="960120"/>
          </a:xfrm>
          <a:prstGeom prst="roundRect">
            <a:avLst>
              <a:gd name="adj" fmla="val 6667"/>
            </a:avLst>
          </a:prstGeom>
          <a:solidFill>
            <a:srgbClr val="FCEDE8"/>
          </a:solidFill>
          <a:ln w="9525">
            <a:solidFill>
              <a:srgbClr val="FCEDE8"/>
            </a:solidFill>
            <a:prstDash val="solid"/>
          </a:ln>
        </p:spPr>
      </p:sp>
      <p:sp>
        <p:nvSpPr>
          <p:cNvPr id="18" name="Text 15"/>
          <p:cNvSpPr txBox="1"/>
          <p:nvPr/>
        </p:nvSpPr>
        <p:spPr>
          <a:xfrm>
            <a:off x="8065008" y="5212080"/>
            <a:ext cx="3331159" cy="274320"/>
          </a:xfrm>
          <a:prstGeom prst="rect">
            <a:avLst/>
          </a:prstGeom>
          <a:noFill/>
          <a:ln/>
        </p:spPr>
        <p:txBody>
          <a:bodyPr wrap="square" lIns="0" tIns="0" rIns="0" bIns="0" rtlCol="0" anchor="t"/>
          <a:lstStyle/>
          <a:p>
            <a:pPr indent="0" marL="0">
              <a:buNone/>
            </a:pPr>
            <a:r>
              <a:rPr lang="en-US" sz="1250" b="1" dirty="0">
                <a:solidFill>
                  <a:srgbClr val="C8553D"/>
                </a:solidFill>
                <a:latin typeface="Calibri" pitchFamily="34" charset="0"/>
                <a:ea typeface="Calibri" pitchFamily="34" charset="-122"/>
                <a:cs typeface="Calibri" pitchFamily="34" charset="-120"/>
              </a:rPr>
              <a:t>Migrasi</a:t>
            </a:r>
            <a:endParaRPr lang="en-US" sz="1250" dirty="0"/>
          </a:p>
        </p:txBody>
      </p:sp>
      <p:sp>
        <p:nvSpPr>
          <p:cNvPr id="19" name="Text 16"/>
          <p:cNvSpPr txBox="1"/>
          <p:nvPr/>
        </p:nvSpPr>
        <p:spPr>
          <a:xfrm>
            <a:off x="8065008" y="5486400"/>
            <a:ext cx="3331159" cy="566928"/>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Rollback migrasi lama gagal begitu ada data 10 menit.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Di mana datanya putus</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Tiga P0 di tabel Fit/Gap berasal dari satu tempat: sambungan antara backend dan frontend.</a:t>
            </a:r>
            <a:endParaRPr lang="en-US" sz="1500" dirty="0"/>
          </a:p>
        </p:txBody>
      </p:sp>
      <p:sp>
        <p:nvSpPr>
          <p:cNvPr id="6" name="Shape 4"/>
          <p:cNvSpPr/>
          <p:nvPr/>
        </p:nvSpPr>
        <p:spPr>
          <a:xfrm>
            <a:off x="594360" y="1691640"/>
            <a:ext cx="2487168" cy="2103120"/>
          </a:xfrm>
          <a:prstGeom prst="roundRect">
            <a:avLst>
              <a:gd name="adj" fmla="val 3043"/>
            </a:avLst>
          </a:prstGeom>
          <a:solidFill>
            <a:srgbClr val="E6F3F1"/>
          </a:solidFill>
          <a:ln w="9525">
            <a:solidFill>
              <a:srgbClr val="0F766E"/>
            </a:solidFill>
            <a:prstDash val="solid"/>
          </a:ln>
        </p:spPr>
      </p:sp>
      <p:sp>
        <p:nvSpPr>
          <p:cNvPr id="7" name="Text 5"/>
          <p:cNvSpPr txBox="1"/>
          <p:nvPr/>
        </p:nvSpPr>
        <p:spPr>
          <a:xfrm>
            <a:off x="795528" y="1856232"/>
            <a:ext cx="2084832" cy="228600"/>
          </a:xfrm>
          <a:prstGeom prst="rect">
            <a:avLst/>
          </a:prstGeom>
          <a:noFill/>
          <a:ln/>
        </p:spPr>
        <p:txBody>
          <a:bodyPr wrap="square" lIns="0" tIns="0" rIns="0" bIns="0" rtlCol="0" anchor="t"/>
          <a:lstStyle/>
          <a:p>
            <a:pPr indent="0" marL="0">
              <a:buNone/>
            </a:pPr>
            <a:r>
              <a:rPr lang="en-US" sz="1000" b="1" spc="100" kern="0" dirty="0">
                <a:solidFill>
                  <a:srgbClr val="0F766E"/>
                </a:solidFill>
                <a:latin typeface="Calibri" pitchFamily="34" charset="0"/>
                <a:ea typeface="Calibri" pitchFamily="34" charset="-122"/>
                <a:cs typeface="Calibri" pitchFamily="34" charset="-120"/>
              </a:rPr>
              <a:t>RUBY</a:t>
            </a:r>
            <a:endParaRPr lang="en-US" sz="1000" dirty="0"/>
          </a:p>
        </p:txBody>
      </p:sp>
      <p:sp>
        <p:nvSpPr>
          <p:cNvPr id="8" name="Text 6"/>
          <p:cNvSpPr txBox="1"/>
          <p:nvPr/>
        </p:nvSpPr>
        <p:spPr>
          <a:xfrm>
            <a:off x="795528" y="210312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FitGap::Engine</a:t>
            </a:r>
            <a:endParaRPr lang="en-US" sz="1500" dirty="0"/>
          </a:p>
        </p:txBody>
      </p:sp>
      <p:sp>
        <p:nvSpPr>
          <p:cNvPr id="9" name="Text 7"/>
          <p:cNvSpPr txBox="1"/>
          <p:nvPr/>
        </p:nvSpPr>
        <p:spPr>
          <a:xfrm>
            <a:off x="795528" y="253288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Menghitung expected_level, is_override, confidence, probe_count</a:t>
            </a:r>
            <a:endParaRPr lang="en-US" sz="1200" dirty="0"/>
          </a:p>
        </p:txBody>
      </p:sp>
      <p:sp>
        <p:nvSpPr>
          <p:cNvPr id="10" name="Shape 8"/>
          <p:cNvSpPr/>
          <p:nvPr/>
        </p:nvSpPr>
        <p:spPr>
          <a:xfrm>
            <a:off x="3118104" y="2743200"/>
            <a:ext cx="278282" cy="0"/>
          </a:xfrm>
          <a:prstGeom prst="line">
            <a:avLst/>
          </a:prstGeom>
          <a:noFill/>
          <a:ln w="19050">
            <a:solidFill>
              <a:srgbClr val="8B96A0"/>
            </a:solidFill>
            <a:prstDash val="solid"/>
            <a:tailEnd type="triangle"/>
          </a:ln>
        </p:spPr>
      </p:sp>
      <p:sp>
        <p:nvSpPr>
          <p:cNvPr id="11" name="Shape 9"/>
          <p:cNvSpPr/>
          <p:nvPr/>
        </p:nvSpPr>
        <p:spPr>
          <a:xfrm>
            <a:off x="3432962" y="1691640"/>
            <a:ext cx="2487168" cy="2103120"/>
          </a:xfrm>
          <a:prstGeom prst="roundRect">
            <a:avLst>
              <a:gd name="adj" fmla="val 3043"/>
            </a:avLst>
          </a:prstGeom>
          <a:solidFill>
            <a:srgbClr val="E6F3F1"/>
          </a:solidFill>
          <a:ln w="9525">
            <a:solidFill>
              <a:srgbClr val="0F766E"/>
            </a:solidFill>
            <a:prstDash val="solid"/>
          </a:ln>
        </p:spPr>
      </p:sp>
      <p:sp>
        <p:nvSpPr>
          <p:cNvPr id="12" name="Text 10"/>
          <p:cNvSpPr txBox="1"/>
          <p:nvPr/>
        </p:nvSpPr>
        <p:spPr>
          <a:xfrm>
            <a:off x="3634130" y="1856232"/>
            <a:ext cx="2084832" cy="228600"/>
          </a:xfrm>
          <a:prstGeom prst="rect">
            <a:avLst/>
          </a:prstGeom>
          <a:noFill/>
          <a:ln/>
        </p:spPr>
        <p:txBody>
          <a:bodyPr wrap="square" lIns="0" tIns="0" rIns="0" bIns="0" rtlCol="0" anchor="t"/>
          <a:lstStyle/>
          <a:p>
            <a:pPr indent="0" marL="0">
              <a:buNone/>
            </a:pPr>
            <a:r>
              <a:rPr lang="en-US" sz="1000" b="1" spc="100" kern="0" dirty="0">
                <a:solidFill>
                  <a:srgbClr val="0F766E"/>
                </a:solidFill>
                <a:latin typeface="Calibri" pitchFamily="34" charset="0"/>
                <a:ea typeface="Calibri" pitchFamily="34" charset="-122"/>
                <a:cs typeface="Calibri" pitchFamily="34" charset="-120"/>
              </a:rPr>
              <a:t>API</a:t>
            </a:r>
            <a:endParaRPr lang="en-US" sz="1000" dirty="0"/>
          </a:p>
        </p:txBody>
      </p:sp>
      <p:sp>
        <p:nvSpPr>
          <p:cNvPr id="13" name="Text 11"/>
          <p:cNvSpPr txBox="1"/>
          <p:nvPr/>
        </p:nvSpPr>
        <p:spPr>
          <a:xfrm>
            <a:off x="3634130" y="210312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Response JSON</a:t>
            </a:r>
            <a:endParaRPr lang="en-US" sz="1500" dirty="0"/>
          </a:p>
        </p:txBody>
      </p:sp>
      <p:sp>
        <p:nvSpPr>
          <p:cNvPr id="14" name="Text 12"/>
          <p:cNvSpPr txBox="1"/>
          <p:nvPr/>
        </p:nvSpPr>
        <p:spPr>
          <a:xfrm>
            <a:off x="3634130" y="253288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ourier New" pitchFamily="34" charset="0"/>
                <a:ea typeface="Courier New" pitchFamily="34" charset="-122"/>
                <a:cs typeface="Courier New" pitchFamily="34" charset="-120"/>
              </a:rPr>
              <a:t>{ expected_level: 4,</a:t>
            </a:r>
            <a:endParaRPr lang="en-US" sz="1200" dirty="0"/>
          </a:p>
          <a:p>
            <a:pPr indent="0" marL="0">
              <a:lnSpc>
                <a:spcPts val="1600"/>
              </a:lnSpc>
              <a:buNone/>
            </a:pPr>
            <a:r>
              <a:rPr lang="en-US" sz="1200" dirty="0">
                <a:solidFill>
                  <a:srgbClr val="1F2933"/>
                </a:solidFill>
                <a:latin typeface="Courier New" pitchFamily="34" charset="0"/>
                <a:ea typeface="Courier New" pitchFamily="34" charset="-122"/>
                <a:cs typeface="Courier New" pitchFamily="34" charset="-120"/>
              </a:rPr>
              <a:t>  confidence: "low", … }</a:t>
            </a:r>
            <a:endParaRPr lang="en-US" sz="1200" dirty="0"/>
          </a:p>
        </p:txBody>
      </p:sp>
      <p:sp>
        <p:nvSpPr>
          <p:cNvPr id="15" name="Shape 13"/>
          <p:cNvSpPr/>
          <p:nvPr/>
        </p:nvSpPr>
        <p:spPr>
          <a:xfrm>
            <a:off x="5956706" y="2743200"/>
            <a:ext cx="278282" cy="0"/>
          </a:xfrm>
          <a:prstGeom prst="line">
            <a:avLst/>
          </a:prstGeom>
          <a:noFill/>
          <a:ln w="19050">
            <a:solidFill>
              <a:srgbClr val="C8553D"/>
            </a:solidFill>
            <a:prstDash val="solid"/>
            <a:tailEnd type="triangle"/>
          </a:ln>
        </p:spPr>
      </p:sp>
      <p:sp>
        <p:nvSpPr>
          <p:cNvPr id="16" name="Shape 14"/>
          <p:cNvSpPr/>
          <p:nvPr/>
        </p:nvSpPr>
        <p:spPr>
          <a:xfrm>
            <a:off x="6271565" y="1691640"/>
            <a:ext cx="2487168" cy="2103120"/>
          </a:xfrm>
          <a:prstGeom prst="roundRect">
            <a:avLst>
              <a:gd name="adj" fmla="val 3043"/>
            </a:avLst>
          </a:prstGeom>
          <a:solidFill>
            <a:srgbClr val="FCEDE8"/>
          </a:solidFill>
          <a:ln w="9525">
            <a:solidFill>
              <a:srgbClr val="C8553D"/>
            </a:solidFill>
            <a:prstDash val="solid"/>
          </a:ln>
        </p:spPr>
      </p:sp>
      <p:sp>
        <p:nvSpPr>
          <p:cNvPr id="17" name="Text 15"/>
          <p:cNvSpPr txBox="1"/>
          <p:nvPr/>
        </p:nvSpPr>
        <p:spPr>
          <a:xfrm>
            <a:off x="6472733" y="1856232"/>
            <a:ext cx="2084832" cy="228600"/>
          </a:xfrm>
          <a:prstGeom prst="rect">
            <a:avLst/>
          </a:prstGeom>
          <a:noFill/>
          <a:ln/>
        </p:spPr>
        <p:txBody>
          <a:bodyPr wrap="square" lIns="0" tIns="0" rIns="0" bIns="0" rtlCol="0" anchor="t"/>
          <a:lstStyle/>
          <a:p>
            <a:pPr indent="0" marL="0">
              <a:buNone/>
            </a:pPr>
            <a:r>
              <a:rPr lang="en-US" sz="1000" b="1" spc="100" kern="0" dirty="0">
                <a:solidFill>
                  <a:srgbClr val="C8553D"/>
                </a:solidFill>
                <a:latin typeface="Calibri" pitchFamily="34" charset="0"/>
                <a:ea typeface="Calibri" pitchFamily="34" charset="-122"/>
                <a:cs typeface="Calibri" pitchFamily="34" charset="-120"/>
              </a:rPr>
              <a:t>DITULIS TANGAN</a:t>
            </a:r>
            <a:endParaRPr lang="en-US" sz="1000" dirty="0"/>
          </a:p>
        </p:txBody>
      </p:sp>
      <p:sp>
        <p:nvSpPr>
          <p:cNvPr id="18" name="Text 16"/>
          <p:cNvSpPr txBox="1"/>
          <p:nvPr/>
        </p:nvSpPr>
        <p:spPr>
          <a:xfrm>
            <a:off x="6472733" y="210312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types/index.ts</a:t>
            </a:r>
            <a:endParaRPr lang="en-US" sz="1500" dirty="0"/>
          </a:p>
        </p:txBody>
      </p:sp>
      <p:sp>
        <p:nvSpPr>
          <p:cNvPr id="19" name="Text 17"/>
          <p:cNvSpPr txBox="1"/>
          <p:nvPr/>
        </p:nvSpPr>
        <p:spPr>
          <a:xfrm>
            <a:off x="6472733" y="253288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Mengharapkan required_level. Tidak pernah dicocokkan dengan response asli.</a:t>
            </a:r>
            <a:endParaRPr lang="en-US" sz="1200" dirty="0"/>
          </a:p>
        </p:txBody>
      </p:sp>
      <p:sp>
        <p:nvSpPr>
          <p:cNvPr id="20" name="Shape 18"/>
          <p:cNvSpPr/>
          <p:nvPr/>
        </p:nvSpPr>
        <p:spPr>
          <a:xfrm>
            <a:off x="8795309" y="2743200"/>
            <a:ext cx="278282" cy="0"/>
          </a:xfrm>
          <a:prstGeom prst="line">
            <a:avLst/>
          </a:prstGeom>
          <a:noFill/>
          <a:ln w="19050">
            <a:solidFill>
              <a:srgbClr val="8B96A0"/>
            </a:solidFill>
            <a:prstDash val="solid"/>
            <a:tailEnd type="triangle"/>
          </a:ln>
        </p:spPr>
      </p:sp>
      <p:sp>
        <p:nvSpPr>
          <p:cNvPr id="21" name="Shape 19"/>
          <p:cNvSpPr/>
          <p:nvPr/>
        </p:nvSpPr>
        <p:spPr>
          <a:xfrm>
            <a:off x="9110167" y="1691640"/>
            <a:ext cx="2487168" cy="2103120"/>
          </a:xfrm>
          <a:prstGeom prst="roundRect">
            <a:avLst>
              <a:gd name="adj" fmla="val 3043"/>
            </a:avLst>
          </a:prstGeom>
          <a:solidFill>
            <a:srgbClr val="FCEDE8"/>
          </a:solidFill>
          <a:ln w="9525">
            <a:solidFill>
              <a:srgbClr val="C8553D"/>
            </a:solidFill>
            <a:prstDash val="solid"/>
          </a:ln>
        </p:spPr>
      </p:sp>
      <p:sp>
        <p:nvSpPr>
          <p:cNvPr id="22" name="Text 20"/>
          <p:cNvSpPr txBox="1"/>
          <p:nvPr/>
        </p:nvSpPr>
        <p:spPr>
          <a:xfrm>
            <a:off x="9311335" y="1856232"/>
            <a:ext cx="2084832" cy="228600"/>
          </a:xfrm>
          <a:prstGeom prst="rect">
            <a:avLst/>
          </a:prstGeom>
          <a:noFill/>
          <a:ln/>
        </p:spPr>
        <p:txBody>
          <a:bodyPr wrap="square" lIns="0" tIns="0" rIns="0" bIns="0" rtlCol="0" anchor="t"/>
          <a:lstStyle/>
          <a:p>
            <a:pPr indent="0" marL="0">
              <a:buNone/>
            </a:pPr>
            <a:r>
              <a:rPr lang="en-US" sz="1000" b="1" spc="100" kern="0" dirty="0">
                <a:solidFill>
                  <a:srgbClr val="C8553D"/>
                </a:solidFill>
                <a:latin typeface="Calibri" pitchFamily="34" charset="0"/>
                <a:ea typeface="Calibri" pitchFamily="34" charset="-122"/>
                <a:cs typeface="Calibri" pitchFamily="34" charset="-120"/>
              </a:rPr>
              <a:t>REACT</a:t>
            </a:r>
            <a:endParaRPr lang="en-US" sz="1000" dirty="0"/>
          </a:p>
        </p:txBody>
      </p:sp>
      <p:sp>
        <p:nvSpPr>
          <p:cNvPr id="23" name="Text 21"/>
          <p:cNvSpPr txBox="1"/>
          <p:nvPr/>
        </p:nvSpPr>
        <p:spPr>
          <a:xfrm>
            <a:off x="9311335" y="2103120"/>
            <a:ext cx="2084832" cy="347472"/>
          </a:xfrm>
          <a:prstGeom prst="rect">
            <a:avLst/>
          </a:prstGeom>
          <a:noFill/>
          <a:ln/>
        </p:spPr>
        <p:txBody>
          <a:bodyPr wrap="square" lIns="0" tIns="0" rIns="0" bIns="0" rtlCol="0" anchor="t"/>
          <a:lstStyle/>
          <a:p>
            <a:pPr indent="0" marL="0">
              <a:buNone/>
            </a:pPr>
            <a:r>
              <a:rPr lang="en-US" sz="1500" b="1" dirty="0">
                <a:solidFill>
                  <a:srgbClr val="1F2933"/>
                </a:solidFill>
                <a:latin typeface="Courier New" pitchFamily="34" charset="0"/>
                <a:ea typeface="Courier New" pitchFamily="34" charset="-122"/>
                <a:cs typeface="Courier New" pitchFamily="34" charset="-120"/>
              </a:rPr>
              <a:t>ComparisonTable</a:t>
            </a:r>
            <a:endParaRPr lang="en-US" sz="1500" dirty="0"/>
          </a:p>
        </p:txBody>
      </p:sp>
      <p:sp>
        <p:nvSpPr>
          <p:cNvPr id="24" name="Text 22"/>
          <p:cNvSpPr txBox="1"/>
          <p:nvPr/>
        </p:nvSpPr>
        <p:spPr>
          <a:xfrm>
            <a:off x="9311335" y="2532888"/>
            <a:ext cx="2084832"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row.required_level → undefined → sel kosong. Tanpa error.</a:t>
            </a:r>
            <a:endParaRPr lang="en-US" sz="1200" dirty="0"/>
          </a:p>
        </p:txBody>
      </p:sp>
      <p:sp>
        <p:nvSpPr>
          <p:cNvPr id="25" name="Shape 23"/>
          <p:cNvSpPr/>
          <p:nvPr/>
        </p:nvSpPr>
        <p:spPr>
          <a:xfrm>
            <a:off x="594360" y="4114800"/>
            <a:ext cx="6583680" cy="1783080"/>
          </a:xfrm>
          <a:prstGeom prst="roundRect">
            <a:avLst>
              <a:gd name="adj" fmla="val 3590"/>
            </a:avLst>
          </a:prstGeom>
          <a:solidFill>
            <a:srgbClr val="1F2530"/>
          </a:solidFill>
          <a:ln w="12700">
            <a:solidFill>
              <a:srgbClr val="1F2530"/>
            </a:solidFill>
            <a:prstDash val="solid"/>
          </a:ln>
        </p:spPr>
      </p:sp>
      <p:sp>
        <p:nvSpPr>
          <p:cNvPr id="26" name="Text 24"/>
          <p:cNvSpPr txBox="1"/>
          <p:nvPr/>
        </p:nvSpPr>
        <p:spPr>
          <a:xfrm>
            <a:off x="868680" y="4251960"/>
            <a:ext cx="6126480" cy="274320"/>
          </a:xfrm>
          <a:prstGeom prst="rect">
            <a:avLst/>
          </a:prstGeom>
          <a:noFill/>
          <a:ln/>
        </p:spPr>
        <p:txBody>
          <a:bodyPr wrap="square" lIns="0" tIns="0" rIns="0" bIns="0" rtlCol="0" anchor="t"/>
          <a:lstStyle/>
          <a:p>
            <a:pPr indent="0" marL="0">
              <a:buNone/>
            </a:pPr>
            <a:r>
              <a:rPr lang="en-US" sz="1150" dirty="0">
                <a:solidFill>
                  <a:srgbClr val="9AA4B1"/>
                </a:solidFill>
                <a:latin typeface="Calibri" pitchFamily="34" charset="0"/>
                <a:ea typeface="Calibri" pitchFamily="34" charset="-122"/>
                <a:cs typeface="Calibri" pitchFamily="34" charset="-120"/>
              </a:rPr>
              <a:t>DOM sebelum perbaikan — sel Required bukan salah isi, tapi self-closing</a:t>
            </a:r>
            <a:endParaRPr lang="en-US" sz="1150" dirty="0"/>
          </a:p>
        </p:txBody>
      </p:sp>
      <p:sp>
        <p:nvSpPr>
          <p:cNvPr id="27" name="Text 25"/>
          <p:cNvSpPr txBox="1"/>
          <p:nvPr/>
        </p:nvSpPr>
        <p:spPr>
          <a:xfrm>
            <a:off x="868680" y="4617720"/>
            <a:ext cx="6126480" cy="1097280"/>
          </a:xfrm>
          <a:prstGeom prst="rect">
            <a:avLst/>
          </a:prstGeom>
          <a:noFill/>
          <a:ln/>
        </p:spPr>
        <p:txBody>
          <a:bodyPr wrap="square" lIns="0" tIns="0" rIns="0" bIns="0" rtlCol="0" anchor="t"/>
          <a:lstStyle/>
          <a:p>
            <a:pPr indent="0" marL="0">
              <a:lnSpc>
                <a:spcPts val="2000"/>
              </a:lnSpc>
              <a:buNone/>
            </a:pPr>
            <a:r>
              <a:rPr lang="en-US" sz="1200" dirty="0">
                <a:solidFill>
                  <a:srgbClr val="D6DCE3"/>
                </a:solidFill>
                <a:latin typeface="Courier New" pitchFamily="34" charset="0"/>
                <a:ea typeface="Courier New" pitchFamily="34" charset="-122"/>
                <a:cs typeface="Courier New" pitchFamily="34" charset="-120"/>
              </a:rPr>
              <a:t>&lt;td class="px-4 py-2.5"&gt; System Design &lt;/td&gt;</a:t>
            </a:r>
            <a:endParaRPr lang="en-US" sz="1200" dirty="0"/>
          </a:p>
          <a:p>
            <a:pPr indent="0" marL="0">
              <a:lnSpc>
                <a:spcPts val="2000"/>
              </a:lnSpc>
              <a:buNone/>
            </a:pPr>
            <a:r>
              <a:rPr lang="en-US" sz="1200" b="1" dirty="0">
                <a:solidFill>
                  <a:srgbClr val="F0A58F"/>
                </a:solidFill>
                <a:latin typeface="Courier New" pitchFamily="34" charset="0"/>
                <a:ea typeface="Courier New" pitchFamily="34" charset="-122"/>
                <a:cs typeface="Courier New" pitchFamily="34" charset="-120"/>
              </a:rPr>
              <a:t>&lt;td class="px-4 py-2.5 text-center …" /&gt;</a:t>
            </a:r>
            <a:endParaRPr lang="en-US" sz="1200" dirty="0"/>
          </a:p>
          <a:p>
            <a:pPr indent="0" marL="0">
              <a:lnSpc>
                <a:spcPts val="2000"/>
              </a:lnSpc>
              <a:buNone/>
            </a:pPr>
            <a:r>
              <a:rPr lang="en-US" sz="1200" dirty="0">
                <a:solidFill>
                  <a:srgbClr val="D6DCE3"/>
                </a:solidFill>
                <a:latin typeface="Courier New" pitchFamily="34" charset="0"/>
                <a:ea typeface="Courier New" pitchFamily="34" charset="-122"/>
                <a:cs typeface="Courier New" pitchFamily="34" charset="-120"/>
              </a:rPr>
              <a:t>&lt;td class="px-4 py-2.5 text-center"&gt; &lt;span&gt;L4&lt;/span&gt; &lt;/td&gt;</a:t>
            </a:r>
            <a:endParaRPr lang="en-US" sz="1200" dirty="0"/>
          </a:p>
        </p:txBody>
      </p:sp>
      <p:sp>
        <p:nvSpPr>
          <p:cNvPr id="28" name="Shape 26"/>
          <p:cNvSpPr/>
          <p:nvPr/>
        </p:nvSpPr>
        <p:spPr>
          <a:xfrm>
            <a:off x="7452360" y="4114800"/>
            <a:ext cx="4144975" cy="1783080"/>
          </a:xfrm>
          <a:prstGeom prst="roundRect">
            <a:avLst>
              <a:gd name="adj" fmla="val 3590"/>
            </a:avLst>
          </a:prstGeom>
          <a:solidFill>
            <a:srgbClr val="F5F7F8"/>
          </a:solidFill>
          <a:ln w="9525">
            <a:solidFill>
              <a:srgbClr val="E2E7EB"/>
            </a:solidFill>
            <a:prstDash val="solid"/>
          </a:ln>
        </p:spPr>
      </p:sp>
      <p:sp>
        <p:nvSpPr>
          <p:cNvPr id="29" name="Text 27"/>
          <p:cNvSpPr txBox="1"/>
          <p:nvPr/>
        </p:nvSpPr>
        <p:spPr>
          <a:xfrm>
            <a:off x="7726680" y="4279392"/>
            <a:ext cx="3596335" cy="292608"/>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Kenapa tidak ada yang sadar</a:t>
            </a:r>
            <a:endParaRPr lang="en-US" sz="1400" dirty="0"/>
          </a:p>
        </p:txBody>
      </p:sp>
      <p:sp>
        <p:nvSpPr>
          <p:cNvPr id="30" name="Text 28"/>
          <p:cNvSpPr txBox="1"/>
          <p:nvPr/>
        </p:nvSpPr>
        <p:spPr>
          <a:xfrm>
            <a:off x="7726680" y="4617720"/>
            <a:ext cx="3596335" cy="1188720"/>
          </a:xfrm>
          <a:prstGeom prst="rect">
            <a:avLst/>
          </a:prstGeom>
          <a:noFill/>
          <a:ln/>
        </p:spPr>
        <p:txBody>
          <a:bodyPr wrap="square" lIns="0" tIns="0" rIns="0" bIns="0" rtlCol="0" anchor="t"/>
          <a:lstStyle/>
          <a:p>
            <a:pPr marL="342900" indent="-342900">
              <a:lnSpc>
                <a:spcPts val="1600"/>
              </a:lnSpc>
              <a:spcAft>
                <a:spcPts val="500"/>
              </a:spcAft>
              <a:buSzPct val="100000"/>
              <a:buChar char="•"/>
            </a:pPr>
            <a:r>
              <a:rPr lang="en-US" sz="1250" dirty="0">
                <a:solidFill>
                  <a:srgbClr val="5F6B76"/>
                </a:solidFill>
                <a:latin typeface="Calibri" pitchFamily="34" charset="0"/>
                <a:ea typeface="Calibri" pitchFamily="34" charset="-122"/>
                <a:cs typeface="Calibri" pitchFamily="34" charset="-120"/>
              </a:rPr>
              <a:t>TypeScript tidak protes — type-nya klaim, bukan verifikasi.</a:t>
            </a:r>
            <a:endParaRPr lang="en-US" sz="1250" dirty="0"/>
          </a:p>
          <a:p>
            <a:pPr marL="342900" indent="-342900">
              <a:lnSpc>
                <a:spcPts val="1600"/>
              </a:lnSpc>
              <a:spcAft>
                <a:spcPts val="500"/>
              </a:spcAft>
              <a:buSzPct val="100000"/>
              <a:buChar char="•"/>
            </a:pPr>
            <a:r>
              <a:rPr lang="en-US" sz="1250" dirty="0">
                <a:solidFill>
                  <a:srgbClr val="5F6B76"/>
                </a:solidFill>
                <a:latin typeface="Calibri" pitchFamily="34" charset="0"/>
                <a:ea typeface="Calibri" pitchFamily="34" charset="-122"/>
                <a:cs typeface="Calibri" pitchFamily="34" charset="-120"/>
              </a:rPr>
              <a:t>web/ tidak punya test runner.</a:t>
            </a:r>
            <a:endParaRPr lang="en-US" sz="1250" dirty="0"/>
          </a:p>
          <a:p>
            <a:pPr marL="342900" indent="-342900">
              <a:lnSpc>
                <a:spcPts val="1600"/>
              </a:lnSpc>
              <a:spcAft>
                <a:spcPts val="500"/>
              </a:spcAft>
              <a:buSzPct val="100000"/>
              <a:buChar char="•"/>
            </a:pPr>
            <a:r>
              <a:rPr lang="en-US" sz="1250" dirty="0">
                <a:solidFill>
                  <a:srgbClr val="5F6B76"/>
                </a:solidFill>
                <a:latin typeface="Calibri" pitchFamily="34" charset="0"/>
                <a:ea typeface="Calibri" pitchFamily="34" charset="-122"/>
                <a:cs typeface="Calibri" pitchFamily="34" charset="-120"/>
              </a:rPr>
              <a:t>Runtime tidak error; undefined dirender sebagai kosong.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Tiga opsi yang saya timbang</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Kriterianya: dampak ke user, biaya, cara gagal, siapa yang merawat, dan seberapa mudah dibatalkan.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554480"/>
          <a:ext cx="11002975" cy="914400"/>
        </p:xfrm>
        <a:graphic>
          <a:graphicData uri="http://schemas.openxmlformats.org/drawingml/2006/table">
            <a:tbl>
              <a:tblPr/>
              <a:tblGrid>
                <a:gridCol w="1828800"/>
                <a:gridCol w="2834640"/>
                <a:gridCol w="3474720"/>
                <a:gridCol w="2862072"/>
              </a:tblGrid>
              <a:tr h="420624">
                <a:tc>
                  <a:txBody>
                    <a:bodyPr/>
                    <a:lstStyle/>
                    <a:p>
                      <a:pPr indent="0" marL="0">
                        <a:buNone/>
                      </a:pP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A · Tambal seam</a:t>
                      </a: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 · Contract-first  ✓ dipilih</a:t>
                      </a: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0F766E"/>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C · OpenAPI codegen</a:t>
                      </a:r>
                      <a:endParaRPr lang="en-US" sz="130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r>
              <a:tr h="502920">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Biaya</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 1 jam</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 1,5 hari</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Beberapa hari — API belum punya spec</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713232">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Dampak ke user</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Tabel terisi</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Setiap baris jadi decision record: siapa menilai, seberapa yakin, dari berapa probe</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Sama dengan B, plus type otomatis</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65836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Cara gagal</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Drift berikutnya kembali diam-diam</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Drift gagal keras di boundary, dengan field yang hilang disebut</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Spec yang tidak dirawat jadi sumber salah baru</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6692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Perawatan</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Type tetap ditulis tangan</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Satu schema per response; type di-infer dari schema</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Paling rapi jangka panjang</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65836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Bisa dibatalkan</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Mudah</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Dilepas per endpoint. Zod sudah ada di package.json, menganggur</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E6F3F1"/>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Tidak tertutup oleh B</a:t>
                      </a:r>
                      <a:endParaRPr lang="en-US" sz="1250" dirty="0">
                        <a:latin typeface="Calibri" charset="0"/>
                        <a:ea typeface="Calibri" charset="0"/>
                        <a:cs typeface="Calibri" charset="0"/>
                      </a:endParaRPr>
                    </a:p>
                  </a:txBody>
                  <a:tcPr marL="128016" marR="128016" marT="73152" marB="73152"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bl>
          </a:graphicData>
        </a:graphic>
      </p:graphicFrame>
      <p:sp>
        <p:nvSpPr>
          <p:cNvPr id="7" name="Shape 4"/>
          <p:cNvSpPr/>
          <p:nvPr/>
        </p:nvSpPr>
        <p:spPr>
          <a:xfrm>
            <a:off x="594360" y="5349240"/>
            <a:ext cx="11002975" cy="685800"/>
          </a:xfrm>
          <a:prstGeom prst="roundRect">
            <a:avLst>
              <a:gd name="adj" fmla="val 9333"/>
            </a:avLst>
          </a:prstGeom>
          <a:solidFill>
            <a:srgbClr val="E6F3F1"/>
          </a:solidFill>
          <a:ln w="9525">
            <a:solidFill>
              <a:srgbClr val="E6F3F1"/>
            </a:solidFill>
            <a:prstDash val="solid"/>
          </a:ln>
        </p:spPr>
      </p:sp>
      <p:sp>
        <p:nvSpPr>
          <p:cNvPr id="8" name="Text 5"/>
          <p:cNvSpPr txBox="1"/>
          <p:nvPr/>
        </p:nvSpPr>
        <p:spPr>
          <a:xfrm>
            <a:off x="868680" y="5349240"/>
            <a:ext cx="10454335" cy="685800"/>
          </a:xfrm>
          <a:prstGeom prst="rect">
            <a:avLst/>
          </a:prstGeom>
          <a:noFill/>
          <a:ln/>
        </p:spPr>
        <p:txBody>
          <a:bodyPr wrap="square" lIns="0" tIns="0" rIns="0" bIns="0" rtlCol="0" anchor="ctr"/>
          <a:lstStyle/>
          <a:p>
            <a:pPr indent="0" marL="0">
              <a:buNone/>
            </a:pPr>
            <a:r>
              <a:rPr lang="en-US" sz="1350" b="1" dirty="0">
                <a:solidFill>
                  <a:srgbClr val="0B5550"/>
                </a:solidFill>
                <a:latin typeface="Calibri" pitchFamily="34" charset="0"/>
                <a:ea typeface="Calibri" pitchFamily="34" charset="-122"/>
                <a:cs typeface="Calibri" pitchFamily="34" charset="-120"/>
              </a:rPr>
              <a:t>Keputusan: </a:t>
            </a:r>
            <a:pPr indent="0" marL="0">
              <a:buNone/>
            </a:pPr>
            <a:r>
              <a:rPr lang="en-US" sz="1350" dirty="0">
                <a:solidFill>
                  <a:srgbClr val="1F2933"/>
                </a:solidFill>
                <a:latin typeface="Calibri" pitchFamily="34" charset="0"/>
                <a:ea typeface="Calibri" pitchFamily="34" charset="-122"/>
                <a:cs typeface="Calibri" pitchFamily="34" charset="-120"/>
              </a:rPr>
              <a:t>B sekarang, C sebagai langkah berikutnya — setelah ada test runner yang bisa menangkap drift, investasi ke spec baru masuk akal.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Desain solusinya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Validasi di satu tempat: service layer, sebelum data menyentuh komponen.</a:t>
            </a:r>
            <a:endParaRPr lang="en-US" sz="1500" dirty="0"/>
          </a:p>
        </p:txBody>
      </p:sp>
      <p:sp>
        <p:nvSpPr>
          <p:cNvPr id="6" name="Shape 4"/>
          <p:cNvSpPr/>
          <p:nvPr/>
        </p:nvSpPr>
        <p:spPr>
          <a:xfrm>
            <a:off x="594360" y="1691640"/>
            <a:ext cx="3108960" cy="868680"/>
          </a:xfrm>
          <a:prstGeom prst="roundRect">
            <a:avLst>
              <a:gd name="adj" fmla="val 7368"/>
            </a:avLst>
          </a:prstGeom>
          <a:solidFill>
            <a:srgbClr val="F5F7F8"/>
          </a:solidFill>
          <a:ln w="9525">
            <a:solidFill>
              <a:srgbClr val="E2E7EB"/>
            </a:solidFill>
            <a:prstDash val="solid"/>
          </a:ln>
        </p:spPr>
      </p:sp>
      <p:sp>
        <p:nvSpPr>
          <p:cNvPr id="7" name="Text 5"/>
          <p:cNvSpPr txBox="1"/>
          <p:nvPr/>
        </p:nvSpPr>
        <p:spPr>
          <a:xfrm>
            <a:off x="777240" y="1801368"/>
            <a:ext cx="2743200" cy="320040"/>
          </a:xfrm>
          <a:prstGeom prst="rect">
            <a:avLst/>
          </a:prstGeom>
          <a:noFill/>
          <a:ln/>
        </p:spPr>
        <p:txBody>
          <a:bodyPr wrap="square" lIns="0" tIns="0" rIns="0" bIns="0" rtlCol="0" anchor="t"/>
          <a:lstStyle/>
          <a:p>
            <a:pPr indent="0" marL="0">
              <a:buNone/>
            </a:pPr>
            <a:r>
              <a:rPr lang="en-US" sz="1350" b="1" dirty="0">
                <a:solidFill>
                  <a:srgbClr val="1F2933"/>
                </a:solidFill>
                <a:latin typeface="Courier New" pitchFamily="34" charset="0"/>
                <a:ea typeface="Courier New" pitchFamily="34" charset="-122"/>
                <a:cs typeface="Courier New" pitchFamily="34" charset="-120"/>
              </a:rPr>
              <a:t>GET /portfolios/:id/fitgap</a:t>
            </a:r>
            <a:endParaRPr lang="en-US" sz="1350" dirty="0"/>
          </a:p>
        </p:txBody>
      </p:sp>
      <p:sp>
        <p:nvSpPr>
          <p:cNvPr id="8" name="Text 6"/>
          <p:cNvSpPr txBox="1"/>
          <p:nvPr/>
        </p:nvSpPr>
        <p:spPr>
          <a:xfrm>
            <a:off x="777240" y="2148840"/>
            <a:ext cx="274320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Response mentah dari API</a:t>
            </a:r>
            <a:endParaRPr lang="en-US" sz="1150" dirty="0"/>
          </a:p>
        </p:txBody>
      </p:sp>
      <p:sp>
        <p:nvSpPr>
          <p:cNvPr id="9" name="Shape 7"/>
          <p:cNvSpPr/>
          <p:nvPr/>
        </p:nvSpPr>
        <p:spPr>
          <a:xfrm>
            <a:off x="2148840" y="2578608"/>
            <a:ext cx="0" cy="329184"/>
          </a:xfrm>
          <a:prstGeom prst="line">
            <a:avLst/>
          </a:prstGeom>
          <a:noFill/>
          <a:ln w="19050">
            <a:solidFill>
              <a:srgbClr val="8B96A0"/>
            </a:solidFill>
            <a:prstDash val="solid"/>
            <a:tailEnd type="triangle"/>
          </a:ln>
        </p:spPr>
      </p:sp>
      <p:sp>
        <p:nvSpPr>
          <p:cNvPr id="10" name="Shape 8"/>
          <p:cNvSpPr/>
          <p:nvPr/>
        </p:nvSpPr>
        <p:spPr>
          <a:xfrm>
            <a:off x="594360" y="2926080"/>
            <a:ext cx="3108960" cy="868680"/>
          </a:xfrm>
          <a:prstGeom prst="roundRect">
            <a:avLst>
              <a:gd name="adj" fmla="val 7368"/>
            </a:avLst>
          </a:prstGeom>
          <a:solidFill>
            <a:srgbClr val="E6F3F1"/>
          </a:solidFill>
          <a:ln w="9525">
            <a:solidFill>
              <a:srgbClr val="0F766E"/>
            </a:solidFill>
            <a:prstDash val="solid"/>
          </a:ln>
        </p:spPr>
      </p:sp>
      <p:sp>
        <p:nvSpPr>
          <p:cNvPr id="11" name="Text 9"/>
          <p:cNvSpPr txBox="1"/>
          <p:nvPr/>
        </p:nvSpPr>
        <p:spPr>
          <a:xfrm>
            <a:off x="777240" y="3035808"/>
            <a:ext cx="2743200" cy="320040"/>
          </a:xfrm>
          <a:prstGeom prst="rect">
            <a:avLst/>
          </a:prstGeom>
          <a:noFill/>
          <a:ln/>
        </p:spPr>
        <p:txBody>
          <a:bodyPr wrap="square" lIns="0" tIns="0" rIns="0" bIns="0" rtlCol="0" anchor="t"/>
          <a:lstStyle/>
          <a:p>
            <a:pPr indent="0" marL="0">
              <a:buNone/>
            </a:pPr>
            <a:r>
              <a:rPr lang="en-US" sz="1350" b="1" dirty="0">
                <a:solidFill>
                  <a:srgbClr val="1F2933"/>
                </a:solidFill>
                <a:latin typeface="Courier New" pitchFamily="34" charset="0"/>
                <a:ea typeface="Courier New" pitchFamily="34" charset="-122"/>
                <a:cs typeface="Courier New" pitchFamily="34" charset="-120"/>
              </a:rPr>
              <a:t>parseContract()</a:t>
            </a:r>
            <a:endParaRPr lang="en-US" sz="1350" dirty="0"/>
          </a:p>
        </p:txBody>
      </p:sp>
      <p:sp>
        <p:nvSpPr>
          <p:cNvPr id="12" name="Text 10"/>
          <p:cNvSpPr txBox="1"/>
          <p:nvPr/>
        </p:nvSpPr>
        <p:spPr>
          <a:xfrm>
            <a:off x="777240" y="3383280"/>
            <a:ext cx="274320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Zod schema di services/schemas.ts</a:t>
            </a:r>
            <a:endParaRPr lang="en-US" sz="1150" dirty="0"/>
          </a:p>
        </p:txBody>
      </p:sp>
      <p:sp>
        <p:nvSpPr>
          <p:cNvPr id="13" name="Shape 11"/>
          <p:cNvSpPr/>
          <p:nvPr/>
        </p:nvSpPr>
        <p:spPr>
          <a:xfrm>
            <a:off x="1417320" y="3813048"/>
            <a:ext cx="0" cy="365760"/>
          </a:xfrm>
          <a:prstGeom prst="line">
            <a:avLst/>
          </a:prstGeom>
          <a:noFill/>
          <a:ln w="19050">
            <a:solidFill>
              <a:srgbClr val="0F766E"/>
            </a:solidFill>
            <a:prstDash val="solid"/>
            <a:tailEnd type="triangle"/>
          </a:ln>
        </p:spPr>
      </p:sp>
      <p:sp>
        <p:nvSpPr>
          <p:cNvPr id="14" name="Shape 12"/>
          <p:cNvSpPr/>
          <p:nvPr/>
        </p:nvSpPr>
        <p:spPr>
          <a:xfrm>
            <a:off x="2880360" y="3813048"/>
            <a:ext cx="0" cy="365760"/>
          </a:xfrm>
          <a:prstGeom prst="line">
            <a:avLst/>
          </a:prstGeom>
          <a:noFill/>
          <a:ln w="19050">
            <a:solidFill>
              <a:srgbClr val="C8553D"/>
            </a:solidFill>
            <a:prstDash val="solid"/>
            <a:tailEnd type="triangle"/>
          </a:ln>
        </p:spPr>
      </p:sp>
      <p:sp>
        <p:nvSpPr>
          <p:cNvPr id="15" name="Shape 13"/>
          <p:cNvSpPr/>
          <p:nvPr/>
        </p:nvSpPr>
        <p:spPr>
          <a:xfrm>
            <a:off x="548640" y="4215384"/>
            <a:ext cx="1691640" cy="1280160"/>
          </a:xfrm>
          <a:prstGeom prst="roundRect">
            <a:avLst>
              <a:gd name="adj" fmla="val 5000"/>
            </a:avLst>
          </a:prstGeom>
          <a:solidFill>
            <a:srgbClr val="E6F3F1"/>
          </a:solidFill>
          <a:ln w="9525">
            <a:solidFill>
              <a:srgbClr val="0F766E"/>
            </a:solidFill>
            <a:prstDash val="solid"/>
          </a:ln>
        </p:spPr>
      </p:sp>
      <p:sp>
        <p:nvSpPr>
          <p:cNvPr id="16" name="Text 14"/>
          <p:cNvSpPr txBox="1"/>
          <p:nvPr/>
        </p:nvSpPr>
        <p:spPr>
          <a:xfrm>
            <a:off x="685800" y="4306824"/>
            <a:ext cx="1463040" cy="27432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Valid</a:t>
            </a:r>
            <a:endParaRPr lang="en-US" sz="1250" dirty="0"/>
          </a:p>
        </p:txBody>
      </p:sp>
      <p:sp>
        <p:nvSpPr>
          <p:cNvPr id="17" name="Text 15"/>
          <p:cNvSpPr txBox="1"/>
          <p:nvPr/>
        </p:nvSpPr>
        <p:spPr>
          <a:xfrm>
            <a:off x="685800" y="4581144"/>
            <a:ext cx="1463040" cy="82296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Render decision record per baris</a:t>
            </a:r>
            <a:endParaRPr lang="en-US" sz="1150" dirty="0"/>
          </a:p>
        </p:txBody>
      </p:sp>
      <p:sp>
        <p:nvSpPr>
          <p:cNvPr id="18" name="Shape 16"/>
          <p:cNvSpPr/>
          <p:nvPr/>
        </p:nvSpPr>
        <p:spPr>
          <a:xfrm>
            <a:off x="2377440" y="4215384"/>
            <a:ext cx="1371600" cy="1280160"/>
          </a:xfrm>
          <a:prstGeom prst="roundRect">
            <a:avLst>
              <a:gd name="adj" fmla="val 5000"/>
            </a:avLst>
          </a:prstGeom>
          <a:solidFill>
            <a:srgbClr val="FCEDE8"/>
          </a:solidFill>
          <a:ln w="9525">
            <a:solidFill>
              <a:srgbClr val="C8553D"/>
            </a:solidFill>
            <a:prstDash val="solid"/>
          </a:ln>
        </p:spPr>
      </p:sp>
      <p:sp>
        <p:nvSpPr>
          <p:cNvPr id="19" name="Text 17"/>
          <p:cNvSpPr txBox="1"/>
          <p:nvPr/>
        </p:nvSpPr>
        <p:spPr>
          <a:xfrm>
            <a:off x="2496312" y="4306824"/>
            <a:ext cx="1188720" cy="274320"/>
          </a:xfrm>
          <a:prstGeom prst="rect">
            <a:avLst/>
          </a:prstGeom>
          <a:noFill/>
          <a:ln/>
        </p:spPr>
        <p:txBody>
          <a:bodyPr wrap="square" lIns="0" tIns="0" rIns="0" bIns="0" rtlCol="0" anchor="t"/>
          <a:lstStyle/>
          <a:p>
            <a:pPr indent="0" marL="0">
              <a:buNone/>
            </a:pPr>
            <a:r>
              <a:rPr lang="en-US" sz="1250" b="1" dirty="0">
                <a:solidFill>
                  <a:srgbClr val="C8553D"/>
                </a:solidFill>
                <a:latin typeface="Calibri" pitchFamily="34" charset="0"/>
                <a:ea typeface="Calibri" pitchFamily="34" charset="-122"/>
                <a:cs typeface="Calibri" pitchFamily="34" charset="-120"/>
              </a:rPr>
              <a:t>Tidak valid</a:t>
            </a:r>
            <a:endParaRPr lang="en-US" sz="1250" dirty="0"/>
          </a:p>
        </p:txBody>
      </p:sp>
      <p:sp>
        <p:nvSpPr>
          <p:cNvPr id="20" name="Text 18"/>
          <p:cNvSpPr txBox="1"/>
          <p:nvPr/>
        </p:nvSpPr>
        <p:spPr>
          <a:xfrm>
            <a:off x="2496312" y="4581144"/>
            <a:ext cx="1188720" cy="868680"/>
          </a:xfrm>
          <a:prstGeom prst="rect">
            <a:avLst/>
          </a:prstGeom>
          <a:noFill/>
          <a:ln/>
        </p:spPr>
        <p:txBody>
          <a:bodyPr wrap="square" lIns="0" tIns="0" rIns="0" bIns="0" rtlCol="0" anchor="t"/>
          <a:lstStyle/>
          <a:p>
            <a:pPr indent="0" marL="0">
              <a:lnSpc>
                <a:spcPts val="1300"/>
              </a:lnSpc>
              <a:buNone/>
            </a:pPr>
            <a:r>
              <a:rPr lang="en-US" sz="1050" dirty="0">
                <a:solidFill>
                  <a:srgbClr val="1F2933"/>
                </a:solidFill>
                <a:latin typeface="Calibri" pitchFamily="34" charset="0"/>
                <a:ea typeface="Calibri" pitchFamily="34" charset="-122"/>
                <a:cs typeface="Calibri" pitchFamily="34" charset="-120"/>
              </a:rPr>
              <a:t>ContractError: “data laporan tidak lengkap” + field yang hilang dicatat</a:t>
            </a:r>
            <a:endParaRPr lang="en-US" sz="1050" dirty="0"/>
          </a:p>
        </p:txBody>
      </p:sp>
      <p:sp>
        <p:nvSpPr>
          <p:cNvPr id="21" name="Text 19"/>
          <p:cNvSpPr txBox="1"/>
          <p:nvPr/>
        </p:nvSpPr>
        <p:spPr>
          <a:xfrm>
            <a:off x="4206240" y="1691640"/>
            <a:ext cx="3886200"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Payload backend sekarang membawa</a:t>
            </a:r>
            <a:endParaRPr lang="en-US" sz="1450" dirty="0"/>
          </a:p>
        </p:txBody>
      </p:sp>
      <p:sp>
        <p:nvSpPr>
          <p:cNvPr id="22" name="Shape 20"/>
          <p:cNvSpPr/>
          <p:nvPr/>
        </p:nvSpPr>
        <p:spPr>
          <a:xfrm>
            <a:off x="4206240" y="2057400"/>
            <a:ext cx="3886200" cy="3474720"/>
          </a:xfrm>
          <a:prstGeom prst="roundRect">
            <a:avLst>
              <a:gd name="adj" fmla="val 1842"/>
            </a:avLst>
          </a:prstGeom>
          <a:solidFill>
            <a:srgbClr val="1F2530"/>
          </a:solidFill>
          <a:ln w="12700">
            <a:solidFill>
              <a:srgbClr val="1F2530"/>
            </a:solidFill>
            <a:prstDash val="solid"/>
          </a:ln>
        </p:spPr>
      </p:sp>
      <p:sp>
        <p:nvSpPr>
          <p:cNvPr id="23" name="Text 21"/>
          <p:cNvSpPr txBox="1"/>
          <p:nvPr/>
        </p:nvSpPr>
        <p:spPr>
          <a:xfrm>
            <a:off x="4480560" y="2240280"/>
            <a:ext cx="3429000" cy="3154680"/>
          </a:xfrm>
          <a:prstGeom prst="rect">
            <a:avLst/>
          </a:prstGeom>
          <a:noFill/>
          <a:ln/>
        </p:spPr>
        <p:txBody>
          <a:bodyPr wrap="square" lIns="0" tIns="0" rIns="0" bIns="0" rtlCol="0" anchor="t"/>
          <a:lstStyle/>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required_level</a:t>
            </a:r>
            <a:pPr indent="0" marL="0">
              <a:lnSpc>
                <a:spcPts val="1900"/>
              </a:lnSpc>
              <a:buNone/>
            </a:pPr>
            <a:r>
              <a:rPr lang="en-US" sz="1150" dirty="0">
                <a:solidFill>
                  <a:srgbClr val="8A95A3"/>
                </a:solidFill>
                <a:latin typeface="Courier New" pitchFamily="34" charset="0"/>
                <a:ea typeface="Courier New" pitchFamily="34" charset="-122"/>
                <a:cs typeface="Courier New" pitchFamily="34" charset="-120"/>
              </a:rPr>
              <a:t>   + alias expected_level</a:t>
            </a: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ai_level</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is_override</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overridden_by_email</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overridden_at</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confidence</a:t>
            </a:r>
            <a:pPr indent="0" marL="0">
              <a:lnSpc>
                <a:spcPts val="1900"/>
              </a:lnSpc>
              <a:buNone/>
            </a:pPr>
            <a:r>
              <a:rPr lang="en-US" sz="1150" dirty="0">
                <a:solidFill>
                  <a:srgbClr val="8A95A3"/>
                </a:solidFill>
                <a:latin typeface="Courier New" pitchFamily="34" charset="0"/>
                <a:ea typeface="Courier New" pitchFamily="34" charset="-122"/>
                <a:cs typeface="Courier New" pitchFamily="34" charset="-120"/>
              </a:rPr>
              <a:t>   nullable = belum terukur</a:t>
            </a: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probe_count</a:t>
            </a:r>
            <a:pPr indent="0" marL="0">
              <a:lnSpc>
                <a:spcPts val="1900"/>
              </a:lnSpc>
              <a:buNone/>
            </a:pP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evidence_turn_ids</a:t>
            </a:r>
            <a:pPr indent="0" marL="0">
              <a:lnSpc>
                <a:spcPts val="1900"/>
              </a:lnSpc>
              <a:buNone/>
            </a:pPr>
            <a:r>
              <a:rPr lang="en-US" sz="1150" dirty="0">
                <a:solidFill>
                  <a:srgbClr val="8A95A3"/>
                </a:solidFill>
                <a:latin typeface="Courier New" pitchFamily="34" charset="0"/>
                <a:ea typeface="Courier New" pitchFamily="34" charset="-122"/>
                <a:cs typeface="Courier New" pitchFamily="34" charset="-120"/>
              </a:rPr>
              <a:t>   → turn</a:t>
            </a:r>
            <a:endParaRPr lang="en-US" sz="1150" dirty="0"/>
          </a:p>
          <a:p>
            <a:pPr indent="0" marL="0">
              <a:lnSpc>
                <a:spcPts val="1900"/>
              </a:lnSpc>
              <a:buNone/>
            </a:pPr>
            <a:r>
              <a:rPr lang="en-US" sz="1150" dirty="0">
                <a:solidFill>
                  <a:srgbClr val="E6EBF0"/>
                </a:solidFill>
                <a:latin typeface="Courier New" pitchFamily="34" charset="0"/>
                <a:ea typeface="Courier New" pitchFamily="34" charset="-122"/>
                <a:cs typeface="Courier New" pitchFamily="34" charset="-120"/>
              </a:rPr>
              <a:t>narrative_is_fallback</a:t>
            </a:r>
            <a:pPr indent="0" marL="0">
              <a:lnSpc>
                <a:spcPts val="1900"/>
              </a:lnSpc>
              <a:buNone/>
            </a:pPr>
            <a:endParaRPr lang="en-US" sz="1150" dirty="0"/>
          </a:p>
        </p:txBody>
      </p:sp>
      <p:sp>
        <p:nvSpPr>
          <p:cNvPr id="24" name="Text 22"/>
          <p:cNvSpPr txBox="1"/>
          <p:nvPr/>
        </p:nvSpPr>
        <p:spPr>
          <a:xfrm>
            <a:off x="8412480" y="1691640"/>
            <a:ext cx="318485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Detail yang penting</a:t>
            </a:r>
            <a:endParaRPr lang="en-US" sz="1450" dirty="0"/>
          </a:p>
        </p:txBody>
      </p:sp>
      <p:sp>
        <p:nvSpPr>
          <p:cNvPr id="25" name="Text 23"/>
          <p:cNvSpPr txBox="1"/>
          <p:nvPr/>
        </p:nvSpPr>
        <p:spPr>
          <a:xfrm>
            <a:off x="8412480" y="2103120"/>
            <a:ext cx="3184855" cy="34747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Schema menerima required_level ?? expected_level, dan .refine() menolak baris yang tidak punya keduanya.</a:t>
            </a:r>
            <a:endParaRPr lang="en-US" sz="1250" dirty="0"/>
          </a:p>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Field asing diabaikan, jadi backend bisa menambah field tanpa merusak frontend.</a:t>
            </a:r>
            <a:endParaRPr lang="en-US" sz="1250" dirty="0"/>
          </a:p>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Type di frontend di-infer dari schema — type dan runtime check tidak bisa berbeda lagi.</a:t>
            </a:r>
            <a:endParaRPr lang="en-US" sz="1250" dirty="0"/>
          </a:p>
          <a:p>
            <a:pPr marL="342900" indent="-342900">
              <a:lnSpc>
                <a:spcPts val="1700"/>
              </a:lnSpc>
              <a:spcAft>
                <a:spcPts val="900"/>
              </a:spcAft>
              <a:buSzPct val="100000"/>
              <a:buChar char="•"/>
            </a:pPr>
            <a:r>
              <a:rPr lang="en-US" sz="1250" dirty="0">
                <a:solidFill>
                  <a:srgbClr val="1F2933"/>
                </a:solidFill>
                <a:latin typeface="Calibri" pitchFamily="34" charset="0"/>
                <a:ea typeface="Calibri" pitchFamily="34" charset="-122"/>
                <a:cs typeface="Calibri" pitchFamily="34" charset="-120"/>
              </a:rPr>
              <a:t>parseLevel mengembalikan null, tidak pernah jatuh ke L1.</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bar yang jadi pembanding kandidat</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P0-1 · data yang sama, sebelum dan sesudah.</a:t>
            </a:r>
            <a:endParaRPr lang="en-US" sz="1500" dirty="0"/>
          </a:p>
        </p:txBody>
      </p:sp>
      <p:sp>
        <p:nvSpPr>
          <p:cNvPr id="6" name="Text 4"/>
          <p:cNvSpPr txBox="1"/>
          <p:nvPr/>
        </p:nvSpPr>
        <p:spPr>
          <a:xfrm>
            <a:off x="594360" y="1572768"/>
            <a:ext cx="1828800" cy="256032"/>
          </a:xfrm>
          <a:prstGeom prst="rect">
            <a:avLst/>
          </a:prstGeom>
          <a:noFill/>
          <a:ln/>
        </p:spPr>
        <p:txBody>
          <a:bodyPr wrap="square" lIns="0" tIns="0" rIns="0" bIns="0" rtlCol="0" anchor="t"/>
          <a:lstStyle/>
          <a:p>
            <a:pPr indent="0" marL="0">
              <a:buNone/>
            </a:pPr>
            <a:r>
              <a:rPr lang="en-US" sz="1200" b="1" dirty="0">
                <a:solidFill>
                  <a:srgbClr val="C8553D"/>
                </a:solidFill>
                <a:latin typeface="Calibri" pitchFamily="34" charset="0"/>
                <a:ea typeface="Calibri" pitchFamily="34" charset="-122"/>
                <a:cs typeface="Calibri" pitchFamily="34" charset="-120"/>
              </a:rPr>
              <a:t>Sebelum</a:t>
            </a:r>
            <a:endParaRPr lang="en-US" sz="1200" dirty="0"/>
          </a:p>
        </p:txBody>
      </p:sp>
      <p:pic>
        <p:nvPicPr>
          <p:cNvPr id="7" name="Image 0" descr="img/p01_before.png">    </p:cNvPr>
          <p:cNvPicPr>
            <a:picLocks noChangeAspect="1"/>
          </p:cNvPicPr>
          <p:nvPr/>
        </p:nvPicPr>
        <p:blipFill>
          <a:blip r:embed="rId1"/>
          <a:stretch>
            <a:fillRect/>
          </a:stretch>
        </p:blipFill>
        <p:spPr>
          <a:xfrm>
            <a:off x="594360" y="1847088"/>
            <a:ext cx="6309360" cy="1638795"/>
          </a:xfrm>
          <a:prstGeom prst="rect">
            <a:avLst/>
          </a:prstGeom>
        </p:spPr>
      </p:pic>
      <p:sp>
        <p:nvSpPr>
          <p:cNvPr id="8" name="Shape 5"/>
          <p:cNvSpPr/>
          <p:nvPr/>
        </p:nvSpPr>
        <p:spPr>
          <a:xfrm>
            <a:off x="594360" y="1847088"/>
            <a:ext cx="6309360" cy="1638795"/>
          </a:xfrm>
          <a:prstGeom prst="rect">
            <a:avLst/>
          </a:prstGeom>
          <a:ln w="9525">
            <a:solidFill>
              <a:srgbClr val="E2E7EB"/>
            </a:solidFill>
            <a:prstDash val="solid"/>
          </a:ln>
        </p:spPr>
      </p:sp>
      <p:sp>
        <p:nvSpPr>
          <p:cNvPr id="9" name="Text 6"/>
          <p:cNvSpPr txBox="1"/>
          <p:nvPr/>
        </p:nvSpPr>
        <p:spPr>
          <a:xfrm>
            <a:off x="594360" y="3741915"/>
            <a:ext cx="182880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Sesudah</a:t>
            </a:r>
            <a:endParaRPr lang="en-US" sz="1200" dirty="0"/>
          </a:p>
        </p:txBody>
      </p:sp>
      <p:pic>
        <p:nvPicPr>
          <p:cNvPr id="10" name="Image 1" descr="img/p01_after.png">    </p:cNvPr>
          <p:cNvPicPr>
            <a:picLocks noChangeAspect="1"/>
          </p:cNvPicPr>
          <p:nvPr/>
        </p:nvPicPr>
        <p:blipFill>
          <a:blip r:embed="rId2"/>
          <a:stretch>
            <a:fillRect/>
          </a:stretch>
        </p:blipFill>
        <p:spPr>
          <a:xfrm>
            <a:off x="594360" y="4016235"/>
            <a:ext cx="6309360" cy="2190750"/>
          </a:xfrm>
          <a:prstGeom prst="rect">
            <a:avLst/>
          </a:prstGeom>
        </p:spPr>
      </p:pic>
      <p:sp>
        <p:nvSpPr>
          <p:cNvPr id="11" name="Shape 7"/>
          <p:cNvSpPr/>
          <p:nvPr/>
        </p:nvSpPr>
        <p:spPr>
          <a:xfrm>
            <a:off x="594360" y="4016235"/>
            <a:ext cx="6309360" cy="2190750"/>
          </a:xfrm>
          <a:prstGeom prst="rect">
            <a:avLst/>
          </a:prstGeom>
          <a:ln w="9525">
            <a:solidFill>
              <a:srgbClr val="E2E7EB"/>
            </a:solidFill>
            <a:prstDash val="solid"/>
          </a:ln>
        </p:spPr>
      </p:sp>
      <p:sp>
        <p:nvSpPr>
          <p:cNvPr id="12" name="Shape 8"/>
          <p:cNvSpPr/>
          <p:nvPr/>
        </p:nvSpPr>
        <p:spPr>
          <a:xfrm>
            <a:off x="7315200" y="1572768"/>
            <a:ext cx="4282135" cy="4526280"/>
          </a:xfrm>
          <a:prstGeom prst="roundRect">
            <a:avLst>
              <a:gd name="adj" fmla="val 1495"/>
            </a:avLst>
          </a:prstGeom>
          <a:solidFill>
            <a:srgbClr val="E6F3F1"/>
          </a:solidFill>
          <a:ln w="9525">
            <a:solidFill>
              <a:srgbClr val="E6F3F1"/>
            </a:solidFill>
            <a:prstDash val="solid"/>
          </a:ln>
        </p:spPr>
      </p:sp>
      <p:sp>
        <p:nvSpPr>
          <p:cNvPr id="13" name="Text 9"/>
          <p:cNvSpPr txBox="1"/>
          <p:nvPr/>
        </p:nvSpPr>
        <p:spPr>
          <a:xfrm>
            <a:off x="7589520" y="1737360"/>
            <a:ext cx="3733495" cy="32004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Yang berubah</a:t>
            </a:r>
            <a:endParaRPr lang="en-US" sz="1500" dirty="0"/>
          </a:p>
        </p:txBody>
      </p:sp>
      <p:sp>
        <p:nvSpPr>
          <p:cNvPr id="14" name="Text 10"/>
          <p:cNvSpPr txBox="1"/>
          <p:nvPr/>
        </p:nvSpPr>
        <p:spPr>
          <a:xfrm>
            <a:off x="7589520" y="2148840"/>
            <a:ext cx="3733495" cy="384048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Required terisi dari payload yang sudah divalidasi.</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Kolom keyakinan dengan jumlah probe.</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Gap yang bersandar pada satu probe memunculkan peringatan: jadwalkan sesi lanjutan sebelum menolak kandidat (AC-3.3).</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Skill yang tidak pernah diprobe tertulis “Belum dinilai”, bukan L1 (AC-4.4).</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Tabel punya caption, scope di header, dan label teks — status tidak hanya dibawa warna.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siapa yang menilai, dan seberapa yakin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P0-2 dan P0-3 · dua data yang sudah ada di database tapi tidak pernah sampai ke layar.</a:t>
            </a:r>
            <a:endParaRPr lang="en-US" sz="1500" dirty="0"/>
          </a:p>
        </p:txBody>
      </p:sp>
      <p:sp>
        <p:nvSpPr>
          <p:cNvPr id="6" name="Text 4"/>
          <p:cNvSpPr txBox="1"/>
          <p:nvPr/>
        </p:nvSpPr>
        <p:spPr>
          <a:xfrm>
            <a:off x="594360" y="1572768"/>
            <a:ext cx="365760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Override assessor terlihat</a:t>
            </a:r>
            <a:endParaRPr lang="en-US" sz="1200" dirty="0"/>
          </a:p>
        </p:txBody>
      </p:sp>
      <p:pic>
        <p:nvPicPr>
          <p:cNvPr id="7" name="Image 0" descr="img/p02_after.png">    </p:cNvPr>
          <p:cNvPicPr>
            <a:picLocks noChangeAspect="1"/>
          </p:cNvPicPr>
          <p:nvPr/>
        </p:nvPicPr>
        <p:blipFill>
          <a:blip r:embed="rId1"/>
          <a:stretch>
            <a:fillRect/>
          </a:stretch>
        </p:blipFill>
        <p:spPr>
          <a:xfrm>
            <a:off x="594360" y="1847088"/>
            <a:ext cx="6949440" cy="1662545"/>
          </a:xfrm>
          <a:prstGeom prst="rect">
            <a:avLst/>
          </a:prstGeom>
        </p:spPr>
      </p:pic>
      <p:sp>
        <p:nvSpPr>
          <p:cNvPr id="8" name="Shape 5"/>
          <p:cNvSpPr/>
          <p:nvPr/>
        </p:nvSpPr>
        <p:spPr>
          <a:xfrm>
            <a:off x="594360" y="1847088"/>
            <a:ext cx="6949440" cy="1662545"/>
          </a:xfrm>
          <a:prstGeom prst="rect">
            <a:avLst/>
          </a:prstGeom>
          <a:ln w="9525">
            <a:solidFill>
              <a:srgbClr val="E2E7EB"/>
            </a:solidFill>
            <a:prstDash val="solid"/>
          </a:ln>
        </p:spPr>
      </p:sp>
      <p:sp>
        <p:nvSpPr>
          <p:cNvPr id="9" name="Text 6"/>
          <p:cNvSpPr txBox="1"/>
          <p:nvPr/>
        </p:nvSpPr>
        <p:spPr>
          <a:xfrm>
            <a:off x="594360" y="3802241"/>
            <a:ext cx="365760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Keyakinan ikut bersama verdict</a:t>
            </a:r>
            <a:endParaRPr lang="en-US" sz="1200" dirty="0"/>
          </a:p>
        </p:txBody>
      </p:sp>
      <p:pic>
        <p:nvPicPr>
          <p:cNvPr id="10" name="Image 1" descr="img/p03_after.png">    </p:cNvPr>
          <p:cNvPicPr>
            <a:picLocks noChangeAspect="1"/>
          </p:cNvPicPr>
          <p:nvPr/>
        </p:nvPicPr>
        <p:blipFill>
          <a:blip r:embed="rId2"/>
          <a:stretch>
            <a:fillRect/>
          </a:stretch>
        </p:blipFill>
        <p:spPr>
          <a:xfrm>
            <a:off x="594360" y="4076561"/>
            <a:ext cx="6949440" cy="2026076"/>
          </a:xfrm>
          <a:prstGeom prst="rect">
            <a:avLst/>
          </a:prstGeom>
        </p:spPr>
      </p:pic>
      <p:sp>
        <p:nvSpPr>
          <p:cNvPr id="11" name="Shape 7"/>
          <p:cNvSpPr/>
          <p:nvPr/>
        </p:nvSpPr>
        <p:spPr>
          <a:xfrm>
            <a:off x="594360" y="4076561"/>
            <a:ext cx="6949440" cy="2026076"/>
          </a:xfrm>
          <a:prstGeom prst="rect">
            <a:avLst/>
          </a:prstGeom>
          <a:ln w="9525">
            <a:solidFill>
              <a:srgbClr val="E2E7EB"/>
            </a:solidFill>
            <a:prstDash val="solid"/>
          </a:ln>
        </p:spPr>
      </p:sp>
      <p:sp>
        <p:nvSpPr>
          <p:cNvPr id="12" name="Text 8"/>
          <p:cNvSpPr txBox="1"/>
          <p:nvPr/>
        </p:nvSpPr>
        <p:spPr>
          <a:xfrm>
            <a:off x="7955280" y="1627632"/>
            <a:ext cx="364205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Edge case yang saya jaga</a:t>
            </a:r>
            <a:endParaRPr lang="en-US" sz="1450" dirty="0"/>
          </a:p>
        </p:txBody>
      </p:sp>
      <p:sp>
        <p:nvSpPr>
          <p:cNvPr id="13" name="Shape 9"/>
          <p:cNvSpPr/>
          <p:nvPr/>
        </p:nvSpPr>
        <p:spPr>
          <a:xfrm>
            <a:off x="7955280" y="2057400"/>
            <a:ext cx="3642055" cy="1188720"/>
          </a:xfrm>
          <a:prstGeom prst="roundRect">
            <a:avLst>
              <a:gd name="adj" fmla="val 5385"/>
            </a:avLst>
          </a:prstGeom>
          <a:solidFill>
            <a:srgbClr val="F5F7F8"/>
          </a:solidFill>
          <a:ln w="9525">
            <a:solidFill>
              <a:srgbClr val="E2E7EB"/>
            </a:solidFill>
            <a:prstDash val="solid"/>
          </a:ln>
        </p:spPr>
      </p:sp>
      <p:sp>
        <p:nvSpPr>
          <p:cNvPr id="14" name="Text 10"/>
          <p:cNvSpPr txBox="1"/>
          <p:nvPr/>
        </p:nvSpPr>
        <p:spPr>
          <a:xfrm>
            <a:off x="8156448" y="2167128"/>
            <a:ext cx="3239719" cy="256032"/>
          </a:xfrm>
          <a:prstGeom prst="rect">
            <a:avLst/>
          </a:prstGeom>
          <a:noFill/>
          <a:ln/>
        </p:spPr>
        <p:txBody>
          <a:bodyPr wrap="square" lIns="0" tIns="0" rIns="0" bIns="0" rtlCol="0" anchor="t"/>
          <a:lstStyle/>
          <a:p>
            <a:pPr indent="0" marL="0">
              <a:buNone/>
            </a:pPr>
            <a:r>
              <a:rPr lang="en-US" sz="1150" b="1" dirty="0">
                <a:solidFill>
                  <a:srgbClr val="0B5550"/>
                </a:solidFill>
                <a:latin typeface="Courier New" pitchFamily="34" charset="0"/>
                <a:ea typeface="Courier New" pitchFamily="34" charset="-122"/>
                <a:cs typeface="Courier New" pitchFamily="34" charset="-120"/>
              </a:rPr>
              <a:t>AC-2.3</a:t>
            </a:r>
            <a:endParaRPr lang="en-US" sz="1150" dirty="0"/>
          </a:p>
        </p:txBody>
      </p:sp>
      <p:sp>
        <p:nvSpPr>
          <p:cNvPr id="15" name="Text 11"/>
          <p:cNvSpPr txBox="1"/>
          <p:nvPr/>
        </p:nvSpPr>
        <p:spPr>
          <a:xfrm>
            <a:off x="8156448" y="2441448"/>
            <a:ext cx="3239719" cy="7772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Override tanpa overridden_by tetap ditandai keputusan manusia dengan atribusi “unknown” — tidak pernah diam-diam jadi rating AI.</a:t>
            </a:r>
            <a:endParaRPr lang="en-US" sz="1200" dirty="0"/>
          </a:p>
        </p:txBody>
      </p:sp>
      <p:sp>
        <p:nvSpPr>
          <p:cNvPr id="16" name="Shape 12"/>
          <p:cNvSpPr/>
          <p:nvPr/>
        </p:nvSpPr>
        <p:spPr>
          <a:xfrm>
            <a:off x="7955280" y="3355848"/>
            <a:ext cx="3642055" cy="1188720"/>
          </a:xfrm>
          <a:prstGeom prst="roundRect">
            <a:avLst>
              <a:gd name="adj" fmla="val 5385"/>
            </a:avLst>
          </a:prstGeom>
          <a:solidFill>
            <a:srgbClr val="F5F7F8"/>
          </a:solidFill>
          <a:ln w="9525">
            <a:solidFill>
              <a:srgbClr val="E2E7EB"/>
            </a:solidFill>
            <a:prstDash val="solid"/>
          </a:ln>
        </p:spPr>
      </p:sp>
      <p:sp>
        <p:nvSpPr>
          <p:cNvPr id="17" name="Text 13"/>
          <p:cNvSpPr txBox="1"/>
          <p:nvPr/>
        </p:nvSpPr>
        <p:spPr>
          <a:xfrm>
            <a:off x="8156448" y="3465576"/>
            <a:ext cx="3239719" cy="256032"/>
          </a:xfrm>
          <a:prstGeom prst="rect">
            <a:avLst/>
          </a:prstGeom>
          <a:noFill/>
          <a:ln/>
        </p:spPr>
        <p:txBody>
          <a:bodyPr wrap="square" lIns="0" tIns="0" rIns="0" bIns="0" rtlCol="0" anchor="t"/>
          <a:lstStyle/>
          <a:p>
            <a:pPr indent="0" marL="0">
              <a:buNone/>
            </a:pPr>
            <a:r>
              <a:rPr lang="en-US" sz="1150" b="1" dirty="0">
                <a:solidFill>
                  <a:srgbClr val="0B5550"/>
                </a:solidFill>
                <a:latin typeface="Courier New" pitchFamily="34" charset="0"/>
                <a:ea typeface="Courier New" pitchFamily="34" charset="-122"/>
                <a:cs typeface="Courier New" pitchFamily="34" charset="-120"/>
              </a:rPr>
              <a:t>AC-2.4</a:t>
            </a:r>
            <a:endParaRPr lang="en-US" sz="1150" dirty="0"/>
          </a:p>
        </p:txBody>
      </p:sp>
      <p:sp>
        <p:nvSpPr>
          <p:cNvPr id="18" name="Text 14"/>
          <p:cNvSpPr txBox="1"/>
          <p:nvPr/>
        </p:nvSpPr>
        <p:spPr>
          <a:xfrm>
            <a:off x="8156448" y="3739896"/>
            <a:ext cx="3239719" cy="7772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Legend override hanya muncul kalau memang ada override di tabel.</a:t>
            </a:r>
            <a:endParaRPr lang="en-US" sz="1200" dirty="0"/>
          </a:p>
        </p:txBody>
      </p:sp>
      <p:sp>
        <p:nvSpPr>
          <p:cNvPr id="19" name="Shape 15"/>
          <p:cNvSpPr/>
          <p:nvPr/>
        </p:nvSpPr>
        <p:spPr>
          <a:xfrm>
            <a:off x="7955280" y="4654296"/>
            <a:ext cx="3642055" cy="1188720"/>
          </a:xfrm>
          <a:prstGeom prst="roundRect">
            <a:avLst>
              <a:gd name="adj" fmla="val 5385"/>
            </a:avLst>
          </a:prstGeom>
          <a:solidFill>
            <a:srgbClr val="F5F7F8"/>
          </a:solidFill>
          <a:ln w="9525">
            <a:solidFill>
              <a:srgbClr val="E2E7EB"/>
            </a:solidFill>
            <a:prstDash val="solid"/>
          </a:ln>
        </p:spPr>
      </p:sp>
      <p:sp>
        <p:nvSpPr>
          <p:cNvPr id="20" name="Text 16"/>
          <p:cNvSpPr txBox="1"/>
          <p:nvPr/>
        </p:nvSpPr>
        <p:spPr>
          <a:xfrm>
            <a:off x="8156448" y="4764024"/>
            <a:ext cx="3239719" cy="256032"/>
          </a:xfrm>
          <a:prstGeom prst="rect">
            <a:avLst/>
          </a:prstGeom>
          <a:noFill/>
          <a:ln/>
        </p:spPr>
        <p:txBody>
          <a:bodyPr wrap="square" lIns="0" tIns="0" rIns="0" bIns="0" rtlCol="0" anchor="t"/>
          <a:lstStyle/>
          <a:p>
            <a:pPr indent="0" marL="0">
              <a:buNone/>
            </a:pPr>
            <a:r>
              <a:rPr lang="en-US" sz="1150" b="1" dirty="0">
                <a:solidFill>
                  <a:srgbClr val="0B5550"/>
                </a:solidFill>
                <a:latin typeface="Courier New" pitchFamily="34" charset="0"/>
                <a:ea typeface="Courier New" pitchFamily="34" charset="-122"/>
                <a:cs typeface="Courier New" pitchFamily="34" charset="-120"/>
              </a:rPr>
              <a:t>AC-3.2</a:t>
            </a:r>
            <a:endParaRPr lang="en-US" sz="1150" dirty="0"/>
          </a:p>
        </p:txBody>
      </p:sp>
      <p:sp>
        <p:nvSpPr>
          <p:cNvPr id="21" name="Text 17"/>
          <p:cNvSpPr txBox="1"/>
          <p:nvPr/>
        </p:nvSpPr>
        <p:spPr>
          <a:xfrm>
            <a:off x="8156448" y="5038344"/>
            <a:ext cx="3239719" cy="77724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Confidence null atau tidak dikenal tampil “belum terukur”, bukan LOW merah.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Keamanan: IDOR lintas tenant</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P0-4 · satu-satunya perbaikan saya di luar tema frontend.</a:t>
            </a:r>
            <a:endParaRPr lang="en-US" sz="1500" dirty="0"/>
          </a:p>
        </p:txBody>
      </p:sp>
      <p:pic>
        <p:nvPicPr>
          <p:cNvPr id="6" name="Image 0" descr="img/idor.png">    </p:cNvPr>
          <p:cNvPicPr>
            <a:picLocks noChangeAspect="1"/>
          </p:cNvPicPr>
          <p:nvPr/>
        </p:nvPicPr>
        <p:blipFill>
          <a:blip r:embed="rId1"/>
          <a:stretch>
            <a:fillRect/>
          </a:stretch>
        </p:blipFill>
        <p:spPr>
          <a:xfrm>
            <a:off x="594360" y="1572768"/>
            <a:ext cx="6766560" cy="2451652"/>
          </a:xfrm>
          <a:prstGeom prst="rect">
            <a:avLst/>
          </a:prstGeom>
        </p:spPr>
      </p:pic>
      <p:sp>
        <p:nvSpPr>
          <p:cNvPr id="7" name="Shape 4"/>
          <p:cNvSpPr/>
          <p:nvPr/>
        </p:nvSpPr>
        <p:spPr>
          <a:xfrm>
            <a:off x="594360" y="1572768"/>
            <a:ext cx="6766560" cy="2451652"/>
          </a:xfrm>
          <a:prstGeom prst="rect">
            <a:avLst/>
          </a:prstGeom>
          <a:ln w="9525">
            <a:solidFill>
              <a:srgbClr val="E2E7EB"/>
            </a:solidFill>
            <a:prstDash val="solid"/>
          </a:ln>
        </p:spPr>
      </p:sp>
      <p:sp>
        <p:nvSpPr>
          <p:cNvPr id="8" name="Text 5"/>
          <p:cNvSpPr txBox="1"/>
          <p:nvPr/>
        </p:nvSpPr>
        <p:spPr>
          <a:xfrm>
            <a:off x="594360" y="4189012"/>
            <a:ext cx="6766560" cy="1097280"/>
          </a:xfrm>
          <a:prstGeom prst="rect">
            <a:avLst/>
          </a:prstGeom>
          <a:noFill/>
          <a:ln/>
        </p:spPr>
        <p:txBody>
          <a:bodyPr wrap="square" lIns="0" tIns="0" rIns="0" bIns="0" rtlCol="0" anchor="t"/>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Portfolio tidak punya tenant_id — tenant-nya ada di Session. Empat endpoint memakai Portfolio.find(params[:id]) polos. authorize_auth_token! :assessor hanya membuktikan pemanggilnya assessor, bukan bahwa record itu miliknya.</a:t>
            </a:r>
            <a:endParaRPr lang="en-US" sz="1250" dirty="0"/>
          </a:p>
        </p:txBody>
      </p:sp>
      <p:sp>
        <p:nvSpPr>
          <p:cNvPr id="9" name="Shape 6"/>
          <p:cNvSpPr/>
          <p:nvPr/>
        </p:nvSpPr>
        <p:spPr>
          <a:xfrm>
            <a:off x="7726680" y="1572768"/>
            <a:ext cx="3870655" cy="1371600"/>
          </a:xfrm>
          <a:prstGeom prst="roundRect">
            <a:avLst>
              <a:gd name="adj" fmla="val 4667"/>
            </a:avLst>
          </a:prstGeom>
          <a:solidFill>
            <a:srgbClr val="FCEDE8"/>
          </a:solidFill>
          <a:ln w="9525">
            <a:solidFill>
              <a:srgbClr val="FCEDE8"/>
            </a:solidFill>
            <a:prstDash val="solid"/>
          </a:ln>
        </p:spPr>
      </p:sp>
      <p:sp>
        <p:nvSpPr>
          <p:cNvPr id="10" name="Text 7"/>
          <p:cNvSpPr txBox="1"/>
          <p:nvPr/>
        </p:nvSpPr>
        <p:spPr>
          <a:xfrm>
            <a:off x="7955280" y="1691640"/>
            <a:ext cx="3413455" cy="274320"/>
          </a:xfrm>
          <a:prstGeom prst="rect">
            <a:avLst/>
          </a:prstGeom>
          <a:noFill/>
          <a:ln/>
        </p:spPr>
        <p:txBody>
          <a:bodyPr wrap="square" lIns="0" tIns="0" rIns="0" bIns="0" rtlCol="0" anchor="t"/>
          <a:lstStyle/>
          <a:p>
            <a:pPr indent="0" marL="0">
              <a:buNone/>
            </a:pPr>
            <a:r>
              <a:rPr lang="en-US" sz="1350" b="1" dirty="0">
                <a:solidFill>
                  <a:srgbClr val="C8553D"/>
                </a:solidFill>
                <a:latin typeface="Calibri" pitchFamily="34" charset="0"/>
                <a:ea typeface="Calibri" pitchFamily="34" charset="-122"/>
                <a:cs typeface="Calibri" pitchFamily="34" charset="-120"/>
              </a:rPr>
              <a:t>Dampak</a:t>
            </a:r>
            <a:endParaRPr lang="en-US" sz="1350" dirty="0"/>
          </a:p>
        </p:txBody>
      </p:sp>
      <p:sp>
        <p:nvSpPr>
          <p:cNvPr id="11" name="Text 8"/>
          <p:cNvSpPr txBox="1"/>
          <p:nvPr/>
        </p:nvSpPr>
        <p:spPr>
          <a:xfrm>
            <a:off x="7955280" y="1993392"/>
            <a:ext cx="3413455" cy="9144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Assessor organisasi lain bisa mengunduh kutipan wawancara verbatim, dan menulis override ke rating kandidat.</a:t>
            </a:r>
            <a:endParaRPr lang="en-US" sz="1200" dirty="0"/>
          </a:p>
        </p:txBody>
      </p:sp>
      <p:sp>
        <p:nvSpPr>
          <p:cNvPr id="12" name="Shape 9"/>
          <p:cNvSpPr/>
          <p:nvPr/>
        </p:nvSpPr>
        <p:spPr>
          <a:xfrm>
            <a:off x="7726680" y="3063240"/>
            <a:ext cx="3870655" cy="1417320"/>
          </a:xfrm>
          <a:prstGeom prst="roundRect">
            <a:avLst>
              <a:gd name="adj" fmla="val 4516"/>
            </a:avLst>
          </a:prstGeom>
          <a:solidFill>
            <a:srgbClr val="E6F3F1"/>
          </a:solidFill>
          <a:ln w="9525">
            <a:solidFill>
              <a:srgbClr val="E6F3F1"/>
            </a:solidFill>
            <a:prstDash val="solid"/>
          </a:ln>
        </p:spPr>
      </p:sp>
      <p:sp>
        <p:nvSpPr>
          <p:cNvPr id="13" name="Text 10"/>
          <p:cNvSpPr txBox="1"/>
          <p:nvPr/>
        </p:nvSpPr>
        <p:spPr>
          <a:xfrm>
            <a:off x="7955280" y="3182112"/>
            <a:ext cx="3413455" cy="274320"/>
          </a:xfrm>
          <a:prstGeom prst="rect">
            <a:avLst/>
          </a:prstGeom>
          <a:noFill/>
          <a:ln/>
        </p:spPr>
        <p:txBody>
          <a:bodyPr wrap="square" lIns="0" tIns="0" rIns="0" bIns="0" rtlCol="0" anchor="t"/>
          <a:lstStyle/>
          <a:p>
            <a:pPr indent="0" marL="0">
              <a:buNone/>
            </a:pPr>
            <a:r>
              <a:rPr lang="en-US" sz="1350" b="1" dirty="0">
                <a:solidFill>
                  <a:srgbClr val="0B5550"/>
                </a:solidFill>
                <a:latin typeface="Calibri" pitchFamily="34" charset="0"/>
                <a:ea typeface="Calibri" pitchFamily="34" charset="-122"/>
                <a:cs typeface="Calibri" pitchFamily="34" charset="-120"/>
              </a:rPr>
              <a:t>Perbaikan</a:t>
            </a:r>
            <a:endParaRPr lang="en-US" sz="1350" dirty="0"/>
          </a:p>
        </p:txBody>
      </p:sp>
      <p:sp>
        <p:nvSpPr>
          <p:cNvPr id="14" name="Text 11"/>
          <p:cNvSpPr txBox="1"/>
          <p:nvPr/>
        </p:nvSpPr>
        <p:spPr>
          <a:xfrm>
            <a:off x="7955280" y="3483864"/>
            <a:ext cx="3413455" cy="9144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Dijangkau lewat Session yang sudah TenantScoped. Lintas tenant dapat 404, bukan 403 — 403 mengonfirmasi record-nya ada.</a:t>
            </a:r>
            <a:endParaRPr lang="en-US" sz="1200" dirty="0"/>
          </a:p>
        </p:txBody>
      </p:sp>
      <p:sp>
        <p:nvSpPr>
          <p:cNvPr id="15" name="Shape 12"/>
          <p:cNvSpPr/>
          <p:nvPr/>
        </p:nvSpPr>
        <p:spPr>
          <a:xfrm>
            <a:off x="7726680" y="4599432"/>
            <a:ext cx="3870655" cy="1463040"/>
          </a:xfrm>
          <a:prstGeom prst="roundRect">
            <a:avLst>
              <a:gd name="adj" fmla="val 4375"/>
            </a:avLst>
          </a:prstGeom>
          <a:solidFill>
            <a:srgbClr val="F5F7F8"/>
          </a:solidFill>
          <a:ln w="9525">
            <a:solidFill>
              <a:srgbClr val="E2E7EB"/>
            </a:solidFill>
            <a:prstDash val="solid"/>
          </a:ln>
        </p:spPr>
      </p:sp>
      <p:sp>
        <p:nvSpPr>
          <p:cNvPr id="16" name="Text 13"/>
          <p:cNvSpPr txBox="1"/>
          <p:nvPr/>
        </p:nvSpPr>
        <p:spPr>
          <a:xfrm>
            <a:off x="7955280" y="4718304"/>
            <a:ext cx="3413455" cy="27432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Asumsi yang saya catat</a:t>
            </a:r>
            <a:endParaRPr lang="en-US" sz="1350" dirty="0"/>
          </a:p>
        </p:txBody>
      </p:sp>
      <p:sp>
        <p:nvSpPr>
          <p:cNvPr id="17" name="Text 14"/>
          <p:cNvSpPr txBox="1"/>
          <p:nvPr/>
        </p:nvSpPr>
        <p:spPr>
          <a:xfrm>
            <a:off x="7955280" y="5020056"/>
            <a:ext cx="3413455" cy="960120"/>
          </a:xfrm>
          <a:prstGeom prst="rect">
            <a:avLst/>
          </a:prstGeom>
          <a:noFill/>
          <a:ln/>
        </p:spPr>
        <p:txBody>
          <a:bodyPr wrap="square" lIns="0" tIns="0" rIns="0" bIns="0" rtlCol="0" anchor="t"/>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Opsi lain: tambah tenant_id ke portfolios dan backfill. Saya tidak ambil karena memigrasi baris produksi — ini keputusan Tech Lead.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Keamanan data dan migrasi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Dua hal yang saya pastikan tidak merusak data yang sudah ada.</a:t>
            </a:r>
            <a:endParaRPr lang="en-US" sz="1500" dirty="0"/>
          </a:p>
        </p:txBody>
      </p:sp>
      <p:sp>
        <p:nvSpPr>
          <p:cNvPr id="6" name="Shape 4"/>
          <p:cNvSpPr/>
          <p:nvPr/>
        </p:nvSpPr>
        <p:spPr>
          <a:xfrm>
            <a:off x="594360" y="1572768"/>
            <a:ext cx="5318608" cy="4526280"/>
          </a:xfrm>
          <a:prstGeom prst="roundRect">
            <a:avLst>
              <a:gd name="adj" fmla="val 1414"/>
            </a:avLst>
          </a:prstGeom>
          <a:solidFill>
            <a:srgbClr val="F5F7F8"/>
          </a:solidFill>
          <a:ln w="9525">
            <a:solidFill>
              <a:srgbClr val="E2E7EB"/>
            </a:solidFill>
            <a:prstDash val="solid"/>
          </a:ln>
        </p:spPr>
      </p:sp>
      <p:sp>
        <p:nvSpPr>
          <p:cNvPr id="7" name="Text 5"/>
          <p:cNvSpPr txBox="1"/>
          <p:nvPr/>
        </p:nvSpPr>
        <p:spPr>
          <a:xfrm>
            <a:off x="868680" y="1737360"/>
            <a:ext cx="4769968"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Migrasi yang bisa di-rollback</a:t>
            </a:r>
            <a:endParaRPr lang="en-US" sz="1500" dirty="0"/>
          </a:p>
        </p:txBody>
      </p:sp>
      <p:sp>
        <p:nvSpPr>
          <p:cNvPr id="8" name="Text 6"/>
          <p:cNvSpPr txBox="1"/>
          <p:nvPr/>
        </p:nvSpPr>
        <p:spPr>
          <a:xfrm>
            <a:off x="868680" y="2084832"/>
            <a:ext cx="4769968" cy="274320"/>
          </a:xfrm>
          <a:prstGeom prst="rect">
            <a:avLst/>
          </a:prstGeom>
          <a:noFill/>
          <a:ln/>
        </p:spPr>
        <p:txBody>
          <a:bodyPr wrap="square" lIns="0" tIns="0" rIns="0" bIns="0" rtlCol="0" anchor="t"/>
          <a:lstStyle/>
          <a:p>
            <a:pPr indent="0" marL="0">
              <a:buNone/>
            </a:pPr>
            <a:r>
              <a:rPr lang="en-US" sz="1100" dirty="0">
                <a:solidFill>
                  <a:srgbClr val="5F6B76"/>
                </a:solidFill>
                <a:latin typeface="Courier New" pitchFamily="34" charset="0"/>
                <a:ea typeface="Courier New" pitchFamily="34" charset="-122"/>
                <a:cs typeface="Courier New" pitchFamily="34" charset="-120"/>
              </a:rPr>
              <a:t>20260814000001_add_decision_record_fields</a:t>
            </a:r>
            <a:endParaRPr lang="en-US" sz="1100" dirty="0"/>
          </a:p>
        </p:txBody>
      </p:sp>
      <p:sp>
        <p:nvSpPr>
          <p:cNvPr id="9" name="Text 7"/>
          <p:cNvSpPr txBox="1"/>
          <p:nvPr/>
        </p:nvSpPr>
        <p:spPr>
          <a:xfrm>
            <a:off x="868680" y="2450592"/>
            <a:ext cx="4769968" cy="219456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Semua kolom baru nullable atau punya default — baris lama tetap valid dan terbaca oleh kode versi sebelumnya.</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ai_confidence dilonggarkan jadi nullable, karena “belum terukur” butuh representasi sendiri.</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down mem-backfill 'low' dulu — nilai yang memang ditampilkan kode lama — baru memasang NOT NULL lagi.</a:t>
            </a:r>
            <a:endParaRPr lang="en-US" sz="1250" dirty="0"/>
          </a:p>
        </p:txBody>
      </p:sp>
      <p:sp>
        <p:nvSpPr>
          <p:cNvPr id="10" name="Shape 8"/>
          <p:cNvSpPr/>
          <p:nvPr/>
        </p:nvSpPr>
        <p:spPr>
          <a:xfrm>
            <a:off x="868680" y="4754880"/>
            <a:ext cx="4769968" cy="1143000"/>
          </a:xfrm>
          <a:prstGeom prst="roundRect">
            <a:avLst>
              <a:gd name="adj" fmla="val 5600"/>
            </a:avLst>
          </a:prstGeom>
          <a:solidFill>
            <a:srgbClr val="FBF3E2"/>
          </a:solidFill>
          <a:ln w="9525">
            <a:solidFill>
              <a:srgbClr val="FBF3E2"/>
            </a:solidFill>
            <a:prstDash val="solid"/>
          </a:ln>
        </p:spPr>
      </p:sp>
      <p:sp>
        <p:nvSpPr>
          <p:cNvPr id="11" name="Text 9"/>
          <p:cNvSpPr txBox="1"/>
          <p:nvPr/>
        </p:nvSpPr>
        <p:spPr>
          <a:xfrm>
            <a:off x="1051560" y="4846320"/>
            <a:ext cx="4404208" cy="960120"/>
          </a:xfrm>
          <a:prstGeom prst="rect">
            <a:avLst/>
          </a:prstGeom>
          <a:noFill/>
          <a:ln/>
        </p:spPr>
        <p:txBody>
          <a:bodyPr wrap="square" lIns="0" tIns="0" rIns="0" bIns="0" rtlCol="0" anchor="ctr"/>
          <a:lstStyle/>
          <a:p>
            <a:pPr indent="0" marL="0">
              <a:lnSpc>
                <a:spcPts val="1500"/>
              </a:lnSpc>
              <a:buNone/>
            </a:pPr>
            <a:r>
              <a:rPr lang="en-US" sz="1150" dirty="0">
                <a:solidFill>
                  <a:srgbClr val="6B4E12"/>
                </a:solidFill>
                <a:latin typeface="Calibri" pitchFamily="34" charset="0"/>
                <a:ea typeface="Calibri" pitchFamily="34" charset="-122"/>
                <a:cs typeface="Calibri" pitchFamily="34" charset="-120"/>
              </a:rPr>
              <a:t>Pembanding di codebase: down migrasi 20260411000000 akan gagal dengan PG::CheckViolation begitu ada assessment 10 menit (temuan 5.1).</a:t>
            </a:r>
            <a:endParaRPr lang="en-US" sz="1150" dirty="0"/>
          </a:p>
        </p:txBody>
      </p:sp>
      <p:sp>
        <p:nvSpPr>
          <p:cNvPr id="12" name="Shape 10"/>
          <p:cNvSpPr/>
          <p:nvPr/>
        </p:nvSpPr>
        <p:spPr>
          <a:xfrm>
            <a:off x="6278728" y="1572768"/>
            <a:ext cx="5318608" cy="4526280"/>
          </a:xfrm>
          <a:prstGeom prst="roundRect">
            <a:avLst>
              <a:gd name="adj" fmla="val 1414"/>
            </a:avLst>
          </a:prstGeom>
          <a:solidFill>
            <a:srgbClr val="F5F7F8"/>
          </a:solidFill>
          <a:ln w="9525">
            <a:solidFill>
              <a:srgbClr val="E2E7EB"/>
            </a:solidFill>
            <a:prstDash val="solid"/>
          </a:ln>
        </p:spPr>
      </p:sp>
      <p:sp>
        <p:nvSpPr>
          <p:cNvPr id="13" name="Text 11"/>
          <p:cNvSpPr txBox="1"/>
          <p:nvPr/>
        </p:nvSpPr>
        <p:spPr>
          <a:xfrm>
            <a:off x="6553048" y="1737360"/>
            <a:ext cx="4769968"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Koreksi assessor tidak boleh hilang</a:t>
            </a:r>
            <a:endParaRPr lang="en-US" sz="1500" dirty="0"/>
          </a:p>
        </p:txBody>
      </p:sp>
      <p:sp>
        <p:nvSpPr>
          <p:cNvPr id="14" name="Text 12"/>
          <p:cNvSpPr txBox="1"/>
          <p:nvPr/>
        </p:nvSpPr>
        <p:spPr>
          <a:xfrm>
            <a:off x="6553048" y="2084832"/>
            <a:ext cx="4769968" cy="274320"/>
          </a:xfrm>
          <a:prstGeom prst="rect">
            <a:avLst/>
          </a:prstGeom>
          <a:noFill/>
          <a:ln/>
        </p:spPr>
        <p:txBody>
          <a:bodyPr wrap="square" lIns="0" tIns="0" rIns="0" bIns="0" rtlCol="0" anchor="t"/>
          <a:lstStyle/>
          <a:p>
            <a:pPr indent="0" marL="0">
              <a:buNone/>
            </a:pPr>
            <a:r>
              <a:rPr lang="en-US" sz="1100" dirty="0">
                <a:solidFill>
                  <a:srgbClr val="5F6B76"/>
                </a:solidFill>
                <a:latin typeface="Courier New" pitchFamily="34" charset="0"/>
                <a:ea typeface="Courier New" pitchFamily="34" charset="-122"/>
                <a:cs typeface="Courier New" pitchFamily="34" charset="-120"/>
              </a:rPr>
              <a:t>Portfolios::Generator#save_skills</a:t>
            </a:r>
            <a:endParaRPr lang="en-US" sz="1100" dirty="0"/>
          </a:p>
        </p:txBody>
      </p:sp>
      <p:sp>
        <p:nvSpPr>
          <p:cNvPr id="15" name="Text 13"/>
          <p:cNvSpPr txBox="1"/>
          <p:nvPr/>
        </p:nvSpPr>
        <p:spPr>
          <a:xfrm>
            <a:off x="6553048" y="2450592"/>
            <a:ext cx="4769968" cy="219456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destroy_all + dependent: :destroy membuat setiap regenerate menghapus override dan catatan assessor.</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Bug ini ikut terbawa di kode yang saya kirim pertama kali. Saya menemukannya lewat audit, bukan waktu menulisnya.</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Sekarang: override disimpan, skill ditulis ulang, override dipasang kembali — dalam satu transaction.</a:t>
            </a:r>
            <a:endParaRPr lang="en-US" sz="1250" dirty="0"/>
          </a:p>
        </p:txBody>
      </p:sp>
      <p:sp>
        <p:nvSpPr>
          <p:cNvPr id="16" name="Shape 14"/>
          <p:cNvSpPr/>
          <p:nvPr/>
        </p:nvSpPr>
        <p:spPr>
          <a:xfrm>
            <a:off x="6553048" y="4754880"/>
            <a:ext cx="4769968" cy="1143000"/>
          </a:xfrm>
          <a:prstGeom prst="roundRect">
            <a:avLst>
              <a:gd name="adj" fmla="val 5600"/>
            </a:avLst>
          </a:prstGeom>
          <a:solidFill>
            <a:srgbClr val="E6F3F1"/>
          </a:solidFill>
          <a:ln w="9525">
            <a:solidFill>
              <a:srgbClr val="E6F3F1"/>
            </a:solidFill>
            <a:prstDash val="solid"/>
          </a:ln>
        </p:spPr>
      </p:sp>
      <p:sp>
        <p:nvSpPr>
          <p:cNvPr id="17" name="Text 15"/>
          <p:cNvSpPr txBox="1"/>
          <p:nvPr/>
        </p:nvSpPr>
        <p:spPr>
          <a:xfrm>
            <a:off x="6735928" y="4846320"/>
            <a:ext cx="4404208" cy="960120"/>
          </a:xfrm>
          <a:prstGeom prst="rect">
            <a:avLst/>
          </a:prstGeom>
          <a:noFill/>
          <a:ln/>
        </p:spPr>
        <p:txBody>
          <a:bodyPr wrap="square" lIns="0" tIns="0" rIns="0" bIns="0" rtlCol="0" anchor="ctr"/>
          <a:lstStyle/>
          <a:p>
            <a:pPr indent="0" marL="0">
              <a:lnSpc>
                <a:spcPts val="1500"/>
              </a:lnSpc>
              <a:buNone/>
            </a:pPr>
            <a:r>
              <a:rPr lang="en-US" sz="1150" dirty="0">
                <a:solidFill>
                  <a:srgbClr val="0B5550"/>
                </a:solidFill>
                <a:latin typeface="Calibri" pitchFamily="34" charset="0"/>
                <a:ea typeface="Calibri" pitchFamily="34" charset="-122"/>
                <a:cs typeface="Calibri" pitchFamily="34" charset="-120"/>
              </a:rPr>
              <a:t>Dikunci generator_spec.rb: buat override, jalankan generator lagi, pastikan override masih ada. Sekalian menutup temuan 4.1 (tanpa transaction).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Jalur gagal yang saya desain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Brief minta timeout, model error, dan job duplikat ditangani secara eksplisit.</a:t>
            </a:r>
            <a:endParaRPr lang="en-US" sz="1500" dirty="0"/>
          </a:p>
        </p:txBody>
      </p:sp>
      <p:sp>
        <p:nvSpPr>
          <p:cNvPr id="6" name="Shape 4"/>
          <p:cNvSpPr/>
          <p:nvPr/>
        </p:nvSpPr>
        <p:spPr>
          <a:xfrm>
            <a:off x="594360" y="1554480"/>
            <a:ext cx="5364328" cy="2148840"/>
          </a:xfrm>
          <a:prstGeom prst="roundRect">
            <a:avLst>
              <a:gd name="adj" fmla="val 2979"/>
            </a:avLst>
          </a:prstGeom>
          <a:solidFill>
            <a:srgbClr val="F5F7F8"/>
          </a:solidFill>
          <a:ln w="9525">
            <a:solidFill>
              <a:srgbClr val="E2E7EB"/>
            </a:solidFill>
            <a:prstDash val="solid"/>
          </a:ln>
        </p:spPr>
      </p:sp>
      <p:sp>
        <p:nvSpPr>
          <p:cNvPr id="7" name="Text 5"/>
          <p:cNvSpPr txBox="1"/>
          <p:nvPr/>
        </p:nvSpPr>
        <p:spPr>
          <a:xfrm>
            <a:off x="850392" y="1691640"/>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Generate macet di pending</a:t>
            </a:r>
            <a:endParaRPr lang="en-US" sz="1450" dirty="0"/>
          </a:p>
        </p:txBody>
      </p:sp>
      <p:sp>
        <p:nvSpPr>
          <p:cNvPr id="8" name="Text 6"/>
          <p:cNvSpPr txBox="1"/>
          <p:nvPr/>
        </p:nvSpPr>
        <p:spPr>
          <a:xfrm>
            <a:off x="850392" y="2057400"/>
            <a:ext cx="4852264" cy="713232"/>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Polling tiap 5 detik selamanya; retry hanya untuk status failed. Pemulihan butuh rails console.</a:t>
            </a:r>
            <a:endParaRPr lang="en-US" sz="1200" dirty="0"/>
          </a:p>
        </p:txBody>
      </p:sp>
      <p:sp>
        <p:nvSpPr>
          <p:cNvPr id="9" name="Text 7"/>
          <p:cNvSpPr txBox="1"/>
          <p:nvPr/>
        </p:nvSpPr>
        <p:spPr>
          <a:xfrm>
            <a:off x="850392" y="2798064"/>
            <a:ext cx="4852264" cy="82296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generation_started_at, deteksi stalled &gt; 5 menit, retry diterima saat pending di belakang guard, polling berhenti saat tab tersembunyi.</a:t>
            </a:r>
            <a:endParaRPr lang="en-US" sz="1200" dirty="0"/>
          </a:p>
        </p:txBody>
      </p:sp>
      <p:sp>
        <p:nvSpPr>
          <p:cNvPr id="10" name="Shape 8"/>
          <p:cNvSpPr/>
          <p:nvPr/>
        </p:nvSpPr>
        <p:spPr>
          <a:xfrm>
            <a:off x="6233008" y="1554480"/>
            <a:ext cx="5364328" cy="2148840"/>
          </a:xfrm>
          <a:prstGeom prst="roundRect">
            <a:avLst>
              <a:gd name="adj" fmla="val 2979"/>
            </a:avLst>
          </a:prstGeom>
          <a:solidFill>
            <a:srgbClr val="F5F7F8"/>
          </a:solidFill>
          <a:ln w="9525">
            <a:solidFill>
              <a:srgbClr val="E2E7EB"/>
            </a:solidFill>
            <a:prstDash val="solid"/>
          </a:ln>
        </p:spPr>
      </p:sp>
      <p:sp>
        <p:nvSpPr>
          <p:cNvPr id="11" name="Text 9"/>
          <p:cNvSpPr txBox="1"/>
          <p:nvPr/>
        </p:nvSpPr>
        <p:spPr>
          <a:xfrm>
            <a:off x="6489040" y="1691640"/>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Job fit/gap ganda</a:t>
            </a:r>
            <a:endParaRPr lang="en-US" sz="1450" dirty="0"/>
          </a:p>
        </p:txBody>
      </p:sp>
      <p:sp>
        <p:nvSpPr>
          <p:cNvPr id="12" name="Text 10"/>
          <p:cNvSpPr txBox="1"/>
          <p:nvPr/>
        </p:nvSpPr>
        <p:spPr>
          <a:xfrm>
            <a:off x="6489040" y="2057400"/>
            <a:ext cx="4852264" cy="713232"/>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Simpan override dan 404 di halaman sama-sama enqueue worker — dua panggilan model berbayar untuk satu jawaban.</a:t>
            </a:r>
            <a:endParaRPr lang="en-US" sz="1200" dirty="0"/>
          </a:p>
        </p:txBody>
      </p:sp>
      <p:sp>
        <p:nvSpPr>
          <p:cNvPr id="13" name="Text 11"/>
          <p:cNvSpPr txBox="1"/>
          <p:nvPr/>
        </p:nvSpPr>
        <p:spPr>
          <a:xfrm>
            <a:off x="6489040" y="2798064"/>
            <a:ext cx="4852264" cy="82296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Redis SET NX EX. Sengaja fail-open: kalau Redis mati fitur tetap jalan, kasus terburuk satu duplikat yang ditahan unique index.</a:t>
            </a:r>
            <a:endParaRPr lang="en-US" sz="1200" dirty="0"/>
          </a:p>
        </p:txBody>
      </p:sp>
      <p:sp>
        <p:nvSpPr>
          <p:cNvPr id="14" name="Shape 12"/>
          <p:cNvSpPr/>
          <p:nvPr/>
        </p:nvSpPr>
        <p:spPr>
          <a:xfrm>
            <a:off x="594360" y="3904488"/>
            <a:ext cx="5364328" cy="2148840"/>
          </a:xfrm>
          <a:prstGeom prst="roundRect">
            <a:avLst>
              <a:gd name="adj" fmla="val 2979"/>
            </a:avLst>
          </a:prstGeom>
          <a:solidFill>
            <a:srgbClr val="F5F7F8"/>
          </a:solidFill>
          <a:ln w="9525">
            <a:solidFill>
              <a:srgbClr val="E2E7EB"/>
            </a:solidFill>
            <a:prstDash val="solid"/>
          </a:ln>
        </p:spPr>
      </p:sp>
      <p:sp>
        <p:nvSpPr>
          <p:cNvPr id="15" name="Text 13"/>
          <p:cNvSpPr txBox="1"/>
          <p:nvPr/>
        </p:nvSpPr>
        <p:spPr>
          <a:xfrm>
            <a:off x="850392" y="4041648"/>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Error bocor ke klien</a:t>
            </a:r>
            <a:endParaRPr lang="en-US" sz="1450" dirty="0"/>
          </a:p>
        </p:txBody>
      </p:sp>
      <p:sp>
        <p:nvSpPr>
          <p:cNvPr id="16" name="Text 14"/>
          <p:cNvSpPr txBox="1"/>
          <p:nvPr/>
        </p:nvSpPr>
        <p:spPr>
          <a:xfrm>
            <a:off x="850392" y="4407408"/>
            <a:ext cx="4852264" cy="713232"/>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generation_error menyimpan exception mentah dari Gemini, dan prompt-nya berisi transkrip.</a:t>
            </a:r>
            <a:endParaRPr lang="en-US" sz="1200" dirty="0"/>
          </a:p>
        </p:txBody>
      </p:sp>
      <p:sp>
        <p:nvSpPr>
          <p:cNvPr id="17" name="Text 15"/>
          <p:cNvSpPr txBox="1"/>
          <p:nvPr/>
        </p:nvSpPr>
        <p:spPr>
          <a:xfrm>
            <a:off x="850392" y="5148072"/>
            <a:ext cx="4852264" cy="82296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Pesan disanitasi sebelum melewati boundary service. Tidak ada fragmen prompt atau transkrip di UI maupun log.</a:t>
            </a:r>
            <a:endParaRPr lang="en-US" sz="1200" dirty="0"/>
          </a:p>
        </p:txBody>
      </p:sp>
      <p:sp>
        <p:nvSpPr>
          <p:cNvPr id="18" name="Shape 16"/>
          <p:cNvSpPr/>
          <p:nvPr/>
        </p:nvSpPr>
        <p:spPr>
          <a:xfrm>
            <a:off x="6233008" y="3904488"/>
            <a:ext cx="5364328" cy="2148840"/>
          </a:xfrm>
          <a:prstGeom prst="roundRect">
            <a:avLst>
              <a:gd name="adj" fmla="val 2979"/>
            </a:avLst>
          </a:prstGeom>
          <a:solidFill>
            <a:srgbClr val="F5F7F8"/>
          </a:solidFill>
          <a:ln w="9525">
            <a:solidFill>
              <a:srgbClr val="E2E7EB"/>
            </a:solidFill>
            <a:prstDash val="solid"/>
          </a:ln>
        </p:spPr>
      </p:sp>
      <p:sp>
        <p:nvSpPr>
          <p:cNvPr id="19" name="Text 17"/>
          <p:cNvSpPr txBox="1"/>
          <p:nvPr/>
        </p:nvSpPr>
        <p:spPr>
          <a:xfrm>
            <a:off x="6489040" y="4041648"/>
            <a:ext cx="4852264" cy="292608"/>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Export gagal tanpa pesan</a:t>
            </a:r>
            <a:endParaRPr lang="en-US" sz="1450" dirty="0"/>
          </a:p>
        </p:txBody>
      </p:sp>
      <p:sp>
        <p:nvSpPr>
          <p:cNvPr id="20" name="Text 18"/>
          <p:cNvSpPr txBox="1"/>
          <p:nvPr/>
        </p:nvSpPr>
        <p:spPr>
          <a:xfrm>
            <a:off x="6489040" y="4407408"/>
            <a:ext cx="4852264" cy="713232"/>
          </a:xfrm>
          <a:prstGeom prst="rect">
            <a:avLst/>
          </a:prstGeom>
          <a:noFill/>
          <a:ln/>
        </p:spPr>
        <p:txBody>
          <a:bodyPr wrap="square" lIns="0" tIns="0" rIns="0" bIns="0" rtlCol="0" anchor="t"/>
          <a:lstStyle/>
          <a:p>
            <a:pPr indent="0" marL="0">
              <a:lnSpc>
                <a:spcPts val="1600"/>
              </a:lnSpc>
              <a:buNone/>
            </a:pPr>
            <a:r>
              <a:rPr lang="en-US" sz="1200" b="1" dirty="0">
                <a:solidFill>
                  <a:srgbClr val="C8553D"/>
                </a:solidFill>
                <a:latin typeface="Calibri" pitchFamily="34" charset="0"/>
                <a:ea typeface="Calibri" pitchFamily="34" charset="-122"/>
                <a:cs typeface="Calibri" pitchFamily="34" charset="-120"/>
              </a:rPr>
              <a:t>Sebelum  </a:t>
            </a:r>
            <a:pPr indent="0" marL="0">
              <a:lnSpc>
                <a:spcPts val="1600"/>
              </a:lnSpc>
              <a:buNone/>
            </a:pPr>
            <a:r>
              <a:rPr lang="en-US" sz="1200" dirty="0">
                <a:solidFill>
                  <a:srgbClr val="5F6B76"/>
                </a:solidFill>
                <a:latin typeface="Calibri" pitchFamily="34" charset="0"/>
                <a:ea typeface="Calibri" pitchFamily="34" charset="-122"/>
                <a:cs typeface="Calibri" pitchFamily="34" charset="-120"/>
              </a:rPr>
              <a:t>Tidak ada catch; body error bertipe Blob sehingga tidak terbaca.</a:t>
            </a:r>
            <a:endParaRPr lang="en-US" sz="1200" dirty="0"/>
          </a:p>
        </p:txBody>
      </p:sp>
      <p:sp>
        <p:nvSpPr>
          <p:cNvPr id="21" name="Text 19"/>
          <p:cNvSpPr txBox="1"/>
          <p:nvPr/>
        </p:nvSpPr>
        <p:spPr>
          <a:xfrm>
            <a:off x="6489040" y="5148072"/>
            <a:ext cx="4852264" cy="822960"/>
          </a:xfrm>
          <a:prstGeom prst="rect">
            <a:avLst/>
          </a:prstGeom>
          <a:noFill/>
          <a:ln/>
        </p:spPr>
        <p:txBody>
          <a:bodyPr wrap="square" lIns="0" tIns="0" rIns="0" bIns="0" rtlCol="0" anchor="t"/>
          <a:lstStyle/>
          <a:p>
            <a:pPr indent="0" marL="0">
              <a:lnSpc>
                <a:spcPts val="1600"/>
              </a:lnSpc>
              <a:buNone/>
            </a:pPr>
            <a:r>
              <a:rPr lang="en-US" sz="1200" b="1" dirty="0">
                <a:solidFill>
                  <a:srgbClr val="0B5550"/>
                </a:solidFill>
                <a:latin typeface="Calibri" pitchFamily="34" charset="0"/>
                <a:ea typeface="Calibri" pitchFamily="34" charset="-122"/>
                <a:cs typeface="Calibri" pitchFamily="34" charset="-120"/>
              </a:rPr>
              <a:t>Sekarang  </a:t>
            </a:r>
            <a:pPr indent="0" marL="0">
              <a:lnSpc>
                <a:spcPts val="1600"/>
              </a:lnSpc>
              <a:buNone/>
            </a:pPr>
            <a:r>
              <a:rPr lang="en-US" sz="1200" dirty="0">
                <a:solidFill>
                  <a:srgbClr val="1F2933"/>
                </a:solidFill>
                <a:latin typeface="Calibri" pitchFamily="34" charset="0"/>
                <a:ea typeface="Calibri" pitchFamily="34" charset="-122"/>
                <a:cs typeface="Calibri" pitchFamily="34" charset="-120"/>
              </a:rPr>
              <a:t>Body Blob di-decode dan pesan server yang asli ditampilkan ke user.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Bagaimana saya membuktikannya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Test ditulis dulu, dijalankan ke kode lama, dan ditonton gagal.</a:t>
            </a:r>
            <a:endParaRPr lang="en-US" sz="1500" dirty="0"/>
          </a:p>
        </p:txBody>
      </p:sp>
      <p:sp>
        <p:nvSpPr>
          <p:cNvPr id="6" name="Shape 4"/>
          <p:cNvSpPr/>
          <p:nvPr/>
        </p:nvSpPr>
        <p:spPr>
          <a:xfrm>
            <a:off x="594360" y="1572768"/>
            <a:ext cx="2613584" cy="1645920"/>
          </a:xfrm>
          <a:prstGeom prst="roundRect">
            <a:avLst>
              <a:gd name="adj" fmla="val 3889"/>
            </a:avLst>
          </a:prstGeom>
          <a:solidFill>
            <a:srgbClr val="F5F7F8"/>
          </a:solidFill>
          <a:ln w="9525">
            <a:solidFill>
              <a:srgbClr val="E2E7EB"/>
            </a:solidFill>
            <a:prstDash val="solid"/>
          </a:ln>
        </p:spPr>
      </p:sp>
      <p:sp>
        <p:nvSpPr>
          <p:cNvPr id="7" name="Text 5"/>
          <p:cNvSpPr txBox="1"/>
          <p:nvPr/>
        </p:nvSpPr>
        <p:spPr>
          <a:xfrm>
            <a:off x="822960" y="1691640"/>
            <a:ext cx="2156384" cy="548640"/>
          </a:xfrm>
          <a:prstGeom prst="rect">
            <a:avLst/>
          </a:prstGeom>
          <a:noFill/>
          <a:ln/>
        </p:spPr>
        <p:txBody>
          <a:bodyPr wrap="square" lIns="0" tIns="0" rIns="0" bIns="0" rtlCol="0" anchor="t"/>
          <a:lstStyle/>
          <a:p>
            <a:pPr indent="0" marL="0">
              <a:buNone/>
            </a:pPr>
            <a:r>
              <a:rPr lang="en-US" sz="2800" b="1" dirty="0">
                <a:solidFill>
                  <a:srgbClr val="0B5550"/>
                </a:solidFill>
                <a:latin typeface="Calibri" pitchFamily="34" charset="0"/>
                <a:ea typeface="Calibri" pitchFamily="34" charset="-122"/>
                <a:cs typeface="Calibri" pitchFamily="34" charset="-120"/>
              </a:rPr>
              <a:t>0 → 34</a:t>
            </a:r>
            <a:endParaRPr lang="en-US" sz="2800" dirty="0"/>
          </a:p>
        </p:txBody>
      </p:sp>
      <p:sp>
        <p:nvSpPr>
          <p:cNvPr id="8" name="Text 6"/>
          <p:cNvSpPr txBox="1"/>
          <p:nvPr/>
        </p:nvSpPr>
        <p:spPr>
          <a:xfrm>
            <a:off x="822960" y="225856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test Vitest</a:t>
            </a:r>
            <a:endParaRPr lang="en-US" sz="1300" dirty="0"/>
          </a:p>
        </p:txBody>
      </p:sp>
      <p:sp>
        <p:nvSpPr>
          <p:cNvPr id="9" name="Text 7"/>
          <p:cNvSpPr txBox="1"/>
          <p:nvPr/>
        </p:nvSpPr>
        <p:spPr>
          <a:xfrm>
            <a:off x="822960" y="2578608"/>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Test runner pertama di web/</a:t>
            </a:r>
            <a:endParaRPr lang="en-US" sz="1150" dirty="0"/>
          </a:p>
        </p:txBody>
      </p:sp>
      <p:sp>
        <p:nvSpPr>
          <p:cNvPr id="10" name="Shape 8"/>
          <p:cNvSpPr/>
          <p:nvPr/>
        </p:nvSpPr>
        <p:spPr>
          <a:xfrm>
            <a:off x="3390824" y="1572768"/>
            <a:ext cx="2613584" cy="1645920"/>
          </a:xfrm>
          <a:prstGeom prst="roundRect">
            <a:avLst>
              <a:gd name="adj" fmla="val 3889"/>
            </a:avLst>
          </a:prstGeom>
          <a:solidFill>
            <a:srgbClr val="F5F7F8"/>
          </a:solidFill>
          <a:ln w="9525">
            <a:solidFill>
              <a:srgbClr val="E2E7EB"/>
            </a:solidFill>
            <a:prstDash val="solid"/>
          </a:ln>
        </p:spPr>
      </p:sp>
      <p:sp>
        <p:nvSpPr>
          <p:cNvPr id="11" name="Text 9"/>
          <p:cNvSpPr txBox="1"/>
          <p:nvPr/>
        </p:nvSpPr>
        <p:spPr>
          <a:xfrm>
            <a:off x="3619424" y="1691640"/>
            <a:ext cx="2156384" cy="548640"/>
          </a:xfrm>
          <a:prstGeom prst="rect">
            <a:avLst/>
          </a:prstGeom>
          <a:noFill/>
          <a:ln/>
        </p:spPr>
        <p:txBody>
          <a:bodyPr wrap="square" lIns="0" tIns="0" rIns="0" bIns="0" rtlCol="0" anchor="t"/>
          <a:lstStyle/>
          <a:p>
            <a:pPr indent="0" marL="0">
              <a:buNone/>
            </a:pPr>
            <a:r>
              <a:rPr lang="en-US" sz="2800" b="1" dirty="0">
                <a:solidFill>
                  <a:srgbClr val="C8553D"/>
                </a:solidFill>
                <a:latin typeface="Calibri" pitchFamily="34" charset="0"/>
                <a:ea typeface="Calibri" pitchFamily="34" charset="-122"/>
                <a:cs typeface="Calibri" pitchFamily="34" charset="-120"/>
              </a:rPr>
              <a:t>8 / 1</a:t>
            </a:r>
            <a:endParaRPr lang="en-US" sz="2800" dirty="0"/>
          </a:p>
        </p:txBody>
      </p:sp>
      <p:sp>
        <p:nvSpPr>
          <p:cNvPr id="12" name="Text 10"/>
          <p:cNvSpPr txBox="1"/>
          <p:nvPr/>
        </p:nvSpPr>
        <p:spPr>
          <a:xfrm>
            <a:off x="3619424" y="225856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gagal / lulus di kode lama</a:t>
            </a:r>
            <a:endParaRPr lang="en-US" sz="1300" dirty="0"/>
          </a:p>
        </p:txBody>
      </p:sp>
      <p:sp>
        <p:nvSpPr>
          <p:cNvPr id="13" name="Text 11"/>
          <p:cNvSpPr txBox="1"/>
          <p:nvPr/>
        </p:nvSpPr>
        <p:spPr>
          <a:xfrm>
            <a:off x="3619424" y="2578608"/>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Log mentah dilampirkan di report</a:t>
            </a:r>
            <a:endParaRPr lang="en-US" sz="1150" dirty="0"/>
          </a:p>
        </p:txBody>
      </p:sp>
      <p:sp>
        <p:nvSpPr>
          <p:cNvPr id="14" name="Shape 12"/>
          <p:cNvSpPr/>
          <p:nvPr/>
        </p:nvSpPr>
        <p:spPr>
          <a:xfrm>
            <a:off x="6187288" y="1572768"/>
            <a:ext cx="2613584" cy="1645920"/>
          </a:xfrm>
          <a:prstGeom prst="roundRect">
            <a:avLst>
              <a:gd name="adj" fmla="val 3889"/>
            </a:avLst>
          </a:prstGeom>
          <a:solidFill>
            <a:srgbClr val="F5F7F8"/>
          </a:solidFill>
          <a:ln w="9525">
            <a:solidFill>
              <a:srgbClr val="E2E7EB"/>
            </a:solidFill>
            <a:prstDash val="solid"/>
          </a:ln>
        </p:spPr>
      </p:sp>
      <p:sp>
        <p:nvSpPr>
          <p:cNvPr id="15" name="Text 13"/>
          <p:cNvSpPr txBox="1"/>
          <p:nvPr/>
        </p:nvSpPr>
        <p:spPr>
          <a:xfrm>
            <a:off x="6415888" y="1691640"/>
            <a:ext cx="2156384" cy="548640"/>
          </a:xfrm>
          <a:prstGeom prst="rect">
            <a:avLst/>
          </a:prstGeom>
          <a:noFill/>
          <a:ln/>
        </p:spPr>
        <p:txBody>
          <a:bodyPr wrap="square" lIns="0" tIns="0" rIns="0" bIns="0" rtlCol="0" anchor="t"/>
          <a:lstStyle/>
          <a:p>
            <a:pPr indent="0" marL="0">
              <a:buNone/>
            </a:pPr>
            <a:r>
              <a:rPr lang="en-US" sz="2800" b="1" dirty="0">
                <a:solidFill>
                  <a:srgbClr val="B7791F"/>
                </a:solidFill>
                <a:latin typeface="Calibri" pitchFamily="34" charset="0"/>
                <a:ea typeface="Calibri" pitchFamily="34" charset="-122"/>
                <a:cs typeface="Calibri" pitchFamily="34" charset="-120"/>
              </a:rPr>
              <a:t>2 · 3 · 2</a:t>
            </a:r>
            <a:endParaRPr lang="en-US" sz="2800" dirty="0"/>
          </a:p>
        </p:txBody>
      </p:sp>
      <p:sp>
        <p:nvSpPr>
          <p:cNvPr id="16" name="Text 14"/>
          <p:cNvSpPr txBox="1"/>
          <p:nvPr/>
        </p:nvSpPr>
        <p:spPr>
          <a:xfrm>
            <a:off x="6415888" y="225856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test merah per seeded fault</a:t>
            </a:r>
            <a:endParaRPr lang="en-US" sz="1300" dirty="0"/>
          </a:p>
        </p:txBody>
      </p:sp>
      <p:sp>
        <p:nvSpPr>
          <p:cNvPr id="17" name="Text 15"/>
          <p:cNvSpPr txBox="1"/>
          <p:nvPr/>
        </p:nvSpPr>
        <p:spPr>
          <a:xfrm>
            <a:off x="6415888" y="2578608"/>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Tiap fault di-commit &amp; di-revert terpisah</a:t>
            </a:r>
            <a:endParaRPr lang="en-US" sz="1150" dirty="0"/>
          </a:p>
        </p:txBody>
      </p:sp>
      <p:sp>
        <p:nvSpPr>
          <p:cNvPr id="18" name="Shape 16"/>
          <p:cNvSpPr/>
          <p:nvPr/>
        </p:nvSpPr>
        <p:spPr>
          <a:xfrm>
            <a:off x="8983751" y="1572768"/>
            <a:ext cx="2613584" cy="1645920"/>
          </a:xfrm>
          <a:prstGeom prst="roundRect">
            <a:avLst>
              <a:gd name="adj" fmla="val 3889"/>
            </a:avLst>
          </a:prstGeom>
          <a:solidFill>
            <a:srgbClr val="F5F7F8"/>
          </a:solidFill>
          <a:ln w="9525">
            <a:solidFill>
              <a:srgbClr val="E2E7EB"/>
            </a:solidFill>
            <a:prstDash val="solid"/>
          </a:ln>
        </p:spPr>
      </p:sp>
      <p:sp>
        <p:nvSpPr>
          <p:cNvPr id="19" name="Text 17"/>
          <p:cNvSpPr txBox="1"/>
          <p:nvPr/>
        </p:nvSpPr>
        <p:spPr>
          <a:xfrm>
            <a:off x="9212351" y="1691640"/>
            <a:ext cx="2156384" cy="548640"/>
          </a:xfrm>
          <a:prstGeom prst="rect">
            <a:avLst/>
          </a:prstGeom>
          <a:noFill/>
          <a:ln/>
        </p:spPr>
        <p:txBody>
          <a:bodyPr wrap="square" lIns="0" tIns="0" rIns="0" bIns="0" rtlCol="0" anchor="t"/>
          <a:lstStyle/>
          <a:p>
            <a:pPr indent="0" marL="0">
              <a:buNone/>
            </a:pPr>
            <a:r>
              <a:rPr lang="en-US" sz="2800" b="1" dirty="0">
                <a:solidFill>
                  <a:srgbClr val="0B5550"/>
                </a:solidFill>
                <a:latin typeface="Calibri" pitchFamily="34" charset="0"/>
                <a:ea typeface="Calibri" pitchFamily="34" charset="-122"/>
                <a:cs typeface="Calibri" pitchFamily="34" charset="-120"/>
              </a:rPr>
              <a:t>RSpec</a:t>
            </a:r>
            <a:endParaRPr lang="en-US" sz="2800" dirty="0"/>
          </a:p>
        </p:txBody>
      </p:sp>
      <p:sp>
        <p:nvSpPr>
          <p:cNvPr id="20" name="Text 18"/>
          <p:cNvSpPr txBox="1"/>
          <p:nvPr/>
        </p:nvSpPr>
        <p:spPr>
          <a:xfrm>
            <a:off x="9212351" y="2258568"/>
            <a:ext cx="2156384" cy="320040"/>
          </a:xfrm>
          <a:prstGeom prst="rect">
            <a:avLst/>
          </a:prstGeom>
          <a:noFill/>
          <a:ln/>
        </p:spPr>
        <p:txBody>
          <a:bodyPr wrap="square" lIns="0" tIns="0" rIns="0" bIns="0" rtlCol="0" anchor="t"/>
          <a:lstStyle/>
          <a:p>
            <a:pPr indent="0" marL="0">
              <a:buNone/>
            </a:pPr>
            <a:r>
              <a:rPr lang="en-US" sz="1300" b="1" dirty="0">
                <a:solidFill>
                  <a:srgbClr val="1F2933"/>
                </a:solidFill>
                <a:latin typeface="Calibri" pitchFamily="34" charset="0"/>
                <a:ea typeface="Calibri" pitchFamily="34" charset="-122"/>
                <a:cs typeface="Calibri" pitchFamily="34" charset="-120"/>
              </a:rPr>
              <a:t>spec pertama di api/</a:t>
            </a:r>
            <a:endParaRPr lang="en-US" sz="1300" dirty="0"/>
          </a:p>
        </p:txBody>
      </p:sp>
      <p:sp>
        <p:nvSpPr>
          <p:cNvPr id="21" name="Text 19"/>
          <p:cNvSpPr txBox="1"/>
          <p:nvPr/>
        </p:nvSpPr>
        <p:spPr>
          <a:xfrm>
            <a:off x="9212351" y="2578608"/>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Engine, generator, tenancy request</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3474720"/>
          <a:ext cx="11002975" cy="914400"/>
        </p:xfrm>
        <a:graphic>
          <a:graphicData uri="http://schemas.openxmlformats.org/drawingml/2006/table">
            <a:tbl>
              <a:tblPr/>
              <a:tblGrid>
                <a:gridCol w="4754880"/>
                <a:gridCol w="1280160"/>
                <a:gridCol w="4965192"/>
              </a:tblGrid>
              <a:tr h="38404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Fault yang saya suntikkan</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algn="ctr" indent="0" marL="0">
                        <a:buNone/>
                      </a:pPr>
                      <a:r>
                        <a:rPr lang="en-US" sz="1250" b="1" dirty="0">
                          <a:solidFill>
                            <a:srgbClr val="1F2933"/>
                          </a:solidFill>
                          <a:latin typeface="Calibri" pitchFamily="34" charset="0"/>
                          <a:ea typeface="Calibri" pitchFamily="34" charset="-122"/>
                          <a:cs typeface="Calibri" pitchFamily="34" charset="-120"/>
                        </a:rPr>
                        <a:t>Test merah</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Kenapa fault ini</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r>
              <a:tr h="402336">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Hapus mapping expected_level → required_level</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algn="ctr" indent="0" marL="0">
                        <a:buNone/>
                      </a:pPr>
                      <a:r>
                        <a:rPr lang="en-US" sz="1250" b="1" dirty="0">
                          <a:solidFill>
                            <a:srgbClr val="C8553D"/>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Persis bug P0-1 yang terkirim</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402336">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Kembalikan fallback parseLevel ke L1</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algn="ctr" indent="0" marL="0">
                        <a:buNone/>
                      </a:pPr>
                      <a:r>
                        <a:rPr lang="en-US" sz="1250" b="1" dirty="0">
                          <a:solidFill>
                            <a:srgbClr val="C8553D"/>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Default yang merugikan kandidat</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402336">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Petakan confidence tak dikenal ke LOW</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algn="ctr" indent="0" marL="0">
                        <a:buNone/>
                      </a:pPr>
                      <a:r>
                        <a:rPr lang="en-US" sz="1250" b="1" dirty="0">
                          <a:solidFill>
                            <a:srgbClr val="C8553D"/>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“Tidak terukur” jadi temuan tentang kandidat</a:t>
                      </a:r>
                      <a:endParaRPr lang="en-US" sz="1250" dirty="0">
                        <a:latin typeface="Calibri" charset="0"/>
                        <a:ea typeface="Calibri" charset="0"/>
                        <a:cs typeface="Calibri" charset="0"/>
                      </a:endParaRPr>
                    </a:p>
                  </a:txBody>
                  <a:tcPr marL="128016" marR="128016" marT="64008" marB="64008"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bl>
          </a:graphicData>
        </a:graphic>
      </p:graphicFrame>
      <p:sp>
        <p:nvSpPr>
          <p:cNvPr id="23" name="Text 20"/>
          <p:cNvSpPr txBox="1"/>
          <p:nvPr/>
        </p:nvSpPr>
        <p:spPr>
          <a:xfrm>
            <a:off x="594360" y="5230368"/>
            <a:ext cx="11002975" cy="640080"/>
          </a:xfrm>
          <a:prstGeom prst="rect">
            <a:avLst/>
          </a:prstGeom>
          <a:noFill/>
          <a:ln/>
        </p:spPr>
        <p:txBody>
          <a:bodyPr wrap="square" lIns="0" tIns="0" rIns="0" bIns="0" rtlCol="0" anchor="t"/>
          <a:lstStyle/>
          <a:p>
            <a:pPr indent="0" marL="0">
              <a:lnSpc>
                <a:spcPts val="1800"/>
              </a:lnSpc>
              <a:buNone/>
            </a:pPr>
            <a:r>
              <a:rPr lang="en-US" sz="1300" dirty="0">
                <a:solidFill>
                  <a:srgbClr val="5F6B76"/>
                </a:solidFill>
                <a:latin typeface="Calibri" pitchFamily="34" charset="0"/>
                <a:ea typeface="Calibri" pitchFamily="34" charset="-122"/>
                <a:cs typeface="Calibri" pitchFamily="34" charset="-120"/>
              </a:rPr>
              <a:t>Tiga fault ini dipilih karena mereka persis tiga hal yang saya klaim sudah diperbaiki. Menyuntik fault di tempat lain akan membuktikan sesuatu yang tidak saya klaim.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Dua kali saya salah, dan test yang menangkapnya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Brief minta satu contoh AI verification. Saya punya dua.</a:t>
            </a:r>
            <a:endParaRPr lang="en-US" sz="1500" dirty="0"/>
          </a:p>
        </p:txBody>
      </p:sp>
      <p:sp>
        <p:nvSpPr>
          <p:cNvPr id="6" name="Shape 4"/>
          <p:cNvSpPr/>
          <p:nvPr/>
        </p:nvSpPr>
        <p:spPr>
          <a:xfrm>
            <a:off x="594360" y="1572768"/>
            <a:ext cx="5318608" cy="3840480"/>
          </a:xfrm>
          <a:prstGeom prst="roundRect">
            <a:avLst>
              <a:gd name="adj" fmla="val 1667"/>
            </a:avLst>
          </a:prstGeom>
          <a:solidFill>
            <a:srgbClr val="F5F7F8"/>
          </a:solidFill>
          <a:ln w="9525">
            <a:solidFill>
              <a:srgbClr val="E2E7EB"/>
            </a:solidFill>
            <a:prstDash val="solid"/>
          </a:ln>
        </p:spPr>
      </p:sp>
      <p:sp>
        <p:nvSpPr>
          <p:cNvPr id="7" name="Text 5"/>
          <p:cNvSpPr txBox="1"/>
          <p:nvPr/>
        </p:nvSpPr>
        <p:spPr>
          <a:xfrm>
            <a:off x="868680" y="1737360"/>
            <a:ext cx="4769968"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Hipotesis yang salah</a:t>
            </a:r>
            <a:endParaRPr lang="en-US" sz="1600" dirty="0"/>
          </a:p>
        </p:txBody>
      </p:sp>
      <p:sp>
        <p:nvSpPr>
          <p:cNvPr id="8" name="Text 6"/>
          <p:cNvSpPr txBox="1"/>
          <p:nvPr/>
        </p:nvSpPr>
        <p:spPr>
          <a:xfrm>
            <a:off x="868680" y="2103120"/>
            <a:ext cx="4769968" cy="274320"/>
          </a:xfrm>
          <a:prstGeom prst="rect">
            <a:avLst/>
          </a:prstGeom>
          <a:noFill/>
          <a:ln/>
        </p:spPr>
        <p:txBody>
          <a:bodyPr wrap="square" lIns="0" tIns="0" rIns="0" bIns="0" rtlCol="0" anchor="t"/>
          <a:lstStyle/>
          <a:p>
            <a:pPr indent="0" marL="0">
              <a:buNone/>
            </a:pPr>
            <a:r>
              <a:rPr lang="en-US" sz="1150" dirty="0">
                <a:solidFill>
                  <a:srgbClr val="5F6B76"/>
                </a:solidFill>
                <a:latin typeface="Courier New" pitchFamily="34" charset="0"/>
                <a:ea typeface="Courier New" pitchFamily="34" charset="-122"/>
                <a:cs typeface="Courier New" pitchFamily="34" charset="-120"/>
              </a:rPr>
              <a:t>ConfidenceIndicator.tsx</a:t>
            </a:r>
            <a:endParaRPr lang="en-US" sz="1150" dirty="0"/>
          </a:p>
        </p:txBody>
      </p:sp>
      <p:sp>
        <p:nvSpPr>
          <p:cNvPr id="9" name="Text 7"/>
          <p:cNvSpPr txBox="1"/>
          <p:nvPr/>
        </p:nvSpPr>
        <p:spPr>
          <a:xfrm>
            <a:off x="868680" y="2514600"/>
            <a:ext cx="4769968" cy="17373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Saya yakin getLabel salah menangani output berkapital — “High” akan jatuh ke LOW. Saya tulis test-nya, dan test-nya lulus: baris 6 sudah memanggil toLowerCase(). Saya yang membaca terlalu cepat.</a:t>
            </a:r>
            <a:endParaRPr lang="en-US" sz="1300" dirty="0"/>
          </a:p>
        </p:txBody>
      </p:sp>
      <p:sp>
        <p:nvSpPr>
          <p:cNvPr id="10" name="Shape 8"/>
          <p:cNvSpPr/>
          <p:nvPr/>
        </p:nvSpPr>
        <p:spPr>
          <a:xfrm>
            <a:off x="868680" y="4315968"/>
            <a:ext cx="4769968" cy="914400"/>
          </a:xfrm>
          <a:prstGeom prst="roundRect">
            <a:avLst>
              <a:gd name="adj" fmla="val 7000"/>
            </a:avLst>
          </a:prstGeom>
          <a:solidFill>
            <a:srgbClr val="E6F3F1"/>
          </a:solidFill>
          <a:ln w="9525">
            <a:solidFill>
              <a:srgbClr val="E6F3F1"/>
            </a:solidFill>
            <a:prstDash val="solid"/>
          </a:ln>
        </p:spPr>
      </p:sp>
      <p:sp>
        <p:nvSpPr>
          <p:cNvPr id="11" name="Text 9"/>
          <p:cNvSpPr txBox="1"/>
          <p:nvPr/>
        </p:nvSpPr>
        <p:spPr>
          <a:xfrm>
            <a:off x="1051560" y="4315968"/>
            <a:ext cx="4404208" cy="914400"/>
          </a:xfrm>
          <a:prstGeom prst="rect">
            <a:avLst/>
          </a:prstGeom>
          <a:noFill/>
          <a:ln/>
        </p:spPr>
        <p:txBody>
          <a:bodyPr wrap="square" lIns="0" tIns="0" rIns="0" bIns="0" rtlCol="0" anchor="ctr"/>
          <a:lstStyle/>
          <a:p>
            <a:pPr indent="0" marL="0">
              <a:lnSpc>
                <a:spcPts val="1700"/>
              </a:lnSpc>
              <a:buNone/>
            </a:pPr>
            <a:r>
              <a:rPr lang="en-US" sz="1250" dirty="0">
                <a:solidFill>
                  <a:srgbClr val="0B5550"/>
                </a:solidFill>
                <a:latin typeface="Calibri" pitchFamily="34" charset="0"/>
                <a:ea typeface="Calibri" pitchFamily="34" charset="-122"/>
                <a:cs typeface="Calibri" pitchFamily="34" charset="-120"/>
              </a:rPr>
              <a:t>Temuan dihapus dari laporan. Test dipertahankan sebagai regression guard.</a:t>
            </a:r>
            <a:endParaRPr lang="en-US" sz="1250" dirty="0"/>
          </a:p>
        </p:txBody>
      </p:sp>
      <p:sp>
        <p:nvSpPr>
          <p:cNvPr id="12" name="Shape 10"/>
          <p:cNvSpPr/>
          <p:nvPr/>
        </p:nvSpPr>
        <p:spPr>
          <a:xfrm>
            <a:off x="6278728" y="1572768"/>
            <a:ext cx="5318608" cy="3840480"/>
          </a:xfrm>
          <a:prstGeom prst="roundRect">
            <a:avLst>
              <a:gd name="adj" fmla="val 1667"/>
            </a:avLst>
          </a:prstGeom>
          <a:solidFill>
            <a:srgbClr val="F5F7F8"/>
          </a:solidFill>
          <a:ln w="9525">
            <a:solidFill>
              <a:srgbClr val="E2E7EB"/>
            </a:solidFill>
            <a:prstDash val="solid"/>
          </a:ln>
        </p:spPr>
      </p:sp>
      <p:sp>
        <p:nvSpPr>
          <p:cNvPr id="13" name="Text 11"/>
          <p:cNvSpPr txBox="1"/>
          <p:nvPr/>
        </p:nvSpPr>
        <p:spPr>
          <a:xfrm>
            <a:off x="6553048" y="1737360"/>
            <a:ext cx="4769968"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Kode pengganti yang punya bug</a:t>
            </a:r>
            <a:endParaRPr lang="en-US" sz="1600" dirty="0"/>
          </a:p>
        </p:txBody>
      </p:sp>
      <p:sp>
        <p:nvSpPr>
          <p:cNvPr id="14" name="Text 12"/>
          <p:cNvSpPr txBox="1"/>
          <p:nvPr/>
        </p:nvSpPr>
        <p:spPr>
          <a:xfrm>
            <a:off x="6553048" y="2103120"/>
            <a:ext cx="4769968" cy="274320"/>
          </a:xfrm>
          <a:prstGeom prst="rect">
            <a:avLst/>
          </a:prstGeom>
          <a:noFill/>
          <a:ln/>
        </p:spPr>
        <p:txBody>
          <a:bodyPr wrap="square" lIns="0" tIns="0" rIns="0" bIns="0" rtlCol="0" anchor="t"/>
          <a:lstStyle/>
          <a:p>
            <a:pPr indent="0" marL="0">
              <a:buNone/>
            </a:pPr>
            <a:r>
              <a:rPr lang="en-US" sz="1150" dirty="0">
                <a:solidFill>
                  <a:srgbClr val="5F6B76"/>
                </a:solidFill>
                <a:latin typeface="Courier New" pitchFamily="34" charset="0"/>
                <a:ea typeface="Courier New" pitchFamily="34" charset="-122"/>
                <a:cs typeface="Courier New" pitchFamily="34" charset="-120"/>
              </a:rPr>
              <a:t>hooks/usePolling.ts</a:t>
            </a:r>
            <a:endParaRPr lang="en-US" sz="1150" dirty="0"/>
          </a:p>
        </p:txBody>
      </p:sp>
      <p:sp>
        <p:nvSpPr>
          <p:cNvPr id="15" name="Text 13"/>
          <p:cNvSpPr txBox="1"/>
          <p:nvPr/>
        </p:nvSpPr>
        <p:spPr>
          <a:xfrm>
            <a:off x="6553048" y="2514600"/>
            <a:ext cx="4769968" cy="17373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onTimeout terpanggil dua kali. Update state React asinkron sementara interval tidak, jadi cabang deadline menyala lagi sebelum effect sempat jalan ulang.</a:t>
            </a:r>
            <a:endParaRPr lang="en-US" sz="1300" dirty="0"/>
          </a:p>
        </p:txBody>
      </p:sp>
      <p:sp>
        <p:nvSpPr>
          <p:cNvPr id="16" name="Shape 14"/>
          <p:cNvSpPr/>
          <p:nvPr/>
        </p:nvSpPr>
        <p:spPr>
          <a:xfrm>
            <a:off x="6553048" y="4315968"/>
            <a:ext cx="4769968" cy="914400"/>
          </a:xfrm>
          <a:prstGeom prst="roundRect">
            <a:avLst>
              <a:gd name="adj" fmla="val 7000"/>
            </a:avLst>
          </a:prstGeom>
          <a:solidFill>
            <a:srgbClr val="E6F3F1"/>
          </a:solidFill>
          <a:ln w="9525">
            <a:solidFill>
              <a:srgbClr val="E6F3F1"/>
            </a:solidFill>
            <a:prstDash val="solid"/>
          </a:ln>
        </p:spPr>
      </p:sp>
      <p:sp>
        <p:nvSpPr>
          <p:cNvPr id="17" name="Text 15"/>
          <p:cNvSpPr txBox="1"/>
          <p:nvPr/>
        </p:nvSpPr>
        <p:spPr>
          <a:xfrm>
            <a:off x="6735928" y="4315968"/>
            <a:ext cx="4404208" cy="914400"/>
          </a:xfrm>
          <a:prstGeom prst="rect">
            <a:avLst/>
          </a:prstGeom>
          <a:noFill/>
          <a:ln/>
        </p:spPr>
        <p:txBody>
          <a:bodyPr wrap="square" lIns="0" tIns="0" rIns="0" bIns="0" rtlCol="0" anchor="ctr"/>
          <a:lstStyle/>
          <a:p>
            <a:pPr indent="0" marL="0">
              <a:lnSpc>
                <a:spcPts val="1700"/>
              </a:lnSpc>
              <a:buNone/>
            </a:pPr>
            <a:r>
              <a:rPr lang="en-US" sz="1250" dirty="0">
                <a:solidFill>
                  <a:srgbClr val="0B5550"/>
                </a:solidFill>
                <a:latin typeface="Calibri" pitchFamily="34" charset="0"/>
                <a:ea typeface="Calibri" pitchFamily="34" charset="-122"/>
                <a:cs typeface="Calibri" pitchFamily="34" charset="-120"/>
              </a:rPr>
              <a:t>Diperbaiki dengan latch sinkron di closure effect. Ditangkap test sebelum kodenya pernah jalan di browser.</a:t>
            </a:r>
            <a:endParaRPr lang="en-US" sz="1250" dirty="0"/>
          </a:p>
        </p:txBody>
      </p:sp>
      <p:sp>
        <p:nvSpPr>
          <p:cNvPr id="18" name="Text 16"/>
          <p:cNvSpPr txBox="1"/>
          <p:nvPr/>
        </p:nvSpPr>
        <p:spPr>
          <a:xfrm>
            <a:off x="594360" y="5596128"/>
            <a:ext cx="11002975" cy="548640"/>
          </a:xfrm>
          <a:prstGeom prst="rect">
            <a:avLst/>
          </a:prstGeom>
          <a:noFill/>
          <a:ln/>
        </p:spPr>
        <p:txBody>
          <a:bodyPr wrap="square" lIns="0" tIns="0" rIns="0" bIns="0" rtlCol="0" anchor="t"/>
          <a:lstStyle/>
          <a:p>
            <a:pPr indent="0" marL="0">
              <a:lnSpc>
                <a:spcPts val="1900"/>
              </a:lnSpc>
              <a:buNone/>
            </a:pPr>
            <a:r>
              <a:rPr lang="en-US" sz="1350" dirty="0">
                <a:solidFill>
                  <a:srgbClr val="5F6B76"/>
                </a:solidFill>
                <a:latin typeface="Calibri" pitchFamily="34" charset="0"/>
                <a:ea typeface="Calibri" pitchFamily="34" charset="-122"/>
                <a:cs typeface="Calibri" pitchFamily="34" charset="-120"/>
              </a:rPr>
              <a:t>AI saya pakai sebagai leverage yang saya verifikasi, bukan sebagai jawaban yang saya percaya begitu saja. Hipotesis diuji, dan laporannya dikoreksi kalau buktinya berkata lain.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Risiko terbesar yang masih ada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Semuanya P0, belum saya perbaiki, dan beberapa lebih berat dari yang sudah saya perbaiki.</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536192"/>
          <a:ext cx="11002975" cy="914400"/>
        </p:xfrm>
        <a:graphic>
          <a:graphicData uri="http://schemas.openxmlformats.org/drawingml/2006/table">
            <a:tbl>
              <a:tblPr/>
              <a:tblGrid>
                <a:gridCol w="594360"/>
                <a:gridCol w="3246120"/>
                <a:gridCol w="3017520"/>
                <a:gridCol w="4142232"/>
              </a:tblGrid>
              <a:tr h="347472">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Temuan</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Lokasi</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Dampak</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solidFill>
                      <a:srgbClr val="F5F7F8"/>
                    </a:solidFill>
                  </a:tcPr>
                </a:tc>
              </a:tr>
              <a:tr h="603504">
                <a:tc>
                  <a:txBody>
                    <a:bodyPr/>
                    <a:lstStyle/>
                    <a:p>
                      <a:pPr algn="ctr" indent="0" marL="0">
                        <a:buNone/>
                      </a:pPr>
                      <a:r>
                        <a:rPr lang="en-US" sz="1150" b="1" dirty="0">
                          <a:solidFill>
                            <a:srgbClr val="C8553D"/>
                          </a:solidFill>
                          <a:latin typeface="Courier New" pitchFamily="34" charset="0"/>
                          <a:ea typeface="Courier New" pitchFamily="34" charset="-122"/>
                          <a:cs typeface="Courier New" pitchFamily="34" charset="-120"/>
                        </a:rPr>
                        <a:t>1.1</a:t>
                      </a:r>
                      <a:endParaRPr lang="en-US" sz="115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Tenant ditentukan dari header X-Tenant-Scheme</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authentication_controller.rb:16,24-29</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Satu kredensial admin bisa masuk ke organisasi mana pun — lebih luas dari IDOR yang sudah diperbaiki</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12064">
                <a:tc>
                  <a:txBody>
                    <a:bodyPr/>
                    <a:lstStyle/>
                    <a:p>
                      <a:pPr algn="ctr" indent="0" marL="0">
                        <a:buNone/>
                      </a:pPr>
                      <a:r>
                        <a:rPr lang="en-US" sz="1150" b="1" dirty="0">
                          <a:solidFill>
                            <a:srgbClr val="C8553D"/>
                          </a:solidFill>
                          <a:latin typeface="Courier New" pitchFamily="34" charset="0"/>
                          <a:ea typeface="Courier New" pitchFamily="34" charset="-122"/>
                          <a:cs typeface="Courier New" pitchFamily="34" charset="-120"/>
                        </a:rPr>
                        <a:t>1.2</a:t>
                      </a:r>
                      <a:endParaRPr lang="en-US" sz="115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JWT tidak pernah dicek ulang ke database</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authorize_api_request.rb:33-39</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Admin yang dicabut aksesnya tetap valid sampai 3 hari</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66928">
                <a:tc>
                  <a:txBody>
                    <a:bodyPr/>
                    <a:lstStyle/>
                    <a:p>
                      <a:pPr algn="ctr" indent="0" marL="0">
                        <a:buNone/>
                      </a:pPr>
                      <a:r>
                        <a:rPr lang="en-US" sz="1150" b="1" dirty="0">
                          <a:solidFill>
                            <a:srgbClr val="C8553D"/>
                          </a:solidFill>
                          <a:latin typeface="Courier New" pitchFamily="34" charset="0"/>
                          <a:ea typeface="Courier New" pitchFamily="34" charset="-122"/>
                          <a:cs typeface="Courier New" pitchFamily="34" charset="-120"/>
                        </a:rPr>
                        <a:t>2.1</a:t>
                      </a:r>
                      <a:endParaRPr lang="en-US" sz="115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EventMachine mati di setiap worker Puma hasil fork</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config/puma.rb:27-38</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Dengan WEB_CONCURRENCY=2, audio proxy dan coverage push tidak jalan</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66928">
                <a:tc>
                  <a:txBody>
                    <a:bodyPr/>
                    <a:lstStyle/>
                    <a:p>
                      <a:pPr algn="ctr" indent="0" marL="0">
                        <a:buNone/>
                      </a:pPr>
                      <a:r>
                        <a:rPr lang="en-US" sz="1150" b="1" dirty="0">
                          <a:solidFill>
                            <a:srgbClr val="C8553D"/>
                          </a:solidFill>
                          <a:latin typeface="Courier New" pitchFamily="34" charset="0"/>
                          <a:ea typeface="Courier New" pitchFamily="34" charset="-122"/>
                          <a:cs typeface="Courier New" pitchFamily="34" charset="-120"/>
                        </a:rPr>
                        <a:t>2.2</a:t>
                      </a:r>
                      <a:endParaRPr lang="en-US" sz="115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Refresh halaman mengakhiri wawancara</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audio_websocket_middleware.rb:38-47</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Timer 120 detik dari koneksi lama mengakhiri sesi yang sudah resume</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603504">
                <a:tc>
                  <a:txBody>
                    <a:bodyPr/>
                    <a:lstStyle/>
                    <a:p>
                      <a:pPr algn="ctr" indent="0" marL="0">
                        <a:buNone/>
                      </a:pPr>
                      <a:r>
                        <a:rPr lang="en-US" sz="1150" b="1" dirty="0">
                          <a:solidFill>
                            <a:srgbClr val="C8553D"/>
                          </a:solidFill>
                          <a:latin typeface="Courier New" pitchFamily="34" charset="0"/>
                          <a:ea typeface="Courier New" pitchFamily="34" charset="-122"/>
                          <a:cs typeface="Courier New" pitchFamily="34" charset="-120"/>
                        </a:rPr>
                        <a:t>3.1</a:t>
                      </a:r>
                      <a:endParaRPr lang="en-US" sz="115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Transkrip masuk prompt scoring tanpa delimiter</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portfolios/generator.rb:41-74</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Kandidat bisa mengarahkan rating-nya sendiri; mitigasinya sudah ada di Coverage::Analyzer</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r h="512064">
                <a:tc>
                  <a:txBody>
                    <a:bodyPr/>
                    <a:lstStyle/>
                    <a:p>
                      <a:pPr algn="ctr" indent="0" marL="0">
                        <a:buNone/>
                      </a:pPr>
                      <a:r>
                        <a:rPr lang="en-US" sz="1150" b="1" dirty="0">
                          <a:solidFill>
                            <a:srgbClr val="C8553D"/>
                          </a:solidFill>
                          <a:latin typeface="Courier New" pitchFamily="34" charset="0"/>
                          <a:ea typeface="Courier New" pitchFamily="34" charset="-122"/>
                          <a:cs typeface="Courier New" pitchFamily="34" charset="-120"/>
                        </a:rPr>
                        <a:t>5.1</a:t>
                      </a:r>
                      <a:endParaRPr lang="en-US" sz="115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Rollback migrasi gagal jika data sudah ada</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000" dirty="0">
                          <a:solidFill>
                            <a:srgbClr val="5F6B76"/>
                          </a:solidFill>
                          <a:latin typeface="Courier New" pitchFamily="34" charset="0"/>
                          <a:ea typeface="Courier New" pitchFamily="34" charset="-122"/>
                          <a:cs typeface="Courier New" pitchFamily="34" charset="-120"/>
                        </a:rPr>
                        <a:t>20260411000000_add_10_min…rb:9-12</a:t>
                      </a:r>
                      <a:endParaRPr lang="en-US" sz="1000" dirty="0">
                        <a:latin typeface="Courier New" charset="0"/>
                        <a:ea typeface="Courier New" charset="0"/>
                        <a:cs typeface="Courier New"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PG::CheckViolation, rollback berhenti di tengah</a:t>
                      </a:r>
                      <a:endParaRPr lang="en-US" sz="1150" dirty="0">
                        <a:latin typeface="Calibri" charset="0"/>
                        <a:ea typeface="Calibri" charset="0"/>
                        <a:cs typeface="Calibri" charset="0"/>
                      </a:endParaRPr>
                    </a:p>
                  </a:txBody>
                  <a:tcPr marL="109728" marR="109728" marT="54864" marB="54864" anchor="ctr">
                    <a:lnL w="9525" cap="flat" cmpd="sng" algn="ctr">
                      <a:solidFill>
                        <a:srgbClr val="E2E7EB"/>
                      </a:solidFill>
                      <a:prstDash val="solid"/>
                      <a:round/>
                      <a:headEnd type="none" w="med" len="med"/>
                      <a:tailEnd type="none" w="med" len="med"/>
                    </a:lnL>
                    <a:lnR w="9525" cap="flat" cmpd="sng" algn="ctr">
                      <a:solidFill>
                        <a:srgbClr val="E2E7EB"/>
                      </a:solidFill>
                      <a:prstDash val="solid"/>
                      <a:round/>
                      <a:headEnd type="none" w="med" len="med"/>
                      <a:tailEnd type="none" w="med" len="med"/>
                    </a:lnR>
                    <a:lnT w="9525" cap="flat" cmpd="sng" algn="ctr">
                      <a:solidFill>
                        <a:srgbClr val="E2E7EB"/>
                      </a:solidFill>
                      <a:prstDash val="solid"/>
                      <a:round/>
                      <a:headEnd type="none" w="med" len="med"/>
                      <a:tailEnd type="none" w="med" len="med"/>
                    </a:lnT>
                    <a:lnB w="9525" cap="flat" cmpd="sng" algn="ctr">
                      <a:solidFill>
                        <a:srgbClr val="E2E7EB"/>
                      </a:solidFill>
                      <a:prstDash val="solid"/>
                      <a:round/>
                      <a:headEnd type="none" w="med" len="med"/>
                      <a:tailEnd type="none" w="med" len="med"/>
                    </a:lnB>
                  </a:tcPr>
                </a:tc>
              </a:tr>
            </a:tbl>
          </a:graphicData>
        </a:graphic>
      </p:graphicFrame>
      <p:sp>
        <p:nvSpPr>
          <p:cNvPr id="7" name="Text 4"/>
          <p:cNvSpPr txBox="1"/>
          <p:nvPr/>
        </p:nvSpPr>
        <p:spPr>
          <a:xfrm>
            <a:off x="594360" y="5486400"/>
            <a:ext cx="11002975" cy="274320"/>
          </a:xfrm>
          <a:prstGeom prst="rect">
            <a:avLst/>
          </a:prstGeom>
          <a:noFill/>
          <a:ln/>
        </p:spPr>
        <p:txBody>
          <a:bodyPr wrap="square" lIns="0" tIns="0" rIns="0" bIns="0" rtlCol="0" anchor="t"/>
          <a:lstStyle/>
          <a:p>
            <a:pPr indent="0" marL="0">
              <a:buNone/>
            </a:pPr>
            <a:r>
              <a:rPr lang="en-US" sz="1100" i="1" dirty="0">
                <a:solidFill>
                  <a:srgbClr val="8B96A0"/>
                </a:solidFill>
                <a:latin typeface="Calibri" pitchFamily="34" charset="0"/>
                <a:ea typeface="Calibri" pitchFamily="34" charset="-122"/>
                <a:cs typeface="Calibri" pitchFamily="34" charset="-120"/>
              </a:rPr>
              <a:t>Nomor mengikuti dokumen audit backend (Analisis Rakami).</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Technical walkthrough</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Kalau saya lanjut, urutannya seperti ini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Diurutkan dari risiko ke data pribadi, lalu keandalan wawancara, lalu integritas penilaian.</a:t>
            </a:r>
            <a:endParaRPr lang="en-US" sz="1500" dirty="0"/>
          </a:p>
        </p:txBody>
      </p:sp>
      <p:sp>
        <p:nvSpPr>
          <p:cNvPr id="6" name="Shape 4"/>
          <p:cNvSpPr/>
          <p:nvPr/>
        </p:nvSpPr>
        <p:spPr>
          <a:xfrm>
            <a:off x="594360" y="1572768"/>
            <a:ext cx="3484778" cy="3246120"/>
          </a:xfrm>
          <a:prstGeom prst="roundRect">
            <a:avLst>
              <a:gd name="adj" fmla="val 1972"/>
            </a:avLst>
          </a:prstGeom>
          <a:solidFill>
            <a:srgbClr val="F5F7F8"/>
          </a:solidFill>
          <a:ln w="9525">
            <a:solidFill>
              <a:srgbClr val="E2E7EB"/>
            </a:solidFill>
            <a:prstDash val="solid"/>
          </a:ln>
        </p:spPr>
      </p:sp>
      <p:sp>
        <p:nvSpPr>
          <p:cNvPr id="7" name="Shape 5"/>
          <p:cNvSpPr/>
          <p:nvPr/>
        </p:nvSpPr>
        <p:spPr>
          <a:xfrm>
            <a:off x="850392" y="1755648"/>
            <a:ext cx="1234440" cy="274320"/>
          </a:xfrm>
          <a:prstGeom prst="roundRect">
            <a:avLst>
              <a:gd name="adj" fmla="val 20000"/>
            </a:avLst>
          </a:prstGeom>
          <a:solidFill>
            <a:srgbClr val="C8553D"/>
          </a:solidFill>
          <a:ln w="12700">
            <a:solidFill>
              <a:srgbClr val="C8553D"/>
            </a:solidFill>
            <a:prstDash val="solid"/>
          </a:ln>
        </p:spPr>
      </p:sp>
      <p:sp>
        <p:nvSpPr>
          <p:cNvPr id="8" name="Text 6"/>
          <p:cNvSpPr txBox="1"/>
          <p:nvPr/>
        </p:nvSpPr>
        <p:spPr>
          <a:xfrm>
            <a:off x="850392" y="1755648"/>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Minggu 1</a:t>
            </a:r>
            <a:endParaRPr lang="en-US" sz="1100" dirty="0"/>
          </a:p>
        </p:txBody>
      </p:sp>
      <p:sp>
        <p:nvSpPr>
          <p:cNvPr id="9" name="Text 7"/>
          <p:cNvSpPr txBox="1"/>
          <p:nvPr/>
        </p:nvSpPr>
        <p:spPr>
          <a:xfrm>
            <a:off x="850392" y="2157984"/>
            <a:ext cx="2972714"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Tutup celah akses</a:t>
            </a:r>
            <a:endParaRPr lang="en-US" sz="1600" dirty="0"/>
          </a:p>
        </p:txBody>
      </p:sp>
      <p:sp>
        <p:nvSpPr>
          <p:cNvPr id="10" name="Text 8"/>
          <p:cNvSpPr txBox="1"/>
          <p:nvPr/>
        </p:nvSpPr>
        <p:spPr>
          <a:xfrm>
            <a:off x="850392" y="2606040"/>
            <a:ext cx="2972714" cy="210312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Tenant diambil dari data user, bukan header (1.1)</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Token version atau denylist untuk revokasi (1.2)</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Tenant wajib di Sidekiq — gagal keras, bukan unscoped (1.3)</a:t>
            </a:r>
            <a:endParaRPr lang="en-US" sz="1250" dirty="0"/>
          </a:p>
        </p:txBody>
      </p:sp>
      <p:sp>
        <p:nvSpPr>
          <p:cNvPr id="11" name="Shape 9"/>
          <p:cNvSpPr/>
          <p:nvPr/>
        </p:nvSpPr>
        <p:spPr>
          <a:xfrm>
            <a:off x="4353458" y="1572768"/>
            <a:ext cx="3484778" cy="3246120"/>
          </a:xfrm>
          <a:prstGeom prst="roundRect">
            <a:avLst>
              <a:gd name="adj" fmla="val 1972"/>
            </a:avLst>
          </a:prstGeom>
          <a:solidFill>
            <a:srgbClr val="F5F7F8"/>
          </a:solidFill>
          <a:ln w="9525">
            <a:solidFill>
              <a:srgbClr val="E2E7EB"/>
            </a:solidFill>
            <a:prstDash val="solid"/>
          </a:ln>
        </p:spPr>
      </p:sp>
      <p:sp>
        <p:nvSpPr>
          <p:cNvPr id="12" name="Shape 10"/>
          <p:cNvSpPr/>
          <p:nvPr/>
        </p:nvSpPr>
        <p:spPr>
          <a:xfrm>
            <a:off x="4609490" y="1755648"/>
            <a:ext cx="1234440" cy="274320"/>
          </a:xfrm>
          <a:prstGeom prst="roundRect">
            <a:avLst>
              <a:gd name="adj" fmla="val 20000"/>
            </a:avLst>
          </a:prstGeom>
          <a:solidFill>
            <a:srgbClr val="B7791F"/>
          </a:solidFill>
          <a:ln w="12700">
            <a:solidFill>
              <a:srgbClr val="B7791F"/>
            </a:solidFill>
            <a:prstDash val="solid"/>
          </a:ln>
        </p:spPr>
      </p:sp>
      <p:sp>
        <p:nvSpPr>
          <p:cNvPr id="13" name="Text 11"/>
          <p:cNvSpPr txBox="1"/>
          <p:nvPr/>
        </p:nvSpPr>
        <p:spPr>
          <a:xfrm>
            <a:off x="4609490" y="1755648"/>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Minggu 2</a:t>
            </a:r>
            <a:endParaRPr lang="en-US" sz="1100" dirty="0"/>
          </a:p>
        </p:txBody>
      </p:sp>
      <p:sp>
        <p:nvSpPr>
          <p:cNvPr id="14" name="Text 12"/>
          <p:cNvSpPr txBox="1"/>
          <p:nvPr/>
        </p:nvSpPr>
        <p:spPr>
          <a:xfrm>
            <a:off x="4609490" y="2157984"/>
            <a:ext cx="2972714"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Wawancara live yang andal</a:t>
            </a:r>
            <a:endParaRPr lang="en-US" sz="1600" dirty="0"/>
          </a:p>
        </p:txBody>
      </p:sp>
      <p:sp>
        <p:nvSpPr>
          <p:cNvPr id="15" name="Text 13"/>
          <p:cNvSpPr txBox="1"/>
          <p:nvPr/>
        </p:nvSpPr>
        <p:spPr>
          <a:xfrm>
            <a:off x="4609490" y="2606040"/>
            <a:ext cx="2972714" cy="210312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Start EventMachine per worker Puma (2.1)</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Registry koneksi supaya refresh tidak mengakhiri sesi (2.2)</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Pakai AudioRingBuffer yang sudah ditulis (2.3)</a:t>
            </a:r>
            <a:endParaRPr lang="en-US" sz="1250" dirty="0"/>
          </a:p>
        </p:txBody>
      </p:sp>
      <p:sp>
        <p:nvSpPr>
          <p:cNvPr id="16" name="Shape 14"/>
          <p:cNvSpPr/>
          <p:nvPr/>
        </p:nvSpPr>
        <p:spPr>
          <a:xfrm>
            <a:off x="8112557" y="1572768"/>
            <a:ext cx="3484778" cy="3246120"/>
          </a:xfrm>
          <a:prstGeom prst="roundRect">
            <a:avLst>
              <a:gd name="adj" fmla="val 1972"/>
            </a:avLst>
          </a:prstGeom>
          <a:solidFill>
            <a:srgbClr val="F5F7F8"/>
          </a:solidFill>
          <a:ln w="9525">
            <a:solidFill>
              <a:srgbClr val="E2E7EB"/>
            </a:solidFill>
            <a:prstDash val="solid"/>
          </a:ln>
        </p:spPr>
      </p:sp>
      <p:sp>
        <p:nvSpPr>
          <p:cNvPr id="17" name="Shape 15"/>
          <p:cNvSpPr/>
          <p:nvPr/>
        </p:nvSpPr>
        <p:spPr>
          <a:xfrm>
            <a:off x="8368589" y="1755648"/>
            <a:ext cx="1234440" cy="274320"/>
          </a:xfrm>
          <a:prstGeom prst="roundRect">
            <a:avLst>
              <a:gd name="adj" fmla="val 20000"/>
            </a:avLst>
          </a:prstGeom>
          <a:solidFill>
            <a:srgbClr val="0F766E"/>
          </a:solidFill>
          <a:ln w="12700">
            <a:solidFill>
              <a:srgbClr val="0F766E"/>
            </a:solidFill>
            <a:prstDash val="solid"/>
          </a:ln>
        </p:spPr>
      </p:sp>
      <p:sp>
        <p:nvSpPr>
          <p:cNvPr id="18" name="Text 16"/>
          <p:cNvSpPr txBox="1"/>
          <p:nvPr/>
        </p:nvSpPr>
        <p:spPr>
          <a:xfrm>
            <a:off x="8368589" y="1755648"/>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Minggu 3–4</a:t>
            </a:r>
            <a:endParaRPr lang="en-US" sz="1100" dirty="0"/>
          </a:p>
        </p:txBody>
      </p:sp>
      <p:sp>
        <p:nvSpPr>
          <p:cNvPr id="19" name="Text 17"/>
          <p:cNvSpPr txBox="1"/>
          <p:nvPr/>
        </p:nvSpPr>
        <p:spPr>
          <a:xfrm>
            <a:off x="8368589" y="2157984"/>
            <a:ext cx="2972714"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Integritas penilaian</a:t>
            </a:r>
            <a:endParaRPr lang="en-US" sz="1600" dirty="0"/>
          </a:p>
        </p:txBody>
      </p:sp>
      <p:sp>
        <p:nvSpPr>
          <p:cNvPr id="20" name="Text 18"/>
          <p:cNvSpPr txBox="1"/>
          <p:nvPr/>
        </p:nvSpPr>
        <p:spPr>
          <a:xfrm>
            <a:off x="8368589" y="2606040"/>
            <a:ext cx="2972714" cy="210312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Delimiter untuk transkrip di Generator (3.1)</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Satu sumber untuk skala L1–L5</a:t>
            </a:r>
            <a:endParaRPr lang="en-US" sz="1250" dirty="0"/>
          </a:p>
          <a:p>
            <a:pPr marL="342900" indent="-342900">
              <a:lnSpc>
                <a:spcPts val="1700"/>
              </a:lnSpc>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OpenAPI + codegen di atas test runner yang sudah ada</a:t>
            </a:r>
            <a:endParaRPr lang="en-US" sz="1250" dirty="0"/>
          </a:p>
        </p:txBody>
      </p:sp>
      <p:sp>
        <p:nvSpPr>
          <p:cNvPr id="21" name="Shape 19"/>
          <p:cNvSpPr/>
          <p:nvPr/>
        </p:nvSpPr>
        <p:spPr>
          <a:xfrm>
            <a:off x="594360" y="5029200"/>
            <a:ext cx="11002975" cy="960120"/>
          </a:xfrm>
          <a:prstGeom prst="roundRect">
            <a:avLst>
              <a:gd name="adj" fmla="val 6667"/>
            </a:avLst>
          </a:prstGeom>
          <a:solidFill>
            <a:srgbClr val="FBF3E2"/>
          </a:solidFill>
          <a:ln w="9525">
            <a:solidFill>
              <a:srgbClr val="FBF3E2"/>
            </a:solidFill>
            <a:prstDash val="solid"/>
          </a:ln>
        </p:spPr>
      </p:sp>
      <p:sp>
        <p:nvSpPr>
          <p:cNvPr id="22" name="Text 20"/>
          <p:cNvSpPr txBox="1"/>
          <p:nvPr/>
        </p:nvSpPr>
        <p:spPr>
          <a:xfrm>
            <a:off x="868680" y="5029200"/>
            <a:ext cx="10454335" cy="960120"/>
          </a:xfrm>
          <a:prstGeom prst="rect">
            <a:avLst/>
          </a:prstGeom>
          <a:noFill/>
          <a:ln/>
        </p:spPr>
        <p:txBody>
          <a:bodyPr wrap="square" lIns="0" tIns="0" rIns="0" bIns="0" rtlCol="0" anchor="ctr"/>
          <a:lstStyle/>
          <a:p>
            <a:pPr indent="0" marL="0">
              <a:lnSpc>
                <a:spcPts val="1800"/>
              </a:lnSpc>
              <a:buNone/>
            </a:pPr>
            <a:r>
              <a:rPr lang="en-US" sz="1350" b="1" dirty="0">
                <a:solidFill>
                  <a:srgbClr val="6B4E12"/>
                </a:solidFill>
                <a:latin typeface="Calibri" pitchFamily="34" charset="0"/>
                <a:ea typeface="Calibri" pitchFamily="34" charset="-122"/>
                <a:cs typeface="Calibri" pitchFamily="34" charset="-120"/>
              </a:rPr>
              <a:t>Butuh keputusan tim, bukan engineering sendiri:  </a:t>
            </a:r>
            <a:pPr indent="0" marL="0">
              <a:lnSpc>
                <a:spcPts val="1800"/>
              </a:lnSpc>
              <a:buNone/>
            </a:pPr>
            <a:r>
              <a:rPr lang="en-US" sz="1350" dirty="0">
                <a:solidFill>
                  <a:srgbClr val="1F2933"/>
                </a:solidFill>
                <a:latin typeface="Calibri" pitchFamily="34" charset="0"/>
                <a:ea typeface="Calibri" pitchFamily="34" charset="-122"/>
                <a:cs typeface="Calibri" pitchFamily="34" charset="-120"/>
              </a:rPr>
              <a:t>cara backfill tenant_id di produksi, dan kebijakan retensi serta penghapusan data kandidat di bawah UU PDP.</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371600"/>
            <a:ext cx="11002975"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Terima kasih</a:t>
            </a:r>
            <a:endParaRPr lang="en-US" sz="4400" dirty="0"/>
          </a:p>
        </p:txBody>
      </p:sp>
      <p:sp>
        <p:nvSpPr>
          <p:cNvPr id="3" name="Text 1"/>
          <p:cNvSpPr txBox="1"/>
          <p:nvPr/>
        </p:nvSpPr>
        <p:spPr>
          <a:xfrm>
            <a:off x="594360" y="2377440"/>
            <a:ext cx="11002975" cy="411480"/>
          </a:xfrm>
          <a:prstGeom prst="rect">
            <a:avLst/>
          </a:prstGeom>
          <a:noFill/>
          <a:ln/>
        </p:spPr>
        <p:txBody>
          <a:bodyPr wrap="square" lIns="0" tIns="0" rIns="0" bIns="0" rtlCol="0" anchor="t"/>
          <a:lstStyle/>
          <a:p>
            <a:pPr indent="0" marL="0">
              <a:buNone/>
            </a:pPr>
            <a:r>
              <a:rPr lang="en-US" sz="1800" dirty="0">
                <a:solidFill>
                  <a:srgbClr val="D8EFEC"/>
                </a:solidFill>
                <a:latin typeface="Calibri" pitchFamily="34" charset="0"/>
                <a:ea typeface="Calibri" pitchFamily="34" charset="-122"/>
                <a:cs typeface="Calibri" pitchFamily="34" charset="-120"/>
              </a:rPr>
              <a:t>Dua hal yang ingin saya dengar pendapatnya:</a:t>
            </a:r>
            <a:endParaRPr lang="en-US" sz="1800" dirty="0"/>
          </a:p>
        </p:txBody>
      </p:sp>
      <p:sp>
        <p:nvSpPr>
          <p:cNvPr id="4" name="Shape 2"/>
          <p:cNvSpPr/>
          <p:nvPr/>
        </p:nvSpPr>
        <p:spPr>
          <a:xfrm>
            <a:off x="594360" y="2971800"/>
            <a:ext cx="11002975" cy="777240"/>
          </a:xfrm>
          <a:prstGeom prst="roundRect">
            <a:avLst>
              <a:gd name="adj" fmla="val 8235"/>
            </a:avLst>
          </a:prstGeom>
          <a:solidFill>
            <a:srgbClr val="0B5550"/>
          </a:solidFill>
          <a:ln w="12700">
            <a:solidFill>
              <a:srgbClr val="0B5550"/>
            </a:solidFill>
            <a:prstDash val="solid"/>
          </a:ln>
        </p:spPr>
      </p:sp>
      <p:sp>
        <p:nvSpPr>
          <p:cNvPr id="5" name="Text 3"/>
          <p:cNvSpPr txBox="1"/>
          <p:nvPr/>
        </p:nvSpPr>
        <p:spPr>
          <a:xfrm>
            <a:off x="914400" y="2971800"/>
            <a:ext cx="10362895"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1.  Bagaimana tim memutuskan apa yang masuk sprint ketika temuannya jauh lebih banyak dari kapasitas?</a:t>
            </a:r>
            <a:endParaRPr lang="en-US" sz="1500" dirty="0"/>
          </a:p>
        </p:txBody>
      </p:sp>
      <p:sp>
        <p:nvSpPr>
          <p:cNvPr id="6" name="Shape 4"/>
          <p:cNvSpPr/>
          <p:nvPr/>
        </p:nvSpPr>
        <p:spPr>
          <a:xfrm>
            <a:off x="594360" y="3886200"/>
            <a:ext cx="11002975" cy="777240"/>
          </a:xfrm>
          <a:prstGeom prst="roundRect">
            <a:avLst>
              <a:gd name="adj" fmla="val 8235"/>
            </a:avLst>
          </a:prstGeom>
          <a:solidFill>
            <a:srgbClr val="0B5550"/>
          </a:solidFill>
          <a:ln w="12700">
            <a:solidFill>
              <a:srgbClr val="0B5550"/>
            </a:solidFill>
            <a:prstDash val="solid"/>
          </a:ln>
        </p:spPr>
      </p:sp>
      <p:sp>
        <p:nvSpPr>
          <p:cNvPr id="7" name="Text 5"/>
          <p:cNvSpPr txBox="1"/>
          <p:nvPr/>
        </p:nvSpPr>
        <p:spPr>
          <a:xfrm>
            <a:off x="914400" y="3886200"/>
            <a:ext cx="10362895"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  Siapa yang saat ini memegang keputusan seperti retensi data kandidat dan pemetaan user ke organisasi?</a:t>
            </a:r>
            <a:endParaRPr lang="en-US" sz="1500" dirty="0"/>
          </a:p>
        </p:txBody>
      </p:sp>
      <p:sp>
        <p:nvSpPr>
          <p:cNvPr id="8" name="Text 6"/>
          <p:cNvSpPr txBox="1"/>
          <p:nvPr/>
        </p:nvSpPr>
        <p:spPr>
          <a:xfrm>
            <a:off x="594360" y="5486400"/>
            <a:ext cx="11002975" cy="365760"/>
          </a:xfrm>
          <a:prstGeom prst="rect">
            <a:avLst/>
          </a:prstGeom>
          <a:noFill/>
          <a:ln/>
        </p:spPr>
        <p:txBody>
          <a:bodyPr wrap="square" lIns="0" tIns="0" rIns="0" bIns="0" rtlCol="0" anchor="t"/>
          <a:lstStyle/>
          <a:p>
            <a:pPr indent="0" marL="0">
              <a:buNone/>
            </a:pPr>
            <a:r>
              <a:rPr lang="en-US" sz="1400" dirty="0">
                <a:solidFill>
                  <a:srgbClr val="BFE3DE"/>
                </a:solidFill>
                <a:latin typeface="Calibri" pitchFamily="34" charset="0"/>
                <a:ea typeface="Calibri" pitchFamily="34" charset="-122"/>
                <a:cs typeface="Calibri" pitchFamily="34" charset="-120"/>
              </a:rPr>
              <a:t>Aulia Afriza  ·  github.com/auliaafriza/code-challenge-rakamin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Walkthrough — AI Interview Platform</dc:title>
  <dc:subject>PptxGenJS Presentation</dc:subject>
  <dc:creator>Aulia Afriza</dc:creator>
  <cp:lastModifiedBy>Aulia Afriza</cp:lastModifiedBy>
  <cp:revision>1</cp:revision>
  <dcterms:created xsi:type="dcterms:W3CDTF">2026-09-21T07:04:43Z</dcterms:created>
  <dcterms:modified xsi:type="dcterms:W3CDTF">2026-09-21T07:04:43Z</dcterms:modified>
</cp:coreProperties>
</file>