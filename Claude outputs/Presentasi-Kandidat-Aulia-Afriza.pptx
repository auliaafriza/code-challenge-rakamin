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siang, terima kasih sudah meluangkan waktu. Saya Aulia, kandidat untuk posisi Fullstack Product Engineer. Hari ini saya mau menunjukkan hasil case study saya, dan lewat itu, bagaimana cara saya bekerja.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UNTUK KAMU ISI SENDIRI sebelum presentasi — ganti teks abu-abu dengan info aslimu. Cukup 30–45 detik. Jangan terlalu panjang; CTO lebih ingin melihat cara kamu berpikir di slide-slide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pertama yang saya lakukan adalah memahami apa yang sebenarnya dijual produk ini. Menurut saya bukan otomasi wawancara, tapi kepercayaan: penilaian AI yang cukup bisa dipertanggungjawabkan sampai orang mau menandatanganinya. Ada empat orang di rantai keputusan, dan yang paling rentan adalah kandidat — dia tidak bisa melihat atau membantah hasilnya. Itu yang jadi dasar cara saya memprioritaskan.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Urutan kerja saya sengaja seperti ini. Saya pakai produknya dulu sebagai assessor — dari situ saja 13 temuan. Lalu audit kode, 77 temuan. Karena tidak mungkin semua selesai, saya pilih satu slice dan kerjakan sampai benar-benar selesai. Test saya tulis dulu dan saya jalankan ke kode lama sampai merah, baru saya implementasi.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77 temuan, ini yang saya pilih. Tabel ini dipakai hiring manager untuk memutuskan. Kolom Required kosong, tidak jelas siapa yang menilai, dan tidak ada tingkat keyakinan. Yang menarik, backend sudah menghitung semuanya. Datanya hilang di sambungan ke frontend karena type-nya ditulis tangan dan beda nama field. Tidak ada error, jadi tidak ada yang sadar.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bandingkan tiga opsi. A cepat, tapi hanya menutup gejala. C paling benar secara arsitektur, tapi API-nya belum punya spec, jadi waktunya habis untuk infrastruktur. Saya pilih B: validasi di pintu masuk data. Kalau ada field yang hilang, user diberi tahu, bukan disuguhi kolom kosong. Dan C tetap bisa jadi langkah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hasilnya dengan data yang sama. Bagian yang paling saya banggakan adalah peringatan untuk gap yang buktinya tipis — sistem menyarankan sesi lanjutan sebelum kandidat ditolak. Itu keputusan produk, bukan cuma perbaikan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hasil lain: koreksi assessor sekarang terlihat lengkap dengan siapa dan kapan, dan tingkat keyakinan ikut bersama hasil. Selain itu saya menemukan celah keamanan: portfolio bisa diakses lintas organisasi. Itu di luar fokus frontend saya, tapi karena menyangkut data pribadi kandidat, saya putuskan untuk memperbaikinya juga.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membuktikan hasilnya, test saya tulis duluan dan saya jalankan ke kode lama — 8 gagal, itu yang saya harapkan. Setelah perbaikan 34 lulus. Saya juga sengaja merusak kode sendiri di tiga tempat dan test-nya merah. Dan saya mau jujur: dua kali saya salah. Sekali hipotesis saya keliru, sekali kode saya sendiri punya bug. Dua-duanya ketahuan karena test ditulis dulu. Saya pakai AI dalam pekerjaan ini, tapi selalu saya 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juga mau terbuka soal yang belum selesai. Ada beberapa masalah yang malah lebih berat dari yang saya perbaiki, terutama organisasi yang dipilih dari header request. Saya tidak memperbaikinya karena butuh migrasi data dan keputusan arsitektur — di tim sungguhan, itu saya bawa ke diskusi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saya rangkum, empat hal ini yang ingin saya tunjukkan. Saya mulai dari user. Saya memilih apa yang dikerjakan, tidak menumpuk. Saya jujur soal kesalahan saya sendiri. Dan walaupun fokus saya frontend, saya tidak melewatkan masalah di backend kalau itu menyangkut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saya bergabung, ini yang ingin saya lakukan — tentu menyesuaikan prioritas tim. Bulan pertama saya belajar produk dan tim, sambil membantu menutup celah akses. Bulan kedua keandalan wawancara live, karena itu yang dirasakan langsung oleh kandidat. Bulan ketiga fondasi kontrak data, supaya bug seperti yang saya temukan tidak terulang.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Saya buka untuk pertanyaan. Kalau ada waktu, saya juga ingin bertanya dua hal tentang cara tim bekerja.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1600200"/>
            <a:ext cx="11002975" cy="365760"/>
          </a:xfrm>
          <a:prstGeom prst="rect">
            <a:avLst/>
          </a:prstGeom>
          <a:noFill/>
          <a:ln/>
        </p:spPr>
        <p:txBody>
          <a:bodyPr wrap="square" lIns="0" tIns="0" rIns="0" bIns="0" rtlCol="0" anchor="t"/>
          <a:lstStyle/>
          <a:p>
            <a:pPr indent="0" marL="0">
              <a:buNone/>
            </a:pPr>
            <a:r>
              <a:rPr lang="en-US" sz="1600" dirty="0">
                <a:solidFill>
                  <a:srgbClr val="BFE3DE"/>
                </a:solidFill>
                <a:latin typeface="Calibri" pitchFamily="34" charset="0"/>
                <a:ea typeface="Calibri" pitchFamily="34" charset="-122"/>
                <a:cs typeface="Calibri" pitchFamily="34" charset="-120"/>
              </a:rPr>
              <a:t>Presentasi hasil case study</a:t>
            </a:r>
            <a:endParaRPr lang="en-US" sz="1600" dirty="0"/>
          </a:p>
        </p:txBody>
      </p:sp>
      <p:sp>
        <p:nvSpPr>
          <p:cNvPr id="3" name="Text 1"/>
          <p:cNvSpPr txBox="1"/>
          <p:nvPr/>
        </p:nvSpPr>
        <p:spPr>
          <a:xfrm>
            <a:off x="594360" y="2057400"/>
            <a:ext cx="10058400" cy="1645920"/>
          </a:xfrm>
          <a:prstGeom prst="rect">
            <a:avLst/>
          </a:prstGeom>
          <a:noFill/>
          <a:ln/>
        </p:spPr>
        <p:txBody>
          <a:bodyPr wrap="square" lIns="0" tIns="0" rIns="0" bIns="0" rtlCol="0" anchor="t"/>
          <a:lstStyle/>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Membuat penilaian AI</a:t>
            </a:r>
            <a:endParaRPr lang="en-US" sz="4400" dirty="0"/>
          </a:p>
          <a:p>
            <a:pPr indent="0" marL="0">
              <a:lnSpc>
                <a:spcPts val="5200"/>
              </a:lnSpc>
              <a:buNone/>
            </a:pPr>
            <a:r>
              <a:rPr lang="en-US" sz="4400" b="1" dirty="0">
                <a:solidFill>
                  <a:srgbClr val="FFFFFF"/>
                </a:solidFill>
                <a:latin typeface="Calibri" pitchFamily="34" charset="0"/>
                <a:ea typeface="Calibri" pitchFamily="34" charset="-122"/>
                <a:cs typeface="Calibri" pitchFamily="34" charset="-120"/>
              </a:rPr>
              <a:t>bisa dipertanggungjawabkan</a:t>
            </a:r>
            <a:endParaRPr lang="en-US" sz="4400" dirty="0"/>
          </a:p>
        </p:txBody>
      </p:sp>
      <p:sp>
        <p:nvSpPr>
          <p:cNvPr id="4" name="Text 2"/>
          <p:cNvSpPr txBox="1"/>
          <p:nvPr/>
        </p:nvSpPr>
        <p:spPr>
          <a:xfrm>
            <a:off x="594360" y="3840480"/>
            <a:ext cx="11002975" cy="411480"/>
          </a:xfrm>
          <a:prstGeom prst="rect">
            <a:avLst/>
          </a:prstGeom>
          <a:noFill/>
          <a:ln/>
        </p:spPr>
        <p:txBody>
          <a:bodyPr wrap="square" lIns="0" tIns="0" rIns="0" bIns="0" rtlCol="0" anchor="t"/>
          <a:lstStyle/>
          <a:p>
            <a:pPr indent="0" marL="0">
              <a:buNone/>
            </a:pPr>
            <a:r>
              <a:rPr lang="en-US" sz="1700" dirty="0">
                <a:solidFill>
                  <a:srgbClr val="D8EFEC"/>
                </a:solidFill>
                <a:latin typeface="Calibri" pitchFamily="34" charset="0"/>
                <a:ea typeface="Calibri" pitchFamily="34" charset="-122"/>
                <a:cs typeface="Calibri" pitchFamily="34" charset="-120"/>
              </a:rPr>
              <a:t>AI Interview Platform  ·  Fullstack, dengan kedalaman di frontend</a:t>
            </a:r>
            <a:endParaRPr lang="en-US" sz="1700" dirty="0"/>
          </a:p>
        </p:txBody>
      </p:sp>
      <p:sp>
        <p:nvSpPr>
          <p:cNvPr id="5" name="Text 3"/>
          <p:cNvSpPr txBox="1"/>
          <p:nvPr/>
        </p:nvSpPr>
        <p:spPr>
          <a:xfrm>
            <a:off x="594360" y="5029200"/>
            <a:ext cx="5486400" cy="41148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Aulia Afriza</a:t>
            </a:r>
            <a:endParaRPr lang="en-US" sz="2200" dirty="0"/>
          </a:p>
        </p:txBody>
      </p:sp>
      <p:sp>
        <p:nvSpPr>
          <p:cNvPr id="6" name="Text 4"/>
          <p:cNvSpPr txBox="1"/>
          <p:nvPr/>
        </p:nvSpPr>
        <p:spPr>
          <a:xfrm>
            <a:off x="594360" y="5440680"/>
            <a:ext cx="7315200" cy="320040"/>
          </a:xfrm>
          <a:prstGeom prst="rect">
            <a:avLst/>
          </a:prstGeom>
          <a:noFill/>
          <a:ln/>
        </p:spPr>
        <p:txBody>
          <a:bodyPr wrap="square" lIns="0" tIns="0" rIns="0" bIns="0" rtlCol="0" anchor="t"/>
          <a:lstStyle/>
          <a:p>
            <a:pPr indent="0" marL="0">
              <a:buNone/>
            </a:pPr>
            <a:r>
              <a:rPr lang="en-US" sz="1400" dirty="0">
                <a:solidFill>
                  <a:srgbClr val="BFE3DE"/>
                </a:solidFill>
                <a:latin typeface="Calibri" pitchFamily="34" charset="0"/>
                <a:ea typeface="Calibri" pitchFamily="34" charset="-122"/>
                <a:cs typeface="Calibri" pitchFamily="34" charset="-120"/>
              </a:rPr>
              <a:t>Kandidat Fullstack Product Engineer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Sedikit tentang saya</a:t>
            </a:r>
            <a:endParaRPr lang="en-US" sz="2800" dirty="0"/>
          </a:p>
        </p:txBody>
      </p:sp>
      <p:sp>
        <p:nvSpPr>
          <p:cNvPr id="5" name="Shape 3"/>
          <p:cNvSpPr/>
          <p:nvPr/>
        </p:nvSpPr>
        <p:spPr>
          <a:xfrm>
            <a:off x="594360" y="1371600"/>
            <a:ext cx="5318608" cy="1874520"/>
          </a:xfrm>
          <a:prstGeom prst="roundRect">
            <a:avLst>
              <a:gd name="adj" fmla="val 3415"/>
            </a:avLst>
          </a:prstGeom>
          <a:solidFill>
            <a:srgbClr val="F5F7F8"/>
          </a:solidFill>
          <a:ln w="12700">
            <a:solidFill>
              <a:srgbClr val="8B96A0"/>
            </a:solidFill>
            <a:prstDash val="dash"/>
          </a:ln>
        </p:spPr>
      </p:sp>
      <p:sp>
        <p:nvSpPr>
          <p:cNvPr id="6" name="Text 4"/>
          <p:cNvSpPr txBox="1"/>
          <p:nvPr/>
        </p:nvSpPr>
        <p:spPr>
          <a:xfrm>
            <a:off x="868680" y="157276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Pengalaman</a:t>
            </a:r>
            <a:endParaRPr lang="en-US" sz="1600" dirty="0"/>
          </a:p>
        </p:txBody>
      </p:sp>
      <p:sp>
        <p:nvSpPr>
          <p:cNvPr id="7" name="Text 5"/>
          <p:cNvSpPr txBox="1"/>
          <p:nvPr/>
        </p:nvSpPr>
        <p:spPr>
          <a:xfrm>
            <a:off x="868680" y="2029968"/>
            <a:ext cx="4769968" cy="1005840"/>
          </a:xfrm>
          <a:prstGeom prst="rect">
            <a:avLst/>
          </a:prstGeom>
          <a:noFill/>
          <a:ln/>
        </p:spPr>
        <p:txBody>
          <a:bodyPr wrap="square" lIns="0" tIns="0" rIns="0" bIns="0" rtlCol="0" anchor="t"/>
          <a:lstStyle/>
          <a:p>
            <a:pPr indent="0" marL="0">
              <a:lnSpc>
                <a:spcPts val="1900"/>
              </a:lnSpc>
              <a:buNone/>
            </a:pPr>
            <a:r>
              <a:rPr lang="en-US" sz="1400" i="1" dirty="0">
                <a:solidFill>
                  <a:srgbClr val="8B96A0"/>
                </a:solidFill>
                <a:latin typeface="Calibri" pitchFamily="34" charset="0"/>
                <a:ea typeface="Calibri" pitchFamily="34" charset="-122"/>
                <a:cs typeface="Calibri" pitchFamily="34" charset="-120"/>
              </a:rPr>
              <a:t>Isi: berapa tahun, di mana, peran apa</a:t>
            </a:r>
            <a:endParaRPr lang="en-US" sz="1400" dirty="0"/>
          </a:p>
        </p:txBody>
      </p:sp>
      <p:sp>
        <p:nvSpPr>
          <p:cNvPr id="8" name="Shape 6"/>
          <p:cNvSpPr/>
          <p:nvPr/>
        </p:nvSpPr>
        <p:spPr>
          <a:xfrm>
            <a:off x="6278728" y="1371600"/>
            <a:ext cx="5318608" cy="1874520"/>
          </a:xfrm>
          <a:prstGeom prst="roundRect">
            <a:avLst>
              <a:gd name="adj" fmla="val 3415"/>
            </a:avLst>
          </a:prstGeom>
          <a:solidFill>
            <a:srgbClr val="F5F7F8"/>
          </a:solidFill>
          <a:ln w="12700">
            <a:solidFill>
              <a:srgbClr val="8B96A0"/>
            </a:solidFill>
            <a:prstDash val="dash"/>
          </a:ln>
        </p:spPr>
      </p:sp>
      <p:sp>
        <p:nvSpPr>
          <p:cNvPr id="9" name="Text 7"/>
          <p:cNvSpPr txBox="1"/>
          <p:nvPr/>
        </p:nvSpPr>
        <p:spPr>
          <a:xfrm>
            <a:off x="6553048" y="157276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Stack yang paling sering saya pakai</a:t>
            </a:r>
            <a:endParaRPr lang="en-US" sz="1600" dirty="0"/>
          </a:p>
        </p:txBody>
      </p:sp>
      <p:sp>
        <p:nvSpPr>
          <p:cNvPr id="10" name="Text 8"/>
          <p:cNvSpPr txBox="1"/>
          <p:nvPr/>
        </p:nvSpPr>
        <p:spPr>
          <a:xfrm>
            <a:off x="6553048" y="2029968"/>
            <a:ext cx="4769968" cy="1005840"/>
          </a:xfrm>
          <a:prstGeom prst="rect">
            <a:avLst/>
          </a:prstGeom>
          <a:noFill/>
          <a:ln/>
        </p:spPr>
        <p:txBody>
          <a:bodyPr wrap="square" lIns="0" tIns="0" rIns="0" bIns="0" rtlCol="0" anchor="t"/>
          <a:lstStyle/>
          <a:p>
            <a:pPr indent="0" marL="0">
              <a:lnSpc>
                <a:spcPts val="1900"/>
              </a:lnSpc>
              <a:buNone/>
            </a:pPr>
            <a:r>
              <a:rPr lang="en-US" sz="1400" i="1" dirty="0">
                <a:solidFill>
                  <a:srgbClr val="8B96A0"/>
                </a:solidFill>
                <a:latin typeface="Calibri" pitchFamily="34" charset="0"/>
                <a:ea typeface="Calibri" pitchFamily="34" charset="-122"/>
                <a:cs typeface="Calibri" pitchFamily="34" charset="-120"/>
              </a:rPr>
              <a:t>Isi: mis. React, TypeScript, Rails, …</a:t>
            </a:r>
            <a:endParaRPr lang="en-US" sz="1400" dirty="0"/>
          </a:p>
        </p:txBody>
      </p:sp>
      <p:sp>
        <p:nvSpPr>
          <p:cNvPr id="11" name="Shape 9"/>
          <p:cNvSpPr/>
          <p:nvPr/>
        </p:nvSpPr>
        <p:spPr>
          <a:xfrm>
            <a:off x="594360" y="3520440"/>
            <a:ext cx="5318608" cy="1874520"/>
          </a:xfrm>
          <a:prstGeom prst="roundRect">
            <a:avLst>
              <a:gd name="adj" fmla="val 3415"/>
            </a:avLst>
          </a:prstGeom>
          <a:solidFill>
            <a:srgbClr val="F5F7F8"/>
          </a:solidFill>
          <a:ln w="12700">
            <a:solidFill>
              <a:srgbClr val="8B96A0"/>
            </a:solidFill>
            <a:prstDash val="dash"/>
          </a:ln>
        </p:spPr>
      </p:sp>
      <p:sp>
        <p:nvSpPr>
          <p:cNvPr id="12" name="Text 10"/>
          <p:cNvSpPr txBox="1"/>
          <p:nvPr/>
        </p:nvSpPr>
        <p:spPr>
          <a:xfrm>
            <a:off x="868680" y="372160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Pekerjaan yang paling saya nikmati</a:t>
            </a:r>
            <a:endParaRPr lang="en-US" sz="1600" dirty="0"/>
          </a:p>
        </p:txBody>
      </p:sp>
      <p:sp>
        <p:nvSpPr>
          <p:cNvPr id="13" name="Text 11"/>
          <p:cNvSpPr txBox="1"/>
          <p:nvPr/>
        </p:nvSpPr>
        <p:spPr>
          <a:xfrm>
            <a:off x="868680" y="4178808"/>
            <a:ext cx="4769968" cy="1005840"/>
          </a:xfrm>
          <a:prstGeom prst="rect">
            <a:avLst/>
          </a:prstGeom>
          <a:noFill/>
          <a:ln/>
        </p:spPr>
        <p:txBody>
          <a:bodyPr wrap="square" lIns="0" tIns="0" rIns="0" bIns="0" rtlCol="0" anchor="t"/>
          <a:lstStyle/>
          <a:p>
            <a:pPr indent="0" marL="0">
              <a:lnSpc>
                <a:spcPts val="1900"/>
              </a:lnSpc>
              <a:buNone/>
            </a:pPr>
            <a:r>
              <a:rPr lang="en-US" sz="1400" i="1" dirty="0">
                <a:solidFill>
                  <a:srgbClr val="8B96A0"/>
                </a:solidFill>
                <a:latin typeface="Calibri" pitchFamily="34" charset="0"/>
                <a:ea typeface="Calibri" pitchFamily="34" charset="-122"/>
                <a:cs typeface="Calibri" pitchFamily="34" charset="-120"/>
              </a:rPr>
              <a:t>Isi: satu kalimat, mis. membuat alur yang rumit terasa sederhana untuk user</a:t>
            </a:r>
            <a:endParaRPr lang="en-US" sz="1400" dirty="0"/>
          </a:p>
        </p:txBody>
      </p:sp>
      <p:sp>
        <p:nvSpPr>
          <p:cNvPr id="14" name="Shape 12"/>
          <p:cNvSpPr/>
          <p:nvPr/>
        </p:nvSpPr>
        <p:spPr>
          <a:xfrm>
            <a:off x="6278728" y="3520440"/>
            <a:ext cx="5318608" cy="1874520"/>
          </a:xfrm>
          <a:prstGeom prst="roundRect">
            <a:avLst>
              <a:gd name="adj" fmla="val 3415"/>
            </a:avLst>
          </a:prstGeom>
          <a:solidFill>
            <a:srgbClr val="F5F7F8"/>
          </a:solidFill>
          <a:ln w="12700">
            <a:solidFill>
              <a:srgbClr val="8B96A0"/>
            </a:solidFill>
            <a:prstDash val="dash"/>
          </a:ln>
        </p:spPr>
      </p:sp>
      <p:sp>
        <p:nvSpPr>
          <p:cNvPr id="15" name="Text 13"/>
          <p:cNvSpPr txBox="1"/>
          <p:nvPr/>
        </p:nvSpPr>
        <p:spPr>
          <a:xfrm>
            <a:off x="6553048" y="3721608"/>
            <a:ext cx="4769968"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Kenapa posisi ini</a:t>
            </a:r>
            <a:endParaRPr lang="en-US" sz="1600" dirty="0"/>
          </a:p>
        </p:txBody>
      </p:sp>
      <p:sp>
        <p:nvSpPr>
          <p:cNvPr id="16" name="Text 14"/>
          <p:cNvSpPr txBox="1"/>
          <p:nvPr/>
        </p:nvSpPr>
        <p:spPr>
          <a:xfrm>
            <a:off x="6553048" y="4178808"/>
            <a:ext cx="4769968" cy="1005840"/>
          </a:xfrm>
          <a:prstGeom prst="rect">
            <a:avLst/>
          </a:prstGeom>
          <a:noFill/>
          <a:ln/>
        </p:spPr>
        <p:txBody>
          <a:bodyPr wrap="square" lIns="0" tIns="0" rIns="0" bIns="0" rtlCol="0" anchor="t"/>
          <a:lstStyle/>
          <a:p>
            <a:pPr indent="0" marL="0">
              <a:lnSpc>
                <a:spcPts val="1900"/>
              </a:lnSpc>
              <a:buNone/>
            </a:pPr>
            <a:r>
              <a:rPr lang="en-US" sz="1400" i="1" dirty="0">
                <a:solidFill>
                  <a:srgbClr val="8B96A0"/>
                </a:solidFill>
                <a:latin typeface="Calibri" pitchFamily="34" charset="0"/>
                <a:ea typeface="Calibri" pitchFamily="34" charset="-122"/>
                <a:cs typeface="Calibri" pitchFamily="34" charset="-120"/>
              </a:rPr>
              <a:t>Isi: satu kalimat, kenapa produk atau tim ini menarik buat kamu</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Yang saya pahami tentang produk ini</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Sebelum menilai kodenya, saya coba memahami apa yang sebenarnya dijual.</a:t>
            </a:r>
            <a:endParaRPr lang="en-US" sz="1500" dirty="0"/>
          </a:p>
        </p:txBody>
      </p:sp>
      <p:sp>
        <p:nvSpPr>
          <p:cNvPr id="6" name="Shape 4"/>
          <p:cNvSpPr/>
          <p:nvPr/>
        </p:nvSpPr>
        <p:spPr>
          <a:xfrm>
            <a:off x="594360" y="1554480"/>
            <a:ext cx="11002975" cy="1143000"/>
          </a:xfrm>
          <a:prstGeom prst="roundRect">
            <a:avLst>
              <a:gd name="adj" fmla="val 5600"/>
            </a:avLst>
          </a:prstGeom>
          <a:solidFill>
            <a:srgbClr val="E6F3F1"/>
          </a:solidFill>
          <a:ln w="9525">
            <a:solidFill>
              <a:srgbClr val="E6F3F1"/>
            </a:solidFill>
            <a:prstDash val="solid"/>
          </a:ln>
        </p:spPr>
      </p:sp>
      <p:sp>
        <p:nvSpPr>
          <p:cNvPr id="7" name="Text 5"/>
          <p:cNvSpPr txBox="1"/>
          <p:nvPr/>
        </p:nvSpPr>
        <p:spPr>
          <a:xfrm>
            <a:off x="914400" y="1554480"/>
            <a:ext cx="10362895" cy="1143000"/>
          </a:xfrm>
          <a:prstGeom prst="rect">
            <a:avLst/>
          </a:prstGeom>
          <a:noFill/>
          <a:ln/>
        </p:spPr>
        <p:txBody>
          <a:bodyPr wrap="square" lIns="0" tIns="0" rIns="0" bIns="0" rtlCol="0" anchor="ctr"/>
          <a:lstStyle/>
          <a:p>
            <a:pPr indent="0" marL="0">
              <a:lnSpc>
                <a:spcPts val="2200"/>
              </a:lnSpc>
              <a:buNone/>
            </a:pPr>
            <a:r>
              <a:rPr lang="en-US" sz="1600" b="1" dirty="0">
                <a:solidFill>
                  <a:srgbClr val="0B5550"/>
                </a:solidFill>
                <a:latin typeface="Calibri" pitchFamily="34" charset="0"/>
                <a:ea typeface="Calibri" pitchFamily="34" charset="-122"/>
                <a:cs typeface="Calibri" pitchFamily="34" charset="-120"/>
              </a:rPr>
              <a:t>Bukan otomasi wawancara. </a:t>
            </a:r>
            <a:pPr indent="0" marL="0">
              <a:lnSpc>
                <a:spcPts val="2200"/>
              </a:lnSpc>
              <a:buNone/>
            </a:pPr>
            <a:r>
              <a:rPr lang="en-US" sz="1600" dirty="0">
                <a:solidFill>
                  <a:srgbClr val="1F2933"/>
                </a:solidFill>
                <a:latin typeface="Calibri" pitchFamily="34" charset="0"/>
                <a:ea typeface="Calibri" pitchFamily="34" charset="-122"/>
                <a:cs typeface="Calibri" pitchFamily="34" charset="-120"/>
              </a:rPr>
              <a:t>Yang sulit — dan yang membuat produk ini layak dibeli — adalah membuat penilaian AI cukup bisa dipertanggungjawabkan, sampai seorang manusia mau menandatanganinya.</a:t>
            </a:r>
            <a:endParaRPr lang="en-US" sz="1600" dirty="0"/>
          </a:p>
        </p:txBody>
      </p:sp>
      <p:sp>
        <p:nvSpPr>
          <p:cNvPr id="8" name="Shape 6"/>
          <p:cNvSpPr/>
          <p:nvPr/>
        </p:nvSpPr>
        <p:spPr>
          <a:xfrm>
            <a:off x="594360" y="2971800"/>
            <a:ext cx="2613584" cy="1920240"/>
          </a:xfrm>
          <a:prstGeom prst="roundRect">
            <a:avLst>
              <a:gd name="adj" fmla="val 3333"/>
            </a:avLst>
          </a:prstGeom>
          <a:solidFill>
            <a:srgbClr val="F5F7F8"/>
          </a:solidFill>
          <a:ln w="9525">
            <a:solidFill>
              <a:srgbClr val="E2E7EB"/>
            </a:solidFill>
            <a:prstDash val="solid"/>
          </a:ln>
        </p:spPr>
      </p:sp>
      <p:sp>
        <p:nvSpPr>
          <p:cNvPr id="9" name="Text 7"/>
          <p:cNvSpPr txBox="1"/>
          <p:nvPr/>
        </p:nvSpPr>
        <p:spPr>
          <a:xfrm>
            <a:off x="822960" y="3127248"/>
            <a:ext cx="2156384"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Assessor</a:t>
            </a:r>
            <a:endParaRPr lang="en-US" sz="1500" dirty="0"/>
          </a:p>
        </p:txBody>
      </p:sp>
      <p:sp>
        <p:nvSpPr>
          <p:cNvPr id="10" name="Text 8"/>
          <p:cNvSpPr txBox="1"/>
          <p:nvPr/>
        </p:nvSpPr>
        <p:spPr>
          <a:xfrm>
            <a:off x="822960" y="3520440"/>
            <a:ext cx="2156384" cy="12801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Ingin memverifikasi penilaian AI sebelum menempelkan namanya.</a:t>
            </a:r>
            <a:endParaRPr lang="en-US" sz="1250" dirty="0"/>
          </a:p>
        </p:txBody>
      </p:sp>
      <p:sp>
        <p:nvSpPr>
          <p:cNvPr id="11" name="Shape 9"/>
          <p:cNvSpPr/>
          <p:nvPr/>
        </p:nvSpPr>
        <p:spPr>
          <a:xfrm>
            <a:off x="3390824" y="2971800"/>
            <a:ext cx="2613584" cy="1920240"/>
          </a:xfrm>
          <a:prstGeom prst="roundRect">
            <a:avLst>
              <a:gd name="adj" fmla="val 3333"/>
            </a:avLst>
          </a:prstGeom>
          <a:solidFill>
            <a:srgbClr val="F5F7F8"/>
          </a:solidFill>
          <a:ln w="9525">
            <a:solidFill>
              <a:srgbClr val="E2E7EB"/>
            </a:solidFill>
            <a:prstDash val="solid"/>
          </a:ln>
        </p:spPr>
      </p:sp>
      <p:sp>
        <p:nvSpPr>
          <p:cNvPr id="12" name="Text 10"/>
          <p:cNvSpPr txBox="1"/>
          <p:nvPr/>
        </p:nvSpPr>
        <p:spPr>
          <a:xfrm>
            <a:off x="3619424" y="3127248"/>
            <a:ext cx="2156384"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Recruiter</a:t>
            </a:r>
            <a:endParaRPr lang="en-US" sz="1500" dirty="0"/>
          </a:p>
        </p:txBody>
      </p:sp>
      <p:sp>
        <p:nvSpPr>
          <p:cNvPr id="13" name="Text 11"/>
          <p:cNvSpPr txBox="1"/>
          <p:nvPr/>
        </p:nvSpPr>
        <p:spPr>
          <a:xfrm>
            <a:off x="3619424" y="3520440"/>
            <a:ext cx="2156384" cy="12801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Ingin menyaring cepat dan tahu siapa yang butuh sesi lanjutan.</a:t>
            </a:r>
            <a:endParaRPr lang="en-US" sz="1250" dirty="0"/>
          </a:p>
        </p:txBody>
      </p:sp>
      <p:sp>
        <p:nvSpPr>
          <p:cNvPr id="14" name="Shape 12"/>
          <p:cNvSpPr/>
          <p:nvPr/>
        </p:nvSpPr>
        <p:spPr>
          <a:xfrm>
            <a:off x="6187288" y="2971800"/>
            <a:ext cx="2613584" cy="1920240"/>
          </a:xfrm>
          <a:prstGeom prst="roundRect">
            <a:avLst>
              <a:gd name="adj" fmla="val 3333"/>
            </a:avLst>
          </a:prstGeom>
          <a:solidFill>
            <a:srgbClr val="F5F7F8"/>
          </a:solidFill>
          <a:ln w="9525">
            <a:solidFill>
              <a:srgbClr val="E2E7EB"/>
            </a:solidFill>
            <a:prstDash val="solid"/>
          </a:ln>
        </p:spPr>
      </p:sp>
      <p:sp>
        <p:nvSpPr>
          <p:cNvPr id="15" name="Text 13"/>
          <p:cNvSpPr txBox="1"/>
          <p:nvPr/>
        </p:nvSpPr>
        <p:spPr>
          <a:xfrm>
            <a:off x="6415888" y="3127248"/>
            <a:ext cx="2156384" cy="320040"/>
          </a:xfrm>
          <a:prstGeom prst="rect">
            <a:avLst/>
          </a:prstGeom>
          <a:noFill/>
          <a:ln/>
        </p:spPr>
        <p:txBody>
          <a:bodyPr wrap="square" lIns="0" tIns="0" rIns="0" bIns="0" rtlCol="0" anchor="t"/>
          <a:lstStyle/>
          <a:p>
            <a:pPr indent="0" marL="0">
              <a:buNone/>
            </a:pPr>
            <a:r>
              <a:rPr lang="en-US" sz="1500" b="1" dirty="0">
                <a:solidFill>
                  <a:srgbClr val="1F2933"/>
                </a:solidFill>
                <a:latin typeface="Calibri" pitchFamily="34" charset="0"/>
                <a:ea typeface="Calibri" pitchFamily="34" charset="-122"/>
                <a:cs typeface="Calibri" pitchFamily="34" charset="-120"/>
              </a:rPr>
              <a:t>Hiring manager</a:t>
            </a:r>
            <a:endParaRPr lang="en-US" sz="1500" dirty="0"/>
          </a:p>
        </p:txBody>
      </p:sp>
      <p:sp>
        <p:nvSpPr>
          <p:cNvPr id="16" name="Text 14"/>
          <p:cNvSpPr txBox="1"/>
          <p:nvPr/>
        </p:nvSpPr>
        <p:spPr>
          <a:xfrm>
            <a:off x="6415888" y="3520440"/>
            <a:ext cx="2156384" cy="12801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Ingin memutuskan, lalu bisa mempertanggungjawabkannya.</a:t>
            </a:r>
            <a:endParaRPr lang="en-US" sz="1250" dirty="0"/>
          </a:p>
        </p:txBody>
      </p:sp>
      <p:sp>
        <p:nvSpPr>
          <p:cNvPr id="17" name="Shape 15"/>
          <p:cNvSpPr/>
          <p:nvPr/>
        </p:nvSpPr>
        <p:spPr>
          <a:xfrm>
            <a:off x="8983751" y="2971800"/>
            <a:ext cx="2613584" cy="1920240"/>
          </a:xfrm>
          <a:prstGeom prst="roundRect">
            <a:avLst>
              <a:gd name="adj" fmla="val 3333"/>
            </a:avLst>
          </a:prstGeom>
          <a:solidFill>
            <a:srgbClr val="FCEDE8"/>
          </a:solidFill>
          <a:ln w="9525">
            <a:solidFill>
              <a:srgbClr val="FCEDE8"/>
            </a:solidFill>
            <a:prstDash val="solid"/>
          </a:ln>
        </p:spPr>
      </p:sp>
      <p:sp>
        <p:nvSpPr>
          <p:cNvPr id="18" name="Text 16"/>
          <p:cNvSpPr txBox="1"/>
          <p:nvPr/>
        </p:nvSpPr>
        <p:spPr>
          <a:xfrm>
            <a:off x="9212351" y="3127248"/>
            <a:ext cx="2156384" cy="320040"/>
          </a:xfrm>
          <a:prstGeom prst="rect">
            <a:avLst/>
          </a:prstGeom>
          <a:noFill/>
          <a:ln/>
        </p:spPr>
        <p:txBody>
          <a:bodyPr wrap="square" lIns="0" tIns="0" rIns="0" bIns="0" rtlCol="0" anchor="t"/>
          <a:lstStyle/>
          <a:p>
            <a:pPr indent="0" marL="0">
              <a:buNone/>
            </a:pPr>
            <a:r>
              <a:rPr lang="en-US" sz="1500" b="1" dirty="0">
                <a:solidFill>
                  <a:srgbClr val="C8553D"/>
                </a:solidFill>
                <a:latin typeface="Calibri" pitchFamily="34" charset="0"/>
                <a:ea typeface="Calibri" pitchFamily="34" charset="-122"/>
                <a:cs typeface="Calibri" pitchFamily="34" charset="-120"/>
              </a:rPr>
              <a:t>Kandidat</a:t>
            </a:r>
            <a:endParaRPr lang="en-US" sz="1500" dirty="0"/>
          </a:p>
        </p:txBody>
      </p:sp>
      <p:sp>
        <p:nvSpPr>
          <p:cNvPr id="19" name="Text 17"/>
          <p:cNvSpPr txBox="1"/>
          <p:nvPr/>
        </p:nvSpPr>
        <p:spPr>
          <a:xfrm>
            <a:off x="9212351" y="3520440"/>
            <a:ext cx="2156384" cy="128016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Tidak memilih produk ini, tidak bisa menolak, dan tidak pernah melihat hasilnya.</a:t>
            </a:r>
            <a:endParaRPr lang="en-US" sz="1250" dirty="0"/>
          </a:p>
        </p:txBody>
      </p:sp>
      <p:sp>
        <p:nvSpPr>
          <p:cNvPr id="20" name="Text 18"/>
          <p:cNvSpPr txBox="1"/>
          <p:nvPr/>
        </p:nvSpPr>
        <p:spPr>
          <a:xfrm>
            <a:off x="594360" y="5120640"/>
            <a:ext cx="11002975" cy="822960"/>
          </a:xfrm>
          <a:prstGeom prst="rect">
            <a:avLst/>
          </a:prstGeom>
          <a:noFill/>
          <a:ln/>
        </p:spPr>
        <p:txBody>
          <a:bodyPr wrap="square" lIns="0" tIns="0" rIns="0" bIns="0" rtlCol="0" anchor="t"/>
          <a:lstStyle/>
          <a:p>
            <a:pPr indent="0" marL="0">
              <a:lnSpc>
                <a:spcPts val="1900"/>
              </a:lnSpc>
              <a:buNone/>
            </a:pPr>
            <a:r>
              <a:rPr lang="en-US" sz="1350" dirty="0">
                <a:solidFill>
                  <a:srgbClr val="5F6B76"/>
                </a:solidFill>
                <a:latin typeface="Calibri" pitchFamily="34" charset="0"/>
                <a:ea typeface="Calibri" pitchFamily="34" charset="-122"/>
                <a:cs typeface="Calibri" pitchFamily="34" charset="-120"/>
              </a:rPr>
              <a:t>Karena kandidat menanggung akibat terbesar tanpa bisa berbuat apa-apa, saya mengurutkan prioritas berdasarkan siapa yang dirugikan — bukan biaya ke bisnis. Transkrip wawancara juga data pribadi di bawah UU PDP.</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Cara saya mengerjakannya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Pakai produknya dulu, baru baca kode, baru putuskan apa yang dikerjakan.</a:t>
            </a:r>
            <a:endParaRPr lang="en-US" sz="1500" dirty="0"/>
          </a:p>
        </p:txBody>
      </p:sp>
      <p:sp>
        <p:nvSpPr>
          <p:cNvPr id="6" name="Shape 4"/>
          <p:cNvSpPr/>
          <p:nvPr/>
        </p:nvSpPr>
        <p:spPr>
          <a:xfrm>
            <a:off x="594360" y="1691640"/>
            <a:ext cx="2011680" cy="2331720"/>
          </a:xfrm>
          <a:prstGeom prst="roundRect">
            <a:avLst>
              <a:gd name="adj" fmla="val 3182"/>
            </a:avLst>
          </a:prstGeom>
          <a:solidFill>
            <a:srgbClr val="F5F7F8"/>
          </a:solidFill>
          <a:ln w="9525">
            <a:solidFill>
              <a:srgbClr val="E2E7EB"/>
            </a:solidFill>
            <a:prstDash val="solid"/>
          </a:ln>
        </p:spPr>
      </p:sp>
      <p:sp>
        <p:nvSpPr>
          <p:cNvPr id="7" name="Shape 5"/>
          <p:cNvSpPr/>
          <p:nvPr/>
        </p:nvSpPr>
        <p:spPr>
          <a:xfrm>
            <a:off x="795528" y="1856232"/>
            <a:ext cx="402336" cy="402336"/>
          </a:xfrm>
          <a:prstGeom prst="ellipse">
            <a:avLst/>
          </a:prstGeom>
          <a:solidFill>
            <a:srgbClr val="0F766E"/>
          </a:solidFill>
          <a:ln w="12700">
            <a:solidFill>
              <a:srgbClr val="0F766E"/>
            </a:solidFill>
            <a:prstDash val="solid"/>
          </a:ln>
        </p:spPr>
      </p:sp>
      <p:sp>
        <p:nvSpPr>
          <p:cNvPr id="8" name="Text 6"/>
          <p:cNvSpPr txBox="1"/>
          <p:nvPr/>
        </p:nvSpPr>
        <p:spPr>
          <a:xfrm>
            <a:off x="795528"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795528"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Pakai produknya</a:t>
            </a:r>
            <a:endParaRPr lang="en-US" sz="1450" dirty="0"/>
          </a:p>
        </p:txBody>
      </p:sp>
      <p:sp>
        <p:nvSpPr>
          <p:cNvPr id="10" name="Text 8"/>
          <p:cNvSpPr txBox="1"/>
          <p:nvPr/>
        </p:nvSpPr>
        <p:spPr>
          <a:xfrm>
            <a:off x="795528"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Sebagai assessor, dari awal sampai akhir</a:t>
            </a:r>
            <a:endParaRPr lang="en-US" sz="1200" dirty="0"/>
          </a:p>
        </p:txBody>
      </p:sp>
      <p:sp>
        <p:nvSpPr>
          <p:cNvPr id="11" name="Text 9"/>
          <p:cNvSpPr txBox="1"/>
          <p:nvPr/>
        </p:nvSpPr>
        <p:spPr>
          <a:xfrm>
            <a:off x="795528"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13 temuan UX</a:t>
            </a:r>
            <a:endParaRPr lang="en-US" sz="1250" dirty="0"/>
          </a:p>
        </p:txBody>
      </p:sp>
      <p:sp>
        <p:nvSpPr>
          <p:cNvPr id="12" name="Shape 10"/>
          <p:cNvSpPr/>
          <p:nvPr/>
        </p:nvSpPr>
        <p:spPr>
          <a:xfrm>
            <a:off x="2633472" y="2852928"/>
            <a:ext cx="181280" cy="0"/>
          </a:xfrm>
          <a:prstGeom prst="line">
            <a:avLst/>
          </a:prstGeom>
          <a:noFill/>
          <a:ln w="19050">
            <a:solidFill>
              <a:srgbClr val="8B96A0"/>
            </a:solidFill>
            <a:prstDash val="solid"/>
            <a:tailEnd type="triangle"/>
          </a:ln>
        </p:spPr>
      </p:sp>
      <p:sp>
        <p:nvSpPr>
          <p:cNvPr id="13" name="Shape 11"/>
          <p:cNvSpPr/>
          <p:nvPr/>
        </p:nvSpPr>
        <p:spPr>
          <a:xfrm>
            <a:off x="2842184" y="1691640"/>
            <a:ext cx="2011680" cy="2331720"/>
          </a:xfrm>
          <a:prstGeom prst="roundRect">
            <a:avLst>
              <a:gd name="adj" fmla="val 3182"/>
            </a:avLst>
          </a:prstGeom>
          <a:solidFill>
            <a:srgbClr val="F5F7F8"/>
          </a:solidFill>
          <a:ln w="9525">
            <a:solidFill>
              <a:srgbClr val="E2E7EB"/>
            </a:solidFill>
            <a:prstDash val="solid"/>
          </a:ln>
        </p:spPr>
      </p:sp>
      <p:sp>
        <p:nvSpPr>
          <p:cNvPr id="14" name="Shape 12"/>
          <p:cNvSpPr/>
          <p:nvPr/>
        </p:nvSpPr>
        <p:spPr>
          <a:xfrm>
            <a:off x="3043352" y="1856232"/>
            <a:ext cx="402336" cy="402336"/>
          </a:xfrm>
          <a:prstGeom prst="ellipse">
            <a:avLst/>
          </a:prstGeom>
          <a:solidFill>
            <a:srgbClr val="0F766E"/>
          </a:solidFill>
          <a:ln w="12700">
            <a:solidFill>
              <a:srgbClr val="0F766E"/>
            </a:solidFill>
            <a:prstDash val="solid"/>
          </a:ln>
        </p:spPr>
      </p:sp>
      <p:sp>
        <p:nvSpPr>
          <p:cNvPr id="15" name="Text 13"/>
          <p:cNvSpPr txBox="1"/>
          <p:nvPr/>
        </p:nvSpPr>
        <p:spPr>
          <a:xfrm>
            <a:off x="3043352"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3043352"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Audit dua service</a:t>
            </a:r>
            <a:endParaRPr lang="en-US" sz="1450" dirty="0"/>
          </a:p>
        </p:txBody>
      </p:sp>
      <p:sp>
        <p:nvSpPr>
          <p:cNvPr id="17" name="Text 15"/>
          <p:cNvSpPr txBox="1"/>
          <p:nvPr/>
        </p:nvSpPr>
        <p:spPr>
          <a:xfrm>
            <a:off x="3043352"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api/ dan web/, dengan file:line</a:t>
            </a:r>
            <a:endParaRPr lang="en-US" sz="1200" dirty="0"/>
          </a:p>
        </p:txBody>
      </p:sp>
      <p:sp>
        <p:nvSpPr>
          <p:cNvPr id="18" name="Text 16"/>
          <p:cNvSpPr txBox="1"/>
          <p:nvPr/>
        </p:nvSpPr>
        <p:spPr>
          <a:xfrm>
            <a:off x="3043352"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77 temuan</a:t>
            </a:r>
            <a:endParaRPr lang="en-US" sz="1250" dirty="0"/>
          </a:p>
        </p:txBody>
      </p:sp>
      <p:sp>
        <p:nvSpPr>
          <p:cNvPr id="19" name="Shape 17"/>
          <p:cNvSpPr/>
          <p:nvPr/>
        </p:nvSpPr>
        <p:spPr>
          <a:xfrm>
            <a:off x="4881296" y="2852928"/>
            <a:ext cx="181280" cy="0"/>
          </a:xfrm>
          <a:prstGeom prst="line">
            <a:avLst/>
          </a:prstGeom>
          <a:noFill/>
          <a:ln w="19050">
            <a:solidFill>
              <a:srgbClr val="8B96A0"/>
            </a:solidFill>
            <a:prstDash val="solid"/>
            <a:tailEnd type="triangle"/>
          </a:ln>
        </p:spPr>
      </p:sp>
      <p:sp>
        <p:nvSpPr>
          <p:cNvPr id="20" name="Shape 18"/>
          <p:cNvSpPr/>
          <p:nvPr/>
        </p:nvSpPr>
        <p:spPr>
          <a:xfrm>
            <a:off x="5090008" y="1691640"/>
            <a:ext cx="2011680" cy="2331720"/>
          </a:xfrm>
          <a:prstGeom prst="roundRect">
            <a:avLst>
              <a:gd name="adj" fmla="val 3182"/>
            </a:avLst>
          </a:prstGeom>
          <a:solidFill>
            <a:srgbClr val="E6F3F1"/>
          </a:solidFill>
          <a:ln w="9525">
            <a:solidFill>
              <a:srgbClr val="0F766E"/>
            </a:solidFill>
            <a:prstDash val="solid"/>
          </a:ln>
        </p:spPr>
      </p:sp>
      <p:sp>
        <p:nvSpPr>
          <p:cNvPr id="21" name="Shape 19"/>
          <p:cNvSpPr/>
          <p:nvPr/>
        </p:nvSpPr>
        <p:spPr>
          <a:xfrm>
            <a:off x="5291176" y="1856232"/>
            <a:ext cx="402336" cy="402336"/>
          </a:xfrm>
          <a:prstGeom prst="ellipse">
            <a:avLst/>
          </a:prstGeom>
          <a:solidFill>
            <a:srgbClr val="0F766E"/>
          </a:solidFill>
          <a:ln w="12700">
            <a:solidFill>
              <a:srgbClr val="0F766E"/>
            </a:solidFill>
            <a:prstDash val="solid"/>
          </a:ln>
        </p:spPr>
      </p:sp>
      <p:sp>
        <p:nvSpPr>
          <p:cNvPr id="22" name="Text 20"/>
          <p:cNvSpPr txBox="1"/>
          <p:nvPr/>
        </p:nvSpPr>
        <p:spPr>
          <a:xfrm>
            <a:off x="5291176"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txBox="1"/>
          <p:nvPr/>
        </p:nvSpPr>
        <p:spPr>
          <a:xfrm>
            <a:off x="5291176"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Pilih satu slice</a:t>
            </a:r>
            <a:endParaRPr lang="en-US" sz="1450" dirty="0"/>
          </a:p>
        </p:txBody>
      </p:sp>
      <p:sp>
        <p:nvSpPr>
          <p:cNvPr id="24" name="Text 22"/>
          <p:cNvSpPr txBox="1"/>
          <p:nvPr/>
        </p:nvSpPr>
        <p:spPr>
          <a:xfrm>
            <a:off x="5291176"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Satu alur utuh, bukan banyak tambalan</a:t>
            </a:r>
            <a:endParaRPr lang="en-US" sz="1200" dirty="0"/>
          </a:p>
        </p:txBody>
      </p:sp>
      <p:sp>
        <p:nvSpPr>
          <p:cNvPr id="25" name="Text 23"/>
          <p:cNvSpPr txBox="1"/>
          <p:nvPr/>
        </p:nvSpPr>
        <p:spPr>
          <a:xfrm>
            <a:off x="5291176"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Portfolio → Fit/Gap</a:t>
            </a:r>
            <a:endParaRPr lang="en-US" sz="1250" dirty="0"/>
          </a:p>
        </p:txBody>
      </p:sp>
      <p:sp>
        <p:nvSpPr>
          <p:cNvPr id="26" name="Shape 24"/>
          <p:cNvSpPr/>
          <p:nvPr/>
        </p:nvSpPr>
        <p:spPr>
          <a:xfrm>
            <a:off x="7129120" y="2852928"/>
            <a:ext cx="181280" cy="0"/>
          </a:xfrm>
          <a:prstGeom prst="line">
            <a:avLst/>
          </a:prstGeom>
          <a:noFill/>
          <a:ln w="19050">
            <a:solidFill>
              <a:srgbClr val="8B96A0"/>
            </a:solidFill>
            <a:prstDash val="solid"/>
            <a:tailEnd type="triangle"/>
          </a:ln>
        </p:spPr>
      </p:sp>
      <p:sp>
        <p:nvSpPr>
          <p:cNvPr id="27" name="Shape 25"/>
          <p:cNvSpPr/>
          <p:nvPr/>
        </p:nvSpPr>
        <p:spPr>
          <a:xfrm>
            <a:off x="7337831" y="1691640"/>
            <a:ext cx="2011680" cy="2331720"/>
          </a:xfrm>
          <a:prstGeom prst="roundRect">
            <a:avLst>
              <a:gd name="adj" fmla="val 3182"/>
            </a:avLst>
          </a:prstGeom>
          <a:solidFill>
            <a:srgbClr val="F5F7F8"/>
          </a:solidFill>
          <a:ln w="9525">
            <a:solidFill>
              <a:srgbClr val="E2E7EB"/>
            </a:solidFill>
            <a:prstDash val="solid"/>
          </a:ln>
        </p:spPr>
      </p:sp>
      <p:sp>
        <p:nvSpPr>
          <p:cNvPr id="28" name="Shape 26"/>
          <p:cNvSpPr/>
          <p:nvPr/>
        </p:nvSpPr>
        <p:spPr>
          <a:xfrm>
            <a:off x="7538999" y="1856232"/>
            <a:ext cx="402336" cy="402336"/>
          </a:xfrm>
          <a:prstGeom prst="ellipse">
            <a:avLst/>
          </a:prstGeom>
          <a:solidFill>
            <a:srgbClr val="0F766E"/>
          </a:solidFill>
          <a:ln w="12700">
            <a:solidFill>
              <a:srgbClr val="0F766E"/>
            </a:solidFill>
            <a:prstDash val="solid"/>
          </a:ln>
        </p:spPr>
      </p:sp>
      <p:sp>
        <p:nvSpPr>
          <p:cNvPr id="29" name="Text 27"/>
          <p:cNvSpPr txBox="1"/>
          <p:nvPr/>
        </p:nvSpPr>
        <p:spPr>
          <a:xfrm>
            <a:off x="7538999"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txBox="1"/>
          <p:nvPr/>
        </p:nvSpPr>
        <p:spPr>
          <a:xfrm>
            <a:off x="7538999"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Test dulu</a:t>
            </a:r>
            <a:endParaRPr lang="en-US" sz="1450" dirty="0"/>
          </a:p>
        </p:txBody>
      </p:sp>
      <p:sp>
        <p:nvSpPr>
          <p:cNvPr id="31" name="Text 29"/>
          <p:cNvSpPr txBox="1"/>
          <p:nvPr/>
        </p:nvSpPr>
        <p:spPr>
          <a:xfrm>
            <a:off x="7538999"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Dijalankan ke kode lama sampai merah</a:t>
            </a:r>
            <a:endParaRPr lang="en-US" sz="1200" dirty="0"/>
          </a:p>
        </p:txBody>
      </p:sp>
      <p:sp>
        <p:nvSpPr>
          <p:cNvPr id="32" name="Text 30"/>
          <p:cNvSpPr txBox="1"/>
          <p:nvPr/>
        </p:nvSpPr>
        <p:spPr>
          <a:xfrm>
            <a:off x="7538999"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8 gagal / 1 lulus</a:t>
            </a:r>
            <a:endParaRPr lang="en-US" sz="1250" dirty="0"/>
          </a:p>
        </p:txBody>
      </p:sp>
      <p:sp>
        <p:nvSpPr>
          <p:cNvPr id="33" name="Shape 31"/>
          <p:cNvSpPr/>
          <p:nvPr/>
        </p:nvSpPr>
        <p:spPr>
          <a:xfrm>
            <a:off x="9376943" y="2852928"/>
            <a:ext cx="181280" cy="0"/>
          </a:xfrm>
          <a:prstGeom prst="line">
            <a:avLst/>
          </a:prstGeom>
          <a:noFill/>
          <a:ln w="19050">
            <a:solidFill>
              <a:srgbClr val="8B96A0"/>
            </a:solidFill>
            <a:prstDash val="solid"/>
            <a:tailEnd type="triangle"/>
          </a:ln>
        </p:spPr>
      </p:sp>
      <p:sp>
        <p:nvSpPr>
          <p:cNvPr id="34" name="Shape 32"/>
          <p:cNvSpPr/>
          <p:nvPr/>
        </p:nvSpPr>
        <p:spPr>
          <a:xfrm>
            <a:off x="9585655" y="1691640"/>
            <a:ext cx="2011680" cy="2331720"/>
          </a:xfrm>
          <a:prstGeom prst="roundRect">
            <a:avLst>
              <a:gd name="adj" fmla="val 3182"/>
            </a:avLst>
          </a:prstGeom>
          <a:solidFill>
            <a:srgbClr val="F5F7F8"/>
          </a:solidFill>
          <a:ln w="9525">
            <a:solidFill>
              <a:srgbClr val="E2E7EB"/>
            </a:solidFill>
            <a:prstDash val="solid"/>
          </a:ln>
        </p:spPr>
      </p:sp>
      <p:sp>
        <p:nvSpPr>
          <p:cNvPr id="35" name="Shape 33"/>
          <p:cNvSpPr/>
          <p:nvPr/>
        </p:nvSpPr>
        <p:spPr>
          <a:xfrm>
            <a:off x="9786823" y="1856232"/>
            <a:ext cx="402336" cy="402336"/>
          </a:xfrm>
          <a:prstGeom prst="ellipse">
            <a:avLst/>
          </a:prstGeom>
          <a:solidFill>
            <a:srgbClr val="0F766E"/>
          </a:solidFill>
          <a:ln w="12700">
            <a:solidFill>
              <a:srgbClr val="0F766E"/>
            </a:solidFill>
            <a:prstDash val="solid"/>
          </a:ln>
        </p:spPr>
      </p:sp>
      <p:sp>
        <p:nvSpPr>
          <p:cNvPr id="36" name="Text 34"/>
          <p:cNvSpPr txBox="1"/>
          <p:nvPr/>
        </p:nvSpPr>
        <p:spPr>
          <a:xfrm>
            <a:off x="9786823" y="18562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7" name="Text 35"/>
          <p:cNvSpPr txBox="1"/>
          <p:nvPr/>
        </p:nvSpPr>
        <p:spPr>
          <a:xfrm>
            <a:off x="9786823" y="2377440"/>
            <a:ext cx="1645920" cy="36576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Implementasi</a:t>
            </a:r>
            <a:endParaRPr lang="en-US" sz="1450" dirty="0"/>
          </a:p>
        </p:txBody>
      </p:sp>
      <p:sp>
        <p:nvSpPr>
          <p:cNvPr id="38" name="Text 36"/>
          <p:cNvSpPr txBox="1"/>
          <p:nvPr/>
        </p:nvSpPr>
        <p:spPr>
          <a:xfrm>
            <a:off x="9786823" y="2743200"/>
            <a:ext cx="1645920" cy="731520"/>
          </a:xfrm>
          <a:prstGeom prst="rect">
            <a:avLst/>
          </a:prstGeom>
          <a:noFill/>
          <a:ln/>
        </p:spPr>
        <p:txBody>
          <a:bodyPr wrap="square" lIns="0" tIns="0" rIns="0" bIns="0" rtlCol="0" anchor="t"/>
          <a:lstStyle/>
          <a:p>
            <a:pPr indent="0" marL="0">
              <a:lnSpc>
                <a:spcPts val="1500"/>
              </a:lnSpc>
              <a:buNone/>
            </a:pPr>
            <a:r>
              <a:rPr lang="en-US" sz="1200" dirty="0">
                <a:solidFill>
                  <a:srgbClr val="5F6B76"/>
                </a:solidFill>
                <a:latin typeface="Calibri" pitchFamily="34" charset="0"/>
                <a:ea typeface="Calibri" pitchFamily="34" charset="-122"/>
                <a:cs typeface="Calibri" pitchFamily="34" charset="-120"/>
              </a:rPr>
              <a:t>Lalu rusak sengaja untuk menguji test-nya</a:t>
            </a:r>
            <a:endParaRPr lang="en-US" sz="1200" dirty="0"/>
          </a:p>
        </p:txBody>
      </p:sp>
      <p:sp>
        <p:nvSpPr>
          <p:cNvPr id="39" name="Text 37"/>
          <p:cNvSpPr txBox="1"/>
          <p:nvPr/>
        </p:nvSpPr>
        <p:spPr>
          <a:xfrm>
            <a:off x="9786823" y="3538728"/>
            <a:ext cx="1645920" cy="320040"/>
          </a:xfrm>
          <a:prstGeom prst="rect">
            <a:avLst/>
          </a:prstGeom>
          <a:noFill/>
          <a:ln/>
        </p:spPr>
        <p:txBody>
          <a:bodyPr wrap="square" lIns="0" tIns="0" rIns="0" bIns="0" rtlCol="0" anchor="t"/>
          <a:lstStyle/>
          <a:p>
            <a:pPr indent="0" marL="0">
              <a:buNone/>
            </a:pPr>
            <a:r>
              <a:rPr lang="en-US" sz="1250" b="1" dirty="0">
                <a:solidFill>
                  <a:srgbClr val="0B5550"/>
                </a:solidFill>
                <a:latin typeface="Calibri" pitchFamily="34" charset="0"/>
                <a:ea typeface="Calibri" pitchFamily="34" charset="-122"/>
                <a:cs typeface="Calibri" pitchFamily="34" charset="-120"/>
              </a:rPr>
              <a:t>3 seeded fault</a:t>
            </a:r>
            <a:endParaRPr lang="en-US" sz="1250" dirty="0"/>
          </a:p>
        </p:txBody>
      </p:sp>
      <p:sp>
        <p:nvSpPr>
          <p:cNvPr id="40" name="Shape 38"/>
          <p:cNvSpPr/>
          <p:nvPr/>
        </p:nvSpPr>
        <p:spPr>
          <a:xfrm>
            <a:off x="594360" y="4343400"/>
            <a:ext cx="11002975" cy="1554480"/>
          </a:xfrm>
          <a:prstGeom prst="roundRect">
            <a:avLst>
              <a:gd name="adj" fmla="val 4118"/>
            </a:avLst>
          </a:prstGeom>
          <a:solidFill>
            <a:srgbClr val="F5F7F8"/>
          </a:solidFill>
          <a:ln w="9525">
            <a:solidFill>
              <a:srgbClr val="E2E7EB"/>
            </a:solidFill>
            <a:prstDash val="solid"/>
          </a:ln>
        </p:spPr>
      </p:sp>
      <p:sp>
        <p:nvSpPr>
          <p:cNvPr id="41" name="Text 39"/>
          <p:cNvSpPr txBox="1"/>
          <p:nvPr/>
        </p:nvSpPr>
        <p:spPr>
          <a:xfrm>
            <a:off x="868680" y="4507992"/>
            <a:ext cx="1045433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Kenapa satu slice</a:t>
            </a:r>
            <a:endParaRPr lang="en-US" sz="1450" dirty="0"/>
          </a:p>
        </p:txBody>
      </p:sp>
      <p:sp>
        <p:nvSpPr>
          <p:cNvPr id="42" name="Text 40"/>
          <p:cNvSpPr txBox="1"/>
          <p:nvPr/>
        </p:nvSpPr>
        <p:spPr>
          <a:xfrm>
            <a:off x="868680" y="4846320"/>
            <a:ext cx="10454335" cy="960120"/>
          </a:xfrm>
          <a:prstGeom prst="rect">
            <a:avLst/>
          </a:prstGeom>
          <a:noFill/>
          <a:ln/>
        </p:spPr>
        <p:txBody>
          <a:bodyPr wrap="square" lIns="0" tIns="0" rIns="0" bIns="0" rtlCol="0" anchor="t"/>
          <a:lstStyle/>
          <a:p>
            <a:pPr indent="0" marL="0">
              <a:lnSpc>
                <a:spcPts val="1800"/>
              </a:lnSpc>
              <a:buNone/>
            </a:pPr>
            <a:r>
              <a:rPr lang="en-US" sz="1300" dirty="0">
                <a:solidFill>
                  <a:srgbClr val="5F6B76"/>
                </a:solidFill>
                <a:latin typeface="Calibri" pitchFamily="34" charset="0"/>
                <a:ea typeface="Calibri" pitchFamily="34" charset="-122"/>
                <a:cs typeface="Calibri" pitchFamily="34" charset="-120"/>
              </a:rPr>
              <a:t>77 temuan tidak mungkin selesai dalam satu case study. Menambal banyak hal setengah jalan tidak membuat satu pun alur jadi bisa dipercaya. Jadi saya pilih alur yang paling dekat ke keputusan hiring, kerjakan sampai punya test, migrasi yang aman, dan spec — sisanya saya dokumentasikan supaya bisa dijadwalkan.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Masalah yang saya pilih</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Tabel Fit/Gap — yang dipakai hiring manager untuk memutuskan kandidat.</a:t>
            </a:r>
            <a:endParaRPr lang="en-US" sz="1500" dirty="0"/>
          </a:p>
        </p:txBody>
      </p:sp>
      <p:pic>
        <p:nvPicPr>
          <p:cNvPr id="6" name="Image 0" descr="img/p01_before.png">    </p:cNvPr>
          <p:cNvPicPr>
            <a:picLocks noChangeAspect="1"/>
          </p:cNvPicPr>
          <p:nvPr/>
        </p:nvPicPr>
        <p:blipFill>
          <a:blip r:embed="rId1"/>
          <a:stretch>
            <a:fillRect/>
          </a:stretch>
        </p:blipFill>
        <p:spPr>
          <a:xfrm>
            <a:off x="594360" y="1600200"/>
            <a:ext cx="7406640" cy="1923803"/>
          </a:xfrm>
          <a:prstGeom prst="rect">
            <a:avLst/>
          </a:prstGeom>
        </p:spPr>
      </p:pic>
      <p:sp>
        <p:nvSpPr>
          <p:cNvPr id="7" name="Shape 4"/>
          <p:cNvSpPr/>
          <p:nvPr/>
        </p:nvSpPr>
        <p:spPr>
          <a:xfrm>
            <a:off x="594360" y="1600200"/>
            <a:ext cx="7406640" cy="1923803"/>
          </a:xfrm>
          <a:prstGeom prst="rect">
            <a:avLst/>
          </a:prstGeom>
          <a:ln w="9525">
            <a:solidFill>
              <a:srgbClr val="E2E7EB"/>
            </a:solidFill>
            <a:prstDash val="solid"/>
          </a:ln>
        </p:spPr>
      </p:sp>
      <p:sp>
        <p:nvSpPr>
          <p:cNvPr id="8" name="Shape 5"/>
          <p:cNvSpPr/>
          <p:nvPr/>
        </p:nvSpPr>
        <p:spPr>
          <a:xfrm>
            <a:off x="8321040" y="1600200"/>
            <a:ext cx="3276295" cy="868680"/>
          </a:xfrm>
          <a:prstGeom prst="roundRect">
            <a:avLst>
              <a:gd name="adj" fmla="val 7368"/>
            </a:avLst>
          </a:prstGeom>
          <a:solidFill>
            <a:srgbClr val="FCEDE8"/>
          </a:solidFill>
          <a:ln w="9525">
            <a:solidFill>
              <a:srgbClr val="FCEDE8"/>
            </a:solidFill>
            <a:prstDash val="solid"/>
          </a:ln>
        </p:spPr>
      </p:sp>
      <p:sp>
        <p:nvSpPr>
          <p:cNvPr id="9" name="Text 6"/>
          <p:cNvSpPr txBox="1"/>
          <p:nvPr/>
        </p:nvSpPr>
        <p:spPr>
          <a:xfrm>
            <a:off x="8531352" y="1719072"/>
            <a:ext cx="2864815" cy="292608"/>
          </a:xfrm>
          <a:prstGeom prst="rect">
            <a:avLst/>
          </a:prstGeom>
          <a:noFill/>
          <a:ln/>
        </p:spPr>
        <p:txBody>
          <a:bodyPr wrap="square" lIns="0" tIns="0" rIns="0" bIns="0" rtlCol="0" anchor="t"/>
          <a:lstStyle/>
          <a:p>
            <a:pPr indent="0" marL="0">
              <a:buNone/>
            </a:pPr>
            <a:r>
              <a:rPr lang="en-US" sz="1350" b="1" dirty="0">
                <a:solidFill>
                  <a:srgbClr val="C8553D"/>
                </a:solidFill>
                <a:latin typeface="Calibri" pitchFamily="34" charset="0"/>
                <a:ea typeface="Calibri" pitchFamily="34" charset="-122"/>
                <a:cs typeface="Calibri" pitchFamily="34" charset="-120"/>
              </a:rPr>
              <a:t>Kolom Required kosong</a:t>
            </a:r>
            <a:endParaRPr lang="en-US" sz="1350" dirty="0"/>
          </a:p>
        </p:txBody>
      </p:sp>
      <p:sp>
        <p:nvSpPr>
          <p:cNvPr id="10" name="Text 7"/>
          <p:cNvSpPr txBox="1"/>
          <p:nvPr/>
        </p:nvSpPr>
        <p:spPr>
          <a:xfrm>
            <a:off x="8531352" y="2039112"/>
            <a:ext cx="2864815" cy="3200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di semua baris</a:t>
            </a:r>
            <a:endParaRPr lang="en-US" sz="1200" dirty="0"/>
          </a:p>
        </p:txBody>
      </p:sp>
      <p:sp>
        <p:nvSpPr>
          <p:cNvPr id="11" name="Shape 8"/>
          <p:cNvSpPr/>
          <p:nvPr/>
        </p:nvSpPr>
        <p:spPr>
          <a:xfrm>
            <a:off x="8321040" y="2578608"/>
            <a:ext cx="3276295" cy="868680"/>
          </a:xfrm>
          <a:prstGeom prst="roundRect">
            <a:avLst>
              <a:gd name="adj" fmla="val 7368"/>
            </a:avLst>
          </a:prstGeom>
          <a:solidFill>
            <a:srgbClr val="FCEDE8"/>
          </a:solidFill>
          <a:ln w="9525">
            <a:solidFill>
              <a:srgbClr val="FCEDE8"/>
            </a:solidFill>
            <a:prstDash val="solid"/>
          </a:ln>
        </p:spPr>
      </p:sp>
      <p:sp>
        <p:nvSpPr>
          <p:cNvPr id="12" name="Text 9"/>
          <p:cNvSpPr txBox="1"/>
          <p:nvPr/>
        </p:nvSpPr>
        <p:spPr>
          <a:xfrm>
            <a:off x="8531352" y="2697480"/>
            <a:ext cx="2864815" cy="292608"/>
          </a:xfrm>
          <a:prstGeom prst="rect">
            <a:avLst/>
          </a:prstGeom>
          <a:noFill/>
          <a:ln/>
        </p:spPr>
        <p:txBody>
          <a:bodyPr wrap="square" lIns="0" tIns="0" rIns="0" bIns="0" rtlCol="0" anchor="t"/>
          <a:lstStyle/>
          <a:p>
            <a:pPr indent="0" marL="0">
              <a:buNone/>
            </a:pPr>
            <a:r>
              <a:rPr lang="en-US" sz="1350" b="1" dirty="0">
                <a:solidFill>
                  <a:srgbClr val="C8553D"/>
                </a:solidFill>
                <a:latin typeface="Calibri" pitchFamily="34" charset="0"/>
                <a:ea typeface="Calibri" pitchFamily="34" charset="-122"/>
                <a:cs typeface="Calibri" pitchFamily="34" charset="-120"/>
              </a:rPr>
              <a:t>Tidak jelas siapa yang menilai</a:t>
            </a:r>
            <a:endParaRPr lang="en-US" sz="1350" dirty="0"/>
          </a:p>
        </p:txBody>
      </p:sp>
      <p:sp>
        <p:nvSpPr>
          <p:cNvPr id="13" name="Text 10"/>
          <p:cNvSpPr txBox="1"/>
          <p:nvPr/>
        </p:nvSpPr>
        <p:spPr>
          <a:xfrm>
            <a:off x="8531352" y="3017520"/>
            <a:ext cx="2864815" cy="3200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AI atau koreksi assessor</a:t>
            </a:r>
            <a:endParaRPr lang="en-US" sz="1200" dirty="0"/>
          </a:p>
        </p:txBody>
      </p:sp>
      <p:sp>
        <p:nvSpPr>
          <p:cNvPr id="14" name="Shape 11"/>
          <p:cNvSpPr/>
          <p:nvPr/>
        </p:nvSpPr>
        <p:spPr>
          <a:xfrm>
            <a:off x="8321040" y="3557016"/>
            <a:ext cx="3276295" cy="868680"/>
          </a:xfrm>
          <a:prstGeom prst="roundRect">
            <a:avLst>
              <a:gd name="adj" fmla="val 7368"/>
            </a:avLst>
          </a:prstGeom>
          <a:solidFill>
            <a:srgbClr val="FCEDE8"/>
          </a:solidFill>
          <a:ln w="9525">
            <a:solidFill>
              <a:srgbClr val="FCEDE8"/>
            </a:solidFill>
            <a:prstDash val="solid"/>
          </a:ln>
        </p:spPr>
      </p:sp>
      <p:sp>
        <p:nvSpPr>
          <p:cNvPr id="15" name="Text 12"/>
          <p:cNvSpPr txBox="1"/>
          <p:nvPr/>
        </p:nvSpPr>
        <p:spPr>
          <a:xfrm>
            <a:off x="8531352" y="3675888"/>
            <a:ext cx="2864815" cy="292608"/>
          </a:xfrm>
          <a:prstGeom prst="rect">
            <a:avLst/>
          </a:prstGeom>
          <a:noFill/>
          <a:ln/>
        </p:spPr>
        <p:txBody>
          <a:bodyPr wrap="square" lIns="0" tIns="0" rIns="0" bIns="0" rtlCol="0" anchor="t"/>
          <a:lstStyle/>
          <a:p>
            <a:pPr indent="0" marL="0">
              <a:buNone/>
            </a:pPr>
            <a:r>
              <a:rPr lang="en-US" sz="1350" b="1" dirty="0">
                <a:solidFill>
                  <a:srgbClr val="C8553D"/>
                </a:solidFill>
                <a:latin typeface="Calibri" pitchFamily="34" charset="0"/>
                <a:ea typeface="Calibri" pitchFamily="34" charset="-122"/>
                <a:cs typeface="Calibri" pitchFamily="34" charset="-120"/>
              </a:rPr>
              <a:t>Tidak ada tingkat keyakinan</a:t>
            </a:r>
            <a:endParaRPr lang="en-US" sz="1350" dirty="0"/>
          </a:p>
        </p:txBody>
      </p:sp>
      <p:sp>
        <p:nvSpPr>
          <p:cNvPr id="16" name="Text 13"/>
          <p:cNvSpPr txBox="1"/>
          <p:nvPr/>
        </p:nvSpPr>
        <p:spPr>
          <a:xfrm>
            <a:off x="8531352" y="3995928"/>
            <a:ext cx="2864815" cy="3200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1 probe terlihat sama dengan 4</a:t>
            </a:r>
            <a:endParaRPr lang="en-US" sz="1200" dirty="0"/>
          </a:p>
        </p:txBody>
      </p:sp>
      <p:sp>
        <p:nvSpPr>
          <p:cNvPr id="17" name="Shape 14"/>
          <p:cNvSpPr/>
          <p:nvPr/>
        </p:nvSpPr>
        <p:spPr>
          <a:xfrm>
            <a:off x="594360" y="3798323"/>
            <a:ext cx="7406640" cy="1783080"/>
          </a:xfrm>
          <a:prstGeom prst="roundRect">
            <a:avLst>
              <a:gd name="adj" fmla="val 3590"/>
            </a:avLst>
          </a:prstGeom>
          <a:solidFill>
            <a:srgbClr val="F5F7F8"/>
          </a:solidFill>
          <a:ln w="9525">
            <a:solidFill>
              <a:srgbClr val="E2E7EB"/>
            </a:solidFill>
            <a:prstDash val="solid"/>
          </a:ln>
        </p:spPr>
      </p:sp>
      <p:sp>
        <p:nvSpPr>
          <p:cNvPr id="18" name="Text 15"/>
          <p:cNvSpPr txBox="1"/>
          <p:nvPr/>
        </p:nvSpPr>
        <p:spPr>
          <a:xfrm>
            <a:off x="868680" y="3798323"/>
            <a:ext cx="6858000" cy="1783080"/>
          </a:xfrm>
          <a:prstGeom prst="rect">
            <a:avLst/>
          </a:prstGeom>
          <a:noFill/>
          <a:ln/>
        </p:spPr>
        <p:txBody>
          <a:bodyPr wrap="square" lIns="0" tIns="0" rIns="0" bIns="0" rtlCol="0" anchor="ctr"/>
          <a:lstStyle/>
          <a:p>
            <a:pPr indent="0" marL="0">
              <a:lnSpc>
                <a:spcPts val="1900"/>
              </a:lnSpc>
              <a:buNone/>
            </a:pPr>
            <a:r>
              <a:rPr lang="en-US" sz="1350" b="1" dirty="0">
                <a:solidFill>
                  <a:srgbClr val="1F2933"/>
                </a:solidFill>
                <a:latin typeface="Calibri" pitchFamily="34" charset="0"/>
                <a:ea typeface="Calibri" pitchFamily="34" charset="-122"/>
                <a:cs typeface="Calibri" pitchFamily="34" charset="-120"/>
              </a:rPr>
              <a:t>Akar masalahnya: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backend sudah menghitung ketiga data ini dengan benar. Tapi type di frontend ditulis tangan, mengharapkan nama field yang berbeda, dan tidak pernah dicocokkan dengan response asli. Tidak ada test, tidak ada error — jadi selama ini tidak ada yang sadar.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Keputusan yang saya ambil, dan alasannya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Saya bandingkan tiga opsi sebelum menulis kode.</a:t>
            </a:r>
            <a:endParaRPr lang="en-US" sz="1500" dirty="0"/>
          </a:p>
        </p:txBody>
      </p:sp>
      <p:sp>
        <p:nvSpPr>
          <p:cNvPr id="6" name="Shape 4"/>
          <p:cNvSpPr/>
          <p:nvPr/>
        </p:nvSpPr>
        <p:spPr>
          <a:xfrm>
            <a:off x="594360" y="1554480"/>
            <a:ext cx="3484778" cy="3108960"/>
          </a:xfrm>
          <a:prstGeom prst="roundRect">
            <a:avLst>
              <a:gd name="adj" fmla="val 2059"/>
            </a:avLst>
          </a:prstGeom>
          <a:solidFill>
            <a:srgbClr val="F5F7F8"/>
          </a:solidFill>
          <a:ln w="9525">
            <a:solidFill>
              <a:srgbClr val="E2E7EB"/>
            </a:solidFill>
            <a:prstDash val="solid"/>
          </a:ln>
        </p:spPr>
      </p:sp>
      <p:sp>
        <p:nvSpPr>
          <p:cNvPr id="7" name="Text 5"/>
          <p:cNvSpPr txBox="1"/>
          <p:nvPr/>
        </p:nvSpPr>
        <p:spPr>
          <a:xfrm>
            <a:off x="850392" y="1737360"/>
            <a:ext cx="2972714"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A · Tambal nama field</a:t>
            </a:r>
            <a:endParaRPr lang="en-US" sz="1600" dirty="0"/>
          </a:p>
        </p:txBody>
      </p:sp>
      <p:sp>
        <p:nvSpPr>
          <p:cNvPr id="8" name="Text 6"/>
          <p:cNvSpPr txBox="1"/>
          <p:nvPr/>
        </p:nvSpPr>
        <p:spPr>
          <a:xfrm>
            <a:off x="850392" y="2121408"/>
            <a:ext cx="2972714" cy="274320"/>
          </a:xfrm>
          <a:prstGeom prst="rect">
            <a:avLst/>
          </a:prstGeom>
          <a:noFill/>
          <a:ln/>
        </p:spPr>
        <p:txBody>
          <a:bodyPr wrap="square" lIns="0" tIns="0" rIns="0" bIns="0" rtlCol="0" anchor="t"/>
          <a:lstStyle/>
          <a:p>
            <a:pPr indent="0" marL="0">
              <a:buNone/>
            </a:pPr>
            <a:r>
              <a:rPr lang="en-US" sz="1250" dirty="0">
                <a:solidFill>
                  <a:srgbClr val="5F6B76"/>
                </a:solidFill>
                <a:latin typeface="Calibri" pitchFamily="34" charset="0"/>
                <a:ea typeface="Calibri" pitchFamily="34" charset="-122"/>
                <a:cs typeface="Calibri" pitchFamily="34" charset="-120"/>
              </a:rPr>
              <a:t>≈ 1 jam</a:t>
            </a:r>
            <a:endParaRPr lang="en-US" sz="1250" dirty="0"/>
          </a:p>
        </p:txBody>
      </p:sp>
      <p:sp>
        <p:nvSpPr>
          <p:cNvPr id="9" name="Text 7"/>
          <p:cNvSpPr txBox="1"/>
          <p:nvPr/>
        </p:nvSpPr>
        <p:spPr>
          <a:xfrm>
            <a:off x="850392" y="2560320"/>
            <a:ext cx="2972714" cy="1965960"/>
          </a:xfrm>
          <a:prstGeom prst="rect">
            <a:avLst/>
          </a:prstGeom>
          <a:noFill/>
          <a:ln/>
        </p:spPr>
        <p:txBody>
          <a:bodyPr wrap="square" lIns="0" tIns="0" rIns="0" bIns="0" rtlCol="0" anchor="t"/>
          <a:lstStyle/>
          <a:p>
            <a:pPr indent="0" marL="0">
              <a:lnSpc>
                <a:spcPts val="1900"/>
              </a:lnSpc>
              <a:buNone/>
            </a:pPr>
            <a:r>
              <a:rPr lang="en-US" sz="1300" dirty="0">
                <a:solidFill>
                  <a:srgbClr val="1F2933"/>
                </a:solidFill>
                <a:latin typeface="Calibri" pitchFamily="34" charset="0"/>
                <a:ea typeface="Calibri" pitchFamily="34" charset="-122"/>
                <a:cs typeface="Calibri" pitchFamily="34" charset="-120"/>
              </a:rPr>
              <a:t>Tabel langsung terisi, tapi perubahan API berikutnya akan merusak tampilan lagi tanpa ketahuan.</a:t>
            </a:r>
            <a:endParaRPr lang="en-US" sz="1300" dirty="0"/>
          </a:p>
        </p:txBody>
      </p:sp>
      <p:sp>
        <p:nvSpPr>
          <p:cNvPr id="10" name="Shape 8"/>
          <p:cNvSpPr/>
          <p:nvPr/>
        </p:nvSpPr>
        <p:spPr>
          <a:xfrm>
            <a:off x="4353458" y="1554480"/>
            <a:ext cx="3484778" cy="3108960"/>
          </a:xfrm>
          <a:prstGeom prst="roundRect">
            <a:avLst>
              <a:gd name="adj" fmla="val 2059"/>
            </a:avLst>
          </a:prstGeom>
          <a:solidFill>
            <a:srgbClr val="E6F3F1"/>
          </a:solidFill>
          <a:ln w="9525">
            <a:solidFill>
              <a:srgbClr val="0F766E"/>
            </a:solidFill>
            <a:prstDash val="solid"/>
          </a:ln>
        </p:spPr>
      </p:sp>
      <p:sp>
        <p:nvSpPr>
          <p:cNvPr id="11" name="Text 9"/>
          <p:cNvSpPr txBox="1"/>
          <p:nvPr/>
        </p:nvSpPr>
        <p:spPr>
          <a:xfrm>
            <a:off x="4609490" y="1737360"/>
            <a:ext cx="2972714"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B · Validasi di boundary</a:t>
            </a:r>
            <a:endParaRPr lang="en-US" sz="1600" dirty="0"/>
          </a:p>
        </p:txBody>
      </p:sp>
      <p:sp>
        <p:nvSpPr>
          <p:cNvPr id="12" name="Text 10"/>
          <p:cNvSpPr txBox="1"/>
          <p:nvPr/>
        </p:nvSpPr>
        <p:spPr>
          <a:xfrm>
            <a:off x="4609490" y="2121408"/>
            <a:ext cx="2972714" cy="274320"/>
          </a:xfrm>
          <a:prstGeom prst="rect">
            <a:avLst/>
          </a:prstGeom>
          <a:noFill/>
          <a:ln/>
        </p:spPr>
        <p:txBody>
          <a:bodyPr wrap="square" lIns="0" tIns="0" rIns="0" bIns="0" rtlCol="0" anchor="t"/>
          <a:lstStyle/>
          <a:p>
            <a:pPr indent="0" marL="0">
              <a:buNone/>
            </a:pPr>
            <a:r>
              <a:rPr lang="en-US" sz="1250" dirty="0">
                <a:solidFill>
                  <a:srgbClr val="5F6B76"/>
                </a:solidFill>
                <a:latin typeface="Calibri" pitchFamily="34" charset="0"/>
                <a:ea typeface="Calibri" pitchFamily="34" charset="-122"/>
                <a:cs typeface="Calibri" pitchFamily="34" charset="-120"/>
              </a:rPr>
              <a:t>≈ 1,5 hari</a:t>
            </a:r>
            <a:endParaRPr lang="en-US" sz="1250" dirty="0"/>
          </a:p>
        </p:txBody>
      </p:sp>
      <p:sp>
        <p:nvSpPr>
          <p:cNvPr id="13" name="Shape 11"/>
          <p:cNvSpPr/>
          <p:nvPr/>
        </p:nvSpPr>
        <p:spPr>
          <a:xfrm>
            <a:off x="6649517" y="2103120"/>
            <a:ext cx="914400" cy="274320"/>
          </a:xfrm>
          <a:prstGeom prst="roundRect">
            <a:avLst>
              <a:gd name="adj" fmla="val 20000"/>
            </a:avLst>
          </a:prstGeom>
          <a:solidFill>
            <a:srgbClr val="0F766E"/>
          </a:solidFill>
          <a:ln w="12700">
            <a:solidFill>
              <a:srgbClr val="0F766E"/>
            </a:solidFill>
            <a:prstDash val="solid"/>
          </a:ln>
        </p:spPr>
      </p:sp>
      <p:sp>
        <p:nvSpPr>
          <p:cNvPr id="14" name="Text 12"/>
          <p:cNvSpPr txBox="1"/>
          <p:nvPr/>
        </p:nvSpPr>
        <p:spPr>
          <a:xfrm>
            <a:off x="6649517" y="2103120"/>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Dipilih</a:t>
            </a:r>
            <a:endParaRPr lang="en-US" sz="1100" dirty="0"/>
          </a:p>
        </p:txBody>
      </p:sp>
      <p:sp>
        <p:nvSpPr>
          <p:cNvPr id="15" name="Text 13"/>
          <p:cNvSpPr txBox="1"/>
          <p:nvPr/>
        </p:nvSpPr>
        <p:spPr>
          <a:xfrm>
            <a:off x="4609490" y="2560320"/>
            <a:ext cx="2972714" cy="1965960"/>
          </a:xfrm>
          <a:prstGeom prst="rect">
            <a:avLst/>
          </a:prstGeom>
          <a:noFill/>
          <a:ln/>
        </p:spPr>
        <p:txBody>
          <a:bodyPr wrap="square" lIns="0" tIns="0" rIns="0" bIns="0" rtlCol="0" anchor="t"/>
          <a:lstStyle/>
          <a:p>
            <a:pPr indent="0" marL="0">
              <a:lnSpc>
                <a:spcPts val="1900"/>
              </a:lnSpc>
              <a:buNone/>
            </a:pPr>
            <a:r>
              <a:rPr lang="en-US" sz="1300" dirty="0">
                <a:solidFill>
                  <a:srgbClr val="1F2933"/>
                </a:solidFill>
                <a:latin typeface="Calibri" pitchFamily="34" charset="0"/>
                <a:ea typeface="Calibri" pitchFamily="34" charset="-122"/>
                <a:cs typeface="Calibri" pitchFamily="34" charset="-120"/>
              </a:rPr>
              <a:t>Data dari API divalidasi dengan Zod. Kalau ada field hilang, layar bilang “data tidak lengkap”, bukan kosong. Zod sudah terpasang, belum dipakai.</a:t>
            </a:r>
            <a:endParaRPr lang="en-US" sz="1300" dirty="0"/>
          </a:p>
        </p:txBody>
      </p:sp>
      <p:sp>
        <p:nvSpPr>
          <p:cNvPr id="16" name="Shape 14"/>
          <p:cNvSpPr/>
          <p:nvPr/>
        </p:nvSpPr>
        <p:spPr>
          <a:xfrm>
            <a:off x="8112557" y="1554480"/>
            <a:ext cx="3484778" cy="3108960"/>
          </a:xfrm>
          <a:prstGeom prst="roundRect">
            <a:avLst>
              <a:gd name="adj" fmla="val 2059"/>
            </a:avLst>
          </a:prstGeom>
          <a:solidFill>
            <a:srgbClr val="F5F7F8"/>
          </a:solidFill>
          <a:ln w="9525">
            <a:solidFill>
              <a:srgbClr val="E2E7EB"/>
            </a:solidFill>
            <a:prstDash val="solid"/>
          </a:ln>
        </p:spPr>
      </p:sp>
      <p:sp>
        <p:nvSpPr>
          <p:cNvPr id="17" name="Text 15"/>
          <p:cNvSpPr txBox="1"/>
          <p:nvPr/>
        </p:nvSpPr>
        <p:spPr>
          <a:xfrm>
            <a:off x="8368589" y="1737360"/>
            <a:ext cx="2972714" cy="347472"/>
          </a:xfrm>
          <a:prstGeom prst="rect">
            <a:avLst/>
          </a:prstGeom>
          <a:noFill/>
          <a:ln/>
        </p:spPr>
        <p:txBody>
          <a:bodyPr wrap="square" lIns="0" tIns="0" rIns="0" bIns="0" rtlCol="0" anchor="t"/>
          <a:lstStyle/>
          <a:p>
            <a:pPr indent="0" marL="0">
              <a:buNone/>
            </a:pPr>
            <a:r>
              <a:rPr lang="en-US" sz="1600" b="1" dirty="0">
                <a:solidFill>
                  <a:srgbClr val="1F2933"/>
                </a:solidFill>
                <a:latin typeface="Calibri" pitchFamily="34" charset="0"/>
                <a:ea typeface="Calibri" pitchFamily="34" charset="-122"/>
                <a:cs typeface="Calibri" pitchFamily="34" charset="-120"/>
              </a:rPr>
              <a:t>C · OpenAPI codegen</a:t>
            </a:r>
            <a:endParaRPr lang="en-US" sz="1600" dirty="0"/>
          </a:p>
        </p:txBody>
      </p:sp>
      <p:sp>
        <p:nvSpPr>
          <p:cNvPr id="18" name="Text 16"/>
          <p:cNvSpPr txBox="1"/>
          <p:nvPr/>
        </p:nvSpPr>
        <p:spPr>
          <a:xfrm>
            <a:off x="8368589" y="2121408"/>
            <a:ext cx="2972714" cy="274320"/>
          </a:xfrm>
          <a:prstGeom prst="rect">
            <a:avLst/>
          </a:prstGeom>
          <a:noFill/>
          <a:ln/>
        </p:spPr>
        <p:txBody>
          <a:bodyPr wrap="square" lIns="0" tIns="0" rIns="0" bIns="0" rtlCol="0" anchor="t"/>
          <a:lstStyle/>
          <a:p>
            <a:pPr indent="0" marL="0">
              <a:buNone/>
            </a:pPr>
            <a:r>
              <a:rPr lang="en-US" sz="1250" dirty="0">
                <a:solidFill>
                  <a:srgbClr val="5F6B76"/>
                </a:solidFill>
                <a:latin typeface="Calibri" pitchFamily="34" charset="0"/>
                <a:ea typeface="Calibri" pitchFamily="34" charset="-122"/>
                <a:cs typeface="Calibri" pitchFamily="34" charset="-120"/>
              </a:rPr>
              <a:t>beberapa hari</a:t>
            </a:r>
            <a:endParaRPr lang="en-US" sz="1250" dirty="0"/>
          </a:p>
        </p:txBody>
      </p:sp>
      <p:sp>
        <p:nvSpPr>
          <p:cNvPr id="19" name="Text 17"/>
          <p:cNvSpPr txBox="1"/>
          <p:nvPr/>
        </p:nvSpPr>
        <p:spPr>
          <a:xfrm>
            <a:off x="8368589" y="2560320"/>
            <a:ext cx="2972714" cy="1965960"/>
          </a:xfrm>
          <a:prstGeom prst="rect">
            <a:avLst/>
          </a:prstGeom>
          <a:noFill/>
          <a:ln/>
        </p:spPr>
        <p:txBody>
          <a:bodyPr wrap="square" lIns="0" tIns="0" rIns="0" bIns="0" rtlCol="0" anchor="t"/>
          <a:lstStyle/>
          <a:p>
            <a:pPr indent="0" marL="0">
              <a:lnSpc>
                <a:spcPts val="1900"/>
              </a:lnSpc>
              <a:buNone/>
            </a:pPr>
            <a:r>
              <a:rPr lang="en-US" sz="1300" dirty="0">
                <a:solidFill>
                  <a:srgbClr val="1F2933"/>
                </a:solidFill>
                <a:latin typeface="Calibri" pitchFamily="34" charset="0"/>
                <a:ea typeface="Calibri" pitchFamily="34" charset="-122"/>
                <a:cs typeface="Calibri" pitchFamily="34" charset="-120"/>
              </a:rPr>
              <a:t>Paling rapi jangka panjang, tapi API belum punya spec. Waktunya habis untuk infrastruktur, bukan memperbaiki masalah user.</a:t>
            </a:r>
            <a:endParaRPr lang="en-US" sz="1300" dirty="0"/>
          </a:p>
        </p:txBody>
      </p:sp>
      <p:sp>
        <p:nvSpPr>
          <p:cNvPr id="20" name="Shape 18"/>
          <p:cNvSpPr/>
          <p:nvPr/>
        </p:nvSpPr>
        <p:spPr>
          <a:xfrm>
            <a:off x="594360" y="4892040"/>
            <a:ext cx="11002975" cy="1097280"/>
          </a:xfrm>
          <a:prstGeom prst="roundRect">
            <a:avLst>
              <a:gd name="adj" fmla="val 5833"/>
            </a:avLst>
          </a:prstGeom>
          <a:solidFill>
            <a:srgbClr val="FBF3E2"/>
          </a:solidFill>
          <a:ln w="9525">
            <a:solidFill>
              <a:srgbClr val="FBF3E2"/>
            </a:solidFill>
            <a:prstDash val="solid"/>
          </a:ln>
        </p:spPr>
      </p:sp>
      <p:sp>
        <p:nvSpPr>
          <p:cNvPr id="21" name="Text 19"/>
          <p:cNvSpPr txBox="1"/>
          <p:nvPr/>
        </p:nvSpPr>
        <p:spPr>
          <a:xfrm>
            <a:off x="868680" y="4892040"/>
            <a:ext cx="10454335" cy="1097280"/>
          </a:xfrm>
          <a:prstGeom prst="rect">
            <a:avLst/>
          </a:prstGeom>
          <a:noFill/>
          <a:ln/>
        </p:spPr>
        <p:txBody>
          <a:bodyPr wrap="square" lIns="0" tIns="0" rIns="0" bIns="0" rtlCol="0" anchor="ctr"/>
          <a:lstStyle/>
          <a:p>
            <a:pPr indent="0" marL="0">
              <a:lnSpc>
                <a:spcPts val="1900"/>
              </a:lnSpc>
              <a:buNone/>
            </a:pPr>
            <a:r>
              <a:rPr lang="en-US" sz="1400" b="1" dirty="0">
                <a:solidFill>
                  <a:srgbClr val="6B4E12"/>
                </a:solidFill>
                <a:latin typeface="Calibri" pitchFamily="34" charset="0"/>
                <a:ea typeface="Calibri" pitchFamily="34" charset="-122"/>
                <a:cs typeface="Calibri" pitchFamily="34" charset="-120"/>
              </a:rPr>
              <a:t>Pertimbangan saya: </a:t>
            </a:r>
            <a:pPr indent="0" marL="0">
              <a:lnSpc>
                <a:spcPts val="1900"/>
              </a:lnSpc>
              <a:buNone/>
            </a:pPr>
            <a:r>
              <a:rPr lang="en-US" sz="1400" dirty="0">
                <a:solidFill>
                  <a:srgbClr val="1F2933"/>
                </a:solidFill>
                <a:latin typeface="Calibri" pitchFamily="34" charset="0"/>
                <a:ea typeface="Calibri" pitchFamily="34" charset="-122"/>
                <a:cs typeface="Calibri" pitchFamily="34" charset="-120"/>
              </a:rPr>
              <a:t>A menutup gejala, tapi akarnya tetap. C benar, tapi terlalu mahal untuk sekarang. B memberi sebagian besar manfaat C dengan biaya kecil, dan tidak menutup jalan ke C nanti.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Hasil: tabel yang bisa dipakai memutuskan</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Data yang sama, sebelum dan sesudah.</a:t>
            </a:r>
            <a:endParaRPr lang="en-US" sz="1500" dirty="0"/>
          </a:p>
        </p:txBody>
      </p:sp>
      <p:sp>
        <p:nvSpPr>
          <p:cNvPr id="6" name="Text 4"/>
          <p:cNvSpPr txBox="1"/>
          <p:nvPr/>
        </p:nvSpPr>
        <p:spPr>
          <a:xfrm>
            <a:off x="594360" y="1536192"/>
            <a:ext cx="1828800" cy="256032"/>
          </a:xfrm>
          <a:prstGeom prst="rect">
            <a:avLst/>
          </a:prstGeom>
          <a:noFill/>
          <a:ln/>
        </p:spPr>
        <p:txBody>
          <a:bodyPr wrap="square" lIns="0" tIns="0" rIns="0" bIns="0" rtlCol="0" anchor="t"/>
          <a:lstStyle/>
          <a:p>
            <a:pPr indent="0" marL="0">
              <a:buNone/>
            </a:pPr>
            <a:r>
              <a:rPr lang="en-US" sz="1200" b="1" dirty="0">
                <a:solidFill>
                  <a:srgbClr val="C8553D"/>
                </a:solidFill>
                <a:latin typeface="Calibri" pitchFamily="34" charset="0"/>
                <a:ea typeface="Calibri" pitchFamily="34" charset="-122"/>
                <a:cs typeface="Calibri" pitchFamily="34" charset="-120"/>
              </a:rPr>
              <a:t>Sebelum</a:t>
            </a:r>
            <a:endParaRPr lang="en-US" sz="1200" dirty="0"/>
          </a:p>
        </p:txBody>
      </p:sp>
      <p:pic>
        <p:nvPicPr>
          <p:cNvPr id="7" name="Image 0" descr="img/p01_before.png">    </p:cNvPr>
          <p:cNvPicPr>
            <a:picLocks noChangeAspect="1"/>
          </p:cNvPicPr>
          <p:nvPr/>
        </p:nvPicPr>
        <p:blipFill>
          <a:blip r:embed="rId1"/>
          <a:stretch>
            <a:fillRect/>
          </a:stretch>
        </p:blipFill>
        <p:spPr>
          <a:xfrm>
            <a:off x="594360" y="1810512"/>
            <a:ext cx="6309360" cy="1638795"/>
          </a:xfrm>
          <a:prstGeom prst="rect">
            <a:avLst/>
          </a:prstGeom>
        </p:spPr>
      </p:pic>
      <p:sp>
        <p:nvSpPr>
          <p:cNvPr id="8" name="Shape 5"/>
          <p:cNvSpPr/>
          <p:nvPr/>
        </p:nvSpPr>
        <p:spPr>
          <a:xfrm>
            <a:off x="594360" y="1810512"/>
            <a:ext cx="6309360" cy="1638795"/>
          </a:xfrm>
          <a:prstGeom prst="rect">
            <a:avLst/>
          </a:prstGeom>
          <a:ln w="9525">
            <a:solidFill>
              <a:srgbClr val="E2E7EB"/>
            </a:solidFill>
            <a:prstDash val="solid"/>
          </a:ln>
        </p:spPr>
      </p:sp>
      <p:sp>
        <p:nvSpPr>
          <p:cNvPr id="9" name="Text 6"/>
          <p:cNvSpPr txBox="1"/>
          <p:nvPr/>
        </p:nvSpPr>
        <p:spPr>
          <a:xfrm>
            <a:off x="594360" y="3705339"/>
            <a:ext cx="182880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Sesudah</a:t>
            </a:r>
            <a:endParaRPr lang="en-US" sz="1200" dirty="0"/>
          </a:p>
        </p:txBody>
      </p:sp>
      <p:pic>
        <p:nvPicPr>
          <p:cNvPr id="10" name="Image 1" descr="img/p01_after.png">    </p:cNvPr>
          <p:cNvPicPr>
            <a:picLocks noChangeAspect="1"/>
          </p:cNvPicPr>
          <p:nvPr/>
        </p:nvPicPr>
        <p:blipFill>
          <a:blip r:embed="rId2"/>
          <a:stretch>
            <a:fillRect/>
          </a:stretch>
        </p:blipFill>
        <p:spPr>
          <a:xfrm>
            <a:off x="594360" y="3979659"/>
            <a:ext cx="6309360" cy="2190750"/>
          </a:xfrm>
          <a:prstGeom prst="rect">
            <a:avLst/>
          </a:prstGeom>
        </p:spPr>
      </p:pic>
      <p:sp>
        <p:nvSpPr>
          <p:cNvPr id="11" name="Shape 7"/>
          <p:cNvSpPr/>
          <p:nvPr/>
        </p:nvSpPr>
        <p:spPr>
          <a:xfrm>
            <a:off x="594360" y="3979659"/>
            <a:ext cx="6309360" cy="2190750"/>
          </a:xfrm>
          <a:prstGeom prst="rect">
            <a:avLst/>
          </a:prstGeom>
          <a:ln w="9525">
            <a:solidFill>
              <a:srgbClr val="E2E7EB"/>
            </a:solidFill>
            <a:prstDash val="solid"/>
          </a:ln>
        </p:spPr>
      </p:sp>
      <p:sp>
        <p:nvSpPr>
          <p:cNvPr id="12" name="Shape 8"/>
          <p:cNvSpPr/>
          <p:nvPr/>
        </p:nvSpPr>
        <p:spPr>
          <a:xfrm>
            <a:off x="7315200" y="1536192"/>
            <a:ext cx="4282135" cy="4526280"/>
          </a:xfrm>
          <a:prstGeom prst="roundRect">
            <a:avLst>
              <a:gd name="adj" fmla="val 1495"/>
            </a:avLst>
          </a:prstGeom>
          <a:solidFill>
            <a:srgbClr val="E6F3F1"/>
          </a:solidFill>
          <a:ln w="9525">
            <a:solidFill>
              <a:srgbClr val="E6F3F1"/>
            </a:solidFill>
            <a:prstDash val="solid"/>
          </a:ln>
        </p:spPr>
      </p:sp>
      <p:sp>
        <p:nvSpPr>
          <p:cNvPr id="13" name="Text 9"/>
          <p:cNvSpPr txBox="1"/>
          <p:nvPr/>
        </p:nvSpPr>
        <p:spPr>
          <a:xfrm>
            <a:off x="7589520" y="1700784"/>
            <a:ext cx="3733495" cy="320040"/>
          </a:xfrm>
          <a:prstGeom prst="rect">
            <a:avLst/>
          </a:prstGeom>
          <a:noFill/>
          <a:ln/>
        </p:spPr>
        <p:txBody>
          <a:bodyPr wrap="square" lIns="0" tIns="0" rIns="0" bIns="0" rtlCol="0" anchor="t"/>
          <a:lstStyle/>
          <a:p>
            <a:pPr indent="0" marL="0">
              <a:buNone/>
            </a:pPr>
            <a:r>
              <a:rPr lang="en-US" sz="1500" b="1" dirty="0">
                <a:solidFill>
                  <a:srgbClr val="0B5550"/>
                </a:solidFill>
                <a:latin typeface="Calibri" pitchFamily="34" charset="0"/>
                <a:ea typeface="Calibri" pitchFamily="34" charset="-122"/>
                <a:cs typeface="Calibri" pitchFamily="34" charset="-120"/>
              </a:rPr>
              <a:t>Yang berubah untuk user</a:t>
            </a:r>
            <a:endParaRPr lang="en-US" sz="1500" dirty="0"/>
          </a:p>
        </p:txBody>
      </p:sp>
      <p:sp>
        <p:nvSpPr>
          <p:cNvPr id="14" name="Text 10"/>
          <p:cNvSpPr txBox="1"/>
          <p:nvPr/>
        </p:nvSpPr>
        <p:spPr>
          <a:xfrm>
            <a:off x="7589520" y="2121408"/>
            <a:ext cx="3733495" cy="37490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Level yang dituntut role terlihat di setiap baris.</a:t>
            </a:r>
            <a:endParaRPr lang="en-US" sz="1300" dirty="0"/>
          </a:p>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Tingkat keyakinan dan jumlah pertanyaan ikut tampil.</a:t>
            </a:r>
            <a:endParaRPr lang="en-US" sz="1300" dirty="0"/>
          </a:p>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Gap yang hanya didukung satu pertanyaan memunculkan saran sesi lanjutan sebelum menolak kandidat.</a:t>
            </a:r>
            <a:endParaRPr lang="en-US" sz="1300" dirty="0"/>
          </a:p>
          <a:p>
            <a:pPr marL="342900" indent="-342900">
              <a:lnSpc>
                <a:spcPts val="1800"/>
              </a:lnSpc>
              <a:spcAft>
                <a:spcPts val="900"/>
              </a:spcAft>
              <a:buSzPct val="100000"/>
              <a:buChar char="•"/>
            </a:pPr>
            <a:r>
              <a:rPr lang="en-US" sz="1300" dirty="0">
                <a:solidFill>
                  <a:srgbClr val="1F2933"/>
                </a:solidFill>
                <a:latin typeface="Calibri" pitchFamily="34" charset="0"/>
                <a:ea typeface="Calibri" pitchFamily="34" charset="-122"/>
                <a:cs typeface="Calibri" pitchFamily="34" charset="-120"/>
              </a:rPr>
              <a:t>Skill yang belum ditanyakan tertulis “Belum dinilai”, bukan dianggap level terendah.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Hasil lainnya</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Dua data yang sudah ada di database tapi tidak pernah sampai ke layar, dan satu celah keamanan.</a:t>
            </a:r>
            <a:endParaRPr lang="en-US" sz="1500" dirty="0"/>
          </a:p>
        </p:txBody>
      </p:sp>
      <p:sp>
        <p:nvSpPr>
          <p:cNvPr id="6" name="Text 4"/>
          <p:cNvSpPr txBox="1"/>
          <p:nvPr/>
        </p:nvSpPr>
        <p:spPr>
          <a:xfrm>
            <a:off x="594360" y="1536192"/>
            <a:ext cx="658368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Koreksi assessor terlihat: AI L2 → L4, oleh siapa, kapan</a:t>
            </a:r>
            <a:endParaRPr lang="en-US" sz="1200" dirty="0"/>
          </a:p>
        </p:txBody>
      </p:sp>
      <p:pic>
        <p:nvPicPr>
          <p:cNvPr id="7" name="Image 0" descr="img/p02_after.png">    </p:cNvPr>
          <p:cNvPicPr>
            <a:picLocks noChangeAspect="1"/>
          </p:cNvPicPr>
          <p:nvPr/>
        </p:nvPicPr>
        <p:blipFill>
          <a:blip r:embed="rId1"/>
          <a:stretch>
            <a:fillRect/>
          </a:stretch>
        </p:blipFill>
        <p:spPr>
          <a:xfrm>
            <a:off x="594360" y="1810512"/>
            <a:ext cx="6583680" cy="1575043"/>
          </a:xfrm>
          <a:prstGeom prst="rect">
            <a:avLst/>
          </a:prstGeom>
        </p:spPr>
      </p:pic>
      <p:sp>
        <p:nvSpPr>
          <p:cNvPr id="8" name="Shape 5"/>
          <p:cNvSpPr/>
          <p:nvPr/>
        </p:nvSpPr>
        <p:spPr>
          <a:xfrm>
            <a:off x="594360" y="1810512"/>
            <a:ext cx="6583680" cy="1575043"/>
          </a:xfrm>
          <a:prstGeom prst="rect">
            <a:avLst/>
          </a:prstGeom>
          <a:ln w="9525">
            <a:solidFill>
              <a:srgbClr val="E2E7EB"/>
            </a:solidFill>
            <a:prstDash val="solid"/>
          </a:ln>
        </p:spPr>
      </p:sp>
      <p:sp>
        <p:nvSpPr>
          <p:cNvPr id="9" name="Text 6"/>
          <p:cNvSpPr txBox="1"/>
          <p:nvPr/>
        </p:nvSpPr>
        <p:spPr>
          <a:xfrm>
            <a:off x="594360" y="3659875"/>
            <a:ext cx="6583680" cy="256032"/>
          </a:xfrm>
          <a:prstGeom prst="rect">
            <a:avLst/>
          </a:prstGeom>
          <a:noFill/>
          <a:ln/>
        </p:spPr>
        <p:txBody>
          <a:bodyPr wrap="square" lIns="0" tIns="0" rIns="0" bIns="0" rtlCol="0" anchor="t"/>
          <a:lstStyle/>
          <a:p>
            <a:pPr indent="0" marL="0">
              <a:buNone/>
            </a:pPr>
            <a:r>
              <a:rPr lang="en-US" sz="1200" b="1" dirty="0">
                <a:solidFill>
                  <a:srgbClr val="0F766E"/>
                </a:solidFill>
                <a:latin typeface="Calibri" pitchFamily="34" charset="0"/>
                <a:ea typeface="Calibri" pitchFamily="34" charset="-122"/>
                <a:cs typeface="Calibri" pitchFamily="34" charset="-120"/>
              </a:rPr>
              <a:t>Tingkat keyakinan ikut bersama hasil</a:t>
            </a:r>
            <a:endParaRPr lang="en-US" sz="1200" dirty="0"/>
          </a:p>
        </p:txBody>
      </p:sp>
      <p:pic>
        <p:nvPicPr>
          <p:cNvPr id="10" name="Image 1" descr="img/p03_after.png">    </p:cNvPr>
          <p:cNvPicPr>
            <a:picLocks noChangeAspect="1"/>
          </p:cNvPicPr>
          <p:nvPr/>
        </p:nvPicPr>
        <p:blipFill>
          <a:blip r:embed="rId2"/>
          <a:stretch>
            <a:fillRect/>
          </a:stretch>
        </p:blipFill>
        <p:spPr>
          <a:xfrm>
            <a:off x="594360" y="3934195"/>
            <a:ext cx="6583680" cy="1919440"/>
          </a:xfrm>
          <a:prstGeom prst="rect">
            <a:avLst/>
          </a:prstGeom>
        </p:spPr>
      </p:pic>
      <p:sp>
        <p:nvSpPr>
          <p:cNvPr id="11" name="Shape 7"/>
          <p:cNvSpPr/>
          <p:nvPr/>
        </p:nvSpPr>
        <p:spPr>
          <a:xfrm>
            <a:off x="594360" y="3934195"/>
            <a:ext cx="6583680" cy="1919440"/>
          </a:xfrm>
          <a:prstGeom prst="rect">
            <a:avLst/>
          </a:prstGeom>
          <a:ln w="9525">
            <a:solidFill>
              <a:srgbClr val="E2E7EB"/>
            </a:solidFill>
            <a:prstDash val="solid"/>
          </a:ln>
        </p:spPr>
      </p:sp>
      <p:sp>
        <p:nvSpPr>
          <p:cNvPr id="12" name="Shape 8"/>
          <p:cNvSpPr/>
          <p:nvPr/>
        </p:nvSpPr>
        <p:spPr>
          <a:xfrm>
            <a:off x="7589520" y="1536192"/>
            <a:ext cx="4007815" cy="4526280"/>
          </a:xfrm>
          <a:prstGeom prst="roundRect">
            <a:avLst>
              <a:gd name="adj" fmla="val 1597"/>
            </a:avLst>
          </a:prstGeom>
          <a:solidFill>
            <a:srgbClr val="FCEDE8"/>
          </a:solidFill>
          <a:ln w="9525">
            <a:solidFill>
              <a:srgbClr val="FCEDE8"/>
            </a:solidFill>
            <a:prstDash val="solid"/>
          </a:ln>
        </p:spPr>
      </p:sp>
      <p:sp>
        <p:nvSpPr>
          <p:cNvPr id="13" name="Text 9"/>
          <p:cNvSpPr txBox="1"/>
          <p:nvPr/>
        </p:nvSpPr>
        <p:spPr>
          <a:xfrm>
            <a:off x="7863840" y="1700784"/>
            <a:ext cx="3459175" cy="640080"/>
          </a:xfrm>
          <a:prstGeom prst="rect">
            <a:avLst/>
          </a:prstGeom>
          <a:noFill/>
          <a:ln/>
        </p:spPr>
        <p:txBody>
          <a:bodyPr wrap="square" lIns="0" tIns="0" rIns="0" bIns="0" rtlCol="0" anchor="t"/>
          <a:lstStyle/>
          <a:p>
            <a:pPr indent="0" marL="0">
              <a:lnSpc>
                <a:spcPts val="1900"/>
              </a:lnSpc>
              <a:buNone/>
            </a:pPr>
            <a:r>
              <a:rPr lang="en-US" sz="1500" b="1" dirty="0">
                <a:solidFill>
                  <a:srgbClr val="C8553D"/>
                </a:solidFill>
                <a:latin typeface="Calibri" pitchFamily="34" charset="0"/>
                <a:ea typeface="Calibri" pitchFamily="34" charset="-122"/>
                <a:cs typeface="Calibri" pitchFamily="34" charset="-120"/>
              </a:rPr>
              <a:t>Celah keamanan yang ikut saya perbaiki</a:t>
            </a:r>
            <a:endParaRPr lang="en-US" sz="1500" dirty="0"/>
          </a:p>
        </p:txBody>
      </p:sp>
      <p:sp>
        <p:nvSpPr>
          <p:cNvPr id="14" name="Text 10"/>
          <p:cNvSpPr txBox="1"/>
          <p:nvPr/>
        </p:nvSpPr>
        <p:spPr>
          <a:xfrm>
            <a:off x="7863840" y="2377440"/>
            <a:ext cx="3459175" cy="1645920"/>
          </a:xfrm>
          <a:prstGeom prst="rect">
            <a:avLst/>
          </a:prstGeom>
          <a:noFill/>
          <a:ln/>
        </p:spPr>
        <p:txBody>
          <a:bodyPr wrap="square" lIns="0" tIns="0" rIns="0" bIns="0" rtlCol="0" anchor="t"/>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Portfolio bisa diakses hanya dengan id-nya, tanpa dicek organisasinya. Assessor dari perusahaan lain bisa mengunduh kutipan wawancara kandidat perusahaan lain, bahkan mengubah rating-nya.</a:t>
            </a:r>
            <a:endParaRPr lang="en-US" sz="1300" dirty="0"/>
          </a:p>
        </p:txBody>
      </p:sp>
      <p:sp>
        <p:nvSpPr>
          <p:cNvPr id="15" name="Text 11"/>
          <p:cNvSpPr txBox="1"/>
          <p:nvPr/>
        </p:nvSpPr>
        <p:spPr>
          <a:xfrm>
            <a:off x="7863840" y="4069080"/>
            <a:ext cx="3459175" cy="914400"/>
          </a:xfrm>
          <a:prstGeom prst="rect">
            <a:avLst/>
          </a:prstGeom>
          <a:noFill/>
          <a:ln/>
        </p:spPr>
        <p:txBody>
          <a:bodyPr wrap="square" lIns="0" tIns="0" rIns="0" bIns="0" rtlCol="0" anchor="t"/>
          <a:lstStyle/>
          <a:p>
            <a:pPr indent="0" marL="0">
              <a:lnSpc>
                <a:spcPts val="1800"/>
              </a:lnSpc>
              <a:buNone/>
            </a:pPr>
            <a:r>
              <a:rPr lang="en-US" sz="1300" b="1" dirty="0">
                <a:solidFill>
                  <a:srgbClr val="1F2933"/>
                </a:solidFill>
                <a:latin typeface="Calibri" pitchFamily="34" charset="0"/>
                <a:ea typeface="Calibri" pitchFamily="34" charset="-122"/>
                <a:cs typeface="Calibri" pitchFamily="34" charset="-120"/>
              </a:rPr>
              <a:t>Sekarang empat endpoint dibatasi per organisasi, dan akses lintas organisasi dijawab 404.</a:t>
            </a:r>
            <a:endParaRPr lang="en-US" sz="1300" dirty="0"/>
          </a:p>
        </p:txBody>
      </p:sp>
      <p:sp>
        <p:nvSpPr>
          <p:cNvPr id="16" name="Text 12"/>
          <p:cNvSpPr txBox="1"/>
          <p:nvPr/>
        </p:nvSpPr>
        <p:spPr>
          <a:xfrm>
            <a:off x="7863840" y="5029200"/>
            <a:ext cx="3459175" cy="822960"/>
          </a:xfrm>
          <a:prstGeom prst="rect">
            <a:avLst/>
          </a:prstGeom>
          <a:noFill/>
          <a:ln/>
        </p:spPr>
        <p:txBody>
          <a:bodyPr wrap="square" lIns="0" tIns="0" rIns="0" bIns="0" rtlCol="0" anchor="t"/>
          <a:lstStyle/>
          <a:p>
            <a:pPr indent="0" marL="0">
              <a:lnSpc>
                <a:spcPts val="1600"/>
              </a:lnSpc>
              <a:buNone/>
            </a:pPr>
            <a:r>
              <a:rPr lang="en-US" sz="1200" i="1" dirty="0">
                <a:solidFill>
                  <a:srgbClr val="5F6B76"/>
                </a:solidFill>
                <a:latin typeface="Calibri" pitchFamily="34" charset="0"/>
                <a:ea typeface="Calibri" pitchFamily="34" charset="-122"/>
                <a:cs typeface="Calibri" pitchFamily="34" charset="-120"/>
              </a:rPr>
              <a:t>Di luar fokus frontend saya, tapi ini data pribadi — tidak bisa dibiarkan.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Bagaimana saya memastikan hasilnya benar</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Test ditulis dulu, dijalankan ke kode lama, dan ditonton gagal.</a:t>
            </a:r>
            <a:endParaRPr lang="en-US" sz="1500" dirty="0"/>
          </a:p>
        </p:txBody>
      </p:sp>
      <p:sp>
        <p:nvSpPr>
          <p:cNvPr id="6" name="Shape 4"/>
          <p:cNvSpPr/>
          <p:nvPr/>
        </p:nvSpPr>
        <p:spPr>
          <a:xfrm>
            <a:off x="594360" y="1536192"/>
            <a:ext cx="2613584" cy="1645920"/>
          </a:xfrm>
          <a:prstGeom prst="roundRect">
            <a:avLst>
              <a:gd name="adj" fmla="val 3889"/>
            </a:avLst>
          </a:prstGeom>
          <a:solidFill>
            <a:srgbClr val="F5F7F8"/>
          </a:solidFill>
          <a:ln w="9525">
            <a:solidFill>
              <a:srgbClr val="E2E7EB"/>
            </a:solidFill>
            <a:prstDash val="solid"/>
          </a:ln>
        </p:spPr>
      </p:sp>
      <p:sp>
        <p:nvSpPr>
          <p:cNvPr id="7" name="Text 5"/>
          <p:cNvSpPr txBox="1"/>
          <p:nvPr/>
        </p:nvSpPr>
        <p:spPr>
          <a:xfrm>
            <a:off x="822960" y="1645920"/>
            <a:ext cx="2156384" cy="548640"/>
          </a:xfrm>
          <a:prstGeom prst="rect">
            <a:avLst/>
          </a:prstGeom>
          <a:noFill/>
          <a:ln/>
        </p:spPr>
        <p:txBody>
          <a:bodyPr wrap="square" lIns="0" tIns="0" rIns="0" bIns="0" rtlCol="0" anchor="t"/>
          <a:lstStyle/>
          <a:p>
            <a:pPr indent="0" marL="0">
              <a:buNone/>
            </a:pPr>
            <a:r>
              <a:rPr lang="en-US" sz="2800" b="1" dirty="0">
                <a:solidFill>
                  <a:srgbClr val="0B5550"/>
                </a:solidFill>
                <a:latin typeface="Calibri" pitchFamily="34" charset="0"/>
                <a:ea typeface="Calibri" pitchFamily="34" charset="-122"/>
                <a:cs typeface="Calibri" pitchFamily="34" charset="-120"/>
              </a:rPr>
              <a:t>0 → 34</a:t>
            </a:r>
            <a:endParaRPr lang="en-US" sz="2800" dirty="0"/>
          </a:p>
        </p:txBody>
      </p:sp>
      <p:sp>
        <p:nvSpPr>
          <p:cNvPr id="8" name="Text 6"/>
          <p:cNvSpPr txBox="1"/>
          <p:nvPr/>
        </p:nvSpPr>
        <p:spPr>
          <a:xfrm>
            <a:off x="822960" y="2212848"/>
            <a:ext cx="2156384" cy="32004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test frontend</a:t>
            </a:r>
            <a:endParaRPr lang="en-US" sz="1350" dirty="0"/>
          </a:p>
        </p:txBody>
      </p:sp>
      <p:sp>
        <p:nvSpPr>
          <p:cNvPr id="9" name="Text 7"/>
          <p:cNvSpPr txBox="1"/>
          <p:nvPr/>
        </p:nvSpPr>
        <p:spPr>
          <a:xfrm>
            <a:off x="822960"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Test runner pertama di web/</a:t>
            </a:r>
            <a:endParaRPr lang="en-US" sz="1150" dirty="0"/>
          </a:p>
        </p:txBody>
      </p:sp>
      <p:sp>
        <p:nvSpPr>
          <p:cNvPr id="10" name="Shape 8"/>
          <p:cNvSpPr/>
          <p:nvPr/>
        </p:nvSpPr>
        <p:spPr>
          <a:xfrm>
            <a:off x="3390824" y="1536192"/>
            <a:ext cx="2613584" cy="1645920"/>
          </a:xfrm>
          <a:prstGeom prst="roundRect">
            <a:avLst>
              <a:gd name="adj" fmla="val 3889"/>
            </a:avLst>
          </a:prstGeom>
          <a:solidFill>
            <a:srgbClr val="F5F7F8"/>
          </a:solidFill>
          <a:ln w="9525">
            <a:solidFill>
              <a:srgbClr val="E2E7EB"/>
            </a:solidFill>
            <a:prstDash val="solid"/>
          </a:ln>
        </p:spPr>
      </p:sp>
      <p:sp>
        <p:nvSpPr>
          <p:cNvPr id="11" name="Text 9"/>
          <p:cNvSpPr txBox="1"/>
          <p:nvPr/>
        </p:nvSpPr>
        <p:spPr>
          <a:xfrm>
            <a:off x="3619424" y="1645920"/>
            <a:ext cx="2156384" cy="548640"/>
          </a:xfrm>
          <a:prstGeom prst="rect">
            <a:avLst/>
          </a:prstGeom>
          <a:noFill/>
          <a:ln/>
        </p:spPr>
        <p:txBody>
          <a:bodyPr wrap="square" lIns="0" tIns="0" rIns="0" bIns="0" rtlCol="0" anchor="t"/>
          <a:lstStyle/>
          <a:p>
            <a:pPr indent="0" marL="0">
              <a:buNone/>
            </a:pPr>
            <a:r>
              <a:rPr lang="en-US" sz="2800" b="1" dirty="0">
                <a:solidFill>
                  <a:srgbClr val="C8553D"/>
                </a:solidFill>
                <a:latin typeface="Calibri" pitchFamily="34" charset="0"/>
                <a:ea typeface="Calibri" pitchFamily="34" charset="-122"/>
                <a:cs typeface="Calibri" pitchFamily="34" charset="-120"/>
              </a:rPr>
              <a:t>8 gagal</a:t>
            </a:r>
            <a:endParaRPr lang="en-US" sz="2800" dirty="0"/>
          </a:p>
        </p:txBody>
      </p:sp>
      <p:sp>
        <p:nvSpPr>
          <p:cNvPr id="12" name="Text 10"/>
          <p:cNvSpPr txBox="1"/>
          <p:nvPr/>
        </p:nvSpPr>
        <p:spPr>
          <a:xfrm>
            <a:off x="3619424" y="2212848"/>
            <a:ext cx="2156384" cy="32004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di kode lama</a:t>
            </a:r>
            <a:endParaRPr lang="en-US" sz="1350" dirty="0"/>
          </a:p>
        </p:txBody>
      </p:sp>
      <p:sp>
        <p:nvSpPr>
          <p:cNvPr id="13" name="Text 11"/>
          <p:cNvSpPr txBox="1"/>
          <p:nvPr/>
        </p:nvSpPr>
        <p:spPr>
          <a:xfrm>
            <a:off x="3619424"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Bukti test-nya menangkap masalah</a:t>
            </a:r>
            <a:endParaRPr lang="en-US" sz="1150" dirty="0"/>
          </a:p>
        </p:txBody>
      </p:sp>
      <p:sp>
        <p:nvSpPr>
          <p:cNvPr id="14" name="Shape 12"/>
          <p:cNvSpPr/>
          <p:nvPr/>
        </p:nvSpPr>
        <p:spPr>
          <a:xfrm>
            <a:off x="6187288" y="1536192"/>
            <a:ext cx="2613584" cy="1645920"/>
          </a:xfrm>
          <a:prstGeom prst="roundRect">
            <a:avLst>
              <a:gd name="adj" fmla="val 3889"/>
            </a:avLst>
          </a:prstGeom>
          <a:solidFill>
            <a:srgbClr val="F5F7F8"/>
          </a:solidFill>
          <a:ln w="9525">
            <a:solidFill>
              <a:srgbClr val="E2E7EB"/>
            </a:solidFill>
            <a:prstDash val="solid"/>
          </a:ln>
        </p:spPr>
      </p:sp>
      <p:sp>
        <p:nvSpPr>
          <p:cNvPr id="15" name="Text 13"/>
          <p:cNvSpPr txBox="1"/>
          <p:nvPr/>
        </p:nvSpPr>
        <p:spPr>
          <a:xfrm>
            <a:off x="6415888" y="1645920"/>
            <a:ext cx="2156384" cy="548640"/>
          </a:xfrm>
          <a:prstGeom prst="rect">
            <a:avLst/>
          </a:prstGeom>
          <a:noFill/>
          <a:ln/>
        </p:spPr>
        <p:txBody>
          <a:bodyPr wrap="square" lIns="0" tIns="0" rIns="0" bIns="0" rtlCol="0" anchor="t"/>
          <a:lstStyle/>
          <a:p>
            <a:pPr indent="0" marL="0">
              <a:buNone/>
            </a:pPr>
            <a:r>
              <a:rPr lang="en-US" sz="2800" b="1" dirty="0">
                <a:solidFill>
                  <a:srgbClr val="B7791F"/>
                </a:solidFill>
                <a:latin typeface="Calibri" pitchFamily="34" charset="0"/>
                <a:ea typeface="Calibri" pitchFamily="34" charset="-122"/>
                <a:cs typeface="Calibri" pitchFamily="34" charset="-120"/>
              </a:rPr>
              <a:t>3</a:t>
            </a:r>
            <a:endParaRPr lang="en-US" sz="2800" dirty="0"/>
          </a:p>
        </p:txBody>
      </p:sp>
      <p:sp>
        <p:nvSpPr>
          <p:cNvPr id="16" name="Text 14"/>
          <p:cNvSpPr txBox="1"/>
          <p:nvPr/>
        </p:nvSpPr>
        <p:spPr>
          <a:xfrm>
            <a:off x="6415888" y="2212848"/>
            <a:ext cx="2156384" cy="32004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kesalahan sengaja</a:t>
            </a:r>
            <a:endParaRPr lang="en-US" sz="1350" dirty="0"/>
          </a:p>
        </p:txBody>
      </p:sp>
      <p:sp>
        <p:nvSpPr>
          <p:cNvPr id="17" name="Text 15"/>
          <p:cNvSpPr txBox="1"/>
          <p:nvPr/>
        </p:nvSpPr>
        <p:spPr>
          <a:xfrm>
            <a:off x="6415888"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Saya rusak kode sendiri, test merah</a:t>
            </a:r>
            <a:endParaRPr lang="en-US" sz="1150" dirty="0"/>
          </a:p>
        </p:txBody>
      </p:sp>
      <p:sp>
        <p:nvSpPr>
          <p:cNvPr id="18" name="Shape 16"/>
          <p:cNvSpPr/>
          <p:nvPr/>
        </p:nvSpPr>
        <p:spPr>
          <a:xfrm>
            <a:off x="8983751" y="1536192"/>
            <a:ext cx="2613584" cy="1645920"/>
          </a:xfrm>
          <a:prstGeom prst="roundRect">
            <a:avLst>
              <a:gd name="adj" fmla="val 3889"/>
            </a:avLst>
          </a:prstGeom>
          <a:solidFill>
            <a:srgbClr val="F5F7F8"/>
          </a:solidFill>
          <a:ln w="9525">
            <a:solidFill>
              <a:srgbClr val="E2E7EB"/>
            </a:solidFill>
            <a:prstDash val="solid"/>
          </a:ln>
        </p:spPr>
      </p:sp>
      <p:sp>
        <p:nvSpPr>
          <p:cNvPr id="19" name="Text 17"/>
          <p:cNvSpPr txBox="1"/>
          <p:nvPr/>
        </p:nvSpPr>
        <p:spPr>
          <a:xfrm>
            <a:off x="9212351" y="1645920"/>
            <a:ext cx="2156384" cy="548640"/>
          </a:xfrm>
          <a:prstGeom prst="rect">
            <a:avLst/>
          </a:prstGeom>
          <a:noFill/>
          <a:ln/>
        </p:spPr>
        <p:txBody>
          <a:bodyPr wrap="square" lIns="0" tIns="0" rIns="0" bIns="0" rtlCol="0" anchor="t"/>
          <a:lstStyle/>
          <a:p>
            <a:pPr indent="0" marL="0">
              <a:buNone/>
            </a:pPr>
            <a:r>
              <a:rPr lang="en-US" sz="2800" b="1" dirty="0">
                <a:solidFill>
                  <a:srgbClr val="0B5550"/>
                </a:solidFill>
                <a:latin typeface="Calibri" pitchFamily="34" charset="0"/>
                <a:ea typeface="Calibri" pitchFamily="34" charset="-122"/>
                <a:cs typeface="Calibri" pitchFamily="34" charset="-120"/>
              </a:rPr>
              <a:t>RSpec</a:t>
            </a:r>
            <a:endParaRPr lang="en-US" sz="2800" dirty="0"/>
          </a:p>
        </p:txBody>
      </p:sp>
      <p:sp>
        <p:nvSpPr>
          <p:cNvPr id="20" name="Text 18"/>
          <p:cNvSpPr txBox="1"/>
          <p:nvPr/>
        </p:nvSpPr>
        <p:spPr>
          <a:xfrm>
            <a:off x="9212351" y="2212848"/>
            <a:ext cx="2156384" cy="320040"/>
          </a:xfrm>
          <a:prstGeom prst="rect">
            <a:avLst/>
          </a:prstGeom>
          <a:noFill/>
          <a:ln/>
        </p:spPr>
        <p:txBody>
          <a:bodyPr wrap="square" lIns="0" tIns="0" rIns="0" bIns="0" rtlCol="0" anchor="t"/>
          <a:lstStyle/>
          <a:p>
            <a:pPr indent="0" marL="0">
              <a:buNone/>
            </a:pPr>
            <a:r>
              <a:rPr lang="en-US" sz="1350" b="1" dirty="0">
                <a:solidFill>
                  <a:srgbClr val="1F2933"/>
                </a:solidFill>
                <a:latin typeface="Calibri" pitchFamily="34" charset="0"/>
                <a:ea typeface="Calibri" pitchFamily="34" charset="-122"/>
                <a:cs typeface="Calibri" pitchFamily="34" charset="-120"/>
              </a:rPr>
              <a:t>pertama di api/</a:t>
            </a:r>
            <a:endParaRPr lang="en-US" sz="1350" dirty="0"/>
          </a:p>
        </p:txBody>
      </p:sp>
      <p:sp>
        <p:nvSpPr>
          <p:cNvPr id="21" name="Text 19"/>
          <p:cNvSpPr txBox="1"/>
          <p:nvPr/>
        </p:nvSpPr>
        <p:spPr>
          <a:xfrm>
            <a:off x="9212351" y="2542032"/>
            <a:ext cx="2156384" cy="548640"/>
          </a:xfrm>
          <a:prstGeom prst="rect">
            <a:avLst/>
          </a:prstGeom>
          <a:noFill/>
          <a:ln/>
        </p:spPr>
        <p:txBody>
          <a:bodyPr wrap="square" lIns="0" tIns="0" rIns="0" bIns="0" rtlCol="0" anchor="t"/>
          <a:lstStyle/>
          <a:p>
            <a:pPr indent="0" marL="0">
              <a:lnSpc>
                <a:spcPts val="1500"/>
              </a:lnSpc>
              <a:buNone/>
            </a:pPr>
            <a:r>
              <a:rPr lang="en-US" sz="1150" dirty="0">
                <a:solidFill>
                  <a:srgbClr val="5F6B76"/>
                </a:solidFill>
                <a:latin typeface="Calibri" pitchFamily="34" charset="0"/>
                <a:ea typeface="Calibri" pitchFamily="34" charset="-122"/>
                <a:cs typeface="Calibri" pitchFamily="34" charset="-120"/>
              </a:rPr>
              <a:t>Termasuk test akses lintas organisasi</a:t>
            </a:r>
            <a:endParaRPr lang="en-US" sz="1150" dirty="0"/>
          </a:p>
        </p:txBody>
      </p:sp>
      <p:sp>
        <p:nvSpPr>
          <p:cNvPr id="22" name="Shape 20"/>
          <p:cNvSpPr/>
          <p:nvPr/>
        </p:nvSpPr>
        <p:spPr>
          <a:xfrm>
            <a:off x="594360" y="3456432"/>
            <a:ext cx="11002975" cy="2560320"/>
          </a:xfrm>
          <a:prstGeom prst="roundRect">
            <a:avLst>
              <a:gd name="adj" fmla="val 2500"/>
            </a:avLst>
          </a:prstGeom>
          <a:solidFill>
            <a:srgbClr val="E6F3F1"/>
          </a:solidFill>
          <a:ln w="9525">
            <a:solidFill>
              <a:srgbClr val="E6F3F1"/>
            </a:solidFill>
            <a:prstDash val="solid"/>
          </a:ln>
        </p:spPr>
      </p:sp>
      <p:sp>
        <p:nvSpPr>
          <p:cNvPr id="23" name="Text 21"/>
          <p:cNvSpPr txBox="1"/>
          <p:nvPr/>
        </p:nvSpPr>
        <p:spPr>
          <a:xfrm>
            <a:off x="914400" y="3621024"/>
            <a:ext cx="10362895" cy="347472"/>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Dua kali saya salah — dan test yang menangkapnya</a:t>
            </a:r>
            <a:endParaRPr lang="en-US" sz="1600" dirty="0"/>
          </a:p>
        </p:txBody>
      </p:sp>
      <p:sp>
        <p:nvSpPr>
          <p:cNvPr id="24" name="Text 22"/>
          <p:cNvSpPr txBox="1"/>
          <p:nvPr/>
        </p:nvSpPr>
        <p:spPr>
          <a:xfrm>
            <a:off x="914400" y="4069080"/>
            <a:ext cx="5044288" cy="1783080"/>
          </a:xfrm>
          <a:prstGeom prst="rect">
            <a:avLst/>
          </a:prstGeom>
          <a:noFill/>
          <a:ln/>
        </p:spPr>
        <p:txBody>
          <a:bodyPr wrap="square" lIns="0" tIns="0" rIns="0" bIns="0" rtlCol="0" anchor="t"/>
          <a:lstStyle/>
          <a:p>
            <a:pPr indent="0" marL="0">
              <a:lnSpc>
                <a:spcPts val="1900"/>
              </a:lnSpc>
              <a:buNone/>
            </a:pPr>
            <a:r>
              <a:rPr lang="en-US" sz="1300" b="1" dirty="0">
                <a:solidFill>
                  <a:srgbClr val="1F2933"/>
                </a:solidFill>
                <a:latin typeface="Calibri" pitchFamily="34" charset="0"/>
                <a:ea typeface="Calibri" pitchFamily="34" charset="-122"/>
                <a:cs typeface="Calibri" pitchFamily="34" charset="-120"/>
              </a:rPr>
              <a:t>Hipotesis saya keliru. </a:t>
            </a:r>
            <a:pPr indent="0" marL="0">
              <a:lnSpc>
                <a:spcPts val="1900"/>
              </a:lnSpc>
              <a:buNone/>
            </a:pPr>
            <a:r>
              <a:rPr lang="en-US" sz="1300" dirty="0">
                <a:solidFill>
                  <a:srgbClr val="1F2933"/>
                </a:solidFill>
                <a:latin typeface="Calibri" pitchFamily="34" charset="0"/>
                <a:ea typeface="Calibri" pitchFamily="34" charset="-122"/>
                <a:cs typeface="Calibri" pitchFamily="34" charset="-120"/>
              </a:rPr>
              <a:t>Saya yakin ada bug di ConfidenceIndicator. Saya tulis test-nya, ternyata lulus — kodenya sudah benar, saya yang kurang teliti. Temuannya saya hapus dari laporan, test-nya saya simpan.</a:t>
            </a:r>
            <a:endParaRPr lang="en-US" sz="1300" dirty="0"/>
          </a:p>
        </p:txBody>
      </p:sp>
      <p:sp>
        <p:nvSpPr>
          <p:cNvPr id="25" name="Text 23"/>
          <p:cNvSpPr txBox="1"/>
          <p:nvPr/>
        </p:nvSpPr>
        <p:spPr>
          <a:xfrm>
            <a:off x="6233008" y="4069080"/>
            <a:ext cx="5044288" cy="1783080"/>
          </a:xfrm>
          <a:prstGeom prst="rect">
            <a:avLst/>
          </a:prstGeom>
          <a:noFill/>
          <a:ln/>
        </p:spPr>
        <p:txBody>
          <a:bodyPr wrap="square" lIns="0" tIns="0" rIns="0" bIns="0" rtlCol="0" anchor="t"/>
          <a:lstStyle/>
          <a:p>
            <a:pPr indent="0" marL="0">
              <a:lnSpc>
                <a:spcPts val="1900"/>
              </a:lnSpc>
              <a:buNone/>
            </a:pPr>
            <a:r>
              <a:rPr lang="en-US" sz="1300" b="1" dirty="0">
                <a:solidFill>
                  <a:srgbClr val="1F2933"/>
                </a:solidFill>
                <a:latin typeface="Calibri" pitchFamily="34" charset="0"/>
                <a:ea typeface="Calibri" pitchFamily="34" charset="-122"/>
                <a:cs typeface="Calibri" pitchFamily="34" charset="-120"/>
              </a:rPr>
              <a:t>Kode saya sendiri punya bug. </a:t>
            </a:r>
            <a:pPr indent="0" marL="0">
              <a:lnSpc>
                <a:spcPts val="1900"/>
              </a:lnSpc>
              <a:buNone/>
            </a:pPr>
            <a:r>
              <a:rPr lang="en-US" sz="1300" dirty="0">
                <a:solidFill>
                  <a:srgbClr val="1F2933"/>
                </a:solidFill>
                <a:latin typeface="Calibri" pitchFamily="34" charset="0"/>
                <a:ea typeface="Calibri" pitchFamily="34" charset="-122"/>
                <a:cs typeface="Calibri" pitchFamily="34" charset="-120"/>
              </a:rPr>
              <a:t>Hook polling yang saya tulis memanggil timeout dua kali karena urutan update state React. Tertangkap oleh test sebelum kodenya pernah dijalankan di browser.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Yang belum selesai</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Saya catat dengan file dan barisnya, termasuk yang lebih berat dari yang sudah saya perbaiki.</a:t>
            </a:r>
            <a:endParaRPr lang="en-US" sz="1500" dirty="0"/>
          </a:p>
        </p:txBody>
      </p:sp>
      <p:sp>
        <p:nvSpPr>
          <p:cNvPr id="6" name="Shape 4"/>
          <p:cNvSpPr/>
          <p:nvPr/>
        </p:nvSpPr>
        <p:spPr>
          <a:xfrm>
            <a:off x="594360" y="1554480"/>
            <a:ext cx="5364328" cy="1234440"/>
          </a:xfrm>
          <a:prstGeom prst="roundRect">
            <a:avLst>
              <a:gd name="adj" fmla="val 5185"/>
            </a:avLst>
          </a:prstGeom>
          <a:solidFill>
            <a:srgbClr val="FCEDE8"/>
          </a:solidFill>
          <a:ln w="9525">
            <a:solidFill>
              <a:srgbClr val="FCEDE8"/>
            </a:solidFill>
            <a:prstDash val="solid"/>
          </a:ln>
        </p:spPr>
      </p:sp>
      <p:sp>
        <p:nvSpPr>
          <p:cNvPr id="7" name="Text 5"/>
          <p:cNvSpPr txBox="1"/>
          <p:nvPr/>
        </p:nvSpPr>
        <p:spPr>
          <a:xfrm>
            <a:off x="850392" y="1709928"/>
            <a:ext cx="4852264"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Organisasi dipilih dari header request</a:t>
            </a:r>
            <a:endParaRPr lang="en-US" sz="1450" dirty="0"/>
          </a:p>
        </p:txBody>
      </p:sp>
      <p:sp>
        <p:nvSpPr>
          <p:cNvPr id="8" name="Text 6"/>
          <p:cNvSpPr txBox="1"/>
          <p:nvPr/>
        </p:nvSpPr>
        <p:spPr>
          <a:xfrm>
            <a:off x="850392" y="2084832"/>
            <a:ext cx="4852264" cy="640080"/>
          </a:xfrm>
          <a:prstGeom prst="rect">
            <a:avLst/>
          </a:prstGeom>
          <a:noFill/>
          <a:ln/>
        </p:spPr>
        <p:txBody>
          <a:bodyPr wrap="square" lIns="0" tIns="0" rIns="0" bIns="0" rtlCol="0" anchor="t"/>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Satu akun admin bisa membaca data organisasi mana pun.</a:t>
            </a:r>
            <a:endParaRPr lang="en-US" sz="1250" dirty="0"/>
          </a:p>
        </p:txBody>
      </p:sp>
      <p:sp>
        <p:nvSpPr>
          <p:cNvPr id="9" name="Shape 7"/>
          <p:cNvSpPr/>
          <p:nvPr/>
        </p:nvSpPr>
        <p:spPr>
          <a:xfrm>
            <a:off x="6233008" y="1554480"/>
            <a:ext cx="5364328" cy="1234440"/>
          </a:xfrm>
          <a:prstGeom prst="roundRect">
            <a:avLst>
              <a:gd name="adj" fmla="val 5185"/>
            </a:avLst>
          </a:prstGeom>
          <a:solidFill>
            <a:srgbClr val="FCEDE8"/>
          </a:solidFill>
          <a:ln w="9525">
            <a:solidFill>
              <a:srgbClr val="FCEDE8"/>
            </a:solidFill>
            <a:prstDash val="solid"/>
          </a:ln>
        </p:spPr>
      </p:sp>
      <p:sp>
        <p:nvSpPr>
          <p:cNvPr id="10" name="Text 8"/>
          <p:cNvSpPr txBox="1"/>
          <p:nvPr/>
        </p:nvSpPr>
        <p:spPr>
          <a:xfrm>
            <a:off x="6489040" y="1709928"/>
            <a:ext cx="4852264"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Token login tidak pernah dicek ulang</a:t>
            </a:r>
            <a:endParaRPr lang="en-US" sz="1450" dirty="0"/>
          </a:p>
        </p:txBody>
      </p:sp>
      <p:sp>
        <p:nvSpPr>
          <p:cNvPr id="11" name="Text 9"/>
          <p:cNvSpPr txBox="1"/>
          <p:nvPr/>
        </p:nvSpPr>
        <p:spPr>
          <a:xfrm>
            <a:off x="6489040" y="2084832"/>
            <a:ext cx="4852264" cy="640080"/>
          </a:xfrm>
          <a:prstGeom prst="rect">
            <a:avLst/>
          </a:prstGeom>
          <a:noFill/>
          <a:ln/>
        </p:spPr>
        <p:txBody>
          <a:bodyPr wrap="square" lIns="0" tIns="0" rIns="0" bIns="0" rtlCol="0" anchor="t"/>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Admin yang aksesnya dicabut tetap bisa masuk sampai 3 hari.</a:t>
            </a:r>
            <a:endParaRPr lang="en-US" sz="1250" dirty="0"/>
          </a:p>
        </p:txBody>
      </p:sp>
      <p:sp>
        <p:nvSpPr>
          <p:cNvPr id="12" name="Shape 10"/>
          <p:cNvSpPr/>
          <p:nvPr/>
        </p:nvSpPr>
        <p:spPr>
          <a:xfrm>
            <a:off x="594360" y="2971800"/>
            <a:ext cx="5364328" cy="1234440"/>
          </a:xfrm>
          <a:prstGeom prst="roundRect">
            <a:avLst>
              <a:gd name="adj" fmla="val 5185"/>
            </a:avLst>
          </a:prstGeom>
          <a:solidFill>
            <a:srgbClr val="FCEDE8"/>
          </a:solidFill>
          <a:ln w="9525">
            <a:solidFill>
              <a:srgbClr val="FCEDE8"/>
            </a:solidFill>
            <a:prstDash val="solid"/>
          </a:ln>
        </p:spPr>
      </p:sp>
      <p:sp>
        <p:nvSpPr>
          <p:cNvPr id="13" name="Text 11"/>
          <p:cNvSpPr txBox="1"/>
          <p:nvPr/>
        </p:nvSpPr>
        <p:spPr>
          <a:xfrm>
            <a:off x="850392" y="3127248"/>
            <a:ext cx="4852264"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Wawancara live rapuh</a:t>
            </a:r>
            <a:endParaRPr lang="en-US" sz="1450" dirty="0"/>
          </a:p>
        </p:txBody>
      </p:sp>
      <p:sp>
        <p:nvSpPr>
          <p:cNvPr id="14" name="Text 12"/>
          <p:cNvSpPr txBox="1"/>
          <p:nvPr/>
        </p:nvSpPr>
        <p:spPr>
          <a:xfrm>
            <a:off x="850392" y="3502152"/>
            <a:ext cx="4852264" cy="640080"/>
          </a:xfrm>
          <a:prstGeom prst="rect">
            <a:avLst/>
          </a:prstGeom>
          <a:noFill/>
          <a:ln/>
        </p:spPr>
        <p:txBody>
          <a:bodyPr wrap="square" lIns="0" tIns="0" rIns="0" bIns="0" rtlCol="0" anchor="t"/>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Refresh halaman bisa mengakhiri wawancara; koneksi real-time mati di multi-worker.</a:t>
            </a:r>
            <a:endParaRPr lang="en-US" sz="1250" dirty="0"/>
          </a:p>
        </p:txBody>
      </p:sp>
      <p:sp>
        <p:nvSpPr>
          <p:cNvPr id="15" name="Shape 13"/>
          <p:cNvSpPr/>
          <p:nvPr/>
        </p:nvSpPr>
        <p:spPr>
          <a:xfrm>
            <a:off x="6233008" y="2971800"/>
            <a:ext cx="5364328" cy="1234440"/>
          </a:xfrm>
          <a:prstGeom prst="roundRect">
            <a:avLst>
              <a:gd name="adj" fmla="val 5185"/>
            </a:avLst>
          </a:prstGeom>
          <a:solidFill>
            <a:srgbClr val="FCEDE8"/>
          </a:solidFill>
          <a:ln w="9525">
            <a:solidFill>
              <a:srgbClr val="FCEDE8"/>
            </a:solidFill>
            <a:prstDash val="solid"/>
          </a:ln>
        </p:spPr>
      </p:sp>
      <p:sp>
        <p:nvSpPr>
          <p:cNvPr id="16" name="Text 14"/>
          <p:cNvSpPr txBox="1"/>
          <p:nvPr/>
        </p:nvSpPr>
        <p:spPr>
          <a:xfrm>
            <a:off x="6489040" y="3127248"/>
            <a:ext cx="4852264"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Transkrip masuk prompt penilaian tanpa pembatas</a:t>
            </a:r>
            <a:endParaRPr lang="en-US" sz="1450" dirty="0"/>
          </a:p>
        </p:txBody>
      </p:sp>
      <p:sp>
        <p:nvSpPr>
          <p:cNvPr id="17" name="Text 15"/>
          <p:cNvSpPr txBox="1"/>
          <p:nvPr/>
        </p:nvSpPr>
        <p:spPr>
          <a:xfrm>
            <a:off x="6489040" y="3502152"/>
            <a:ext cx="4852264" cy="640080"/>
          </a:xfrm>
          <a:prstGeom prst="rect">
            <a:avLst/>
          </a:prstGeom>
          <a:noFill/>
          <a:ln/>
        </p:spPr>
        <p:txBody>
          <a:bodyPr wrap="square" lIns="0" tIns="0" rIns="0" bIns="0" rtlCol="0" anchor="t"/>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Kandidat bisa mengarahkan rating-nya sendiri.</a:t>
            </a:r>
            <a:endParaRPr lang="en-US" sz="1250" dirty="0"/>
          </a:p>
        </p:txBody>
      </p:sp>
      <p:sp>
        <p:nvSpPr>
          <p:cNvPr id="18" name="Shape 16"/>
          <p:cNvSpPr/>
          <p:nvPr/>
        </p:nvSpPr>
        <p:spPr>
          <a:xfrm>
            <a:off x="594360" y="4434840"/>
            <a:ext cx="11002975" cy="1554480"/>
          </a:xfrm>
          <a:prstGeom prst="roundRect">
            <a:avLst>
              <a:gd name="adj" fmla="val 4118"/>
            </a:avLst>
          </a:prstGeom>
          <a:solidFill>
            <a:srgbClr val="F5F7F8"/>
          </a:solidFill>
          <a:ln w="9525">
            <a:solidFill>
              <a:srgbClr val="E2E7EB"/>
            </a:solidFill>
            <a:prstDash val="solid"/>
          </a:ln>
        </p:spPr>
      </p:sp>
      <p:sp>
        <p:nvSpPr>
          <p:cNvPr id="19" name="Text 17"/>
          <p:cNvSpPr txBox="1"/>
          <p:nvPr/>
        </p:nvSpPr>
        <p:spPr>
          <a:xfrm>
            <a:off x="868680" y="4590288"/>
            <a:ext cx="10454335" cy="320040"/>
          </a:xfrm>
          <a:prstGeom prst="rect">
            <a:avLst/>
          </a:prstGeom>
          <a:noFill/>
          <a:ln/>
        </p:spPr>
        <p:txBody>
          <a:bodyPr wrap="square" lIns="0" tIns="0" rIns="0" bIns="0" rtlCol="0" anchor="t"/>
          <a:lstStyle/>
          <a:p>
            <a:pPr indent="0" marL="0">
              <a:buNone/>
            </a:pPr>
            <a:r>
              <a:rPr lang="en-US" sz="1450" b="1" dirty="0">
                <a:solidFill>
                  <a:srgbClr val="1F2933"/>
                </a:solidFill>
                <a:latin typeface="Calibri" pitchFamily="34" charset="0"/>
                <a:ea typeface="Calibri" pitchFamily="34" charset="-122"/>
                <a:cs typeface="Calibri" pitchFamily="34" charset="-120"/>
              </a:rPr>
              <a:t>Kenapa tidak saya perbaiki sekarang</a:t>
            </a:r>
            <a:endParaRPr lang="en-US" sz="1450" dirty="0"/>
          </a:p>
        </p:txBody>
      </p:sp>
      <p:sp>
        <p:nvSpPr>
          <p:cNvPr id="20" name="Text 18"/>
          <p:cNvSpPr txBox="1"/>
          <p:nvPr/>
        </p:nvSpPr>
        <p:spPr>
          <a:xfrm>
            <a:off x="868680" y="4937760"/>
            <a:ext cx="10454335" cy="960120"/>
          </a:xfrm>
          <a:prstGeom prst="rect">
            <a:avLst/>
          </a:prstGeom>
          <a:noFill/>
          <a:ln/>
        </p:spPr>
        <p:txBody>
          <a:bodyPr wrap="square" lIns="0" tIns="0" rIns="0" bIns="0" rtlCol="0" anchor="t"/>
          <a:lstStyle/>
          <a:p>
            <a:pPr indent="0" marL="0">
              <a:lnSpc>
                <a:spcPts val="1800"/>
              </a:lnSpc>
              <a:buNone/>
            </a:pPr>
            <a:r>
              <a:rPr lang="en-US" sz="1300" dirty="0">
                <a:solidFill>
                  <a:srgbClr val="5F6B76"/>
                </a:solidFill>
                <a:latin typeface="Calibri" pitchFamily="34" charset="0"/>
                <a:ea typeface="Calibri" pitchFamily="34" charset="-122"/>
                <a:cs typeface="Calibri" pitchFamily="34" charset="-120"/>
              </a:rPr>
              <a:t>Sebagian butuh migrasi data produksi dan keputusan tentang struktur user dan organisasi. Di tim sungguhan, itu saya diskusikan dulu dengan Tech Lead sebelum menulis kode — bukan saya putuskan sendiri dalam satu case study.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Apa yang case study ini tunjukkan tentang cara saya bekerja</a:t>
            </a:r>
            <a:endParaRPr lang="en-US" sz="2800" dirty="0"/>
          </a:p>
        </p:txBody>
      </p:sp>
      <p:sp>
        <p:nvSpPr>
          <p:cNvPr id="5" name="Shape 3"/>
          <p:cNvSpPr/>
          <p:nvPr/>
        </p:nvSpPr>
        <p:spPr>
          <a:xfrm>
            <a:off x="594360" y="1280160"/>
            <a:ext cx="5364328" cy="2011680"/>
          </a:xfrm>
          <a:prstGeom prst="roundRect">
            <a:avLst>
              <a:gd name="adj" fmla="val 3182"/>
            </a:avLst>
          </a:prstGeom>
          <a:solidFill>
            <a:srgbClr val="E6F3F1"/>
          </a:solidFill>
          <a:ln w="9525">
            <a:solidFill>
              <a:srgbClr val="E6F3F1"/>
            </a:solidFill>
            <a:prstDash val="solid"/>
          </a:ln>
        </p:spPr>
      </p:sp>
      <p:sp>
        <p:nvSpPr>
          <p:cNvPr id="6" name="Shape 4"/>
          <p:cNvSpPr/>
          <p:nvPr/>
        </p:nvSpPr>
        <p:spPr>
          <a:xfrm>
            <a:off x="868680" y="1554480"/>
            <a:ext cx="402336" cy="402336"/>
          </a:xfrm>
          <a:prstGeom prst="ellipse">
            <a:avLst/>
          </a:prstGeom>
          <a:solidFill>
            <a:srgbClr val="0F766E"/>
          </a:solidFill>
          <a:ln w="12700">
            <a:solidFill>
              <a:srgbClr val="0F766E"/>
            </a:solidFill>
            <a:prstDash val="solid"/>
          </a:ln>
        </p:spPr>
      </p:sp>
      <p:sp>
        <p:nvSpPr>
          <p:cNvPr id="7" name="Text 5"/>
          <p:cNvSpPr txBox="1"/>
          <p:nvPr/>
        </p:nvSpPr>
        <p:spPr>
          <a:xfrm>
            <a:off x="86868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463040" y="1581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Mulai dari user, bukan dari kode</a:t>
            </a:r>
            <a:endParaRPr lang="en-US" sz="1700" dirty="0"/>
          </a:p>
        </p:txBody>
      </p:sp>
      <p:sp>
        <p:nvSpPr>
          <p:cNvPr id="9" name="Text 7"/>
          <p:cNvSpPr txBox="1"/>
          <p:nvPr/>
        </p:nvSpPr>
        <p:spPr>
          <a:xfrm>
            <a:off x="1463040" y="2057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Saya pakai produknya dulu dan mengurutkan prioritas berdasarkan siapa yang dirugikan.</a:t>
            </a:r>
            <a:endParaRPr lang="en-US" sz="1400" dirty="0"/>
          </a:p>
        </p:txBody>
      </p:sp>
      <p:sp>
        <p:nvSpPr>
          <p:cNvPr id="10" name="Shape 8"/>
          <p:cNvSpPr/>
          <p:nvPr/>
        </p:nvSpPr>
        <p:spPr>
          <a:xfrm>
            <a:off x="6233008" y="1280160"/>
            <a:ext cx="5364328" cy="2011680"/>
          </a:xfrm>
          <a:prstGeom prst="roundRect">
            <a:avLst>
              <a:gd name="adj" fmla="val 3182"/>
            </a:avLst>
          </a:prstGeom>
          <a:solidFill>
            <a:srgbClr val="E6F3F1"/>
          </a:solidFill>
          <a:ln w="9525">
            <a:solidFill>
              <a:srgbClr val="E6F3F1"/>
            </a:solidFill>
            <a:prstDash val="solid"/>
          </a:ln>
        </p:spPr>
      </p:sp>
      <p:sp>
        <p:nvSpPr>
          <p:cNvPr id="11" name="Shape 9"/>
          <p:cNvSpPr/>
          <p:nvPr/>
        </p:nvSpPr>
        <p:spPr>
          <a:xfrm>
            <a:off x="6507328" y="1554480"/>
            <a:ext cx="402336" cy="402336"/>
          </a:xfrm>
          <a:prstGeom prst="ellipse">
            <a:avLst/>
          </a:prstGeom>
          <a:solidFill>
            <a:srgbClr val="0F766E"/>
          </a:solidFill>
          <a:ln w="12700">
            <a:solidFill>
              <a:srgbClr val="0F766E"/>
            </a:solidFill>
            <a:prstDash val="solid"/>
          </a:ln>
        </p:spPr>
      </p:sp>
      <p:sp>
        <p:nvSpPr>
          <p:cNvPr id="12" name="Text 10"/>
          <p:cNvSpPr txBox="1"/>
          <p:nvPr/>
        </p:nvSpPr>
        <p:spPr>
          <a:xfrm>
            <a:off x="6507328"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7101688" y="1581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Memilih, bukan menumpuk</a:t>
            </a:r>
            <a:endParaRPr lang="en-US" sz="1700" dirty="0"/>
          </a:p>
        </p:txBody>
      </p:sp>
      <p:sp>
        <p:nvSpPr>
          <p:cNvPr id="14" name="Text 12"/>
          <p:cNvSpPr txBox="1"/>
          <p:nvPr/>
        </p:nvSpPr>
        <p:spPr>
          <a:xfrm>
            <a:off x="7101688" y="2057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Dari 77 temuan, saya selesaikan satu alur utuh dan mendokumentasikan sisanya.</a:t>
            </a:r>
            <a:endParaRPr lang="en-US" sz="1400" dirty="0"/>
          </a:p>
        </p:txBody>
      </p:sp>
      <p:sp>
        <p:nvSpPr>
          <p:cNvPr id="15" name="Shape 13"/>
          <p:cNvSpPr/>
          <p:nvPr/>
        </p:nvSpPr>
        <p:spPr>
          <a:xfrm>
            <a:off x="594360" y="3566160"/>
            <a:ext cx="5364328" cy="2011680"/>
          </a:xfrm>
          <a:prstGeom prst="roundRect">
            <a:avLst>
              <a:gd name="adj" fmla="val 3182"/>
            </a:avLst>
          </a:prstGeom>
          <a:solidFill>
            <a:srgbClr val="E6F3F1"/>
          </a:solidFill>
          <a:ln w="9525">
            <a:solidFill>
              <a:srgbClr val="E6F3F1"/>
            </a:solidFill>
            <a:prstDash val="solid"/>
          </a:ln>
        </p:spPr>
      </p:sp>
      <p:sp>
        <p:nvSpPr>
          <p:cNvPr id="16" name="Shape 14"/>
          <p:cNvSpPr/>
          <p:nvPr/>
        </p:nvSpPr>
        <p:spPr>
          <a:xfrm>
            <a:off x="868680" y="3840480"/>
            <a:ext cx="402336" cy="402336"/>
          </a:xfrm>
          <a:prstGeom prst="ellipse">
            <a:avLst/>
          </a:prstGeom>
          <a:solidFill>
            <a:srgbClr val="0F766E"/>
          </a:solidFill>
          <a:ln w="12700">
            <a:solidFill>
              <a:srgbClr val="0F766E"/>
            </a:solidFill>
            <a:prstDash val="solid"/>
          </a:ln>
        </p:spPr>
      </p:sp>
      <p:sp>
        <p:nvSpPr>
          <p:cNvPr id="17" name="Text 15"/>
          <p:cNvSpPr txBox="1"/>
          <p:nvPr/>
        </p:nvSpPr>
        <p:spPr>
          <a:xfrm>
            <a:off x="868680" y="3840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463040" y="3867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Jujur soal kesalahan</a:t>
            </a:r>
            <a:endParaRPr lang="en-US" sz="1700" dirty="0"/>
          </a:p>
        </p:txBody>
      </p:sp>
      <p:sp>
        <p:nvSpPr>
          <p:cNvPr id="19" name="Text 17"/>
          <p:cNvSpPr txBox="1"/>
          <p:nvPr/>
        </p:nvSpPr>
        <p:spPr>
          <a:xfrm>
            <a:off x="1463040" y="4343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Hipotesis yang salah saya hapus dari laporan. Bug di kode sendiri saya akui dan perbaiki.</a:t>
            </a:r>
            <a:endParaRPr lang="en-US" sz="1400" dirty="0"/>
          </a:p>
        </p:txBody>
      </p:sp>
      <p:sp>
        <p:nvSpPr>
          <p:cNvPr id="20" name="Shape 18"/>
          <p:cNvSpPr/>
          <p:nvPr/>
        </p:nvSpPr>
        <p:spPr>
          <a:xfrm>
            <a:off x="6233008" y="3566160"/>
            <a:ext cx="5364328" cy="2011680"/>
          </a:xfrm>
          <a:prstGeom prst="roundRect">
            <a:avLst>
              <a:gd name="adj" fmla="val 3182"/>
            </a:avLst>
          </a:prstGeom>
          <a:solidFill>
            <a:srgbClr val="E6F3F1"/>
          </a:solidFill>
          <a:ln w="9525">
            <a:solidFill>
              <a:srgbClr val="E6F3F1"/>
            </a:solidFill>
            <a:prstDash val="solid"/>
          </a:ln>
        </p:spPr>
      </p:sp>
      <p:sp>
        <p:nvSpPr>
          <p:cNvPr id="21" name="Shape 19"/>
          <p:cNvSpPr/>
          <p:nvPr/>
        </p:nvSpPr>
        <p:spPr>
          <a:xfrm>
            <a:off x="6507328" y="3840480"/>
            <a:ext cx="402336" cy="402336"/>
          </a:xfrm>
          <a:prstGeom prst="ellipse">
            <a:avLst/>
          </a:prstGeom>
          <a:solidFill>
            <a:srgbClr val="0F766E"/>
          </a:solidFill>
          <a:ln w="12700">
            <a:solidFill>
              <a:srgbClr val="0F766E"/>
            </a:solidFill>
            <a:prstDash val="solid"/>
          </a:ln>
        </p:spPr>
      </p:sp>
      <p:sp>
        <p:nvSpPr>
          <p:cNvPr id="22" name="Text 20"/>
          <p:cNvSpPr txBox="1"/>
          <p:nvPr/>
        </p:nvSpPr>
        <p:spPr>
          <a:xfrm>
            <a:off x="6507328" y="3840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7101688" y="3867912"/>
            <a:ext cx="4221328" cy="365760"/>
          </a:xfrm>
          <a:prstGeom prst="rect">
            <a:avLst/>
          </a:prstGeom>
          <a:noFill/>
          <a:ln/>
        </p:spPr>
        <p:txBody>
          <a:bodyPr wrap="square" lIns="0" tIns="0" rIns="0" bIns="0" rtlCol="0" anchor="t"/>
          <a:lstStyle/>
          <a:p>
            <a:pPr indent="0" marL="0">
              <a:buNone/>
            </a:pPr>
            <a:r>
              <a:rPr lang="en-US" sz="1700" b="1" dirty="0">
                <a:solidFill>
                  <a:srgbClr val="0B5550"/>
                </a:solidFill>
                <a:latin typeface="Calibri" pitchFamily="34" charset="0"/>
                <a:ea typeface="Calibri" pitchFamily="34" charset="-122"/>
                <a:cs typeface="Calibri" pitchFamily="34" charset="-120"/>
              </a:rPr>
              <a:t>Bertanggung jawab lintas stack</a:t>
            </a:r>
            <a:endParaRPr lang="en-US" sz="1700" dirty="0"/>
          </a:p>
        </p:txBody>
      </p:sp>
      <p:sp>
        <p:nvSpPr>
          <p:cNvPr id="24" name="Text 22"/>
          <p:cNvSpPr txBox="1"/>
          <p:nvPr/>
        </p:nvSpPr>
        <p:spPr>
          <a:xfrm>
            <a:off x="7101688" y="4343400"/>
            <a:ext cx="4221328" cy="1097280"/>
          </a:xfrm>
          <a:prstGeom prst="rect">
            <a:avLst/>
          </a:prstGeom>
          <a:noFill/>
          <a:ln/>
        </p:spPr>
        <p:txBody>
          <a:bodyPr wrap="square" lIns="0" tIns="0" rIns="0" bIns="0" rtlCol="0" anchor="t"/>
          <a:lstStyle/>
          <a:p>
            <a:pPr indent="0" marL="0">
              <a:lnSpc>
                <a:spcPts val="2000"/>
              </a:lnSpc>
              <a:buNone/>
            </a:pPr>
            <a:r>
              <a:rPr lang="en-US" sz="1400" dirty="0">
                <a:solidFill>
                  <a:srgbClr val="1F2933"/>
                </a:solidFill>
                <a:latin typeface="Calibri" pitchFamily="34" charset="0"/>
                <a:ea typeface="Calibri" pitchFamily="34" charset="-122"/>
                <a:cs typeface="Calibri" pitchFamily="34" charset="-120"/>
              </a:rPr>
              <a:t>Fokus saya frontend, tapi celah keamanan di backend tetap saya tangani, lengkap dengan test.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419088"/>
            <a:ext cx="457200" cy="256032"/>
          </a:xfrm>
          <a:prstGeom prst="rect">
            <a:avLst/>
          </a:prstGeom>
          <a:noFill/>
          <a:ln/>
        </p:spPr>
        <p:txBody>
          <a:bodyPr wrap="square" lIns="0" tIns="0" rIns="0" bIns="0" rtlCol="0" anchor="ctr"/>
          <a:lstStyle/>
          <a:p>
            <a:pPr algn="r" indent="0" marL="0">
              <a:buNone/>
            </a:pPr>
            <a:r>
              <a:rPr lang="en-US" sz="1000" dirty="0">
                <a:solidFill>
                  <a:srgbClr val="8B96A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94360" y="6419088"/>
            <a:ext cx="4572000" cy="256032"/>
          </a:xfrm>
          <a:prstGeom prst="rect">
            <a:avLst/>
          </a:prstGeom>
          <a:noFill/>
          <a:ln/>
        </p:spPr>
        <p:txBody>
          <a:bodyPr wrap="square" lIns="0" tIns="0" rIns="0" bIns="0" rtlCol="0" anchor="ctr"/>
          <a:lstStyle/>
          <a:p>
            <a:pPr indent="0" marL="0">
              <a:buNone/>
            </a:pPr>
            <a:r>
              <a:rPr lang="en-US" sz="1000" dirty="0">
                <a:solidFill>
                  <a:srgbClr val="8B96A0"/>
                </a:solidFill>
                <a:latin typeface="Calibri" pitchFamily="34" charset="0"/>
                <a:ea typeface="Calibri" pitchFamily="34" charset="-122"/>
                <a:cs typeface="Calibri" pitchFamily="34" charset="-120"/>
              </a:rPr>
              <a:t>Aulia Afriza  ·  Kandidat Fullstack Product Engineer</a:t>
            </a:r>
            <a:endParaRPr lang="en-US" sz="1000" dirty="0"/>
          </a:p>
        </p:txBody>
      </p:sp>
      <p:sp>
        <p:nvSpPr>
          <p:cNvPr id="4" name="Text 2"/>
          <p:cNvSpPr txBox="1"/>
          <p:nvPr/>
        </p:nvSpPr>
        <p:spPr>
          <a:xfrm>
            <a:off x="594360" y="438912"/>
            <a:ext cx="11002975" cy="566928"/>
          </a:xfrm>
          <a:prstGeom prst="rect">
            <a:avLst/>
          </a:prstGeom>
          <a:noFill/>
          <a:ln/>
        </p:spPr>
        <p:txBody>
          <a:bodyPr wrap="square" lIns="0" tIns="0" rIns="0" bIns="0" rtlCol="0" anchor="t"/>
          <a:lstStyle/>
          <a:p>
            <a:pPr indent="0" marL="0">
              <a:buNone/>
            </a:pPr>
            <a:r>
              <a:rPr lang="en-US" sz="2800" b="1" dirty="0">
                <a:solidFill>
                  <a:srgbClr val="1F2933"/>
                </a:solidFill>
                <a:latin typeface="Calibri" pitchFamily="34" charset="0"/>
                <a:ea typeface="Calibri" pitchFamily="34" charset="-122"/>
                <a:cs typeface="Calibri" pitchFamily="34" charset="-120"/>
              </a:rPr>
              <a:t>Kalau saya bergabung</a:t>
            </a:r>
            <a:endParaRPr lang="en-US" sz="2800" dirty="0"/>
          </a:p>
        </p:txBody>
      </p:sp>
      <p:sp>
        <p:nvSpPr>
          <p:cNvPr id="5" name="Text 3"/>
          <p:cNvSpPr txBox="1"/>
          <p:nvPr/>
        </p:nvSpPr>
        <p:spPr>
          <a:xfrm>
            <a:off x="594360" y="987552"/>
            <a:ext cx="11002975" cy="384048"/>
          </a:xfrm>
          <a:prstGeom prst="rect">
            <a:avLst/>
          </a:prstGeom>
          <a:noFill/>
          <a:ln/>
        </p:spPr>
        <p:txBody>
          <a:bodyPr wrap="square" lIns="0" tIns="0" rIns="0" bIns="0" rtlCol="0" anchor="t"/>
          <a:lstStyle/>
          <a:p>
            <a:pPr indent="0" marL="0">
              <a:buNone/>
            </a:pPr>
            <a:r>
              <a:rPr lang="en-US" sz="1500" dirty="0">
                <a:solidFill>
                  <a:srgbClr val="5F6B76"/>
                </a:solidFill>
                <a:latin typeface="Calibri" pitchFamily="34" charset="0"/>
                <a:ea typeface="Calibri" pitchFamily="34" charset="-122"/>
                <a:cs typeface="Calibri" pitchFamily="34" charset="-120"/>
              </a:rPr>
              <a:t>Yang ingin saya lakukan di bulan-bulan pertama — tentu disesuaikan dengan prioritas tim.</a:t>
            </a:r>
            <a:endParaRPr lang="en-US" sz="1500" dirty="0"/>
          </a:p>
        </p:txBody>
      </p:sp>
      <p:sp>
        <p:nvSpPr>
          <p:cNvPr id="6" name="Shape 4"/>
          <p:cNvSpPr/>
          <p:nvPr/>
        </p:nvSpPr>
        <p:spPr>
          <a:xfrm>
            <a:off x="594360" y="1536192"/>
            <a:ext cx="3484778" cy="3566160"/>
          </a:xfrm>
          <a:prstGeom prst="roundRect">
            <a:avLst>
              <a:gd name="adj" fmla="val 1837"/>
            </a:avLst>
          </a:prstGeom>
          <a:solidFill>
            <a:srgbClr val="F5F7F8"/>
          </a:solidFill>
          <a:ln w="9525">
            <a:solidFill>
              <a:srgbClr val="E2E7EB"/>
            </a:solidFill>
            <a:prstDash val="solid"/>
          </a:ln>
        </p:spPr>
      </p:sp>
      <p:sp>
        <p:nvSpPr>
          <p:cNvPr id="7" name="Shape 5"/>
          <p:cNvSpPr/>
          <p:nvPr/>
        </p:nvSpPr>
        <p:spPr>
          <a:xfrm>
            <a:off x="850392" y="1719072"/>
            <a:ext cx="1097280" cy="274320"/>
          </a:xfrm>
          <a:prstGeom prst="roundRect">
            <a:avLst>
              <a:gd name="adj" fmla="val 20000"/>
            </a:avLst>
          </a:prstGeom>
          <a:solidFill>
            <a:srgbClr val="C8553D"/>
          </a:solidFill>
          <a:ln w="12700">
            <a:solidFill>
              <a:srgbClr val="C8553D"/>
            </a:solidFill>
            <a:prstDash val="solid"/>
          </a:ln>
        </p:spPr>
      </p:sp>
      <p:sp>
        <p:nvSpPr>
          <p:cNvPr id="8" name="Text 6"/>
          <p:cNvSpPr txBox="1"/>
          <p:nvPr/>
        </p:nvSpPr>
        <p:spPr>
          <a:xfrm>
            <a:off x="850392" y="171907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30 hari</a:t>
            </a:r>
            <a:endParaRPr lang="en-US" sz="1100" dirty="0"/>
          </a:p>
        </p:txBody>
      </p:sp>
      <p:sp>
        <p:nvSpPr>
          <p:cNvPr id="9" name="Text 7"/>
          <p:cNvSpPr txBox="1"/>
          <p:nvPr/>
        </p:nvSpPr>
        <p:spPr>
          <a:xfrm>
            <a:off x="850392" y="2130552"/>
            <a:ext cx="2972714" cy="365760"/>
          </a:xfrm>
          <a:prstGeom prst="rect">
            <a:avLst/>
          </a:prstGeom>
          <a:noFill/>
          <a:ln/>
        </p:spPr>
        <p:txBody>
          <a:bodyPr wrap="square" lIns="0" tIns="0" rIns="0" bIns="0" rtlCol="0" anchor="t"/>
          <a:lstStyle/>
          <a:p>
            <a:pPr indent="0" marL="0">
              <a:buNone/>
            </a:pPr>
            <a:r>
              <a:rPr lang="en-US" sz="1650" b="1" dirty="0">
                <a:solidFill>
                  <a:srgbClr val="1F2933"/>
                </a:solidFill>
                <a:latin typeface="Calibri" pitchFamily="34" charset="0"/>
                <a:ea typeface="Calibri" pitchFamily="34" charset="-122"/>
                <a:cs typeface="Calibri" pitchFamily="34" charset="-120"/>
              </a:rPr>
              <a:t>Memahami &amp; menutup celah</a:t>
            </a:r>
            <a:endParaRPr lang="en-US" sz="1650" dirty="0"/>
          </a:p>
        </p:txBody>
      </p:sp>
      <p:sp>
        <p:nvSpPr>
          <p:cNvPr id="10" name="Text 8"/>
          <p:cNvSpPr txBox="1"/>
          <p:nvPr/>
        </p:nvSpPr>
        <p:spPr>
          <a:xfrm>
            <a:off x="850392" y="2606040"/>
            <a:ext cx="2972714" cy="228600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Belajar produk, user, dan cara tim bekerja</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Membantu menutup celah akses bersama tim</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Memasang test yang sudah saya buat ke CI</a:t>
            </a:r>
            <a:endParaRPr lang="en-US" sz="1350" dirty="0"/>
          </a:p>
        </p:txBody>
      </p:sp>
      <p:sp>
        <p:nvSpPr>
          <p:cNvPr id="11" name="Shape 9"/>
          <p:cNvSpPr/>
          <p:nvPr/>
        </p:nvSpPr>
        <p:spPr>
          <a:xfrm>
            <a:off x="4353458" y="1536192"/>
            <a:ext cx="3484778" cy="3566160"/>
          </a:xfrm>
          <a:prstGeom prst="roundRect">
            <a:avLst>
              <a:gd name="adj" fmla="val 1837"/>
            </a:avLst>
          </a:prstGeom>
          <a:solidFill>
            <a:srgbClr val="F5F7F8"/>
          </a:solidFill>
          <a:ln w="9525">
            <a:solidFill>
              <a:srgbClr val="E2E7EB"/>
            </a:solidFill>
            <a:prstDash val="solid"/>
          </a:ln>
        </p:spPr>
      </p:sp>
      <p:sp>
        <p:nvSpPr>
          <p:cNvPr id="12" name="Shape 10"/>
          <p:cNvSpPr/>
          <p:nvPr/>
        </p:nvSpPr>
        <p:spPr>
          <a:xfrm>
            <a:off x="4609490" y="1719072"/>
            <a:ext cx="1097280" cy="274320"/>
          </a:xfrm>
          <a:prstGeom prst="roundRect">
            <a:avLst>
              <a:gd name="adj" fmla="val 20000"/>
            </a:avLst>
          </a:prstGeom>
          <a:solidFill>
            <a:srgbClr val="B7791F"/>
          </a:solidFill>
          <a:ln w="12700">
            <a:solidFill>
              <a:srgbClr val="B7791F"/>
            </a:solidFill>
            <a:prstDash val="solid"/>
          </a:ln>
        </p:spPr>
      </p:sp>
      <p:sp>
        <p:nvSpPr>
          <p:cNvPr id="13" name="Text 11"/>
          <p:cNvSpPr txBox="1"/>
          <p:nvPr/>
        </p:nvSpPr>
        <p:spPr>
          <a:xfrm>
            <a:off x="4609490" y="171907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60 hari</a:t>
            </a:r>
            <a:endParaRPr lang="en-US" sz="1100" dirty="0"/>
          </a:p>
        </p:txBody>
      </p:sp>
      <p:sp>
        <p:nvSpPr>
          <p:cNvPr id="14" name="Text 12"/>
          <p:cNvSpPr txBox="1"/>
          <p:nvPr/>
        </p:nvSpPr>
        <p:spPr>
          <a:xfrm>
            <a:off x="4609490" y="2130552"/>
            <a:ext cx="2972714" cy="365760"/>
          </a:xfrm>
          <a:prstGeom prst="rect">
            <a:avLst/>
          </a:prstGeom>
          <a:noFill/>
          <a:ln/>
        </p:spPr>
        <p:txBody>
          <a:bodyPr wrap="square" lIns="0" tIns="0" rIns="0" bIns="0" rtlCol="0" anchor="t"/>
          <a:lstStyle/>
          <a:p>
            <a:pPr indent="0" marL="0">
              <a:buNone/>
            </a:pPr>
            <a:r>
              <a:rPr lang="en-US" sz="1650" b="1" dirty="0">
                <a:solidFill>
                  <a:srgbClr val="1F2933"/>
                </a:solidFill>
                <a:latin typeface="Calibri" pitchFamily="34" charset="0"/>
                <a:ea typeface="Calibri" pitchFamily="34" charset="-122"/>
                <a:cs typeface="Calibri" pitchFamily="34" charset="-120"/>
              </a:rPr>
              <a:t>Keandalan wawancara live</a:t>
            </a:r>
            <a:endParaRPr lang="en-US" sz="1650" dirty="0"/>
          </a:p>
        </p:txBody>
      </p:sp>
      <p:sp>
        <p:nvSpPr>
          <p:cNvPr id="15" name="Text 13"/>
          <p:cNvSpPr txBox="1"/>
          <p:nvPr/>
        </p:nvSpPr>
        <p:spPr>
          <a:xfrm>
            <a:off x="4609490" y="2606040"/>
            <a:ext cx="2972714" cy="228600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Refresh halaman tidak lagi mengakhiri wawancara</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Audio kandidat tidak hilang saat koneksi terputus</a:t>
            </a:r>
            <a:endParaRPr lang="en-US" sz="1350" dirty="0"/>
          </a:p>
        </p:txBody>
      </p:sp>
      <p:sp>
        <p:nvSpPr>
          <p:cNvPr id="16" name="Shape 14"/>
          <p:cNvSpPr/>
          <p:nvPr/>
        </p:nvSpPr>
        <p:spPr>
          <a:xfrm>
            <a:off x="8112557" y="1536192"/>
            <a:ext cx="3484778" cy="3566160"/>
          </a:xfrm>
          <a:prstGeom prst="roundRect">
            <a:avLst>
              <a:gd name="adj" fmla="val 1837"/>
            </a:avLst>
          </a:prstGeom>
          <a:solidFill>
            <a:srgbClr val="F5F7F8"/>
          </a:solidFill>
          <a:ln w="9525">
            <a:solidFill>
              <a:srgbClr val="E2E7EB"/>
            </a:solidFill>
            <a:prstDash val="solid"/>
          </a:ln>
        </p:spPr>
      </p:sp>
      <p:sp>
        <p:nvSpPr>
          <p:cNvPr id="17" name="Shape 15"/>
          <p:cNvSpPr/>
          <p:nvPr/>
        </p:nvSpPr>
        <p:spPr>
          <a:xfrm>
            <a:off x="8368589" y="1719072"/>
            <a:ext cx="1097280" cy="274320"/>
          </a:xfrm>
          <a:prstGeom prst="roundRect">
            <a:avLst>
              <a:gd name="adj" fmla="val 20000"/>
            </a:avLst>
          </a:prstGeom>
          <a:solidFill>
            <a:srgbClr val="0F766E"/>
          </a:solidFill>
          <a:ln w="12700">
            <a:solidFill>
              <a:srgbClr val="0F766E"/>
            </a:solidFill>
            <a:prstDash val="solid"/>
          </a:ln>
        </p:spPr>
      </p:sp>
      <p:sp>
        <p:nvSpPr>
          <p:cNvPr id="18" name="Text 16"/>
          <p:cNvSpPr txBox="1"/>
          <p:nvPr/>
        </p:nvSpPr>
        <p:spPr>
          <a:xfrm>
            <a:off x="8368589" y="1719072"/>
            <a:ext cx="109728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90 hari</a:t>
            </a:r>
            <a:endParaRPr lang="en-US" sz="1100" dirty="0"/>
          </a:p>
        </p:txBody>
      </p:sp>
      <p:sp>
        <p:nvSpPr>
          <p:cNvPr id="19" name="Text 17"/>
          <p:cNvSpPr txBox="1"/>
          <p:nvPr/>
        </p:nvSpPr>
        <p:spPr>
          <a:xfrm>
            <a:off x="8368589" y="2130552"/>
            <a:ext cx="2972714" cy="365760"/>
          </a:xfrm>
          <a:prstGeom prst="rect">
            <a:avLst/>
          </a:prstGeom>
          <a:noFill/>
          <a:ln/>
        </p:spPr>
        <p:txBody>
          <a:bodyPr wrap="square" lIns="0" tIns="0" rIns="0" bIns="0" rtlCol="0" anchor="t"/>
          <a:lstStyle/>
          <a:p>
            <a:pPr indent="0" marL="0">
              <a:buNone/>
            </a:pPr>
            <a:r>
              <a:rPr lang="en-US" sz="1650" b="1" dirty="0">
                <a:solidFill>
                  <a:srgbClr val="1F2933"/>
                </a:solidFill>
                <a:latin typeface="Calibri" pitchFamily="34" charset="0"/>
                <a:ea typeface="Calibri" pitchFamily="34" charset="-122"/>
                <a:cs typeface="Calibri" pitchFamily="34" charset="-120"/>
              </a:rPr>
              <a:t>Kontrak data yang kuat</a:t>
            </a:r>
            <a:endParaRPr lang="en-US" sz="1650" dirty="0"/>
          </a:p>
        </p:txBody>
      </p:sp>
      <p:sp>
        <p:nvSpPr>
          <p:cNvPr id="20" name="Text 18"/>
          <p:cNvSpPr txBox="1"/>
          <p:nvPr/>
        </p:nvSpPr>
        <p:spPr>
          <a:xfrm>
            <a:off x="8368589" y="2606040"/>
            <a:ext cx="2972714" cy="228600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Satu definisi level L1–L5 untuk semua service</a:t>
            </a:r>
            <a:endParaRPr lang="en-US" sz="1350" dirty="0"/>
          </a:p>
          <a:p>
            <a:pPr marL="342900" indent="-342900">
              <a:lnSpc>
                <a:spcPts val="1900"/>
              </a:lnSpc>
              <a:spcAft>
                <a:spcPts val="1000"/>
              </a:spcAft>
              <a:buSzPct val="100000"/>
              <a:buChar char="•"/>
            </a:pPr>
            <a:r>
              <a:rPr lang="en-US" sz="1350" dirty="0">
                <a:solidFill>
                  <a:srgbClr val="1F2933"/>
                </a:solidFill>
                <a:latin typeface="Calibri" pitchFamily="34" charset="0"/>
                <a:ea typeface="Calibri" pitchFamily="34" charset="-122"/>
                <a:cs typeface="Calibri" pitchFamily="34" charset="-120"/>
              </a:rPr>
              <a:t>Kontrak API formal antara backend dan frontend</a:t>
            </a:r>
            <a:endParaRPr lang="en-US" sz="1350" dirty="0"/>
          </a:p>
        </p:txBody>
      </p:sp>
      <p:sp>
        <p:nvSpPr>
          <p:cNvPr id="21" name="Text 19"/>
          <p:cNvSpPr txBox="1"/>
          <p:nvPr/>
        </p:nvSpPr>
        <p:spPr>
          <a:xfrm>
            <a:off x="594360" y="5349240"/>
            <a:ext cx="11002975" cy="640080"/>
          </a:xfrm>
          <a:prstGeom prst="rect">
            <a:avLst/>
          </a:prstGeom>
          <a:noFill/>
          <a:ln/>
        </p:spPr>
        <p:txBody>
          <a:bodyPr wrap="square" lIns="0" tIns="0" rIns="0" bIns="0" rtlCol="0" anchor="t"/>
          <a:lstStyle/>
          <a:p>
            <a:pPr indent="0" marL="0">
              <a:lnSpc>
                <a:spcPts val="1900"/>
              </a:lnSpc>
              <a:buNone/>
            </a:pPr>
            <a:r>
              <a:rPr lang="en-US" sz="1350" dirty="0">
                <a:solidFill>
                  <a:srgbClr val="5F6B76"/>
                </a:solidFill>
                <a:latin typeface="Calibri" pitchFamily="34" charset="0"/>
                <a:ea typeface="Calibri" pitchFamily="34" charset="-122"/>
                <a:cs typeface="Calibri" pitchFamily="34" charset="-120"/>
              </a:rPr>
              <a:t>Urutannya: data pribadi dulu, lalu pengalaman kandidat saat wawancara, lalu fondasi supaya bug seperti yang saya temukan tidak terulang.</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766E"/>
        </a:solidFill>
      </p:bgPr>
    </p:bg>
    <p:spTree>
      <p:nvGrpSpPr>
        <p:cNvPr id="1" name=""/>
        <p:cNvGrpSpPr/>
        <p:nvPr/>
      </p:nvGrpSpPr>
      <p:grpSpPr>
        <a:xfrm>
          <a:off x="0" y="0"/>
          <a:ext cx="0" cy="0"/>
          <a:chOff x="0" y="0"/>
          <a:chExt cx="0" cy="0"/>
        </a:xfrm>
      </p:grpSpPr>
      <p:sp>
        <p:nvSpPr>
          <p:cNvPr id="2" name="Text 0"/>
          <p:cNvSpPr txBox="1"/>
          <p:nvPr/>
        </p:nvSpPr>
        <p:spPr>
          <a:xfrm>
            <a:off x="594360" y="1371600"/>
            <a:ext cx="11002975"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Terima kasih</a:t>
            </a:r>
            <a:endParaRPr lang="en-US" sz="4400" dirty="0"/>
          </a:p>
        </p:txBody>
      </p:sp>
      <p:sp>
        <p:nvSpPr>
          <p:cNvPr id="3" name="Text 1"/>
          <p:cNvSpPr txBox="1"/>
          <p:nvPr/>
        </p:nvSpPr>
        <p:spPr>
          <a:xfrm>
            <a:off x="594360" y="2331720"/>
            <a:ext cx="11002975" cy="457200"/>
          </a:xfrm>
          <a:prstGeom prst="rect">
            <a:avLst/>
          </a:prstGeom>
          <a:noFill/>
          <a:ln/>
        </p:spPr>
        <p:txBody>
          <a:bodyPr wrap="square" lIns="0" tIns="0" rIns="0" bIns="0" rtlCol="0" anchor="t"/>
          <a:lstStyle/>
          <a:p>
            <a:pPr indent="0" marL="0">
              <a:buNone/>
            </a:pPr>
            <a:r>
              <a:rPr lang="en-US" sz="1800" dirty="0">
                <a:solidFill>
                  <a:srgbClr val="D8EFEC"/>
                </a:solidFill>
                <a:latin typeface="Calibri" pitchFamily="34" charset="0"/>
                <a:ea typeface="Calibri" pitchFamily="34" charset="-122"/>
                <a:cs typeface="Calibri" pitchFamily="34" charset="-120"/>
              </a:rPr>
              <a:t>Saya senang menerima pertanyaan. Dan kalau boleh, dua hal yang ingin saya tanyakan:</a:t>
            </a:r>
            <a:endParaRPr lang="en-US" sz="1800" dirty="0"/>
          </a:p>
        </p:txBody>
      </p:sp>
      <p:sp>
        <p:nvSpPr>
          <p:cNvPr id="4" name="Shape 2"/>
          <p:cNvSpPr/>
          <p:nvPr/>
        </p:nvSpPr>
        <p:spPr>
          <a:xfrm>
            <a:off x="594360" y="3017520"/>
            <a:ext cx="11002975" cy="777240"/>
          </a:xfrm>
          <a:prstGeom prst="roundRect">
            <a:avLst>
              <a:gd name="adj" fmla="val 8235"/>
            </a:avLst>
          </a:prstGeom>
          <a:solidFill>
            <a:srgbClr val="0B5550"/>
          </a:solidFill>
          <a:ln w="12700">
            <a:solidFill>
              <a:srgbClr val="0B5550"/>
            </a:solidFill>
            <a:prstDash val="solid"/>
          </a:ln>
        </p:spPr>
      </p:sp>
      <p:sp>
        <p:nvSpPr>
          <p:cNvPr id="5" name="Text 3"/>
          <p:cNvSpPr txBox="1"/>
          <p:nvPr/>
        </p:nvSpPr>
        <p:spPr>
          <a:xfrm>
            <a:off x="914400" y="3017520"/>
            <a:ext cx="10362895"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1.  Bagaimana tim memutuskan apa yang masuk sprint ketika masalahnya jauh lebih banyak dari kapasitas?</a:t>
            </a:r>
            <a:endParaRPr lang="en-US" sz="1500" dirty="0"/>
          </a:p>
        </p:txBody>
      </p:sp>
      <p:sp>
        <p:nvSpPr>
          <p:cNvPr id="6" name="Shape 4"/>
          <p:cNvSpPr/>
          <p:nvPr/>
        </p:nvSpPr>
        <p:spPr>
          <a:xfrm>
            <a:off x="594360" y="3931920"/>
            <a:ext cx="11002975" cy="777240"/>
          </a:xfrm>
          <a:prstGeom prst="roundRect">
            <a:avLst>
              <a:gd name="adj" fmla="val 8235"/>
            </a:avLst>
          </a:prstGeom>
          <a:solidFill>
            <a:srgbClr val="0B5550"/>
          </a:solidFill>
          <a:ln w="12700">
            <a:solidFill>
              <a:srgbClr val="0B5550"/>
            </a:solidFill>
            <a:prstDash val="solid"/>
          </a:ln>
        </p:spPr>
      </p:sp>
      <p:sp>
        <p:nvSpPr>
          <p:cNvPr id="7" name="Text 5"/>
          <p:cNvSpPr txBox="1"/>
          <p:nvPr/>
        </p:nvSpPr>
        <p:spPr>
          <a:xfrm>
            <a:off x="914400" y="3931920"/>
            <a:ext cx="10362895" cy="7772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2.  Seperti apa peran product engineer di tim ini — seberapa jauh ikut menentukan apa yang dibangun?</a:t>
            </a:r>
            <a:endParaRPr lang="en-US" sz="1500" dirty="0"/>
          </a:p>
        </p:txBody>
      </p:sp>
      <p:sp>
        <p:nvSpPr>
          <p:cNvPr id="8" name="Text 6"/>
          <p:cNvSpPr txBox="1"/>
          <p:nvPr/>
        </p:nvSpPr>
        <p:spPr>
          <a:xfrm>
            <a:off x="594360" y="5486400"/>
            <a:ext cx="11002975" cy="365760"/>
          </a:xfrm>
          <a:prstGeom prst="rect">
            <a:avLst/>
          </a:prstGeom>
          <a:noFill/>
          <a:ln/>
        </p:spPr>
        <p:txBody>
          <a:bodyPr wrap="square" lIns="0" tIns="0" rIns="0" bIns="0" rtlCol="0" anchor="t"/>
          <a:lstStyle/>
          <a:p>
            <a:pPr indent="0" marL="0">
              <a:buNone/>
            </a:pPr>
            <a:r>
              <a:rPr lang="en-US" sz="1400" dirty="0">
                <a:solidFill>
                  <a:srgbClr val="BFE3DE"/>
                </a:solidFill>
                <a:latin typeface="Calibri" pitchFamily="34" charset="0"/>
                <a:ea typeface="Calibri" pitchFamily="34" charset="-122"/>
                <a:cs typeface="Calibri" pitchFamily="34" charset="-120"/>
              </a:rPr>
              <a:t>Aulia Afriza  ·  github.com/auliaafriza/code-challenge-rakamin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Kandidat — Aulia Afriza</dc:title>
  <dc:subject>PptxGenJS Presentation</dc:subject>
  <dc:creator>Aulia Afriza</dc:creator>
  <cp:lastModifiedBy>Aulia Afriza</cp:lastModifiedBy>
  <cp:revision>1</cp:revision>
  <dcterms:created xsi:type="dcterms:W3CDTF">2026-09-21T07:09:34Z</dcterms:created>
  <dcterms:modified xsi:type="dcterms:W3CDTF">2026-09-21T07:09:34Z</dcterms:modified>
</cp:coreProperties>
</file>