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Halo, terima kasih sudah meluangkan waktu. Saya Aulia. Hari ini saya mau cerita bagaimana saya mengerjakan case study ini — mulai dari mencoba produknya, menemukan masalah, memutuskan apa yang dikerjakan, sampai bagaimana saya memastikan hasilnya benar. Saya ambil fokus di frontend.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alurnya. Kurang lebih sama dengan urutan saya mengerjakannya.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 pertama yang saya lakukan bukan membaca kode, tapi mencoba produknya. Brief juga bilang begitu — pakai dulu sebelum menilai. Jadi saya jalankan dua service-nya di lokal, lalu saya berperan sebagai assessor: bikin assessment, tambah skill, undang kandidat, edit vacancy. Setiap kali ada yang mengganggu, saya catat. Dari situ saja saya dapat 13 temuan.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salah satu contohnya. Waktu membuat assessment, kita pilih bahasa wawancara. Tapi di halaman Edit field-nya tidak ada, dan di halaman Detail juga tidak ditampilkan. Awalnya saya kira ini cuma masalah tampilan. Tapi waktu saya cek kodenya, ternyata form Edit tidak memuat dan tidak mengirim bahasa. Artinya setiap kali assessment diedit, bahasanya bisa balik ke default. Yang tahu pertama kali justru kandidat, waktu wawancara sudah jalan.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Setelah itu baru saya baca kodenya, dua service. Totalnya ada 77 temuan — 44 di backend, 33 di frontend — dan tujuh saya golongkan P0, paling berat. Tapi yang menarik, waktu saya kelompokkan, banyak yang polanya sama. Ada yang gagal diam-diam. Ada yang sebenarnya sudah dibuat tapi tidak pernah disambungkan. Dan ada default yang justru memilih nilai terburuk kalau datanya kosong.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Dari semua temuan, yang menurut saya paling penting ada di sini, di laporan Fit/Gap. Ini tabel yang dilihat hiring manager untuk memutuskan kandidat. Ada tiga masalah. Kolom Required kosong di semua baris. Kita tidak bisa tahu apakah rating ini dari AI atau sudah dikoreksi assessor. Dan tidak ada tingkat keyakinan — hasil dari satu pertanyaan kelihatan sama dengan hasil dari empat. Yang bikin saya kaget, backend sebenarnya sudah menghitung ketiganya. Datanya hilang di jalan, dan tidak ada error, jadi tidak ada yang sadar.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Kenapa ini yang saya prioritaskan? Saya bikin urutan P0 sampai P3, tapi ukurannya bukan kerugian bisnis. Ukurannya siapa yang dirugikan, dan apakah dia bisa tahu. Makanya kolom kosong saya anggap lebih berat dari crash. Kalau crash, orang langsung sadar dan bisa coba lagi. Kolom kosong kelihatan seperti memang desainnya begitu. Dan yang paling terdampak adalah kandidat — mereka tidak memilih produk ini, dan tidak pernah melihat hasilnya.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Untuk memperbaikinya ada dua pilihan. Pilihan A cepat, sekitar satu jam: samakan nama field-nya, tambah dua field, selesai. Masalahnya, kalau nanti API berubah lagi, bug yang sama bisa muncul lagi tanpa ketahuan. Pilihan B lebih lama, sekitar satu setengah hari: saya pasang validasi di pintu masuk data pakai Zod. Jadi kalau ada data yang hilang, layar akan bilang datanya tidak lengkap, bukan diam-diam kosong. Zod-nya sendiri sudah terpasang di project, cuma belum dipakai. Ada juga opsi ketiga, generate type dari OpenAPI — itu paling rapi, tapi API-nya belum punya spec, jadi saya tunda.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hasilnya, dengan data yang sama. Kolom Required sekarang terisi. Ada tingkat keyakinan dan berapa kali skill itu ditanyakan. Dan kalau ada gap yang cuma didukung satu pertanyaan, muncul peringatan supaya hiring manager tidak langsung menolak kandidat — sebaiknya jadwalkan sesi lanjutan dulu. Satu lagi: skill yang belum ditanyakan sekarang tertulis 'Belum dinilai'. Sebelumnya kode lama menganggapnya L1, level paling rendah.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Dua perubahan lain. Pertama, sekarang terlihat kalau sebuah rating sudah dikoreksi assessor — tertulis AI L2 jadi L4, siapa yang mengubah, dan kapan. Sebelumnya ini tidak kelihatan sama sekali, padahal legend-nya menjanjikan ada tanda. Kedua, tingkat keyakinan ikut tampil, jadi dua hasil 'Match L4' yang satu dari empat pertanyaan dan satu dari satu pertanyaan tidak lagi terlihat sama.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Satu lagi, ini sebenarnya di luar fokus frontend saya, tapi saya tidak mau membiarkannya. Portfolio bisa diakses hanya dengan id-nya, tanpa dicek organisasinya. Artinya assessor dari perusahaan lain bisa mengunduh kutipan wawancara kandidat perusahaan lain, bahkan mengubah rating-nya. Ini data pribadi, jadi saya perbaiki: empat endpoint sekarang dibatasi per organisasi, dan kalau diakses dari organisasi lain hasilnya 404.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Untuk memastikan hasilnya benar, test saya tulis duluan, lalu saya jalankan ke kode lama. Hasilnya 8 gagal — itu yang saya mau, karena artinya test-nya benar-benar menangkap masalahnya. Setelah perbaikan, 34 test lulus. Saya juga sengaja merusak kode saya sendiri di tiga tempat, dan test-nya langsung merah. Dan ada satu momen saya salah: saya kira ada bug di ConfidenceIndicator, saya tulis test-nya, ternyata lulus. Saya yang kurang teliti. Jadi temuan itu saya hapus dari laporan, tapi test-nya tetap saya simpan.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Tentu masih ada yang belum selesai. Ada tiga masalah berat yang saya temukan tapi belum saya perbaiki — dan jujur, yang pertama malah lebih berat dari yang sudah saya perbaiki: organisasi dipilih dari header request, jadi satu akun admin bisa baca data organisasi lain. Saya tidak memperbaikinya karena butuh migrasi data dan keputusan tentang struktur user, yang menurut saya harus didiskusikan dulu dengan tim. Kalau saya lanjut, urutannya seperti di sebelah kanan.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Terima kasih. Saya buka untuk pertanyaan.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766E"/>
        </a:solidFill>
      </p:bgPr>
    </p:bg>
    <p:spTree>
      <p:nvGrpSpPr>
        <p:cNvPr id="1" name=""/>
        <p:cNvGrpSpPr/>
        <p:nvPr/>
      </p:nvGrpSpPr>
      <p:grpSpPr>
        <a:xfrm>
          <a:off x="0" y="0"/>
          <a:ext cx="0" cy="0"/>
          <a:chOff x="0" y="0"/>
          <a:chExt cx="0" cy="0"/>
        </a:xfrm>
      </p:grpSpPr>
      <p:sp>
        <p:nvSpPr>
          <p:cNvPr id="2" name="Text 0"/>
          <p:cNvSpPr txBox="1"/>
          <p:nvPr/>
        </p:nvSpPr>
        <p:spPr>
          <a:xfrm>
            <a:off x="594360" y="1737360"/>
            <a:ext cx="11002975" cy="365760"/>
          </a:xfrm>
          <a:prstGeom prst="rect">
            <a:avLst/>
          </a:prstGeom>
          <a:noFill/>
          <a:ln/>
        </p:spPr>
        <p:txBody>
          <a:bodyPr wrap="square" lIns="0" tIns="0" rIns="0" bIns="0" rtlCol="0" anchor="ctr"/>
          <a:lstStyle/>
          <a:p>
            <a:pPr indent="0" marL="0">
              <a:buNone/>
            </a:pPr>
            <a:r>
              <a:rPr lang="en-US" sz="1600" dirty="0">
                <a:solidFill>
                  <a:srgbClr val="BFE3DE"/>
                </a:solidFill>
                <a:latin typeface="Calibri" pitchFamily="34" charset="0"/>
                <a:ea typeface="Calibri" pitchFamily="34" charset="-122"/>
                <a:cs typeface="Calibri" pitchFamily="34" charset="-120"/>
              </a:rPr>
              <a:t>Case Study · Fullstack Product Engineer</a:t>
            </a:r>
            <a:endParaRPr lang="en-US" sz="1600" dirty="0"/>
          </a:p>
        </p:txBody>
      </p:sp>
      <p:sp>
        <p:nvSpPr>
          <p:cNvPr id="3" name="Text 1"/>
          <p:cNvSpPr txBox="1"/>
          <p:nvPr/>
        </p:nvSpPr>
        <p:spPr>
          <a:xfrm>
            <a:off x="594360" y="2194560"/>
            <a:ext cx="9601200" cy="1645920"/>
          </a:xfrm>
          <a:prstGeom prst="rect">
            <a:avLst/>
          </a:prstGeom>
          <a:noFill/>
          <a:ln/>
        </p:spPr>
        <p:txBody>
          <a:bodyPr wrap="square" lIns="0" tIns="0" rIns="0" bIns="0" rtlCol="0" anchor="t"/>
          <a:lstStyle/>
          <a:p>
            <a:pPr indent="0" marL="0">
              <a:lnSpc>
                <a:spcPts val="5200"/>
              </a:lnSpc>
              <a:buNone/>
            </a:pPr>
            <a:r>
              <a:rPr lang="en-US" sz="4400" b="1" dirty="0">
                <a:solidFill>
                  <a:srgbClr val="FFFFFF"/>
                </a:solidFill>
                <a:latin typeface="Calibri" pitchFamily="34" charset="0"/>
                <a:ea typeface="Calibri" pitchFamily="34" charset="-122"/>
                <a:cs typeface="Calibri" pitchFamily="34" charset="-120"/>
              </a:rPr>
              <a:t>Membuat penilaian AI</a:t>
            </a:r>
            <a:endParaRPr lang="en-US" sz="4400" dirty="0"/>
          </a:p>
          <a:p>
            <a:pPr indent="0" marL="0">
              <a:lnSpc>
                <a:spcPts val="5200"/>
              </a:lnSpc>
              <a:buNone/>
            </a:pPr>
            <a:r>
              <a:rPr lang="en-US" sz="4400" b="1" dirty="0">
                <a:solidFill>
                  <a:srgbClr val="FFFFFF"/>
                </a:solidFill>
                <a:latin typeface="Calibri" pitchFamily="34" charset="0"/>
                <a:ea typeface="Calibri" pitchFamily="34" charset="-122"/>
                <a:cs typeface="Calibri" pitchFamily="34" charset="-120"/>
              </a:rPr>
              <a:t>bisa dipertanggungjawabkan</a:t>
            </a:r>
            <a:endParaRPr lang="en-US" sz="4400" dirty="0"/>
          </a:p>
        </p:txBody>
      </p:sp>
      <p:sp>
        <p:nvSpPr>
          <p:cNvPr id="4" name="Text 2"/>
          <p:cNvSpPr txBox="1"/>
          <p:nvPr/>
        </p:nvSpPr>
        <p:spPr>
          <a:xfrm>
            <a:off x="594360" y="3977640"/>
            <a:ext cx="11002975" cy="411480"/>
          </a:xfrm>
          <a:prstGeom prst="rect">
            <a:avLst/>
          </a:prstGeom>
          <a:noFill/>
          <a:ln/>
        </p:spPr>
        <p:txBody>
          <a:bodyPr wrap="square" lIns="0" tIns="0" rIns="0" bIns="0" rtlCol="0" anchor="ctr"/>
          <a:lstStyle/>
          <a:p>
            <a:pPr indent="0" marL="0">
              <a:buNone/>
            </a:pPr>
            <a:r>
              <a:rPr lang="en-US" sz="1800" dirty="0">
                <a:solidFill>
                  <a:srgbClr val="D8EFEC"/>
                </a:solidFill>
                <a:latin typeface="Calibri" pitchFamily="34" charset="0"/>
                <a:ea typeface="Calibri" pitchFamily="34" charset="-122"/>
                <a:cs typeface="Calibri" pitchFamily="34" charset="-120"/>
              </a:rPr>
              <a:t>AI Interview Platform  ·  Fokus: frontend</a:t>
            </a:r>
            <a:endParaRPr lang="en-US" sz="1800" dirty="0"/>
          </a:p>
        </p:txBody>
      </p:sp>
      <p:sp>
        <p:nvSpPr>
          <p:cNvPr id="5" name="Text 3"/>
          <p:cNvSpPr txBox="1"/>
          <p:nvPr/>
        </p:nvSpPr>
        <p:spPr>
          <a:xfrm>
            <a:off x="594360" y="5212080"/>
            <a:ext cx="5486400" cy="41148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Aulia Afriza</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00800"/>
            <a:ext cx="457200" cy="274320"/>
          </a:xfrm>
          <a:prstGeom prst="rect">
            <a:avLst/>
          </a:prstGeom>
          <a:noFill/>
          <a:ln/>
        </p:spPr>
        <p:txBody>
          <a:bodyPr wrap="square" lIns="0" tIns="0" rIns="0" bIns="0" rtlCol="0" anchor="ctr"/>
          <a:lstStyle/>
          <a:p>
            <a:pPr algn="r" indent="0" marL="0">
              <a:buNone/>
            </a:pPr>
            <a:r>
              <a:rPr lang="en-US" sz="1000" dirty="0">
                <a:solidFill>
                  <a:srgbClr val="8B96A0"/>
                </a:solidFill>
                <a:latin typeface="Calibri" pitchFamily="34" charset="0"/>
                <a:ea typeface="Calibri" pitchFamily="34" charset="-122"/>
                <a:cs typeface="Calibri" pitchFamily="34" charset="-120"/>
              </a:rPr>
              <a:t>2</a:t>
            </a:r>
            <a:endParaRPr lang="en-US" sz="1000" dirty="0"/>
          </a:p>
        </p:txBody>
      </p:sp>
      <p:sp>
        <p:nvSpPr>
          <p:cNvPr id="3" name="Text 1"/>
          <p:cNvSpPr txBox="1"/>
          <p:nvPr/>
        </p:nvSpPr>
        <p:spPr>
          <a:xfrm>
            <a:off x="594360" y="6400800"/>
            <a:ext cx="4572000" cy="274320"/>
          </a:xfrm>
          <a:prstGeom prst="rect">
            <a:avLst/>
          </a:prstGeom>
          <a:noFill/>
          <a:ln/>
        </p:spPr>
        <p:txBody>
          <a:bodyPr wrap="square" lIns="0" tIns="0" rIns="0" bIns="0" rtlCol="0" anchor="ctr"/>
          <a:lstStyle/>
          <a:p>
            <a:pPr indent="0" marL="0">
              <a:buNone/>
            </a:pPr>
            <a:r>
              <a:rPr lang="en-US" sz="1000" dirty="0">
                <a:solidFill>
                  <a:srgbClr val="8B96A0"/>
                </a:solidFill>
                <a:latin typeface="Calibri" pitchFamily="34" charset="0"/>
                <a:ea typeface="Calibri" pitchFamily="34" charset="-122"/>
                <a:cs typeface="Calibri" pitchFamily="34" charset="-120"/>
              </a:rPr>
              <a:t>Aulia Afriza  ·  Case Study Fullstack</a:t>
            </a:r>
            <a:endParaRPr lang="en-US" sz="1000" dirty="0"/>
          </a:p>
        </p:txBody>
      </p:sp>
      <p:sp>
        <p:nvSpPr>
          <p:cNvPr id="4" name="Text 2"/>
          <p:cNvSpPr txBox="1"/>
          <p:nvPr/>
        </p:nvSpPr>
        <p:spPr>
          <a:xfrm>
            <a:off x="594360" y="457200"/>
            <a:ext cx="11002975" cy="594360"/>
          </a:xfrm>
          <a:prstGeom prst="rect">
            <a:avLst/>
          </a:prstGeom>
          <a:noFill/>
          <a:ln/>
        </p:spPr>
        <p:txBody>
          <a:bodyPr wrap="square" lIns="0" tIns="0" rIns="0" bIns="0" rtlCol="0" anchor="t"/>
          <a:lstStyle/>
          <a:p>
            <a:pPr indent="0" marL="0">
              <a:buNone/>
            </a:pPr>
            <a:r>
              <a:rPr lang="en-US" sz="3000" b="1" dirty="0">
                <a:solidFill>
                  <a:srgbClr val="1F2933"/>
                </a:solidFill>
                <a:latin typeface="Calibri" pitchFamily="34" charset="0"/>
                <a:ea typeface="Calibri" pitchFamily="34" charset="-122"/>
                <a:cs typeface="Calibri" pitchFamily="34" charset="-120"/>
              </a:rPr>
              <a:t>Yang akan saya ceritakan</a:t>
            </a:r>
            <a:endParaRPr lang="en-US" sz="3000" dirty="0"/>
          </a:p>
        </p:txBody>
      </p:sp>
      <p:sp>
        <p:nvSpPr>
          <p:cNvPr id="5" name="Shape 3"/>
          <p:cNvSpPr/>
          <p:nvPr/>
        </p:nvSpPr>
        <p:spPr>
          <a:xfrm>
            <a:off x="594360" y="1453896"/>
            <a:ext cx="420624" cy="420624"/>
          </a:xfrm>
          <a:prstGeom prst="ellipse">
            <a:avLst/>
          </a:prstGeom>
          <a:solidFill>
            <a:srgbClr val="0F766E"/>
          </a:solidFill>
          <a:ln w="12700">
            <a:solidFill>
              <a:srgbClr val="0F766E"/>
            </a:solidFill>
            <a:prstDash val="solid"/>
          </a:ln>
        </p:spPr>
      </p:sp>
      <p:sp>
        <p:nvSpPr>
          <p:cNvPr id="6" name="Text 4"/>
          <p:cNvSpPr txBox="1"/>
          <p:nvPr/>
        </p:nvSpPr>
        <p:spPr>
          <a:xfrm>
            <a:off x="594360" y="145389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1234440" y="1417320"/>
            <a:ext cx="5486400" cy="329184"/>
          </a:xfrm>
          <a:prstGeom prst="rect">
            <a:avLst/>
          </a:prstGeom>
          <a:noFill/>
          <a:ln/>
        </p:spPr>
        <p:txBody>
          <a:bodyPr wrap="square" lIns="0" tIns="0" rIns="0" bIns="0" rtlCol="0" anchor="ctr"/>
          <a:lstStyle/>
          <a:p>
            <a:pPr indent="0" marL="0">
              <a:buNone/>
            </a:pPr>
            <a:r>
              <a:rPr lang="en-US" sz="1800" b="1" dirty="0">
                <a:solidFill>
                  <a:srgbClr val="1F2933"/>
                </a:solidFill>
                <a:latin typeface="Calibri" pitchFamily="34" charset="0"/>
                <a:ea typeface="Calibri" pitchFamily="34" charset="-122"/>
                <a:cs typeface="Calibri" pitchFamily="34" charset="-120"/>
              </a:rPr>
              <a:t>Bagaimana saya mulai</a:t>
            </a:r>
            <a:endParaRPr lang="en-US" sz="1800" dirty="0"/>
          </a:p>
        </p:txBody>
      </p:sp>
      <p:sp>
        <p:nvSpPr>
          <p:cNvPr id="8" name="Text 6"/>
          <p:cNvSpPr txBox="1"/>
          <p:nvPr/>
        </p:nvSpPr>
        <p:spPr>
          <a:xfrm>
            <a:off x="1234440" y="1746504"/>
            <a:ext cx="8229600" cy="274320"/>
          </a:xfrm>
          <a:prstGeom prst="rect">
            <a:avLst/>
          </a:prstGeom>
          <a:noFill/>
          <a:ln/>
        </p:spPr>
        <p:txBody>
          <a:bodyPr wrap="square" lIns="0" tIns="0" rIns="0" bIns="0" rtlCol="0" anchor="ctr"/>
          <a:lstStyle/>
          <a:p>
            <a:pPr indent="0" marL="0">
              <a:buNone/>
            </a:pPr>
            <a:r>
              <a:rPr lang="en-US" sz="1350" dirty="0">
                <a:solidFill>
                  <a:srgbClr val="5F6B76"/>
                </a:solidFill>
                <a:latin typeface="Calibri" pitchFamily="34" charset="0"/>
                <a:ea typeface="Calibri" pitchFamily="34" charset="-122"/>
                <a:cs typeface="Calibri" pitchFamily="34" charset="-120"/>
              </a:rPr>
              <a:t>Mencoba produknya dulu, baru membaca kodenya</a:t>
            </a:r>
            <a:endParaRPr lang="en-US" sz="1350" dirty="0"/>
          </a:p>
        </p:txBody>
      </p:sp>
      <p:sp>
        <p:nvSpPr>
          <p:cNvPr id="9" name="Shape 7"/>
          <p:cNvSpPr/>
          <p:nvPr/>
        </p:nvSpPr>
        <p:spPr>
          <a:xfrm>
            <a:off x="594360" y="2240280"/>
            <a:ext cx="420624" cy="420624"/>
          </a:xfrm>
          <a:prstGeom prst="ellipse">
            <a:avLst/>
          </a:prstGeom>
          <a:solidFill>
            <a:srgbClr val="0F766E"/>
          </a:solidFill>
          <a:ln w="12700">
            <a:solidFill>
              <a:srgbClr val="0F766E"/>
            </a:solidFill>
            <a:prstDash val="solid"/>
          </a:ln>
        </p:spPr>
      </p:sp>
      <p:sp>
        <p:nvSpPr>
          <p:cNvPr id="10" name="Text 8"/>
          <p:cNvSpPr txBox="1"/>
          <p:nvPr/>
        </p:nvSpPr>
        <p:spPr>
          <a:xfrm>
            <a:off x="594360" y="224028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9"/>
          <p:cNvSpPr txBox="1"/>
          <p:nvPr/>
        </p:nvSpPr>
        <p:spPr>
          <a:xfrm>
            <a:off x="1234440" y="2203704"/>
            <a:ext cx="5486400" cy="329184"/>
          </a:xfrm>
          <a:prstGeom prst="rect">
            <a:avLst/>
          </a:prstGeom>
          <a:noFill/>
          <a:ln/>
        </p:spPr>
        <p:txBody>
          <a:bodyPr wrap="square" lIns="0" tIns="0" rIns="0" bIns="0" rtlCol="0" anchor="ctr"/>
          <a:lstStyle/>
          <a:p>
            <a:pPr indent="0" marL="0">
              <a:buNone/>
            </a:pPr>
            <a:r>
              <a:rPr lang="en-US" sz="1800" b="1" dirty="0">
                <a:solidFill>
                  <a:srgbClr val="1F2933"/>
                </a:solidFill>
                <a:latin typeface="Calibri" pitchFamily="34" charset="0"/>
                <a:ea typeface="Calibri" pitchFamily="34" charset="-122"/>
                <a:cs typeface="Calibri" pitchFamily="34" charset="-120"/>
              </a:rPr>
              <a:t>Masalah yang saya temukan</a:t>
            </a:r>
            <a:endParaRPr lang="en-US" sz="1800" dirty="0"/>
          </a:p>
        </p:txBody>
      </p:sp>
      <p:sp>
        <p:nvSpPr>
          <p:cNvPr id="12" name="Text 10"/>
          <p:cNvSpPr txBox="1"/>
          <p:nvPr/>
        </p:nvSpPr>
        <p:spPr>
          <a:xfrm>
            <a:off x="1234440" y="2532888"/>
            <a:ext cx="8229600" cy="274320"/>
          </a:xfrm>
          <a:prstGeom prst="rect">
            <a:avLst/>
          </a:prstGeom>
          <a:noFill/>
          <a:ln/>
        </p:spPr>
        <p:txBody>
          <a:bodyPr wrap="square" lIns="0" tIns="0" rIns="0" bIns="0" rtlCol="0" anchor="ctr"/>
          <a:lstStyle/>
          <a:p>
            <a:pPr indent="0" marL="0">
              <a:buNone/>
            </a:pPr>
            <a:r>
              <a:rPr lang="en-US" sz="1350" dirty="0">
                <a:solidFill>
                  <a:srgbClr val="5F6B76"/>
                </a:solidFill>
                <a:latin typeface="Calibri" pitchFamily="34" charset="0"/>
                <a:ea typeface="Calibri" pitchFamily="34" charset="-122"/>
                <a:cs typeface="Calibri" pitchFamily="34" charset="-120"/>
              </a:rPr>
              <a:t>Dan kenapa satu masalah saya anggap paling penting</a:t>
            </a:r>
            <a:endParaRPr lang="en-US" sz="1350" dirty="0"/>
          </a:p>
        </p:txBody>
      </p:sp>
      <p:sp>
        <p:nvSpPr>
          <p:cNvPr id="13" name="Shape 11"/>
          <p:cNvSpPr/>
          <p:nvPr/>
        </p:nvSpPr>
        <p:spPr>
          <a:xfrm>
            <a:off x="594360" y="3026664"/>
            <a:ext cx="420624" cy="420624"/>
          </a:xfrm>
          <a:prstGeom prst="ellipse">
            <a:avLst/>
          </a:prstGeom>
          <a:solidFill>
            <a:srgbClr val="0F766E"/>
          </a:solidFill>
          <a:ln w="12700">
            <a:solidFill>
              <a:srgbClr val="0F766E"/>
            </a:solidFill>
            <a:prstDash val="solid"/>
          </a:ln>
        </p:spPr>
      </p:sp>
      <p:sp>
        <p:nvSpPr>
          <p:cNvPr id="14" name="Text 12"/>
          <p:cNvSpPr txBox="1"/>
          <p:nvPr/>
        </p:nvSpPr>
        <p:spPr>
          <a:xfrm>
            <a:off x="594360" y="302666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3"/>
          <p:cNvSpPr txBox="1"/>
          <p:nvPr/>
        </p:nvSpPr>
        <p:spPr>
          <a:xfrm>
            <a:off x="1234440" y="2990088"/>
            <a:ext cx="5486400" cy="329184"/>
          </a:xfrm>
          <a:prstGeom prst="rect">
            <a:avLst/>
          </a:prstGeom>
          <a:noFill/>
          <a:ln/>
        </p:spPr>
        <p:txBody>
          <a:bodyPr wrap="square" lIns="0" tIns="0" rIns="0" bIns="0" rtlCol="0" anchor="ctr"/>
          <a:lstStyle/>
          <a:p>
            <a:pPr indent="0" marL="0">
              <a:buNone/>
            </a:pPr>
            <a:r>
              <a:rPr lang="en-US" sz="1800" b="1" dirty="0">
                <a:solidFill>
                  <a:srgbClr val="1F2933"/>
                </a:solidFill>
                <a:latin typeface="Calibri" pitchFamily="34" charset="0"/>
                <a:ea typeface="Calibri" pitchFamily="34" charset="-122"/>
                <a:cs typeface="Calibri" pitchFamily="34" charset="-120"/>
              </a:rPr>
              <a:t>Solusi yang saya pilih</a:t>
            </a:r>
            <a:endParaRPr lang="en-US" sz="1800" dirty="0"/>
          </a:p>
        </p:txBody>
      </p:sp>
      <p:sp>
        <p:nvSpPr>
          <p:cNvPr id="16" name="Text 14"/>
          <p:cNvSpPr txBox="1"/>
          <p:nvPr/>
        </p:nvSpPr>
        <p:spPr>
          <a:xfrm>
            <a:off x="1234440" y="3319272"/>
            <a:ext cx="8229600" cy="274320"/>
          </a:xfrm>
          <a:prstGeom prst="rect">
            <a:avLst/>
          </a:prstGeom>
          <a:noFill/>
          <a:ln/>
        </p:spPr>
        <p:txBody>
          <a:bodyPr wrap="square" lIns="0" tIns="0" rIns="0" bIns="0" rtlCol="0" anchor="ctr"/>
          <a:lstStyle/>
          <a:p>
            <a:pPr indent="0" marL="0">
              <a:buNone/>
            </a:pPr>
            <a:r>
              <a:rPr lang="en-US" sz="1350" dirty="0">
                <a:solidFill>
                  <a:srgbClr val="5F6B76"/>
                </a:solidFill>
                <a:latin typeface="Calibri" pitchFamily="34" charset="0"/>
                <a:ea typeface="Calibri" pitchFamily="34" charset="-122"/>
                <a:cs typeface="Calibri" pitchFamily="34" charset="-120"/>
              </a:rPr>
              <a:t>Dua pilihan, dan alasan saya memilih salah satunya</a:t>
            </a:r>
            <a:endParaRPr lang="en-US" sz="1350" dirty="0"/>
          </a:p>
        </p:txBody>
      </p:sp>
      <p:sp>
        <p:nvSpPr>
          <p:cNvPr id="17" name="Shape 15"/>
          <p:cNvSpPr/>
          <p:nvPr/>
        </p:nvSpPr>
        <p:spPr>
          <a:xfrm>
            <a:off x="594360" y="3813048"/>
            <a:ext cx="420624" cy="420624"/>
          </a:xfrm>
          <a:prstGeom prst="ellipse">
            <a:avLst/>
          </a:prstGeom>
          <a:solidFill>
            <a:srgbClr val="0F766E"/>
          </a:solidFill>
          <a:ln w="12700">
            <a:solidFill>
              <a:srgbClr val="0F766E"/>
            </a:solidFill>
            <a:prstDash val="solid"/>
          </a:ln>
        </p:spPr>
      </p:sp>
      <p:sp>
        <p:nvSpPr>
          <p:cNvPr id="18" name="Text 16"/>
          <p:cNvSpPr txBox="1"/>
          <p:nvPr/>
        </p:nvSpPr>
        <p:spPr>
          <a:xfrm>
            <a:off x="594360" y="381304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9" name="Text 17"/>
          <p:cNvSpPr txBox="1"/>
          <p:nvPr/>
        </p:nvSpPr>
        <p:spPr>
          <a:xfrm>
            <a:off x="1234440" y="3776472"/>
            <a:ext cx="5486400" cy="329184"/>
          </a:xfrm>
          <a:prstGeom prst="rect">
            <a:avLst/>
          </a:prstGeom>
          <a:noFill/>
          <a:ln/>
        </p:spPr>
        <p:txBody>
          <a:bodyPr wrap="square" lIns="0" tIns="0" rIns="0" bIns="0" rtlCol="0" anchor="ctr"/>
          <a:lstStyle/>
          <a:p>
            <a:pPr indent="0" marL="0">
              <a:buNone/>
            </a:pPr>
            <a:r>
              <a:rPr lang="en-US" sz="1800" b="1" dirty="0">
                <a:solidFill>
                  <a:srgbClr val="1F2933"/>
                </a:solidFill>
                <a:latin typeface="Calibri" pitchFamily="34" charset="0"/>
                <a:ea typeface="Calibri" pitchFamily="34" charset="-122"/>
                <a:cs typeface="Calibri" pitchFamily="34" charset="-120"/>
              </a:rPr>
              <a:t>Hasilnya</a:t>
            </a:r>
            <a:endParaRPr lang="en-US" sz="1800" dirty="0"/>
          </a:p>
        </p:txBody>
      </p:sp>
      <p:sp>
        <p:nvSpPr>
          <p:cNvPr id="20" name="Text 18"/>
          <p:cNvSpPr txBox="1"/>
          <p:nvPr/>
        </p:nvSpPr>
        <p:spPr>
          <a:xfrm>
            <a:off x="1234440" y="4105656"/>
            <a:ext cx="8229600" cy="274320"/>
          </a:xfrm>
          <a:prstGeom prst="rect">
            <a:avLst/>
          </a:prstGeom>
          <a:noFill/>
          <a:ln/>
        </p:spPr>
        <p:txBody>
          <a:bodyPr wrap="square" lIns="0" tIns="0" rIns="0" bIns="0" rtlCol="0" anchor="ctr"/>
          <a:lstStyle/>
          <a:p>
            <a:pPr indent="0" marL="0">
              <a:buNone/>
            </a:pPr>
            <a:r>
              <a:rPr lang="en-US" sz="1350" dirty="0">
                <a:solidFill>
                  <a:srgbClr val="5F6B76"/>
                </a:solidFill>
                <a:latin typeface="Calibri" pitchFamily="34" charset="0"/>
                <a:ea typeface="Calibri" pitchFamily="34" charset="-122"/>
                <a:cs typeface="Calibri" pitchFamily="34" charset="-120"/>
              </a:rPr>
              <a:t>Sebelum dan sesudah perbaikan</a:t>
            </a:r>
            <a:endParaRPr lang="en-US" sz="1350" dirty="0"/>
          </a:p>
        </p:txBody>
      </p:sp>
      <p:sp>
        <p:nvSpPr>
          <p:cNvPr id="21" name="Shape 19"/>
          <p:cNvSpPr/>
          <p:nvPr/>
        </p:nvSpPr>
        <p:spPr>
          <a:xfrm>
            <a:off x="594360" y="4599432"/>
            <a:ext cx="420624" cy="420624"/>
          </a:xfrm>
          <a:prstGeom prst="ellipse">
            <a:avLst/>
          </a:prstGeom>
          <a:solidFill>
            <a:srgbClr val="0F766E"/>
          </a:solidFill>
          <a:ln w="12700">
            <a:solidFill>
              <a:srgbClr val="0F766E"/>
            </a:solidFill>
            <a:prstDash val="solid"/>
          </a:ln>
        </p:spPr>
      </p:sp>
      <p:sp>
        <p:nvSpPr>
          <p:cNvPr id="22" name="Text 20"/>
          <p:cNvSpPr txBox="1"/>
          <p:nvPr/>
        </p:nvSpPr>
        <p:spPr>
          <a:xfrm>
            <a:off x="594360" y="459943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3" name="Text 21"/>
          <p:cNvSpPr txBox="1"/>
          <p:nvPr/>
        </p:nvSpPr>
        <p:spPr>
          <a:xfrm>
            <a:off x="1234440" y="4562856"/>
            <a:ext cx="5486400" cy="329184"/>
          </a:xfrm>
          <a:prstGeom prst="rect">
            <a:avLst/>
          </a:prstGeom>
          <a:noFill/>
          <a:ln/>
        </p:spPr>
        <p:txBody>
          <a:bodyPr wrap="square" lIns="0" tIns="0" rIns="0" bIns="0" rtlCol="0" anchor="ctr"/>
          <a:lstStyle/>
          <a:p>
            <a:pPr indent="0" marL="0">
              <a:buNone/>
            </a:pPr>
            <a:r>
              <a:rPr lang="en-US" sz="1800" b="1" dirty="0">
                <a:solidFill>
                  <a:srgbClr val="1F2933"/>
                </a:solidFill>
                <a:latin typeface="Calibri" pitchFamily="34" charset="0"/>
                <a:ea typeface="Calibri" pitchFamily="34" charset="-122"/>
                <a:cs typeface="Calibri" pitchFamily="34" charset="-120"/>
              </a:rPr>
              <a:t>Cara saya memastikan hasilnya benar</a:t>
            </a:r>
            <a:endParaRPr lang="en-US" sz="1800" dirty="0"/>
          </a:p>
        </p:txBody>
      </p:sp>
      <p:sp>
        <p:nvSpPr>
          <p:cNvPr id="24" name="Text 22"/>
          <p:cNvSpPr txBox="1"/>
          <p:nvPr/>
        </p:nvSpPr>
        <p:spPr>
          <a:xfrm>
            <a:off x="1234440" y="4892040"/>
            <a:ext cx="8229600" cy="274320"/>
          </a:xfrm>
          <a:prstGeom prst="rect">
            <a:avLst/>
          </a:prstGeom>
          <a:noFill/>
          <a:ln/>
        </p:spPr>
        <p:txBody>
          <a:bodyPr wrap="square" lIns="0" tIns="0" rIns="0" bIns="0" rtlCol="0" anchor="ctr"/>
          <a:lstStyle/>
          <a:p>
            <a:pPr indent="0" marL="0">
              <a:buNone/>
            </a:pPr>
            <a:r>
              <a:rPr lang="en-US" sz="1350" dirty="0">
                <a:solidFill>
                  <a:srgbClr val="5F6B76"/>
                </a:solidFill>
                <a:latin typeface="Calibri" pitchFamily="34" charset="0"/>
                <a:ea typeface="Calibri" pitchFamily="34" charset="-122"/>
                <a:cs typeface="Calibri" pitchFamily="34" charset="-120"/>
              </a:rPr>
              <a:t>Test, dan satu kali saya sempat salah</a:t>
            </a:r>
            <a:endParaRPr lang="en-US" sz="1350" dirty="0"/>
          </a:p>
        </p:txBody>
      </p:sp>
      <p:sp>
        <p:nvSpPr>
          <p:cNvPr id="25" name="Shape 23"/>
          <p:cNvSpPr/>
          <p:nvPr/>
        </p:nvSpPr>
        <p:spPr>
          <a:xfrm>
            <a:off x="594360" y="5385816"/>
            <a:ext cx="420624" cy="420624"/>
          </a:xfrm>
          <a:prstGeom prst="ellipse">
            <a:avLst/>
          </a:prstGeom>
          <a:solidFill>
            <a:srgbClr val="0F766E"/>
          </a:solidFill>
          <a:ln w="12700">
            <a:solidFill>
              <a:srgbClr val="0F766E"/>
            </a:solidFill>
            <a:prstDash val="solid"/>
          </a:ln>
        </p:spPr>
      </p:sp>
      <p:sp>
        <p:nvSpPr>
          <p:cNvPr id="26" name="Text 24"/>
          <p:cNvSpPr txBox="1"/>
          <p:nvPr/>
        </p:nvSpPr>
        <p:spPr>
          <a:xfrm>
            <a:off x="594360" y="538581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7" name="Text 25"/>
          <p:cNvSpPr txBox="1"/>
          <p:nvPr/>
        </p:nvSpPr>
        <p:spPr>
          <a:xfrm>
            <a:off x="1234440" y="5349240"/>
            <a:ext cx="5486400" cy="329184"/>
          </a:xfrm>
          <a:prstGeom prst="rect">
            <a:avLst/>
          </a:prstGeom>
          <a:noFill/>
          <a:ln/>
        </p:spPr>
        <p:txBody>
          <a:bodyPr wrap="square" lIns="0" tIns="0" rIns="0" bIns="0" rtlCol="0" anchor="ctr"/>
          <a:lstStyle/>
          <a:p>
            <a:pPr indent="0" marL="0">
              <a:buNone/>
            </a:pPr>
            <a:r>
              <a:rPr lang="en-US" sz="1800" b="1" dirty="0">
                <a:solidFill>
                  <a:srgbClr val="1F2933"/>
                </a:solidFill>
                <a:latin typeface="Calibri" pitchFamily="34" charset="0"/>
                <a:ea typeface="Calibri" pitchFamily="34" charset="-122"/>
                <a:cs typeface="Calibri" pitchFamily="34" charset="-120"/>
              </a:rPr>
              <a:t>Yang belum selesai</a:t>
            </a:r>
            <a:endParaRPr lang="en-US" sz="1800" dirty="0"/>
          </a:p>
        </p:txBody>
      </p:sp>
      <p:sp>
        <p:nvSpPr>
          <p:cNvPr id="28" name="Text 26"/>
          <p:cNvSpPr txBox="1"/>
          <p:nvPr/>
        </p:nvSpPr>
        <p:spPr>
          <a:xfrm>
            <a:off x="1234440" y="5678424"/>
            <a:ext cx="8229600" cy="274320"/>
          </a:xfrm>
          <a:prstGeom prst="rect">
            <a:avLst/>
          </a:prstGeom>
          <a:noFill/>
          <a:ln/>
        </p:spPr>
        <p:txBody>
          <a:bodyPr wrap="square" lIns="0" tIns="0" rIns="0" bIns="0" rtlCol="0" anchor="ctr"/>
          <a:lstStyle/>
          <a:p>
            <a:pPr indent="0" marL="0">
              <a:buNone/>
            </a:pPr>
            <a:r>
              <a:rPr lang="en-US" sz="1350" dirty="0">
                <a:solidFill>
                  <a:srgbClr val="5F6B76"/>
                </a:solidFill>
                <a:latin typeface="Calibri" pitchFamily="34" charset="0"/>
                <a:ea typeface="Calibri" pitchFamily="34" charset="-122"/>
                <a:cs typeface="Calibri" pitchFamily="34" charset="-120"/>
              </a:rPr>
              <a:t>Dan apa yang akan saya kerjakan berikutnya</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00800"/>
            <a:ext cx="457200" cy="274320"/>
          </a:xfrm>
          <a:prstGeom prst="rect">
            <a:avLst/>
          </a:prstGeom>
          <a:noFill/>
          <a:ln/>
        </p:spPr>
        <p:txBody>
          <a:bodyPr wrap="square" lIns="0" tIns="0" rIns="0" bIns="0" rtlCol="0" anchor="ctr"/>
          <a:lstStyle/>
          <a:p>
            <a:pPr algn="r" indent="0" marL="0">
              <a:buNone/>
            </a:pPr>
            <a:r>
              <a:rPr lang="en-US" sz="1000" dirty="0">
                <a:solidFill>
                  <a:srgbClr val="8B96A0"/>
                </a:solidFill>
                <a:latin typeface="Calibri" pitchFamily="34" charset="0"/>
                <a:ea typeface="Calibri" pitchFamily="34" charset="-122"/>
                <a:cs typeface="Calibri" pitchFamily="34" charset="-120"/>
              </a:rPr>
              <a:t>3</a:t>
            </a:r>
            <a:endParaRPr lang="en-US" sz="1000" dirty="0"/>
          </a:p>
        </p:txBody>
      </p:sp>
      <p:sp>
        <p:nvSpPr>
          <p:cNvPr id="3" name="Text 1"/>
          <p:cNvSpPr txBox="1"/>
          <p:nvPr/>
        </p:nvSpPr>
        <p:spPr>
          <a:xfrm>
            <a:off x="594360" y="6400800"/>
            <a:ext cx="4572000" cy="274320"/>
          </a:xfrm>
          <a:prstGeom prst="rect">
            <a:avLst/>
          </a:prstGeom>
          <a:noFill/>
          <a:ln/>
        </p:spPr>
        <p:txBody>
          <a:bodyPr wrap="square" lIns="0" tIns="0" rIns="0" bIns="0" rtlCol="0" anchor="ctr"/>
          <a:lstStyle/>
          <a:p>
            <a:pPr indent="0" marL="0">
              <a:buNone/>
            </a:pPr>
            <a:r>
              <a:rPr lang="en-US" sz="1000" dirty="0">
                <a:solidFill>
                  <a:srgbClr val="8B96A0"/>
                </a:solidFill>
                <a:latin typeface="Calibri" pitchFamily="34" charset="0"/>
                <a:ea typeface="Calibri" pitchFamily="34" charset="-122"/>
                <a:cs typeface="Calibri" pitchFamily="34" charset="-120"/>
              </a:rPr>
              <a:t>Aulia Afriza  ·  Case Study Fullstack</a:t>
            </a:r>
            <a:endParaRPr lang="en-US" sz="1000" dirty="0"/>
          </a:p>
        </p:txBody>
      </p:sp>
      <p:sp>
        <p:nvSpPr>
          <p:cNvPr id="4" name="Text 2"/>
          <p:cNvSpPr txBox="1"/>
          <p:nvPr/>
        </p:nvSpPr>
        <p:spPr>
          <a:xfrm>
            <a:off x="594360" y="457200"/>
            <a:ext cx="11002975" cy="594360"/>
          </a:xfrm>
          <a:prstGeom prst="rect">
            <a:avLst/>
          </a:prstGeom>
          <a:noFill/>
          <a:ln/>
        </p:spPr>
        <p:txBody>
          <a:bodyPr wrap="square" lIns="0" tIns="0" rIns="0" bIns="0" rtlCol="0" anchor="t"/>
          <a:lstStyle/>
          <a:p>
            <a:pPr indent="0" marL="0">
              <a:buNone/>
            </a:pPr>
            <a:r>
              <a:rPr lang="en-US" sz="3000" b="1" dirty="0">
                <a:solidFill>
                  <a:srgbClr val="1F2933"/>
                </a:solidFill>
                <a:latin typeface="Calibri" pitchFamily="34" charset="0"/>
                <a:ea typeface="Calibri" pitchFamily="34" charset="-122"/>
                <a:cs typeface="Calibri" pitchFamily="34" charset="-120"/>
              </a:rPr>
              <a:t>Pertama, saya coba pakai produknya</a:t>
            </a:r>
            <a:endParaRPr lang="en-US" sz="3000" dirty="0"/>
          </a:p>
        </p:txBody>
      </p:sp>
      <p:sp>
        <p:nvSpPr>
          <p:cNvPr id="5" name="Text 3"/>
          <p:cNvSpPr txBox="1"/>
          <p:nvPr/>
        </p:nvSpPr>
        <p:spPr>
          <a:xfrm>
            <a:off x="594360" y="1051560"/>
            <a:ext cx="11002975" cy="411480"/>
          </a:xfrm>
          <a:prstGeom prst="rect">
            <a:avLst/>
          </a:prstGeom>
          <a:noFill/>
          <a:ln/>
        </p:spPr>
        <p:txBody>
          <a:bodyPr wrap="square" lIns="0" tIns="0" rIns="0" bIns="0" rtlCol="0" anchor="t"/>
          <a:lstStyle/>
          <a:p>
            <a:pPr indent="0" marL="0">
              <a:buNone/>
            </a:pPr>
            <a:r>
              <a:rPr lang="en-US" sz="1600" dirty="0">
                <a:solidFill>
                  <a:srgbClr val="5F6B76"/>
                </a:solidFill>
                <a:latin typeface="Calibri" pitchFamily="34" charset="0"/>
                <a:ea typeface="Calibri" pitchFamily="34" charset="-122"/>
                <a:cs typeface="Calibri" pitchFamily="34" charset="-120"/>
              </a:rPr>
              <a:t>Sebelum membaca kode, saya berperan sebagai assessor dan menjalankan alurnya dari awal.</a:t>
            </a:r>
            <a:endParaRPr lang="en-US" sz="1600" dirty="0"/>
          </a:p>
        </p:txBody>
      </p:sp>
      <p:sp>
        <p:nvSpPr>
          <p:cNvPr id="6" name="Shape 4"/>
          <p:cNvSpPr/>
          <p:nvPr/>
        </p:nvSpPr>
        <p:spPr>
          <a:xfrm>
            <a:off x="594360" y="1874520"/>
            <a:ext cx="420624" cy="420624"/>
          </a:xfrm>
          <a:prstGeom prst="ellipse">
            <a:avLst/>
          </a:prstGeom>
          <a:solidFill>
            <a:srgbClr val="0F766E"/>
          </a:solidFill>
          <a:ln w="12700">
            <a:solidFill>
              <a:srgbClr val="0F766E"/>
            </a:solidFill>
            <a:prstDash val="solid"/>
          </a:ln>
        </p:spPr>
      </p:sp>
      <p:sp>
        <p:nvSpPr>
          <p:cNvPr id="7" name="Text 5"/>
          <p:cNvSpPr txBox="1"/>
          <p:nvPr/>
        </p:nvSpPr>
        <p:spPr>
          <a:xfrm>
            <a:off x="594360" y="18745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txBox="1"/>
          <p:nvPr/>
        </p:nvSpPr>
        <p:spPr>
          <a:xfrm>
            <a:off x="1216152" y="1874520"/>
            <a:ext cx="4480560" cy="420624"/>
          </a:xfrm>
          <a:prstGeom prst="rect">
            <a:avLst/>
          </a:prstGeom>
          <a:noFill/>
          <a:ln/>
        </p:spPr>
        <p:txBody>
          <a:bodyPr wrap="square" lIns="0" tIns="0" rIns="0" bIns="0" rtlCol="0" anchor="ctr"/>
          <a:lstStyle/>
          <a:p>
            <a:pPr indent="0" marL="0">
              <a:buNone/>
            </a:pPr>
            <a:r>
              <a:rPr lang="en-US" sz="1550" dirty="0">
                <a:solidFill>
                  <a:srgbClr val="1F2933"/>
                </a:solidFill>
                <a:latin typeface="Calibri" pitchFamily="34" charset="0"/>
                <a:ea typeface="Calibri" pitchFamily="34" charset="-122"/>
                <a:cs typeface="Calibri" pitchFamily="34" charset="-120"/>
              </a:rPr>
              <a:t>Jalankan api/ dan web/ di lokal</a:t>
            </a:r>
            <a:endParaRPr lang="en-US" sz="1550" dirty="0"/>
          </a:p>
        </p:txBody>
      </p:sp>
      <p:sp>
        <p:nvSpPr>
          <p:cNvPr id="9" name="Shape 7"/>
          <p:cNvSpPr/>
          <p:nvPr/>
        </p:nvSpPr>
        <p:spPr>
          <a:xfrm>
            <a:off x="594360" y="2496312"/>
            <a:ext cx="420624" cy="420624"/>
          </a:xfrm>
          <a:prstGeom prst="ellipse">
            <a:avLst/>
          </a:prstGeom>
          <a:solidFill>
            <a:srgbClr val="0F766E"/>
          </a:solidFill>
          <a:ln w="12700">
            <a:solidFill>
              <a:srgbClr val="0F766E"/>
            </a:solidFill>
            <a:prstDash val="solid"/>
          </a:ln>
        </p:spPr>
      </p:sp>
      <p:sp>
        <p:nvSpPr>
          <p:cNvPr id="10" name="Text 8"/>
          <p:cNvSpPr txBox="1"/>
          <p:nvPr/>
        </p:nvSpPr>
        <p:spPr>
          <a:xfrm>
            <a:off x="594360" y="249631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9"/>
          <p:cNvSpPr txBox="1"/>
          <p:nvPr/>
        </p:nvSpPr>
        <p:spPr>
          <a:xfrm>
            <a:off x="1216152" y="2496312"/>
            <a:ext cx="4480560" cy="420624"/>
          </a:xfrm>
          <a:prstGeom prst="rect">
            <a:avLst/>
          </a:prstGeom>
          <a:noFill/>
          <a:ln/>
        </p:spPr>
        <p:txBody>
          <a:bodyPr wrap="square" lIns="0" tIns="0" rIns="0" bIns="0" rtlCol="0" anchor="ctr"/>
          <a:lstStyle/>
          <a:p>
            <a:pPr indent="0" marL="0">
              <a:buNone/>
            </a:pPr>
            <a:r>
              <a:rPr lang="en-US" sz="1550" dirty="0">
                <a:solidFill>
                  <a:srgbClr val="1F2933"/>
                </a:solidFill>
                <a:latin typeface="Calibri" pitchFamily="34" charset="0"/>
                <a:ea typeface="Calibri" pitchFamily="34" charset="-122"/>
                <a:cs typeface="Calibri" pitchFamily="34" charset="-120"/>
              </a:rPr>
              <a:t>Buat assessment dan tambahkan skill</a:t>
            </a:r>
            <a:endParaRPr lang="en-US" sz="1550" dirty="0"/>
          </a:p>
        </p:txBody>
      </p:sp>
      <p:sp>
        <p:nvSpPr>
          <p:cNvPr id="12" name="Shape 10"/>
          <p:cNvSpPr/>
          <p:nvPr/>
        </p:nvSpPr>
        <p:spPr>
          <a:xfrm>
            <a:off x="594360" y="3118104"/>
            <a:ext cx="420624" cy="420624"/>
          </a:xfrm>
          <a:prstGeom prst="ellipse">
            <a:avLst/>
          </a:prstGeom>
          <a:solidFill>
            <a:srgbClr val="0F766E"/>
          </a:solidFill>
          <a:ln w="12700">
            <a:solidFill>
              <a:srgbClr val="0F766E"/>
            </a:solidFill>
            <a:prstDash val="solid"/>
          </a:ln>
        </p:spPr>
      </p:sp>
      <p:sp>
        <p:nvSpPr>
          <p:cNvPr id="13" name="Text 11"/>
          <p:cNvSpPr txBox="1"/>
          <p:nvPr/>
        </p:nvSpPr>
        <p:spPr>
          <a:xfrm>
            <a:off x="594360" y="311810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4" name="Text 12"/>
          <p:cNvSpPr txBox="1"/>
          <p:nvPr/>
        </p:nvSpPr>
        <p:spPr>
          <a:xfrm>
            <a:off x="1216152" y="3118104"/>
            <a:ext cx="4480560" cy="420624"/>
          </a:xfrm>
          <a:prstGeom prst="rect">
            <a:avLst/>
          </a:prstGeom>
          <a:noFill/>
          <a:ln/>
        </p:spPr>
        <p:txBody>
          <a:bodyPr wrap="square" lIns="0" tIns="0" rIns="0" bIns="0" rtlCol="0" anchor="ctr"/>
          <a:lstStyle/>
          <a:p>
            <a:pPr indent="0" marL="0">
              <a:buNone/>
            </a:pPr>
            <a:r>
              <a:rPr lang="en-US" sz="1550" dirty="0">
                <a:solidFill>
                  <a:srgbClr val="1F2933"/>
                </a:solidFill>
                <a:latin typeface="Calibri" pitchFamily="34" charset="0"/>
                <a:ea typeface="Calibri" pitchFamily="34" charset="-122"/>
                <a:cs typeface="Calibri" pitchFamily="34" charset="-120"/>
              </a:rPr>
              <a:t>Undang kandidat, lihat hasilnya</a:t>
            </a:r>
            <a:endParaRPr lang="en-US" sz="1550" dirty="0"/>
          </a:p>
        </p:txBody>
      </p:sp>
      <p:sp>
        <p:nvSpPr>
          <p:cNvPr id="15" name="Shape 13"/>
          <p:cNvSpPr/>
          <p:nvPr/>
        </p:nvSpPr>
        <p:spPr>
          <a:xfrm>
            <a:off x="594360" y="3739896"/>
            <a:ext cx="420624" cy="420624"/>
          </a:xfrm>
          <a:prstGeom prst="ellipse">
            <a:avLst/>
          </a:prstGeom>
          <a:solidFill>
            <a:srgbClr val="0F766E"/>
          </a:solidFill>
          <a:ln w="12700">
            <a:solidFill>
              <a:srgbClr val="0F766E"/>
            </a:solidFill>
            <a:prstDash val="solid"/>
          </a:ln>
        </p:spPr>
      </p:sp>
      <p:sp>
        <p:nvSpPr>
          <p:cNvPr id="16" name="Text 14"/>
          <p:cNvSpPr txBox="1"/>
          <p:nvPr/>
        </p:nvSpPr>
        <p:spPr>
          <a:xfrm>
            <a:off x="594360" y="373989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7" name="Text 15"/>
          <p:cNvSpPr txBox="1"/>
          <p:nvPr/>
        </p:nvSpPr>
        <p:spPr>
          <a:xfrm>
            <a:off x="1216152" y="3739896"/>
            <a:ext cx="4480560" cy="420624"/>
          </a:xfrm>
          <a:prstGeom prst="rect">
            <a:avLst/>
          </a:prstGeom>
          <a:noFill/>
          <a:ln/>
        </p:spPr>
        <p:txBody>
          <a:bodyPr wrap="square" lIns="0" tIns="0" rIns="0" bIns="0" rtlCol="0" anchor="ctr"/>
          <a:lstStyle/>
          <a:p>
            <a:pPr indent="0" marL="0">
              <a:buNone/>
            </a:pPr>
            <a:r>
              <a:rPr lang="en-US" sz="1550" dirty="0">
                <a:solidFill>
                  <a:srgbClr val="1F2933"/>
                </a:solidFill>
                <a:latin typeface="Calibri" pitchFamily="34" charset="0"/>
                <a:ea typeface="Calibri" pitchFamily="34" charset="-122"/>
                <a:cs typeface="Calibri" pitchFamily="34" charset="-120"/>
              </a:rPr>
              <a:t>Buat dan edit vacancy</a:t>
            </a:r>
            <a:endParaRPr lang="en-US" sz="1550" dirty="0"/>
          </a:p>
        </p:txBody>
      </p:sp>
      <p:sp>
        <p:nvSpPr>
          <p:cNvPr id="18" name="Shape 16"/>
          <p:cNvSpPr/>
          <p:nvPr/>
        </p:nvSpPr>
        <p:spPr>
          <a:xfrm>
            <a:off x="594360" y="4361688"/>
            <a:ext cx="420624" cy="420624"/>
          </a:xfrm>
          <a:prstGeom prst="ellipse">
            <a:avLst/>
          </a:prstGeom>
          <a:solidFill>
            <a:srgbClr val="0F766E"/>
          </a:solidFill>
          <a:ln w="12700">
            <a:solidFill>
              <a:srgbClr val="0F766E"/>
            </a:solidFill>
            <a:prstDash val="solid"/>
          </a:ln>
        </p:spPr>
      </p:sp>
      <p:sp>
        <p:nvSpPr>
          <p:cNvPr id="19" name="Text 17"/>
          <p:cNvSpPr txBox="1"/>
          <p:nvPr/>
        </p:nvSpPr>
        <p:spPr>
          <a:xfrm>
            <a:off x="594360" y="436168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0" name="Text 18"/>
          <p:cNvSpPr txBox="1"/>
          <p:nvPr/>
        </p:nvSpPr>
        <p:spPr>
          <a:xfrm>
            <a:off x="1216152" y="4361688"/>
            <a:ext cx="4480560" cy="420624"/>
          </a:xfrm>
          <a:prstGeom prst="rect">
            <a:avLst/>
          </a:prstGeom>
          <a:noFill/>
          <a:ln/>
        </p:spPr>
        <p:txBody>
          <a:bodyPr wrap="square" lIns="0" tIns="0" rIns="0" bIns="0" rtlCol="0" anchor="ctr"/>
          <a:lstStyle/>
          <a:p>
            <a:pPr indent="0" marL="0">
              <a:buNone/>
            </a:pPr>
            <a:r>
              <a:rPr lang="en-US" sz="1550" dirty="0">
                <a:solidFill>
                  <a:srgbClr val="1F2933"/>
                </a:solidFill>
                <a:latin typeface="Calibri" pitchFamily="34" charset="0"/>
                <a:ea typeface="Calibri" pitchFamily="34" charset="-122"/>
                <a:cs typeface="Calibri" pitchFamily="34" charset="-120"/>
              </a:rPr>
              <a:t>Catat setiap hal yang mengganggu</a:t>
            </a:r>
            <a:endParaRPr lang="en-US" sz="1550" dirty="0"/>
          </a:p>
        </p:txBody>
      </p:sp>
      <p:sp>
        <p:nvSpPr>
          <p:cNvPr id="21" name="Shape 19"/>
          <p:cNvSpPr/>
          <p:nvPr/>
        </p:nvSpPr>
        <p:spPr>
          <a:xfrm>
            <a:off x="594360" y="5120640"/>
            <a:ext cx="4937760" cy="868680"/>
          </a:xfrm>
          <a:prstGeom prst="roundRect">
            <a:avLst>
              <a:gd name="adj" fmla="val 8421"/>
            </a:avLst>
          </a:prstGeom>
          <a:solidFill>
            <a:srgbClr val="E6F3F1"/>
          </a:solidFill>
          <a:ln w="9525">
            <a:solidFill>
              <a:srgbClr val="E6F3F1"/>
            </a:solidFill>
            <a:prstDash val="solid"/>
          </a:ln>
        </p:spPr>
      </p:sp>
      <p:sp>
        <p:nvSpPr>
          <p:cNvPr id="22" name="Text 20"/>
          <p:cNvSpPr txBox="1"/>
          <p:nvPr/>
        </p:nvSpPr>
        <p:spPr>
          <a:xfrm>
            <a:off x="822960" y="5212080"/>
            <a:ext cx="4526280" cy="685800"/>
          </a:xfrm>
          <a:prstGeom prst="rect">
            <a:avLst/>
          </a:prstGeom>
          <a:noFill/>
          <a:ln/>
        </p:spPr>
        <p:txBody>
          <a:bodyPr wrap="square" lIns="0" tIns="0" rIns="0" bIns="0" rtlCol="0" anchor="ctr"/>
          <a:lstStyle/>
          <a:p>
            <a:pPr indent="0" marL="0">
              <a:buNone/>
            </a:pPr>
            <a:r>
              <a:rPr lang="en-US" sz="1400" b="1" dirty="0">
                <a:solidFill>
                  <a:srgbClr val="0B5550"/>
                </a:solidFill>
                <a:latin typeface="Calibri" pitchFamily="34" charset="0"/>
                <a:ea typeface="Calibri" pitchFamily="34" charset="-122"/>
                <a:cs typeface="Calibri" pitchFamily="34" charset="-120"/>
              </a:rPr>
              <a:t>13 temuan</a:t>
            </a:r>
            <a:pPr indent="0" marL="0">
              <a:buNone/>
            </a:pPr>
            <a:r>
              <a:rPr lang="en-US" sz="1400" dirty="0">
                <a:solidFill>
                  <a:srgbClr val="1F2933"/>
                </a:solidFill>
                <a:latin typeface="Calibri" pitchFamily="34" charset="0"/>
                <a:ea typeface="Calibri" pitchFamily="34" charset="-122"/>
                <a:cs typeface="Calibri" pitchFamily="34" charset="-120"/>
              </a:rPr>
              <a:t> dari mencoba langsung, sebelum saya membuka satu file kode pun.</a:t>
            </a:r>
            <a:endParaRPr lang="en-US" sz="1400" dirty="0"/>
          </a:p>
        </p:txBody>
      </p:sp>
      <p:pic>
        <p:nvPicPr>
          <p:cNvPr id="23" name="Image 0" descr="img/qa_edit.png">    </p:cNvPr>
          <p:cNvPicPr>
            <a:picLocks noChangeAspect="1"/>
          </p:cNvPicPr>
          <p:nvPr/>
        </p:nvPicPr>
        <p:blipFill>
          <a:blip r:embed="rId1"/>
          <a:stretch>
            <a:fillRect/>
          </a:stretch>
        </p:blipFill>
        <p:spPr>
          <a:xfrm>
            <a:off x="6629400" y="1737360"/>
            <a:ext cx="4937760" cy="3888000"/>
          </a:xfrm>
          <a:prstGeom prst="rect">
            <a:avLst/>
          </a:prstGeom>
        </p:spPr>
      </p:pic>
      <p:sp>
        <p:nvSpPr>
          <p:cNvPr id="24" name="Shape 21"/>
          <p:cNvSpPr/>
          <p:nvPr/>
        </p:nvSpPr>
        <p:spPr>
          <a:xfrm>
            <a:off x="6629400" y="1737360"/>
            <a:ext cx="4937760" cy="3888000"/>
          </a:xfrm>
          <a:prstGeom prst="rect">
            <a:avLst/>
          </a:prstGeom>
          <a:ln w="9525">
            <a:solidFill>
              <a:srgbClr val="E2E7EB"/>
            </a:solidFill>
            <a:prstDash val="solid"/>
          </a:ln>
        </p:spPr>
      </p:sp>
      <p:sp>
        <p:nvSpPr>
          <p:cNvPr id="25" name="Text 22"/>
          <p:cNvSpPr txBox="1"/>
          <p:nvPr/>
        </p:nvSpPr>
        <p:spPr>
          <a:xfrm>
            <a:off x="6629400" y="5716800"/>
            <a:ext cx="4937760" cy="274320"/>
          </a:xfrm>
          <a:prstGeom prst="rect">
            <a:avLst/>
          </a:prstGeom>
          <a:noFill/>
          <a:ln/>
        </p:spPr>
        <p:txBody>
          <a:bodyPr wrap="square" lIns="0" tIns="0" rIns="0" bIns="0" rtlCol="0" anchor="ctr"/>
          <a:lstStyle/>
          <a:p>
            <a:pPr indent="0" marL="0">
              <a:buNone/>
            </a:pPr>
            <a:r>
              <a:rPr lang="en-US" sz="1100" i="1" dirty="0">
                <a:solidFill>
                  <a:srgbClr val="8B96A0"/>
                </a:solidFill>
                <a:latin typeface="Calibri" pitchFamily="34" charset="0"/>
                <a:ea typeface="Calibri" pitchFamily="34" charset="-122"/>
                <a:cs typeface="Calibri" pitchFamily="34" charset="-120"/>
              </a:rPr>
              <a:t>Halaman New Assessment di aplikasi</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00800"/>
            <a:ext cx="457200" cy="274320"/>
          </a:xfrm>
          <a:prstGeom prst="rect">
            <a:avLst/>
          </a:prstGeom>
          <a:noFill/>
          <a:ln/>
        </p:spPr>
        <p:txBody>
          <a:bodyPr wrap="square" lIns="0" tIns="0" rIns="0" bIns="0" rtlCol="0" anchor="ctr"/>
          <a:lstStyle/>
          <a:p>
            <a:pPr algn="r" indent="0" marL="0">
              <a:buNone/>
            </a:pPr>
            <a:r>
              <a:rPr lang="en-US" sz="1000" dirty="0">
                <a:solidFill>
                  <a:srgbClr val="8B96A0"/>
                </a:solidFill>
                <a:latin typeface="Calibri" pitchFamily="34" charset="0"/>
                <a:ea typeface="Calibri" pitchFamily="34" charset="-122"/>
                <a:cs typeface="Calibri" pitchFamily="34" charset="-120"/>
              </a:rPr>
              <a:t>4</a:t>
            </a:r>
            <a:endParaRPr lang="en-US" sz="1000" dirty="0"/>
          </a:p>
        </p:txBody>
      </p:sp>
      <p:sp>
        <p:nvSpPr>
          <p:cNvPr id="3" name="Text 1"/>
          <p:cNvSpPr txBox="1"/>
          <p:nvPr/>
        </p:nvSpPr>
        <p:spPr>
          <a:xfrm>
            <a:off x="594360" y="6400800"/>
            <a:ext cx="4572000" cy="274320"/>
          </a:xfrm>
          <a:prstGeom prst="rect">
            <a:avLst/>
          </a:prstGeom>
          <a:noFill/>
          <a:ln/>
        </p:spPr>
        <p:txBody>
          <a:bodyPr wrap="square" lIns="0" tIns="0" rIns="0" bIns="0" rtlCol="0" anchor="ctr"/>
          <a:lstStyle/>
          <a:p>
            <a:pPr indent="0" marL="0">
              <a:buNone/>
            </a:pPr>
            <a:r>
              <a:rPr lang="en-US" sz="1000" dirty="0">
                <a:solidFill>
                  <a:srgbClr val="8B96A0"/>
                </a:solidFill>
                <a:latin typeface="Calibri" pitchFamily="34" charset="0"/>
                <a:ea typeface="Calibri" pitchFamily="34" charset="-122"/>
                <a:cs typeface="Calibri" pitchFamily="34" charset="-120"/>
              </a:rPr>
              <a:t>Aulia Afriza  ·  Case Study Fullstack</a:t>
            </a:r>
            <a:endParaRPr lang="en-US" sz="1000" dirty="0"/>
          </a:p>
        </p:txBody>
      </p:sp>
      <p:sp>
        <p:nvSpPr>
          <p:cNvPr id="4" name="Text 2"/>
          <p:cNvSpPr txBox="1"/>
          <p:nvPr/>
        </p:nvSpPr>
        <p:spPr>
          <a:xfrm>
            <a:off x="594360" y="457200"/>
            <a:ext cx="11002975" cy="594360"/>
          </a:xfrm>
          <a:prstGeom prst="rect">
            <a:avLst/>
          </a:prstGeom>
          <a:noFill/>
          <a:ln/>
        </p:spPr>
        <p:txBody>
          <a:bodyPr wrap="square" lIns="0" tIns="0" rIns="0" bIns="0" rtlCol="0" anchor="t"/>
          <a:lstStyle/>
          <a:p>
            <a:pPr indent="0" marL="0">
              <a:buNone/>
            </a:pPr>
            <a:r>
              <a:rPr lang="en-US" sz="3000" b="1" dirty="0">
                <a:solidFill>
                  <a:srgbClr val="1F2933"/>
                </a:solidFill>
                <a:latin typeface="Calibri" pitchFamily="34" charset="0"/>
                <a:ea typeface="Calibri" pitchFamily="34" charset="-122"/>
                <a:cs typeface="Calibri" pitchFamily="34" charset="-120"/>
              </a:rPr>
              <a:t>Contoh: bahasa wawancara “hilang” setelah dipilih</a:t>
            </a:r>
            <a:endParaRPr lang="en-US" sz="3000" dirty="0"/>
          </a:p>
        </p:txBody>
      </p:sp>
      <p:sp>
        <p:nvSpPr>
          <p:cNvPr id="5" name="Text 3"/>
          <p:cNvSpPr txBox="1"/>
          <p:nvPr/>
        </p:nvSpPr>
        <p:spPr>
          <a:xfrm>
            <a:off x="594360" y="1051560"/>
            <a:ext cx="11002975" cy="411480"/>
          </a:xfrm>
          <a:prstGeom prst="rect">
            <a:avLst/>
          </a:prstGeom>
          <a:noFill/>
          <a:ln/>
        </p:spPr>
        <p:txBody>
          <a:bodyPr wrap="square" lIns="0" tIns="0" rIns="0" bIns="0" rtlCol="0" anchor="t"/>
          <a:lstStyle/>
          <a:p>
            <a:pPr indent="0" marL="0">
              <a:buNone/>
            </a:pPr>
            <a:r>
              <a:rPr lang="en-US" sz="1600" dirty="0">
                <a:solidFill>
                  <a:srgbClr val="5F6B76"/>
                </a:solidFill>
                <a:latin typeface="Calibri" pitchFamily="34" charset="0"/>
                <a:ea typeface="Calibri" pitchFamily="34" charset="-122"/>
                <a:cs typeface="Calibri" pitchFamily="34" charset="-120"/>
              </a:rPr>
              <a:t>Bahasa dipilih waktu membuat assessment, tapi tidak muncul lagi di mana pun.</a:t>
            </a:r>
            <a:endParaRPr lang="en-US" sz="1600" dirty="0"/>
          </a:p>
        </p:txBody>
      </p:sp>
      <p:pic>
        <p:nvPicPr>
          <p:cNvPr id="6" name="Image 0" descr="img/qa_create.png">    </p:cNvPr>
          <p:cNvPicPr>
            <a:picLocks noChangeAspect="1"/>
          </p:cNvPicPr>
          <p:nvPr/>
        </p:nvPicPr>
        <p:blipFill>
          <a:blip r:embed="rId1"/>
          <a:stretch>
            <a:fillRect/>
          </a:stretch>
        </p:blipFill>
        <p:spPr>
          <a:xfrm>
            <a:off x="594360" y="1783080"/>
            <a:ext cx="4160520" cy="2909455"/>
          </a:xfrm>
          <a:prstGeom prst="rect">
            <a:avLst/>
          </a:prstGeom>
        </p:spPr>
      </p:pic>
      <p:sp>
        <p:nvSpPr>
          <p:cNvPr id="7" name="Shape 4"/>
          <p:cNvSpPr/>
          <p:nvPr/>
        </p:nvSpPr>
        <p:spPr>
          <a:xfrm>
            <a:off x="594360" y="1783080"/>
            <a:ext cx="4160520" cy="2909455"/>
          </a:xfrm>
          <a:prstGeom prst="rect">
            <a:avLst/>
          </a:prstGeom>
          <a:ln w="9525">
            <a:solidFill>
              <a:srgbClr val="E2E7EB"/>
            </a:solidFill>
            <a:prstDash val="solid"/>
          </a:ln>
        </p:spPr>
      </p:sp>
      <p:sp>
        <p:nvSpPr>
          <p:cNvPr id="8" name="Text 5"/>
          <p:cNvSpPr txBox="1"/>
          <p:nvPr/>
        </p:nvSpPr>
        <p:spPr>
          <a:xfrm>
            <a:off x="594360" y="4783975"/>
            <a:ext cx="4160520" cy="274320"/>
          </a:xfrm>
          <a:prstGeom prst="rect">
            <a:avLst/>
          </a:prstGeom>
          <a:noFill/>
          <a:ln/>
        </p:spPr>
        <p:txBody>
          <a:bodyPr wrap="square" lIns="0" tIns="0" rIns="0" bIns="0" rtlCol="0" anchor="ctr"/>
          <a:lstStyle/>
          <a:p>
            <a:pPr indent="0" marL="0">
              <a:buNone/>
            </a:pPr>
            <a:r>
              <a:rPr lang="en-US" sz="1200" dirty="0">
                <a:solidFill>
                  <a:srgbClr val="5F6B76"/>
                </a:solidFill>
                <a:latin typeface="Calibri" pitchFamily="34" charset="0"/>
                <a:ea typeface="Calibri" pitchFamily="34" charset="-122"/>
                <a:cs typeface="Calibri" pitchFamily="34" charset="-120"/>
              </a:rPr>
              <a:t>Halaman Edit — tidak ada field bahasa</a:t>
            </a:r>
            <a:endParaRPr lang="en-US" sz="1200" dirty="0"/>
          </a:p>
        </p:txBody>
      </p:sp>
      <p:pic>
        <p:nvPicPr>
          <p:cNvPr id="9" name="Image 1" descr="img/qa_detail.png">    </p:cNvPr>
          <p:cNvPicPr>
            <a:picLocks noChangeAspect="1"/>
          </p:cNvPicPr>
          <p:nvPr/>
        </p:nvPicPr>
        <p:blipFill>
          <a:blip r:embed="rId2"/>
          <a:stretch>
            <a:fillRect/>
          </a:stretch>
        </p:blipFill>
        <p:spPr>
          <a:xfrm>
            <a:off x="5074920" y="1783080"/>
            <a:ext cx="5486400" cy="2612571"/>
          </a:xfrm>
          <a:prstGeom prst="rect">
            <a:avLst/>
          </a:prstGeom>
        </p:spPr>
      </p:pic>
      <p:sp>
        <p:nvSpPr>
          <p:cNvPr id="10" name="Shape 6"/>
          <p:cNvSpPr/>
          <p:nvPr/>
        </p:nvSpPr>
        <p:spPr>
          <a:xfrm>
            <a:off x="5074920" y="1783080"/>
            <a:ext cx="5486400" cy="2612571"/>
          </a:xfrm>
          <a:prstGeom prst="rect">
            <a:avLst/>
          </a:prstGeom>
          <a:ln w="9525">
            <a:solidFill>
              <a:srgbClr val="E2E7EB"/>
            </a:solidFill>
            <a:prstDash val="solid"/>
          </a:ln>
        </p:spPr>
      </p:sp>
      <p:sp>
        <p:nvSpPr>
          <p:cNvPr id="11" name="Text 7"/>
          <p:cNvSpPr txBox="1"/>
          <p:nvPr/>
        </p:nvSpPr>
        <p:spPr>
          <a:xfrm>
            <a:off x="5074920" y="4487091"/>
            <a:ext cx="6492240" cy="274320"/>
          </a:xfrm>
          <a:prstGeom prst="rect">
            <a:avLst/>
          </a:prstGeom>
          <a:noFill/>
          <a:ln/>
        </p:spPr>
        <p:txBody>
          <a:bodyPr wrap="square" lIns="0" tIns="0" rIns="0" bIns="0" rtlCol="0" anchor="ctr"/>
          <a:lstStyle/>
          <a:p>
            <a:pPr indent="0" marL="0">
              <a:buNone/>
            </a:pPr>
            <a:r>
              <a:rPr lang="en-US" sz="1200" dirty="0">
                <a:solidFill>
                  <a:srgbClr val="5F6B76"/>
                </a:solidFill>
                <a:latin typeface="Calibri" pitchFamily="34" charset="0"/>
                <a:ea typeface="Calibri" pitchFamily="34" charset="-122"/>
                <a:cs typeface="Calibri" pitchFamily="34" charset="-120"/>
              </a:rPr>
              <a:t>Halaman Detail — bahasanya juga tidak ditampilkan</a:t>
            </a:r>
            <a:endParaRPr lang="en-US" sz="1200" dirty="0"/>
          </a:p>
        </p:txBody>
      </p:sp>
      <p:sp>
        <p:nvSpPr>
          <p:cNvPr id="12" name="Shape 8"/>
          <p:cNvSpPr/>
          <p:nvPr/>
        </p:nvSpPr>
        <p:spPr>
          <a:xfrm>
            <a:off x="5074920" y="4892040"/>
            <a:ext cx="6519672" cy="1143000"/>
          </a:xfrm>
          <a:prstGeom prst="roundRect">
            <a:avLst>
              <a:gd name="adj" fmla="val 6400"/>
            </a:avLst>
          </a:prstGeom>
          <a:solidFill>
            <a:srgbClr val="FCEDE8"/>
          </a:solidFill>
          <a:ln w="9525">
            <a:solidFill>
              <a:srgbClr val="FCEDE8"/>
            </a:solidFill>
            <a:prstDash val="solid"/>
          </a:ln>
        </p:spPr>
      </p:sp>
      <p:sp>
        <p:nvSpPr>
          <p:cNvPr id="13" name="Text 9"/>
          <p:cNvSpPr txBox="1"/>
          <p:nvPr/>
        </p:nvSpPr>
        <p:spPr>
          <a:xfrm>
            <a:off x="5303520" y="4956048"/>
            <a:ext cx="6080760" cy="1005840"/>
          </a:xfrm>
          <a:prstGeom prst="rect">
            <a:avLst/>
          </a:prstGeom>
          <a:noFill/>
          <a:ln/>
        </p:spPr>
        <p:txBody>
          <a:bodyPr wrap="square" lIns="0" tIns="0" rIns="0" bIns="0" rtlCol="0" anchor="ctr"/>
          <a:lstStyle/>
          <a:p>
            <a:pPr indent="0" marL="0">
              <a:lnSpc>
                <a:spcPts val="1800"/>
              </a:lnSpc>
              <a:buNone/>
            </a:pPr>
            <a:r>
              <a:rPr lang="en-US" sz="1250" b="1" dirty="0">
                <a:solidFill>
                  <a:srgbClr val="C8553D"/>
                </a:solidFill>
                <a:latin typeface="Calibri" pitchFamily="34" charset="0"/>
                <a:ea typeface="Calibri" pitchFamily="34" charset="-122"/>
                <a:cs typeface="Calibri" pitchFamily="34" charset="-120"/>
              </a:rPr>
              <a:t>Kenapa ini bukan sekadar tampilan: </a:t>
            </a:r>
            <a:pPr indent="0" marL="0">
              <a:lnSpc>
                <a:spcPts val="1800"/>
              </a:lnSpc>
              <a:buNone/>
            </a:pPr>
            <a:r>
              <a:rPr lang="en-US" sz="1250" dirty="0">
                <a:solidFill>
                  <a:srgbClr val="1F2933"/>
                </a:solidFill>
                <a:latin typeface="Calibri" pitchFamily="34" charset="0"/>
                <a:ea typeface="Calibri" pitchFamily="34" charset="-122"/>
                <a:cs typeface="Calibri" pitchFamily="34" charset="-120"/>
              </a:rPr>
              <a:t>waktu saya cek kodenya, form Edit juga tidak mengirim bahasa kembali. Jadi setiap kali assessment diedit, bahasanya bisa ter-reset ke default — dan yang pertama tahu adalah kandidatnya, di tengah wawancara.</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00800"/>
            <a:ext cx="457200" cy="274320"/>
          </a:xfrm>
          <a:prstGeom prst="rect">
            <a:avLst/>
          </a:prstGeom>
          <a:noFill/>
          <a:ln/>
        </p:spPr>
        <p:txBody>
          <a:bodyPr wrap="square" lIns="0" tIns="0" rIns="0" bIns="0" rtlCol="0" anchor="ctr"/>
          <a:lstStyle/>
          <a:p>
            <a:pPr algn="r" indent="0" marL="0">
              <a:buNone/>
            </a:pPr>
            <a:r>
              <a:rPr lang="en-US" sz="1000" dirty="0">
                <a:solidFill>
                  <a:srgbClr val="8B96A0"/>
                </a:solidFill>
                <a:latin typeface="Calibri" pitchFamily="34" charset="0"/>
                <a:ea typeface="Calibri" pitchFamily="34" charset="-122"/>
                <a:cs typeface="Calibri" pitchFamily="34" charset="-120"/>
              </a:rPr>
              <a:t>5</a:t>
            </a:r>
            <a:endParaRPr lang="en-US" sz="1000" dirty="0"/>
          </a:p>
        </p:txBody>
      </p:sp>
      <p:sp>
        <p:nvSpPr>
          <p:cNvPr id="3" name="Text 1"/>
          <p:cNvSpPr txBox="1"/>
          <p:nvPr/>
        </p:nvSpPr>
        <p:spPr>
          <a:xfrm>
            <a:off x="594360" y="6400800"/>
            <a:ext cx="4572000" cy="274320"/>
          </a:xfrm>
          <a:prstGeom prst="rect">
            <a:avLst/>
          </a:prstGeom>
          <a:noFill/>
          <a:ln/>
        </p:spPr>
        <p:txBody>
          <a:bodyPr wrap="square" lIns="0" tIns="0" rIns="0" bIns="0" rtlCol="0" anchor="ctr"/>
          <a:lstStyle/>
          <a:p>
            <a:pPr indent="0" marL="0">
              <a:buNone/>
            </a:pPr>
            <a:r>
              <a:rPr lang="en-US" sz="1000" dirty="0">
                <a:solidFill>
                  <a:srgbClr val="8B96A0"/>
                </a:solidFill>
                <a:latin typeface="Calibri" pitchFamily="34" charset="0"/>
                <a:ea typeface="Calibri" pitchFamily="34" charset="-122"/>
                <a:cs typeface="Calibri" pitchFamily="34" charset="-120"/>
              </a:rPr>
              <a:t>Aulia Afriza  ·  Case Study Fullstack</a:t>
            </a:r>
            <a:endParaRPr lang="en-US" sz="1000" dirty="0"/>
          </a:p>
        </p:txBody>
      </p:sp>
      <p:sp>
        <p:nvSpPr>
          <p:cNvPr id="4" name="Text 2"/>
          <p:cNvSpPr txBox="1"/>
          <p:nvPr/>
        </p:nvSpPr>
        <p:spPr>
          <a:xfrm>
            <a:off x="594360" y="457200"/>
            <a:ext cx="11002975" cy="594360"/>
          </a:xfrm>
          <a:prstGeom prst="rect">
            <a:avLst/>
          </a:prstGeom>
          <a:noFill/>
          <a:ln/>
        </p:spPr>
        <p:txBody>
          <a:bodyPr wrap="square" lIns="0" tIns="0" rIns="0" bIns="0" rtlCol="0" anchor="t"/>
          <a:lstStyle/>
          <a:p>
            <a:pPr indent="0" marL="0">
              <a:buNone/>
            </a:pPr>
            <a:r>
              <a:rPr lang="en-US" sz="3000" b="1" dirty="0">
                <a:solidFill>
                  <a:srgbClr val="1F2933"/>
                </a:solidFill>
                <a:latin typeface="Calibri" pitchFamily="34" charset="0"/>
                <a:ea typeface="Calibri" pitchFamily="34" charset="-122"/>
                <a:cs typeface="Calibri" pitchFamily="34" charset="-120"/>
              </a:rPr>
              <a:t>Lalu saya baca kodenya</a:t>
            </a:r>
            <a:endParaRPr lang="en-US" sz="3000" dirty="0"/>
          </a:p>
        </p:txBody>
      </p:sp>
      <p:sp>
        <p:nvSpPr>
          <p:cNvPr id="5" name="Text 3"/>
          <p:cNvSpPr txBox="1"/>
          <p:nvPr/>
        </p:nvSpPr>
        <p:spPr>
          <a:xfrm>
            <a:off x="594360" y="1051560"/>
            <a:ext cx="11002975" cy="411480"/>
          </a:xfrm>
          <a:prstGeom prst="rect">
            <a:avLst/>
          </a:prstGeom>
          <a:noFill/>
          <a:ln/>
        </p:spPr>
        <p:txBody>
          <a:bodyPr wrap="square" lIns="0" tIns="0" rIns="0" bIns="0" rtlCol="0" anchor="t"/>
          <a:lstStyle/>
          <a:p>
            <a:pPr indent="0" marL="0">
              <a:buNone/>
            </a:pPr>
            <a:r>
              <a:rPr lang="en-US" sz="1600" dirty="0">
                <a:solidFill>
                  <a:srgbClr val="5F6B76"/>
                </a:solidFill>
                <a:latin typeface="Calibri" pitchFamily="34" charset="0"/>
                <a:ea typeface="Calibri" pitchFamily="34" charset="-122"/>
                <a:cs typeface="Calibri" pitchFamily="34" charset="-120"/>
              </a:rPr>
              <a:t>Dua service, api/ (Rails) dan web/ (React). Setiap temuan saya catat dengan file dan nomor barisnya.</a:t>
            </a:r>
            <a:endParaRPr lang="en-US" sz="1600" dirty="0"/>
          </a:p>
        </p:txBody>
      </p:sp>
      <p:sp>
        <p:nvSpPr>
          <p:cNvPr id="6" name="Shape 4"/>
          <p:cNvSpPr/>
          <p:nvPr/>
        </p:nvSpPr>
        <p:spPr>
          <a:xfrm>
            <a:off x="594360" y="1783080"/>
            <a:ext cx="3484778" cy="1234440"/>
          </a:xfrm>
          <a:prstGeom prst="roundRect">
            <a:avLst>
              <a:gd name="adj" fmla="val 5926"/>
            </a:avLst>
          </a:prstGeom>
          <a:solidFill>
            <a:srgbClr val="E6F3F1"/>
          </a:solidFill>
          <a:ln w="9525">
            <a:solidFill>
              <a:srgbClr val="E6F3F1"/>
            </a:solidFill>
            <a:prstDash val="solid"/>
          </a:ln>
        </p:spPr>
      </p:sp>
      <p:sp>
        <p:nvSpPr>
          <p:cNvPr id="7" name="Text 5"/>
          <p:cNvSpPr txBox="1"/>
          <p:nvPr/>
        </p:nvSpPr>
        <p:spPr>
          <a:xfrm>
            <a:off x="868680" y="1874520"/>
            <a:ext cx="2936138" cy="640080"/>
          </a:xfrm>
          <a:prstGeom prst="rect">
            <a:avLst/>
          </a:prstGeom>
          <a:noFill/>
          <a:ln/>
        </p:spPr>
        <p:txBody>
          <a:bodyPr wrap="square" lIns="0" tIns="0" rIns="0" bIns="0" rtlCol="0" anchor="ctr"/>
          <a:lstStyle/>
          <a:p>
            <a:pPr indent="0" marL="0">
              <a:buNone/>
            </a:pPr>
            <a:r>
              <a:rPr lang="en-US" sz="3800" b="1" dirty="0">
                <a:solidFill>
                  <a:srgbClr val="0B5550"/>
                </a:solidFill>
                <a:latin typeface="Calibri" pitchFamily="34" charset="0"/>
                <a:ea typeface="Calibri" pitchFamily="34" charset="-122"/>
                <a:cs typeface="Calibri" pitchFamily="34" charset="-120"/>
              </a:rPr>
              <a:t>77</a:t>
            </a:r>
            <a:endParaRPr lang="en-US" sz="3800" dirty="0"/>
          </a:p>
        </p:txBody>
      </p:sp>
      <p:sp>
        <p:nvSpPr>
          <p:cNvPr id="8" name="Text 6"/>
          <p:cNvSpPr txBox="1"/>
          <p:nvPr/>
        </p:nvSpPr>
        <p:spPr>
          <a:xfrm>
            <a:off x="868680" y="2514600"/>
            <a:ext cx="2936138" cy="36576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temuan total</a:t>
            </a:r>
            <a:endParaRPr lang="en-US" sz="1400" dirty="0"/>
          </a:p>
        </p:txBody>
      </p:sp>
      <p:sp>
        <p:nvSpPr>
          <p:cNvPr id="9" name="Shape 7"/>
          <p:cNvSpPr/>
          <p:nvPr/>
        </p:nvSpPr>
        <p:spPr>
          <a:xfrm>
            <a:off x="4353458" y="1783080"/>
            <a:ext cx="3484778" cy="1234440"/>
          </a:xfrm>
          <a:prstGeom prst="roundRect">
            <a:avLst>
              <a:gd name="adj" fmla="val 5926"/>
            </a:avLst>
          </a:prstGeom>
          <a:solidFill>
            <a:srgbClr val="E6F3F1"/>
          </a:solidFill>
          <a:ln w="9525">
            <a:solidFill>
              <a:srgbClr val="E6F3F1"/>
            </a:solidFill>
            <a:prstDash val="solid"/>
          </a:ln>
        </p:spPr>
      </p:sp>
      <p:sp>
        <p:nvSpPr>
          <p:cNvPr id="10" name="Text 8"/>
          <p:cNvSpPr txBox="1"/>
          <p:nvPr/>
        </p:nvSpPr>
        <p:spPr>
          <a:xfrm>
            <a:off x="4627778" y="1874520"/>
            <a:ext cx="2936138" cy="640080"/>
          </a:xfrm>
          <a:prstGeom prst="rect">
            <a:avLst/>
          </a:prstGeom>
          <a:noFill/>
          <a:ln/>
        </p:spPr>
        <p:txBody>
          <a:bodyPr wrap="square" lIns="0" tIns="0" rIns="0" bIns="0" rtlCol="0" anchor="ctr"/>
          <a:lstStyle/>
          <a:p>
            <a:pPr indent="0" marL="0">
              <a:buNone/>
            </a:pPr>
            <a:r>
              <a:rPr lang="en-US" sz="3800" b="1" dirty="0">
                <a:solidFill>
                  <a:srgbClr val="0B5550"/>
                </a:solidFill>
                <a:latin typeface="Calibri" pitchFamily="34" charset="0"/>
                <a:ea typeface="Calibri" pitchFamily="34" charset="-122"/>
                <a:cs typeface="Calibri" pitchFamily="34" charset="-120"/>
              </a:rPr>
              <a:t>44 / 33</a:t>
            </a:r>
            <a:endParaRPr lang="en-US" sz="3800" dirty="0"/>
          </a:p>
        </p:txBody>
      </p:sp>
      <p:sp>
        <p:nvSpPr>
          <p:cNvPr id="11" name="Text 9"/>
          <p:cNvSpPr txBox="1"/>
          <p:nvPr/>
        </p:nvSpPr>
        <p:spPr>
          <a:xfrm>
            <a:off x="4627778" y="2514600"/>
            <a:ext cx="2936138" cy="36576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backend / frontend</a:t>
            </a:r>
            <a:endParaRPr lang="en-US" sz="1400" dirty="0"/>
          </a:p>
        </p:txBody>
      </p:sp>
      <p:sp>
        <p:nvSpPr>
          <p:cNvPr id="12" name="Shape 10"/>
          <p:cNvSpPr/>
          <p:nvPr/>
        </p:nvSpPr>
        <p:spPr>
          <a:xfrm>
            <a:off x="8112557" y="1783080"/>
            <a:ext cx="3484778" cy="1234440"/>
          </a:xfrm>
          <a:prstGeom prst="roundRect">
            <a:avLst>
              <a:gd name="adj" fmla="val 5926"/>
            </a:avLst>
          </a:prstGeom>
          <a:solidFill>
            <a:srgbClr val="E6F3F1"/>
          </a:solidFill>
          <a:ln w="9525">
            <a:solidFill>
              <a:srgbClr val="E6F3F1"/>
            </a:solidFill>
            <a:prstDash val="solid"/>
          </a:ln>
        </p:spPr>
      </p:sp>
      <p:sp>
        <p:nvSpPr>
          <p:cNvPr id="13" name="Text 11"/>
          <p:cNvSpPr txBox="1"/>
          <p:nvPr/>
        </p:nvSpPr>
        <p:spPr>
          <a:xfrm>
            <a:off x="8386877" y="1874520"/>
            <a:ext cx="2936138" cy="640080"/>
          </a:xfrm>
          <a:prstGeom prst="rect">
            <a:avLst/>
          </a:prstGeom>
          <a:noFill/>
          <a:ln/>
        </p:spPr>
        <p:txBody>
          <a:bodyPr wrap="square" lIns="0" tIns="0" rIns="0" bIns="0" rtlCol="0" anchor="ctr"/>
          <a:lstStyle/>
          <a:p>
            <a:pPr indent="0" marL="0">
              <a:buNone/>
            </a:pPr>
            <a:r>
              <a:rPr lang="en-US" sz="3800" b="1" dirty="0">
                <a:solidFill>
                  <a:srgbClr val="0B5550"/>
                </a:solidFill>
                <a:latin typeface="Calibri" pitchFamily="34" charset="0"/>
                <a:ea typeface="Calibri" pitchFamily="34" charset="-122"/>
                <a:cs typeface="Calibri" pitchFamily="34" charset="-120"/>
              </a:rPr>
              <a:t>7</a:t>
            </a:r>
            <a:endParaRPr lang="en-US" sz="3800" dirty="0"/>
          </a:p>
        </p:txBody>
      </p:sp>
      <p:sp>
        <p:nvSpPr>
          <p:cNvPr id="14" name="Text 12"/>
          <p:cNvSpPr txBox="1"/>
          <p:nvPr/>
        </p:nvSpPr>
        <p:spPr>
          <a:xfrm>
            <a:off x="8386877" y="2514600"/>
            <a:ext cx="2936138" cy="36576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tergolong P0 (paling berat)</a:t>
            </a:r>
            <a:endParaRPr lang="en-US" sz="1400" dirty="0"/>
          </a:p>
        </p:txBody>
      </p:sp>
      <p:sp>
        <p:nvSpPr>
          <p:cNvPr id="15" name="Text 13"/>
          <p:cNvSpPr txBox="1"/>
          <p:nvPr/>
        </p:nvSpPr>
        <p:spPr>
          <a:xfrm>
            <a:off x="594360" y="3291840"/>
            <a:ext cx="11002975" cy="365760"/>
          </a:xfrm>
          <a:prstGeom prst="rect">
            <a:avLst/>
          </a:prstGeom>
          <a:noFill/>
          <a:ln/>
        </p:spPr>
        <p:txBody>
          <a:bodyPr wrap="square" lIns="0" tIns="0" rIns="0" bIns="0" rtlCol="0" anchor="ctr"/>
          <a:lstStyle/>
          <a:p>
            <a:pPr indent="0" marL="0">
              <a:buNone/>
            </a:pPr>
            <a:r>
              <a:rPr lang="en-US" sz="1550" dirty="0">
                <a:solidFill>
                  <a:srgbClr val="1F2933"/>
                </a:solidFill>
                <a:latin typeface="Calibri" pitchFamily="34" charset="0"/>
                <a:ea typeface="Calibri" pitchFamily="34" charset="-122"/>
                <a:cs typeface="Calibri" pitchFamily="34" charset="-120"/>
              </a:rPr>
              <a:t>Setelah dikelompokkan, kebanyakan masalahnya ternyata punya pola yang sama:</a:t>
            </a:r>
            <a:endParaRPr lang="en-US" sz="1550" dirty="0"/>
          </a:p>
        </p:txBody>
      </p:sp>
      <p:sp>
        <p:nvSpPr>
          <p:cNvPr id="16" name="Shape 14"/>
          <p:cNvSpPr/>
          <p:nvPr/>
        </p:nvSpPr>
        <p:spPr>
          <a:xfrm>
            <a:off x="594360" y="3794760"/>
            <a:ext cx="3484778" cy="1783080"/>
          </a:xfrm>
          <a:prstGeom prst="roundRect">
            <a:avLst>
              <a:gd name="adj" fmla="val 4103"/>
            </a:avLst>
          </a:prstGeom>
          <a:solidFill>
            <a:srgbClr val="F5F7F8"/>
          </a:solidFill>
          <a:ln w="9525">
            <a:solidFill>
              <a:srgbClr val="E2E7EB"/>
            </a:solidFill>
            <a:prstDash val="solid"/>
          </a:ln>
        </p:spPr>
      </p:sp>
      <p:sp>
        <p:nvSpPr>
          <p:cNvPr id="17" name="Text 15"/>
          <p:cNvSpPr txBox="1"/>
          <p:nvPr/>
        </p:nvSpPr>
        <p:spPr>
          <a:xfrm>
            <a:off x="868680" y="3977640"/>
            <a:ext cx="2936138" cy="365760"/>
          </a:xfrm>
          <a:prstGeom prst="rect">
            <a:avLst/>
          </a:prstGeom>
          <a:noFill/>
          <a:ln/>
        </p:spPr>
        <p:txBody>
          <a:bodyPr wrap="square" lIns="0" tIns="0" rIns="0" bIns="0" rtlCol="0" anchor="ctr"/>
          <a:lstStyle/>
          <a:p>
            <a:pPr indent="0" marL="0">
              <a:buNone/>
            </a:pPr>
            <a:r>
              <a:rPr lang="en-US" sz="1600" b="1" dirty="0">
                <a:solidFill>
                  <a:srgbClr val="1F2933"/>
                </a:solidFill>
                <a:latin typeface="Calibri" pitchFamily="34" charset="0"/>
                <a:ea typeface="Calibri" pitchFamily="34" charset="-122"/>
                <a:cs typeface="Calibri" pitchFamily="34" charset="-120"/>
              </a:rPr>
              <a:t>Gagal diam-diam</a:t>
            </a:r>
            <a:endParaRPr lang="en-US" sz="1600" dirty="0"/>
          </a:p>
        </p:txBody>
      </p:sp>
      <p:sp>
        <p:nvSpPr>
          <p:cNvPr id="18" name="Text 16"/>
          <p:cNvSpPr txBox="1"/>
          <p:nvPr/>
        </p:nvSpPr>
        <p:spPr>
          <a:xfrm>
            <a:off x="868680" y="4389120"/>
            <a:ext cx="2936138" cy="1005840"/>
          </a:xfrm>
          <a:prstGeom prst="rect">
            <a:avLst/>
          </a:prstGeom>
          <a:noFill/>
          <a:ln/>
        </p:spPr>
        <p:txBody>
          <a:bodyPr wrap="square" lIns="0" tIns="0" rIns="0" bIns="0" rtlCol="0" anchor="t"/>
          <a:lstStyle/>
          <a:p>
            <a:pPr indent="0" marL="0">
              <a:lnSpc>
                <a:spcPts val="1800"/>
              </a:lnSpc>
              <a:buNone/>
            </a:pPr>
            <a:r>
              <a:rPr lang="en-US" sz="1350" dirty="0">
                <a:solidFill>
                  <a:srgbClr val="5F6B76"/>
                </a:solidFill>
                <a:latin typeface="Calibri" pitchFamily="34" charset="0"/>
                <a:ea typeface="Calibri" pitchFamily="34" charset="-122"/>
                <a:cs typeface="Calibri" pitchFamily="34" charset="-120"/>
              </a:rPr>
              <a:t>Error ditelan, tidak ada yang tahu ada yang salah.</a:t>
            </a:r>
            <a:endParaRPr lang="en-US" sz="1350" dirty="0"/>
          </a:p>
        </p:txBody>
      </p:sp>
      <p:sp>
        <p:nvSpPr>
          <p:cNvPr id="19" name="Shape 17"/>
          <p:cNvSpPr/>
          <p:nvPr/>
        </p:nvSpPr>
        <p:spPr>
          <a:xfrm>
            <a:off x="4353458" y="3794760"/>
            <a:ext cx="3484778" cy="1783080"/>
          </a:xfrm>
          <a:prstGeom prst="roundRect">
            <a:avLst>
              <a:gd name="adj" fmla="val 4103"/>
            </a:avLst>
          </a:prstGeom>
          <a:solidFill>
            <a:srgbClr val="F5F7F8"/>
          </a:solidFill>
          <a:ln w="9525">
            <a:solidFill>
              <a:srgbClr val="E2E7EB"/>
            </a:solidFill>
            <a:prstDash val="solid"/>
          </a:ln>
        </p:spPr>
      </p:sp>
      <p:sp>
        <p:nvSpPr>
          <p:cNvPr id="20" name="Text 18"/>
          <p:cNvSpPr txBox="1"/>
          <p:nvPr/>
        </p:nvSpPr>
        <p:spPr>
          <a:xfrm>
            <a:off x="4627778" y="3977640"/>
            <a:ext cx="2936138" cy="365760"/>
          </a:xfrm>
          <a:prstGeom prst="rect">
            <a:avLst/>
          </a:prstGeom>
          <a:noFill/>
          <a:ln/>
        </p:spPr>
        <p:txBody>
          <a:bodyPr wrap="square" lIns="0" tIns="0" rIns="0" bIns="0" rtlCol="0" anchor="ctr"/>
          <a:lstStyle/>
          <a:p>
            <a:pPr indent="0" marL="0">
              <a:buNone/>
            </a:pPr>
            <a:r>
              <a:rPr lang="en-US" sz="1600" b="1" dirty="0">
                <a:solidFill>
                  <a:srgbClr val="1F2933"/>
                </a:solidFill>
                <a:latin typeface="Calibri" pitchFamily="34" charset="0"/>
                <a:ea typeface="Calibri" pitchFamily="34" charset="-122"/>
                <a:cs typeface="Calibri" pitchFamily="34" charset="-120"/>
              </a:rPr>
              <a:t>Sudah dibuat, tapi tidak dipakai</a:t>
            </a:r>
            <a:endParaRPr lang="en-US" sz="1600" dirty="0"/>
          </a:p>
        </p:txBody>
      </p:sp>
      <p:sp>
        <p:nvSpPr>
          <p:cNvPr id="21" name="Text 19"/>
          <p:cNvSpPr txBox="1"/>
          <p:nvPr/>
        </p:nvSpPr>
        <p:spPr>
          <a:xfrm>
            <a:off x="4627778" y="4389120"/>
            <a:ext cx="2936138" cy="1005840"/>
          </a:xfrm>
          <a:prstGeom prst="rect">
            <a:avLst/>
          </a:prstGeom>
          <a:noFill/>
          <a:ln/>
        </p:spPr>
        <p:txBody>
          <a:bodyPr wrap="square" lIns="0" tIns="0" rIns="0" bIns="0" rtlCol="0" anchor="t"/>
          <a:lstStyle/>
          <a:p>
            <a:pPr indent="0" marL="0">
              <a:lnSpc>
                <a:spcPts val="1800"/>
              </a:lnSpc>
              <a:buNone/>
            </a:pPr>
            <a:r>
              <a:rPr lang="en-US" sz="1350" dirty="0">
                <a:solidFill>
                  <a:srgbClr val="5F6B76"/>
                </a:solidFill>
                <a:latin typeface="Calibri" pitchFamily="34" charset="0"/>
                <a:ea typeface="Calibri" pitchFamily="34" charset="-122"/>
                <a:cs typeface="Calibri" pitchFamily="34" charset="-120"/>
              </a:rPr>
              <a:t>Data atau fitur sudah ada, tapi tidak pernah disambungkan ke layar.</a:t>
            </a:r>
            <a:endParaRPr lang="en-US" sz="1350" dirty="0"/>
          </a:p>
        </p:txBody>
      </p:sp>
      <p:sp>
        <p:nvSpPr>
          <p:cNvPr id="22" name="Shape 20"/>
          <p:cNvSpPr/>
          <p:nvPr/>
        </p:nvSpPr>
        <p:spPr>
          <a:xfrm>
            <a:off x="8112557" y="3794760"/>
            <a:ext cx="3484778" cy="1783080"/>
          </a:xfrm>
          <a:prstGeom prst="roundRect">
            <a:avLst>
              <a:gd name="adj" fmla="val 4103"/>
            </a:avLst>
          </a:prstGeom>
          <a:solidFill>
            <a:srgbClr val="F5F7F8"/>
          </a:solidFill>
          <a:ln w="9525">
            <a:solidFill>
              <a:srgbClr val="E2E7EB"/>
            </a:solidFill>
            <a:prstDash val="solid"/>
          </a:ln>
        </p:spPr>
      </p:sp>
      <p:sp>
        <p:nvSpPr>
          <p:cNvPr id="23" name="Text 21"/>
          <p:cNvSpPr txBox="1"/>
          <p:nvPr/>
        </p:nvSpPr>
        <p:spPr>
          <a:xfrm>
            <a:off x="8386877" y="3977640"/>
            <a:ext cx="2936138" cy="365760"/>
          </a:xfrm>
          <a:prstGeom prst="rect">
            <a:avLst/>
          </a:prstGeom>
          <a:noFill/>
          <a:ln/>
        </p:spPr>
        <p:txBody>
          <a:bodyPr wrap="square" lIns="0" tIns="0" rIns="0" bIns="0" rtlCol="0" anchor="ctr"/>
          <a:lstStyle/>
          <a:p>
            <a:pPr indent="0" marL="0">
              <a:buNone/>
            </a:pPr>
            <a:r>
              <a:rPr lang="en-US" sz="1600" b="1" dirty="0">
                <a:solidFill>
                  <a:srgbClr val="1F2933"/>
                </a:solidFill>
                <a:latin typeface="Calibri" pitchFamily="34" charset="0"/>
                <a:ea typeface="Calibri" pitchFamily="34" charset="-122"/>
                <a:cs typeface="Calibri" pitchFamily="34" charset="-120"/>
              </a:rPr>
              <a:t>Default yang merugikan</a:t>
            </a:r>
            <a:endParaRPr lang="en-US" sz="1600" dirty="0"/>
          </a:p>
        </p:txBody>
      </p:sp>
      <p:sp>
        <p:nvSpPr>
          <p:cNvPr id="24" name="Text 22"/>
          <p:cNvSpPr txBox="1"/>
          <p:nvPr/>
        </p:nvSpPr>
        <p:spPr>
          <a:xfrm>
            <a:off x="8386877" y="4389120"/>
            <a:ext cx="2936138" cy="1005840"/>
          </a:xfrm>
          <a:prstGeom prst="rect">
            <a:avLst/>
          </a:prstGeom>
          <a:noFill/>
          <a:ln/>
        </p:spPr>
        <p:txBody>
          <a:bodyPr wrap="square" lIns="0" tIns="0" rIns="0" bIns="0" rtlCol="0" anchor="t"/>
          <a:lstStyle/>
          <a:p>
            <a:pPr indent="0" marL="0">
              <a:lnSpc>
                <a:spcPts val="1800"/>
              </a:lnSpc>
              <a:buNone/>
            </a:pPr>
            <a:r>
              <a:rPr lang="en-US" sz="1350" dirty="0">
                <a:solidFill>
                  <a:srgbClr val="5F6B76"/>
                </a:solidFill>
                <a:latin typeface="Calibri" pitchFamily="34" charset="0"/>
                <a:ea typeface="Calibri" pitchFamily="34" charset="-122"/>
                <a:cs typeface="Calibri" pitchFamily="34" charset="-120"/>
              </a:rPr>
              <a:t>Kalau data kosong, sistem memilih nilai terburuk — misalnya level L1.</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00800"/>
            <a:ext cx="457200" cy="274320"/>
          </a:xfrm>
          <a:prstGeom prst="rect">
            <a:avLst/>
          </a:prstGeom>
          <a:noFill/>
          <a:ln/>
        </p:spPr>
        <p:txBody>
          <a:bodyPr wrap="square" lIns="0" tIns="0" rIns="0" bIns="0" rtlCol="0" anchor="ctr"/>
          <a:lstStyle/>
          <a:p>
            <a:pPr algn="r" indent="0" marL="0">
              <a:buNone/>
            </a:pPr>
            <a:r>
              <a:rPr lang="en-US" sz="1000" dirty="0">
                <a:solidFill>
                  <a:srgbClr val="8B96A0"/>
                </a:solidFill>
                <a:latin typeface="Calibri" pitchFamily="34" charset="0"/>
                <a:ea typeface="Calibri" pitchFamily="34" charset="-122"/>
                <a:cs typeface="Calibri" pitchFamily="34" charset="-120"/>
              </a:rPr>
              <a:t>6</a:t>
            </a:r>
            <a:endParaRPr lang="en-US" sz="1000" dirty="0"/>
          </a:p>
        </p:txBody>
      </p:sp>
      <p:sp>
        <p:nvSpPr>
          <p:cNvPr id="3" name="Text 1"/>
          <p:cNvSpPr txBox="1"/>
          <p:nvPr/>
        </p:nvSpPr>
        <p:spPr>
          <a:xfrm>
            <a:off x="594360" y="6400800"/>
            <a:ext cx="4572000" cy="274320"/>
          </a:xfrm>
          <a:prstGeom prst="rect">
            <a:avLst/>
          </a:prstGeom>
          <a:noFill/>
          <a:ln/>
        </p:spPr>
        <p:txBody>
          <a:bodyPr wrap="square" lIns="0" tIns="0" rIns="0" bIns="0" rtlCol="0" anchor="ctr"/>
          <a:lstStyle/>
          <a:p>
            <a:pPr indent="0" marL="0">
              <a:buNone/>
            </a:pPr>
            <a:r>
              <a:rPr lang="en-US" sz="1000" dirty="0">
                <a:solidFill>
                  <a:srgbClr val="8B96A0"/>
                </a:solidFill>
                <a:latin typeface="Calibri" pitchFamily="34" charset="0"/>
                <a:ea typeface="Calibri" pitchFamily="34" charset="-122"/>
                <a:cs typeface="Calibri" pitchFamily="34" charset="-120"/>
              </a:rPr>
              <a:t>Aulia Afriza  ·  Case Study Fullstack</a:t>
            </a:r>
            <a:endParaRPr lang="en-US" sz="1000" dirty="0"/>
          </a:p>
        </p:txBody>
      </p:sp>
      <p:sp>
        <p:nvSpPr>
          <p:cNvPr id="4" name="Text 2"/>
          <p:cNvSpPr txBox="1"/>
          <p:nvPr/>
        </p:nvSpPr>
        <p:spPr>
          <a:xfrm>
            <a:off x="594360" y="457200"/>
            <a:ext cx="11002975" cy="594360"/>
          </a:xfrm>
          <a:prstGeom prst="rect">
            <a:avLst/>
          </a:prstGeom>
          <a:noFill/>
          <a:ln/>
        </p:spPr>
        <p:txBody>
          <a:bodyPr wrap="square" lIns="0" tIns="0" rIns="0" bIns="0" rtlCol="0" anchor="t"/>
          <a:lstStyle/>
          <a:p>
            <a:pPr indent="0" marL="0">
              <a:buNone/>
            </a:pPr>
            <a:r>
              <a:rPr lang="en-US" sz="3000" b="1" dirty="0">
                <a:solidFill>
                  <a:srgbClr val="1F2933"/>
                </a:solidFill>
                <a:latin typeface="Calibri" pitchFamily="34" charset="0"/>
                <a:ea typeface="Calibri" pitchFamily="34" charset="-122"/>
                <a:cs typeface="Calibri" pitchFamily="34" charset="-120"/>
              </a:rPr>
              <a:t>Masalah paling penting ada di laporan Fit/Gap</a:t>
            </a:r>
            <a:endParaRPr lang="en-US" sz="3000" dirty="0"/>
          </a:p>
        </p:txBody>
      </p:sp>
      <p:sp>
        <p:nvSpPr>
          <p:cNvPr id="5" name="Text 3"/>
          <p:cNvSpPr txBox="1"/>
          <p:nvPr/>
        </p:nvSpPr>
        <p:spPr>
          <a:xfrm>
            <a:off x="594360" y="1051560"/>
            <a:ext cx="11002975" cy="411480"/>
          </a:xfrm>
          <a:prstGeom prst="rect">
            <a:avLst/>
          </a:prstGeom>
          <a:noFill/>
          <a:ln/>
        </p:spPr>
        <p:txBody>
          <a:bodyPr wrap="square" lIns="0" tIns="0" rIns="0" bIns="0" rtlCol="0" anchor="t"/>
          <a:lstStyle/>
          <a:p>
            <a:pPr indent="0" marL="0">
              <a:buNone/>
            </a:pPr>
            <a:r>
              <a:rPr lang="en-US" sz="1600" dirty="0">
                <a:solidFill>
                  <a:srgbClr val="5F6B76"/>
                </a:solidFill>
                <a:latin typeface="Calibri" pitchFamily="34" charset="0"/>
                <a:ea typeface="Calibri" pitchFamily="34" charset="-122"/>
                <a:cs typeface="Calibri" pitchFamily="34" charset="-120"/>
              </a:rPr>
              <a:t>Ini tabel yang dipakai hiring manager untuk memutuskan kandidat.</a:t>
            </a:r>
            <a:endParaRPr lang="en-US" sz="1600" dirty="0"/>
          </a:p>
        </p:txBody>
      </p:sp>
      <p:pic>
        <p:nvPicPr>
          <p:cNvPr id="6" name="Image 0" descr="img/p01_before.png">    </p:cNvPr>
          <p:cNvPicPr>
            <a:picLocks noChangeAspect="1"/>
          </p:cNvPicPr>
          <p:nvPr/>
        </p:nvPicPr>
        <p:blipFill>
          <a:blip r:embed="rId1"/>
          <a:stretch>
            <a:fillRect/>
          </a:stretch>
        </p:blipFill>
        <p:spPr>
          <a:xfrm>
            <a:off x="594360" y="1691640"/>
            <a:ext cx="7498080" cy="1947553"/>
          </a:xfrm>
          <a:prstGeom prst="rect">
            <a:avLst/>
          </a:prstGeom>
        </p:spPr>
      </p:pic>
      <p:sp>
        <p:nvSpPr>
          <p:cNvPr id="7" name="Shape 4"/>
          <p:cNvSpPr/>
          <p:nvPr/>
        </p:nvSpPr>
        <p:spPr>
          <a:xfrm>
            <a:off x="594360" y="1691640"/>
            <a:ext cx="7498080" cy="1947553"/>
          </a:xfrm>
          <a:prstGeom prst="rect">
            <a:avLst/>
          </a:prstGeom>
          <a:ln w="9525">
            <a:solidFill>
              <a:srgbClr val="E2E7EB"/>
            </a:solidFill>
            <a:prstDash val="solid"/>
          </a:ln>
        </p:spPr>
      </p:sp>
      <p:sp>
        <p:nvSpPr>
          <p:cNvPr id="8" name="Shape 5"/>
          <p:cNvSpPr/>
          <p:nvPr/>
        </p:nvSpPr>
        <p:spPr>
          <a:xfrm>
            <a:off x="8412480" y="1691640"/>
            <a:ext cx="3182112" cy="1188720"/>
          </a:xfrm>
          <a:prstGeom prst="roundRect">
            <a:avLst>
              <a:gd name="adj" fmla="val 6154"/>
            </a:avLst>
          </a:prstGeom>
          <a:solidFill>
            <a:srgbClr val="FCEDE8"/>
          </a:solidFill>
          <a:ln w="9525">
            <a:solidFill>
              <a:srgbClr val="FCEDE8"/>
            </a:solidFill>
            <a:prstDash val="solid"/>
          </a:ln>
        </p:spPr>
      </p:sp>
      <p:sp>
        <p:nvSpPr>
          <p:cNvPr id="9" name="Text 6"/>
          <p:cNvSpPr txBox="1"/>
          <p:nvPr/>
        </p:nvSpPr>
        <p:spPr>
          <a:xfrm>
            <a:off x="8613648" y="1828800"/>
            <a:ext cx="2834640" cy="320040"/>
          </a:xfrm>
          <a:prstGeom prst="rect">
            <a:avLst/>
          </a:prstGeom>
          <a:noFill/>
          <a:ln/>
        </p:spPr>
        <p:txBody>
          <a:bodyPr wrap="square" lIns="0" tIns="0" rIns="0" bIns="0" rtlCol="0" anchor="ctr"/>
          <a:lstStyle/>
          <a:p>
            <a:pPr indent="0" marL="0">
              <a:buNone/>
            </a:pPr>
            <a:r>
              <a:rPr lang="en-US" sz="1400" b="1" dirty="0">
                <a:solidFill>
                  <a:srgbClr val="C8553D"/>
                </a:solidFill>
                <a:latin typeface="Calibri" pitchFamily="34" charset="0"/>
                <a:ea typeface="Calibri" pitchFamily="34" charset="-122"/>
                <a:cs typeface="Calibri" pitchFamily="34" charset="-120"/>
              </a:rPr>
              <a:t>Kolom Required kosong</a:t>
            </a:r>
            <a:endParaRPr lang="en-US" sz="1400" dirty="0"/>
          </a:p>
        </p:txBody>
      </p:sp>
      <p:sp>
        <p:nvSpPr>
          <p:cNvPr id="10" name="Text 7"/>
          <p:cNvSpPr txBox="1"/>
          <p:nvPr/>
        </p:nvSpPr>
        <p:spPr>
          <a:xfrm>
            <a:off x="8613648" y="2167128"/>
            <a:ext cx="2834640" cy="64008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Level yang dituntut role tidak tampil di satu baris pun.</a:t>
            </a:r>
            <a:endParaRPr lang="en-US" sz="1200" dirty="0"/>
          </a:p>
        </p:txBody>
      </p:sp>
      <p:sp>
        <p:nvSpPr>
          <p:cNvPr id="11" name="Shape 8"/>
          <p:cNvSpPr/>
          <p:nvPr/>
        </p:nvSpPr>
        <p:spPr>
          <a:xfrm>
            <a:off x="8412480" y="2999232"/>
            <a:ext cx="3182112" cy="1188720"/>
          </a:xfrm>
          <a:prstGeom prst="roundRect">
            <a:avLst>
              <a:gd name="adj" fmla="val 6154"/>
            </a:avLst>
          </a:prstGeom>
          <a:solidFill>
            <a:srgbClr val="FCEDE8"/>
          </a:solidFill>
          <a:ln w="9525">
            <a:solidFill>
              <a:srgbClr val="FCEDE8"/>
            </a:solidFill>
            <a:prstDash val="solid"/>
          </a:ln>
        </p:spPr>
      </p:sp>
      <p:sp>
        <p:nvSpPr>
          <p:cNvPr id="12" name="Text 9"/>
          <p:cNvSpPr txBox="1"/>
          <p:nvPr/>
        </p:nvSpPr>
        <p:spPr>
          <a:xfrm>
            <a:off x="8613648" y="3136392"/>
            <a:ext cx="2834640" cy="320040"/>
          </a:xfrm>
          <a:prstGeom prst="rect">
            <a:avLst/>
          </a:prstGeom>
          <a:noFill/>
          <a:ln/>
        </p:spPr>
        <p:txBody>
          <a:bodyPr wrap="square" lIns="0" tIns="0" rIns="0" bIns="0" rtlCol="0" anchor="ctr"/>
          <a:lstStyle/>
          <a:p>
            <a:pPr indent="0" marL="0">
              <a:buNone/>
            </a:pPr>
            <a:r>
              <a:rPr lang="en-US" sz="1400" b="1" dirty="0">
                <a:solidFill>
                  <a:srgbClr val="C8553D"/>
                </a:solidFill>
                <a:latin typeface="Calibri" pitchFamily="34" charset="0"/>
                <a:ea typeface="Calibri" pitchFamily="34" charset="-122"/>
                <a:cs typeface="Calibri" pitchFamily="34" charset="-120"/>
              </a:rPr>
              <a:t>Tidak jelas siapa yang menilai</a:t>
            </a:r>
            <a:endParaRPr lang="en-US" sz="1400" dirty="0"/>
          </a:p>
        </p:txBody>
      </p:sp>
      <p:sp>
        <p:nvSpPr>
          <p:cNvPr id="13" name="Text 10"/>
          <p:cNvSpPr txBox="1"/>
          <p:nvPr/>
        </p:nvSpPr>
        <p:spPr>
          <a:xfrm>
            <a:off x="8613648" y="3474720"/>
            <a:ext cx="2834640" cy="64008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Rating dari AI dan koreksi assessor terlihat sama.</a:t>
            </a:r>
            <a:endParaRPr lang="en-US" sz="1200" dirty="0"/>
          </a:p>
        </p:txBody>
      </p:sp>
      <p:sp>
        <p:nvSpPr>
          <p:cNvPr id="14" name="Shape 11"/>
          <p:cNvSpPr/>
          <p:nvPr/>
        </p:nvSpPr>
        <p:spPr>
          <a:xfrm>
            <a:off x="8412480" y="4306824"/>
            <a:ext cx="3182112" cy="1188720"/>
          </a:xfrm>
          <a:prstGeom prst="roundRect">
            <a:avLst>
              <a:gd name="adj" fmla="val 6154"/>
            </a:avLst>
          </a:prstGeom>
          <a:solidFill>
            <a:srgbClr val="FCEDE8"/>
          </a:solidFill>
          <a:ln w="9525">
            <a:solidFill>
              <a:srgbClr val="FCEDE8"/>
            </a:solidFill>
            <a:prstDash val="solid"/>
          </a:ln>
        </p:spPr>
      </p:sp>
      <p:sp>
        <p:nvSpPr>
          <p:cNvPr id="15" name="Text 12"/>
          <p:cNvSpPr txBox="1"/>
          <p:nvPr/>
        </p:nvSpPr>
        <p:spPr>
          <a:xfrm>
            <a:off x="8613648" y="4443984"/>
            <a:ext cx="2834640" cy="320040"/>
          </a:xfrm>
          <a:prstGeom prst="rect">
            <a:avLst/>
          </a:prstGeom>
          <a:noFill/>
          <a:ln/>
        </p:spPr>
        <p:txBody>
          <a:bodyPr wrap="square" lIns="0" tIns="0" rIns="0" bIns="0" rtlCol="0" anchor="ctr"/>
          <a:lstStyle/>
          <a:p>
            <a:pPr indent="0" marL="0">
              <a:buNone/>
            </a:pPr>
            <a:r>
              <a:rPr lang="en-US" sz="1400" b="1" dirty="0">
                <a:solidFill>
                  <a:srgbClr val="C8553D"/>
                </a:solidFill>
                <a:latin typeface="Calibri" pitchFamily="34" charset="0"/>
                <a:ea typeface="Calibri" pitchFamily="34" charset="-122"/>
                <a:cs typeface="Calibri" pitchFamily="34" charset="-120"/>
              </a:rPr>
              <a:t>Tidak ada tingkat keyakinan</a:t>
            </a:r>
            <a:endParaRPr lang="en-US" sz="1400" dirty="0"/>
          </a:p>
        </p:txBody>
      </p:sp>
      <p:sp>
        <p:nvSpPr>
          <p:cNvPr id="16" name="Text 13"/>
          <p:cNvSpPr txBox="1"/>
          <p:nvPr/>
        </p:nvSpPr>
        <p:spPr>
          <a:xfrm>
            <a:off x="8613648" y="4782312"/>
            <a:ext cx="2834640" cy="64008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Hasil dari 1 pertanyaan terlihat sama dengan hasil dari 4.</a:t>
            </a:r>
            <a:endParaRPr lang="en-US" sz="1200" dirty="0"/>
          </a:p>
        </p:txBody>
      </p:sp>
      <p:sp>
        <p:nvSpPr>
          <p:cNvPr id="17" name="Shape 14"/>
          <p:cNvSpPr/>
          <p:nvPr/>
        </p:nvSpPr>
        <p:spPr>
          <a:xfrm>
            <a:off x="594360" y="3959233"/>
            <a:ext cx="7498080" cy="1234440"/>
          </a:xfrm>
          <a:prstGeom prst="roundRect">
            <a:avLst>
              <a:gd name="adj" fmla="val 5926"/>
            </a:avLst>
          </a:prstGeom>
          <a:solidFill>
            <a:srgbClr val="F5F7F8"/>
          </a:solidFill>
          <a:ln w="9525">
            <a:solidFill>
              <a:srgbClr val="E2E7EB"/>
            </a:solidFill>
            <a:prstDash val="solid"/>
          </a:ln>
        </p:spPr>
      </p:sp>
      <p:sp>
        <p:nvSpPr>
          <p:cNvPr id="18" name="Text 15"/>
          <p:cNvSpPr txBox="1"/>
          <p:nvPr/>
        </p:nvSpPr>
        <p:spPr>
          <a:xfrm>
            <a:off x="868680" y="4050673"/>
            <a:ext cx="6949440" cy="1051560"/>
          </a:xfrm>
          <a:prstGeom prst="rect">
            <a:avLst/>
          </a:prstGeom>
          <a:noFill/>
          <a:ln/>
        </p:spPr>
        <p:txBody>
          <a:bodyPr wrap="square" lIns="0" tIns="0" rIns="0" bIns="0" rtlCol="0" anchor="ctr"/>
          <a:lstStyle/>
          <a:p>
            <a:pPr indent="0" marL="0">
              <a:lnSpc>
                <a:spcPts val="1900"/>
              </a:lnSpc>
              <a:buNone/>
            </a:pPr>
            <a:r>
              <a:rPr lang="en-US" sz="1400" b="1" dirty="0">
                <a:solidFill>
                  <a:srgbClr val="1F2933"/>
                </a:solidFill>
                <a:latin typeface="Calibri" pitchFamily="34" charset="0"/>
                <a:ea typeface="Calibri" pitchFamily="34" charset="-122"/>
                <a:cs typeface="Calibri" pitchFamily="34" charset="-120"/>
              </a:rPr>
              <a:t>Yang membuat saya kaget: </a:t>
            </a:r>
            <a:pPr indent="0" marL="0">
              <a:lnSpc>
                <a:spcPts val="1900"/>
              </a:lnSpc>
              <a:buNone/>
            </a:pPr>
            <a:r>
              <a:rPr lang="en-US" sz="1400" dirty="0">
                <a:solidFill>
                  <a:srgbClr val="1F2933"/>
                </a:solidFill>
                <a:latin typeface="Calibri" pitchFamily="34" charset="0"/>
                <a:ea typeface="Calibri" pitchFamily="34" charset="-122"/>
                <a:cs typeface="Calibri" pitchFamily="34" charset="-120"/>
              </a:rPr>
              <a:t>backend sebenarnya sudah menghitung ketiga data ini. Datanya hilang di perjalanan ke layar — dan tidak ada error sama sekali, jadi tidak ada yang sadar.</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00800"/>
            <a:ext cx="457200" cy="274320"/>
          </a:xfrm>
          <a:prstGeom prst="rect">
            <a:avLst/>
          </a:prstGeom>
          <a:noFill/>
          <a:ln/>
        </p:spPr>
        <p:txBody>
          <a:bodyPr wrap="square" lIns="0" tIns="0" rIns="0" bIns="0" rtlCol="0" anchor="ctr"/>
          <a:lstStyle/>
          <a:p>
            <a:pPr algn="r" indent="0" marL="0">
              <a:buNone/>
            </a:pPr>
            <a:r>
              <a:rPr lang="en-US" sz="1000" dirty="0">
                <a:solidFill>
                  <a:srgbClr val="8B96A0"/>
                </a:solidFill>
                <a:latin typeface="Calibri" pitchFamily="34" charset="0"/>
                <a:ea typeface="Calibri" pitchFamily="34" charset="-122"/>
                <a:cs typeface="Calibri" pitchFamily="34" charset="-120"/>
              </a:rPr>
              <a:t>7</a:t>
            </a:r>
            <a:endParaRPr lang="en-US" sz="1000" dirty="0"/>
          </a:p>
        </p:txBody>
      </p:sp>
      <p:sp>
        <p:nvSpPr>
          <p:cNvPr id="3" name="Text 1"/>
          <p:cNvSpPr txBox="1"/>
          <p:nvPr/>
        </p:nvSpPr>
        <p:spPr>
          <a:xfrm>
            <a:off x="594360" y="6400800"/>
            <a:ext cx="4572000" cy="274320"/>
          </a:xfrm>
          <a:prstGeom prst="rect">
            <a:avLst/>
          </a:prstGeom>
          <a:noFill/>
          <a:ln/>
        </p:spPr>
        <p:txBody>
          <a:bodyPr wrap="square" lIns="0" tIns="0" rIns="0" bIns="0" rtlCol="0" anchor="ctr"/>
          <a:lstStyle/>
          <a:p>
            <a:pPr indent="0" marL="0">
              <a:buNone/>
            </a:pPr>
            <a:r>
              <a:rPr lang="en-US" sz="1000" dirty="0">
                <a:solidFill>
                  <a:srgbClr val="8B96A0"/>
                </a:solidFill>
                <a:latin typeface="Calibri" pitchFamily="34" charset="0"/>
                <a:ea typeface="Calibri" pitchFamily="34" charset="-122"/>
                <a:cs typeface="Calibri" pitchFamily="34" charset="-120"/>
              </a:rPr>
              <a:t>Aulia Afriza  ·  Case Study Fullstack</a:t>
            </a:r>
            <a:endParaRPr lang="en-US" sz="1000" dirty="0"/>
          </a:p>
        </p:txBody>
      </p:sp>
      <p:sp>
        <p:nvSpPr>
          <p:cNvPr id="4" name="Text 2"/>
          <p:cNvSpPr txBox="1"/>
          <p:nvPr/>
        </p:nvSpPr>
        <p:spPr>
          <a:xfrm>
            <a:off x="594360" y="457200"/>
            <a:ext cx="11002975" cy="594360"/>
          </a:xfrm>
          <a:prstGeom prst="rect">
            <a:avLst/>
          </a:prstGeom>
          <a:noFill/>
          <a:ln/>
        </p:spPr>
        <p:txBody>
          <a:bodyPr wrap="square" lIns="0" tIns="0" rIns="0" bIns="0" rtlCol="0" anchor="t"/>
          <a:lstStyle/>
          <a:p>
            <a:pPr indent="0" marL="0">
              <a:buNone/>
            </a:pPr>
            <a:r>
              <a:rPr lang="en-US" sz="3000" b="1" dirty="0">
                <a:solidFill>
                  <a:srgbClr val="1F2933"/>
                </a:solidFill>
                <a:latin typeface="Calibri" pitchFamily="34" charset="0"/>
                <a:ea typeface="Calibri" pitchFamily="34" charset="-122"/>
                <a:cs typeface="Calibri" pitchFamily="34" charset="-120"/>
              </a:rPr>
              <a:t>Kenapa ini saya jadikan prioritas</a:t>
            </a:r>
            <a:endParaRPr lang="en-US" sz="3000" dirty="0"/>
          </a:p>
        </p:txBody>
      </p:sp>
      <p:sp>
        <p:nvSpPr>
          <p:cNvPr id="5" name="Text 3"/>
          <p:cNvSpPr txBox="1"/>
          <p:nvPr/>
        </p:nvSpPr>
        <p:spPr>
          <a:xfrm>
            <a:off x="594360" y="1051560"/>
            <a:ext cx="11002975" cy="411480"/>
          </a:xfrm>
          <a:prstGeom prst="rect">
            <a:avLst/>
          </a:prstGeom>
          <a:noFill/>
          <a:ln/>
        </p:spPr>
        <p:txBody>
          <a:bodyPr wrap="square" lIns="0" tIns="0" rIns="0" bIns="0" rtlCol="0" anchor="t"/>
          <a:lstStyle/>
          <a:p>
            <a:pPr indent="0" marL="0">
              <a:buNone/>
            </a:pPr>
            <a:r>
              <a:rPr lang="en-US" sz="1600" dirty="0">
                <a:solidFill>
                  <a:srgbClr val="5F6B76"/>
                </a:solidFill>
                <a:latin typeface="Calibri" pitchFamily="34" charset="0"/>
                <a:ea typeface="Calibri" pitchFamily="34" charset="-122"/>
                <a:cs typeface="Calibri" pitchFamily="34" charset="-120"/>
              </a:rPr>
              <a:t>Saya urutkan masalah berdasarkan siapa yang dirugikan, dan apakah dia bisa tahu.</a:t>
            </a:r>
            <a:endParaRPr lang="en-US" sz="1600" dirty="0"/>
          </a:p>
        </p:txBody>
      </p:sp>
      <p:sp>
        <p:nvSpPr>
          <p:cNvPr id="6" name="Shape 4"/>
          <p:cNvSpPr/>
          <p:nvPr/>
        </p:nvSpPr>
        <p:spPr>
          <a:xfrm>
            <a:off x="594360" y="1783080"/>
            <a:ext cx="685800" cy="457200"/>
          </a:xfrm>
          <a:prstGeom prst="roundRect">
            <a:avLst>
              <a:gd name="adj" fmla="val 16000"/>
            </a:avLst>
          </a:prstGeom>
          <a:solidFill>
            <a:srgbClr val="C8553D"/>
          </a:solidFill>
          <a:ln w="12700">
            <a:solidFill>
              <a:srgbClr val="C8553D"/>
            </a:solidFill>
            <a:prstDash val="solid"/>
          </a:ln>
        </p:spPr>
      </p:sp>
      <p:sp>
        <p:nvSpPr>
          <p:cNvPr id="7" name="Text 5"/>
          <p:cNvSpPr txBox="1"/>
          <p:nvPr/>
        </p:nvSpPr>
        <p:spPr>
          <a:xfrm>
            <a:off x="594360" y="1783080"/>
            <a:ext cx="6858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P0</a:t>
            </a:r>
            <a:endParaRPr lang="en-US" sz="1500" dirty="0"/>
          </a:p>
        </p:txBody>
      </p:sp>
      <p:sp>
        <p:nvSpPr>
          <p:cNvPr id="8" name="Text 6"/>
          <p:cNvSpPr txBox="1"/>
          <p:nvPr/>
        </p:nvSpPr>
        <p:spPr>
          <a:xfrm>
            <a:off x="1463040" y="1783080"/>
            <a:ext cx="5760720" cy="45720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Menampilkan info yang salah tentang orang, atau membocorkan datanya — dan tidak ada yang bisa tahu</a:t>
            </a:r>
            <a:endParaRPr lang="en-US" sz="1400" dirty="0"/>
          </a:p>
        </p:txBody>
      </p:sp>
      <p:sp>
        <p:nvSpPr>
          <p:cNvPr id="9" name="Shape 7"/>
          <p:cNvSpPr/>
          <p:nvPr/>
        </p:nvSpPr>
        <p:spPr>
          <a:xfrm>
            <a:off x="594360" y="2441448"/>
            <a:ext cx="685800" cy="457200"/>
          </a:xfrm>
          <a:prstGeom prst="roundRect">
            <a:avLst>
              <a:gd name="adj" fmla="val 16000"/>
            </a:avLst>
          </a:prstGeom>
          <a:solidFill>
            <a:srgbClr val="B7791F"/>
          </a:solidFill>
          <a:ln w="12700">
            <a:solidFill>
              <a:srgbClr val="B7791F"/>
            </a:solidFill>
            <a:prstDash val="solid"/>
          </a:ln>
        </p:spPr>
      </p:sp>
      <p:sp>
        <p:nvSpPr>
          <p:cNvPr id="10" name="Text 8"/>
          <p:cNvSpPr txBox="1"/>
          <p:nvPr/>
        </p:nvSpPr>
        <p:spPr>
          <a:xfrm>
            <a:off x="594360" y="2441448"/>
            <a:ext cx="6858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P1</a:t>
            </a:r>
            <a:endParaRPr lang="en-US" sz="1500" dirty="0"/>
          </a:p>
        </p:txBody>
      </p:sp>
      <p:sp>
        <p:nvSpPr>
          <p:cNvPr id="11" name="Text 9"/>
          <p:cNvSpPr txBox="1"/>
          <p:nvPr/>
        </p:nvSpPr>
        <p:spPr>
          <a:xfrm>
            <a:off x="1463040" y="2441448"/>
            <a:ext cx="5760720" cy="45720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User terhambat, tapi masalahnya terlihat atau bisa diulang</a:t>
            </a:r>
            <a:endParaRPr lang="en-US" sz="1400" dirty="0"/>
          </a:p>
        </p:txBody>
      </p:sp>
      <p:sp>
        <p:nvSpPr>
          <p:cNvPr id="12" name="Shape 10"/>
          <p:cNvSpPr/>
          <p:nvPr/>
        </p:nvSpPr>
        <p:spPr>
          <a:xfrm>
            <a:off x="594360" y="3099816"/>
            <a:ext cx="685800" cy="457200"/>
          </a:xfrm>
          <a:prstGeom prst="roundRect">
            <a:avLst>
              <a:gd name="adj" fmla="val 16000"/>
            </a:avLst>
          </a:prstGeom>
          <a:solidFill>
            <a:srgbClr val="5F6B76"/>
          </a:solidFill>
          <a:ln w="12700">
            <a:solidFill>
              <a:srgbClr val="5F6B76"/>
            </a:solidFill>
            <a:prstDash val="solid"/>
          </a:ln>
        </p:spPr>
      </p:sp>
      <p:sp>
        <p:nvSpPr>
          <p:cNvPr id="13" name="Text 11"/>
          <p:cNvSpPr txBox="1"/>
          <p:nvPr/>
        </p:nvSpPr>
        <p:spPr>
          <a:xfrm>
            <a:off x="594360" y="3099816"/>
            <a:ext cx="6858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P2</a:t>
            </a:r>
            <a:endParaRPr lang="en-US" sz="1500" dirty="0"/>
          </a:p>
        </p:txBody>
      </p:sp>
      <p:sp>
        <p:nvSpPr>
          <p:cNvPr id="14" name="Text 12"/>
          <p:cNvSpPr txBox="1"/>
          <p:nvPr/>
        </p:nvSpPr>
        <p:spPr>
          <a:xfrm>
            <a:off x="1463040" y="3099816"/>
            <a:ext cx="5760720" cy="45720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Benar sekarang, tapi mudah rusak kalau ada perubahan</a:t>
            </a:r>
            <a:endParaRPr lang="en-US" sz="1400" dirty="0"/>
          </a:p>
        </p:txBody>
      </p:sp>
      <p:sp>
        <p:nvSpPr>
          <p:cNvPr id="15" name="Shape 13"/>
          <p:cNvSpPr/>
          <p:nvPr/>
        </p:nvSpPr>
        <p:spPr>
          <a:xfrm>
            <a:off x="594360" y="3758184"/>
            <a:ext cx="685800" cy="457200"/>
          </a:xfrm>
          <a:prstGeom prst="roundRect">
            <a:avLst>
              <a:gd name="adj" fmla="val 16000"/>
            </a:avLst>
          </a:prstGeom>
          <a:solidFill>
            <a:srgbClr val="8B96A0"/>
          </a:solidFill>
          <a:ln w="12700">
            <a:solidFill>
              <a:srgbClr val="8B96A0"/>
            </a:solidFill>
            <a:prstDash val="solid"/>
          </a:ln>
        </p:spPr>
      </p:sp>
      <p:sp>
        <p:nvSpPr>
          <p:cNvPr id="16" name="Text 14"/>
          <p:cNvSpPr txBox="1"/>
          <p:nvPr/>
        </p:nvSpPr>
        <p:spPr>
          <a:xfrm>
            <a:off x="594360" y="3758184"/>
            <a:ext cx="6858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P3</a:t>
            </a:r>
            <a:endParaRPr lang="en-US" sz="1500" dirty="0"/>
          </a:p>
        </p:txBody>
      </p:sp>
      <p:sp>
        <p:nvSpPr>
          <p:cNvPr id="17" name="Text 15"/>
          <p:cNvSpPr txBox="1"/>
          <p:nvPr/>
        </p:nvSpPr>
        <p:spPr>
          <a:xfrm>
            <a:off x="1463040" y="3758184"/>
            <a:ext cx="5760720" cy="45720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Kerapian kode, belum merugikan siapa pun</a:t>
            </a:r>
            <a:endParaRPr lang="en-US" sz="1400" dirty="0"/>
          </a:p>
        </p:txBody>
      </p:sp>
      <p:sp>
        <p:nvSpPr>
          <p:cNvPr id="18" name="Text 16"/>
          <p:cNvSpPr txBox="1"/>
          <p:nvPr/>
        </p:nvSpPr>
        <p:spPr>
          <a:xfrm>
            <a:off x="594360" y="4572000"/>
            <a:ext cx="6629400" cy="1097280"/>
          </a:xfrm>
          <a:prstGeom prst="rect">
            <a:avLst/>
          </a:prstGeom>
          <a:noFill/>
          <a:ln/>
        </p:spPr>
        <p:txBody>
          <a:bodyPr wrap="square" lIns="0" tIns="0" rIns="0" bIns="0" rtlCol="0" anchor="t"/>
          <a:lstStyle/>
          <a:p>
            <a:pPr indent="0" marL="0">
              <a:lnSpc>
                <a:spcPts val="2000"/>
              </a:lnSpc>
              <a:buNone/>
            </a:pPr>
            <a:r>
              <a:rPr lang="en-US" sz="1400" dirty="0">
                <a:solidFill>
                  <a:srgbClr val="5F6B76"/>
                </a:solidFill>
                <a:latin typeface="Calibri" pitchFamily="34" charset="0"/>
                <a:ea typeface="Calibri" pitchFamily="34" charset="-122"/>
                <a:cs typeface="Calibri" pitchFamily="34" charset="-120"/>
              </a:rPr>
              <a:t>Karena itu, kolom kosong saya anggap lebih berat dari error yang membuat halaman crash. Crash langsung kelihatan. Kolom kosong terlihat seperti memang begitu desainnya.</a:t>
            </a:r>
            <a:endParaRPr lang="en-US" sz="1400" dirty="0"/>
          </a:p>
        </p:txBody>
      </p:sp>
      <p:sp>
        <p:nvSpPr>
          <p:cNvPr id="19" name="Shape 17"/>
          <p:cNvSpPr/>
          <p:nvPr/>
        </p:nvSpPr>
        <p:spPr>
          <a:xfrm>
            <a:off x="7680960" y="1783080"/>
            <a:ext cx="3913632" cy="3886200"/>
          </a:xfrm>
          <a:prstGeom prst="roundRect">
            <a:avLst>
              <a:gd name="adj" fmla="val 1882"/>
            </a:avLst>
          </a:prstGeom>
          <a:solidFill>
            <a:srgbClr val="E6F3F1"/>
          </a:solidFill>
          <a:ln w="9525">
            <a:solidFill>
              <a:srgbClr val="E6F3F1"/>
            </a:solidFill>
            <a:prstDash val="solid"/>
          </a:ln>
        </p:spPr>
      </p:sp>
      <p:sp>
        <p:nvSpPr>
          <p:cNvPr id="20" name="Text 18"/>
          <p:cNvSpPr txBox="1"/>
          <p:nvPr/>
        </p:nvSpPr>
        <p:spPr>
          <a:xfrm>
            <a:off x="7955280" y="2011680"/>
            <a:ext cx="3383280" cy="320040"/>
          </a:xfrm>
          <a:prstGeom prst="rect">
            <a:avLst/>
          </a:prstGeom>
          <a:noFill/>
          <a:ln/>
        </p:spPr>
        <p:txBody>
          <a:bodyPr wrap="square" lIns="0" tIns="0" rIns="0" bIns="0" rtlCol="0" anchor="ctr"/>
          <a:lstStyle/>
          <a:p>
            <a:pPr indent="0" marL="0">
              <a:buNone/>
            </a:pPr>
            <a:r>
              <a:rPr lang="en-US" sz="1500" b="1" dirty="0">
                <a:solidFill>
                  <a:srgbClr val="0B5550"/>
                </a:solidFill>
                <a:latin typeface="Calibri" pitchFamily="34" charset="0"/>
                <a:ea typeface="Calibri" pitchFamily="34" charset="-122"/>
                <a:cs typeface="Calibri" pitchFamily="34" charset="-120"/>
              </a:rPr>
              <a:t>Orang yang paling terdampak</a:t>
            </a:r>
            <a:endParaRPr lang="en-US" sz="1500" dirty="0"/>
          </a:p>
        </p:txBody>
      </p:sp>
      <p:sp>
        <p:nvSpPr>
          <p:cNvPr id="21" name="Text 19"/>
          <p:cNvSpPr txBox="1"/>
          <p:nvPr/>
        </p:nvSpPr>
        <p:spPr>
          <a:xfrm>
            <a:off x="7955280" y="2468880"/>
            <a:ext cx="3383280" cy="3017520"/>
          </a:xfrm>
          <a:prstGeom prst="rect">
            <a:avLst/>
          </a:prstGeom>
          <a:noFill/>
          <a:ln/>
        </p:spPr>
        <p:txBody>
          <a:bodyPr wrap="square" lIns="0" tIns="0" rIns="0" bIns="0" rtlCol="0" anchor="t"/>
          <a:lstStyle/>
          <a:p>
            <a:pPr indent="0" marL="0">
              <a:lnSpc>
                <a:spcPts val="1900"/>
              </a:lnSpc>
              <a:buNone/>
            </a:pPr>
            <a:r>
              <a:rPr lang="en-US" sz="1350" dirty="0">
                <a:solidFill>
                  <a:srgbClr val="1F2933"/>
                </a:solidFill>
                <a:latin typeface="Calibri" pitchFamily="34" charset="0"/>
                <a:ea typeface="Calibri" pitchFamily="34" charset="-122"/>
                <a:cs typeface="Calibri" pitchFamily="34" charset="-120"/>
              </a:rPr>
              <a:t>Kandidat tidak memilih memakai produk ini, tidak bisa menolak, dan tidak pernah melihat hasilnya.</a:t>
            </a:r>
            <a:endParaRPr lang="en-US" sz="1350" dirty="0"/>
          </a:p>
          <a:p>
            <a:pPr indent="0" marL="0">
              <a:lnSpc>
                <a:spcPts val="1900"/>
              </a:lnSpc>
              <a:buNone/>
            </a:pPr>
            <a:r>
              <a:rPr lang="en-US" sz="600" dirty="0">
                <a:solidFill>
                  <a:srgbClr val="1F2933"/>
                </a:solidFill>
                <a:latin typeface="Calibri" pitchFamily="34" charset="0"/>
                <a:ea typeface="Calibri" pitchFamily="34" charset="-122"/>
                <a:cs typeface="Calibri" pitchFamily="34" charset="-120"/>
              </a:rPr>
              <a:t> </a:t>
            </a:r>
            <a:endParaRPr lang="en-US" sz="1350" dirty="0"/>
          </a:p>
          <a:p>
            <a:pPr indent="0" marL="0">
              <a:lnSpc>
                <a:spcPts val="1900"/>
              </a:lnSpc>
              <a:buNone/>
            </a:pPr>
            <a:r>
              <a:rPr lang="en-US" sz="1350" dirty="0">
                <a:solidFill>
                  <a:srgbClr val="1F2933"/>
                </a:solidFill>
                <a:latin typeface="Calibri" pitchFamily="34" charset="0"/>
                <a:ea typeface="Calibri" pitchFamily="34" charset="-122"/>
                <a:cs typeface="Calibri" pitchFamily="34" charset="-120"/>
              </a:rPr>
              <a:t>Kalau penilaiannya salah, merekalah yang menanggung — tanpa bisa membantah.</a:t>
            </a:r>
            <a:endParaRPr lang="en-US" sz="1350" dirty="0"/>
          </a:p>
          <a:p>
            <a:pPr indent="0" marL="0">
              <a:lnSpc>
                <a:spcPts val="1900"/>
              </a:lnSpc>
              <a:buNone/>
            </a:pPr>
            <a:r>
              <a:rPr lang="en-US" sz="600" dirty="0">
                <a:solidFill>
                  <a:srgbClr val="1F2933"/>
                </a:solidFill>
                <a:latin typeface="Calibri" pitchFamily="34" charset="0"/>
                <a:ea typeface="Calibri" pitchFamily="34" charset="-122"/>
                <a:cs typeface="Calibri" pitchFamily="34" charset="-120"/>
              </a:rPr>
              <a:t> </a:t>
            </a:r>
            <a:endParaRPr lang="en-US" sz="1350" dirty="0"/>
          </a:p>
          <a:p>
            <a:pPr indent="0" marL="0">
              <a:lnSpc>
                <a:spcPts val="1900"/>
              </a:lnSpc>
              <a:buNone/>
            </a:pPr>
            <a:r>
              <a:rPr lang="en-US" sz="1350" dirty="0">
                <a:solidFill>
                  <a:srgbClr val="1F2933"/>
                </a:solidFill>
                <a:latin typeface="Calibri" pitchFamily="34" charset="0"/>
                <a:ea typeface="Calibri" pitchFamily="34" charset="-122"/>
                <a:cs typeface="Calibri" pitchFamily="34" charset="-120"/>
              </a:rPr>
              <a:t>Data wawancara juga termasuk data pribadi di bawah UU PDP.</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00800"/>
            <a:ext cx="457200" cy="274320"/>
          </a:xfrm>
          <a:prstGeom prst="rect">
            <a:avLst/>
          </a:prstGeom>
          <a:noFill/>
          <a:ln/>
        </p:spPr>
        <p:txBody>
          <a:bodyPr wrap="square" lIns="0" tIns="0" rIns="0" bIns="0" rtlCol="0" anchor="ctr"/>
          <a:lstStyle/>
          <a:p>
            <a:pPr algn="r" indent="0" marL="0">
              <a:buNone/>
            </a:pPr>
            <a:r>
              <a:rPr lang="en-US" sz="1000" dirty="0">
                <a:solidFill>
                  <a:srgbClr val="8B96A0"/>
                </a:solidFill>
                <a:latin typeface="Calibri" pitchFamily="34" charset="0"/>
                <a:ea typeface="Calibri" pitchFamily="34" charset="-122"/>
                <a:cs typeface="Calibri" pitchFamily="34" charset="-120"/>
              </a:rPr>
              <a:t>8</a:t>
            </a:r>
            <a:endParaRPr lang="en-US" sz="1000" dirty="0"/>
          </a:p>
        </p:txBody>
      </p:sp>
      <p:sp>
        <p:nvSpPr>
          <p:cNvPr id="3" name="Text 1"/>
          <p:cNvSpPr txBox="1"/>
          <p:nvPr/>
        </p:nvSpPr>
        <p:spPr>
          <a:xfrm>
            <a:off x="594360" y="6400800"/>
            <a:ext cx="4572000" cy="274320"/>
          </a:xfrm>
          <a:prstGeom prst="rect">
            <a:avLst/>
          </a:prstGeom>
          <a:noFill/>
          <a:ln/>
        </p:spPr>
        <p:txBody>
          <a:bodyPr wrap="square" lIns="0" tIns="0" rIns="0" bIns="0" rtlCol="0" anchor="ctr"/>
          <a:lstStyle/>
          <a:p>
            <a:pPr indent="0" marL="0">
              <a:buNone/>
            </a:pPr>
            <a:r>
              <a:rPr lang="en-US" sz="1000" dirty="0">
                <a:solidFill>
                  <a:srgbClr val="8B96A0"/>
                </a:solidFill>
                <a:latin typeface="Calibri" pitchFamily="34" charset="0"/>
                <a:ea typeface="Calibri" pitchFamily="34" charset="-122"/>
                <a:cs typeface="Calibri" pitchFamily="34" charset="-120"/>
              </a:rPr>
              <a:t>Aulia Afriza  ·  Case Study Fullstack</a:t>
            </a:r>
            <a:endParaRPr lang="en-US" sz="1000" dirty="0"/>
          </a:p>
        </p:txBody>
      </p:sp>
      <p:sp>
        <p:nvSpPr>
          <p:cNvPr id="4" name="Text 2"/>
          <p:cNvSpPr txBox="1"/>
          <p:nvPr/>
        </p:nvSpPr>
        <p:spPr>
          <a:xfrm>
            <a:off x="594360" y="457200"/>
            <a:ext cx="11002975" cy="594360"/>
          </a:xfrm>
          <a:prstGeom prst="rect">
            <a:avLst/>
          </a:prstGeom>
          <a:noFill/>
          <a:ln/>
        </p:spPr>
        <p:txBody>
          <a:bodyPr wrap="square" lIns="0" tIns="0" rIns="0" bIns="0" rtlCol="0" anchor="t"/>
          <a:lstStyle/>
          <a:p>
            <a:pPr indent="0" marL="0">
              <a:buNone/>
            </a:pPr>
            <a:r>
              <a:rPr lang="en-US" sz="3000" b="1" dirty="0">
                <a:solidFill>
                  <a:srgbClr val="1F2933"/>
                </a:solidFill>
                <a:latin typeface="Calibri" pitchFamily="34" charset="0"/>
                <a:ea typeface="Calibri" pitchFamily="34" charset="-122"/>
                <a:cs typeface="Calibri" pitchFamily="34" charset="-120"/>
              </a:rPr>
              <a:t>Ada dua cara memperbaikinya</a:t>
            </a:r>
            <a:endParaRPr lang="en-US" sz="3000" dirty="0"/>
          </a:p>
        </p:txBody>
      </p:sp>
      <p:sp>
        <p:nvSpPr>
          <p:cNvPr id="5" name="Text 3"/>
          <p:cNvSpPr txBox="1"/>
          <p:nvPr/>
        </p:nvSpPr>
        <p:spPr>
          <a:xfrm>
            <a:off x="594360" y="1051560"/>
            <a:ext cx="11002975" cy="411480"/>
          </a:xfrm>
          <a:prstGeom prst="rect">
            <a:avLst/>
          </a:prstGeom>
          <a:noFill/>
          <a:ln/>
        </p:spPr>
        <p:txBody>
          <a:bodyPr wrap="square" lIns="0" tIns="0" rIns="0" bIns="0" rtlCol="0" anchor="t"/>
          <a:lstStyle/>
          <a:p>
            <a:pPr indent="0" marL="0">
              <a:buNone/>
            </a:pPr>
            <a:r>
              <a:rPr lang="en-US" sz="1600" dirty="0">
                <a:solidFill>
                  <a:srgbClr val="5F6B76"/>
                </a:solidFill>
                <a:latin typeface="Calibri" pitchFamily="34" charset="0"/>
                <a:ea typeface="Calibri" pitchFamily="34" charset="-122"/>
                <a:cs typeface="Calibri" pitchFamily="34" charset="-120"/>
              </a:rPr>
              <a:t>Saya bandingkan dulu sebelum mulai menulis kode.</a:t>
            </a:r>
            <a:endParaRPr lang="en-US" sz="1600" dirty="0"/>
          </a:p>
        </p:txBody>
      </p:sp>
      <p:sp>
        <p:nvSpPr>
          <p:cNvPr id="6" name="Shape 4"/>
          <p:cNvSpPr/>
          <p:nvPr/>
        </p:nvSpPr>
        <p:spPr>
          <a:xfrm>
            <a:off x="594360" y="1783080"/>
            <a:ext cx="5318608" cy="3291840"/>
          </a:xfrm>
          <a:prstGeom prst="roundRect">
            <a:avLst>
              <a:gd name="adj" fmla="val 2222"/>
            </a:avLst>
          </a:prstGeom>
          <a:solidFill>
            <a:srgbClr val="F5F7F8"/>
          </a:solidFill>
          <a:ln w="9525">
            <a:solidFill>
              <a:srgbClr val="E2E7EB"/>
            </a:solidFill>
            <a:prstDash val="solid"/>
          </a:ln>
        </p:spPr>
      </p:sp>
      <p:sp>
        <p:nvSpPr>
          <p:cNvPr id="7" name="Text 5"/>
          <p:cNvSpPr txBox="1"/>
          <p:nvPr/>
        </p:nvSpPr>
        <p:spPr>
          <a:xfrm>
            <a:off x="914400" y="1965960"/>
            <a:ext cx="4678528" cy="365760"/>
          </a:xfrm>
          <a:prstGeom prst="rect">
            <a:avLst/>
          </a:prstGeom>
          <a:noFill/>
          <a:ln/>
        </p:spPr>
        <p:txBody>
          <a:bodyPr wrap="square" lIns="0" tIns="0" rIns="0" bIns="0" rtlCol="0" anchor="ctr"/>
          <a:lstStyle/>
          <a:p>
            <a:pPr indent="0" marL="0">
              <a:buNone/>
            </a:pPr>
            <a:r>
              <a:rPr lang="en-US" sz="1800" b="1" dirty="0">
                <a:solidFill>
                  <a:srgbClr val="1F2933"/>
                </a:solidFill>
                <a:latin typeface="Calibri" pitchFamily="34" charset="0"/>
                <a:ea typeface="Calibri" pitchFamily="34" charset="-122"/>
                <a:cs typeface="Calibri" pitchFamily="34" charset="-120"/>
              </a:rPr>
              <a:t>Pilihan A — tambal langsung</a:t>
            </a:r>
            <a:endParaRPr lang="en-US" sz="1800" dirty="0"/>
          </a:p>
        </p:txBody>
      </p:sp>
      <p:sp>
        <p:nvSpPr>
          <p:cNvPr id="8" name="Text 6"/>
          <p:cNvSpPr txBox="1"/>
          <p:nvPr/>
        </p:nvSpPr>
        <p:spPr>
          <a:xfrm>
            <a:off x="914400" y="2377440"/>
            <a:ext cx="4678528" cy="292608"/>
          </a:xfrm>
          <a:prstGeom prst="rect">
            <a:avLst/>
          </a:prstGeom>
          <a:noFill/>
          <a:ln/>
        </p:spPr>
        <p:txBody>
          <a:bodyPr wrap="square" lIns="0" tIns="0" rIns="0" bIns="0" rtlCol="0" anchor="ctr"/>
          <a:lstStyle/>
          <a:p>
            <a:pPr indent="0" marL="0">
              <a:buNone/>
            </a:pPr>
            <a:r>
              <a:rPr lang="en-US" sz="1300" dirty="0">
                <a:solidFill>
                  <a:srgbClr val="5F6B76"/>
                </a:solidFill>
                <a:latin typeface="Calibri" pitchFamily="34" charset="0"/>
                <a:ea typeface="Calibri" pitchFamily="34" charset="-122"/>
                <a:cs typeface="Calibri" pitchFamily="34" charset="-120"/>
              </a:rPr>
              <a:t>± 1 jam</a:t>
            </a:r>
            <a:endParaRPr lang="en-US" sz="1300" dirty="0"/>
          </a:p>
        </p:txBody>
      </p:sp>
      <p:sp>
        <p:nvSpPr>
          <p:cNvPr id="9" name="Text 7"/>
          <p:cNvSpPr txBox="1"/>
          <p:nvPr/>
        </p:nvSpPr>
        <p:spPr>
          <a:xfrm>
            <a:off x="914400" y="2788920"/>
            <a:ext cx="4678528" cy="2103120"/>
          </a:xfrm>
          <a:prstGeom prst="rect">
            <a:avLst/>
          </a:prstGeom>
          <a:noFill/>
          <a:ln/>
        </p:spPr>
        <p:txBody>
          <a:bodyPr wrap="square" lIns="0" tIns="0" rIns="0" bIns="0" rtlCol="0" anchor="t"/>
          <a:lstStyle/>
          <a:p>
            <a:pPr marL="342900" indent="-342900">
              <a:lnSpc>
                <a:spcPts val="1900"/>
              </a:lnSpc>
              <a:spcAft>
                <a:spcPts val="800"/>
              </a:spcAft>
              <a:buSzPct val="100000"/>
              <a:buChar char="•"/>
            </a:pPr>
            <a:r>
              <a:rPr lang="en-US" sz="1400" dirty="0">
                <a:solidFill>
                  <a:srgbClr val="1F2933"/>
                </a:solidFill>
                <a:latin typeface="Calibri" pitchFamily="34" charset="0"/>
                <a:ea typeface="Calibri" pitchFamily="34" charset="-122"/>
                <a:cs typeface="Calibri" pitchFamily="34" charset="-120"/>
              </a:rPr>
              <a:t>Samakan nama field yang beda antara backend dan frontend, lalu tambah dua field.</a:t>
            </a:r>
            <a:endParaRPr lang="en-US" sz="1400" dirty="0"/>
          </a:p>
          <a:p>
            <a:pPr marL="342900" indent="-342900">
              <a:lnSpc>
                <a:spcPts val="1900"/>
              </a:lnSpc>
              <a:spcAft>
                <a:spcPts val="800"/>
              </a:spcAft>
              <a:buSzPct val="100000"/>
              <a:buChar char="•"/>
            </a:pPr>
            <a:r>
              <a:rPr lang="en-US" sz="1400" dirty="0">
                <a:solidFill>
                  <a:srgbClr val="1F2933"/>
                </a:solidFill>
                <a:latin typeface="Calibri" pitchFamily="34" charset="0"/>
                <a:ea typeface="Calibri" pitchFamily="34" charset="-122"/>
                <a:cs typeface="Calibri" pitchFamily="34" charset="-120"/>
              </a:rPr>
              <a:t>Tabel langsung terisi.</a:t>
            </a:r>
            <a:endParaRPr lang="en-US" sz="1400" dirty="0"/>
          </a:p>
          <a:p>
            <a:pPr marL="342900" indent="-342900">
              <a:lnSpc>
                <a:spcPts val="1900"/>
              </a:lnSpc>
              <a:spcAft>
                <a:spcPts val="800"/>
              </a:spcAft>
              <a:buSzPct val="100000"/>
              <a:buChar char="•"/>
            </a:pPr>
            <a:r>
              <a:rPr lang="en-US" sz="1400" dirty="0">
                <a:solidFill>
                  <a:srgbClr val="1F2933"/>
                </a:solidFill>
                <a:latin typeface="Calibri" pitchFamily="34" charset="0"/>
                <a:ea typeface="Calibri" pitchFamily="34" charset="-122"/>
                <a:cs typeface="Calibri" pitchFamily="34" charset="-120"/>
              </a:rPr>
              <a:t>Tapi kalau nanti ada perubahan lagi, masalah yang sama bisa muncul diam-diam.</a:t>
            </a:r>
            <a:endParaRPr lang="en-US" sz="1400" dirty="0"/>
          </a:p>
        </p:txBody>
      </p:sp>
      <p:sp>
        <p:nvSpPr>
          <p:cNvPr id="10" name="Shape 8"/>
          <p:cNvSpPr/>
          <p:nvPr/>
        </p:nvSpPr>
        <p:spPr>
          <a:xfrm>
            <a:off x="6278728" y="1783080"/>
            <a:ext cx="5318608" cy="3291840"/>
          </a:xfrm>
          <a:prstGeom prst="roundRect">
            <a:avLst>
              <a:gd name="adj" fmla="val 2222"/>
            </a:avLst>
          </a:prstGeom>
          <a:solidFill>
            <a:srgbClr val="E6F3F1"/>
          </a:solidFill>
          <a:ln w="9525">
            <a:solidFill>
              <a:srgbClr val="0F766E"/>
            </a:solidFill>
            <a:prstDash val="solid"/>
          </a:ln>
        </p:spPr>
      </p:sp>
      <p:sp>
        <p:nvSpPr>
          <p:cNvPr id="11" name="Text 9"/>
          <p:cNvSpPr txBox="1"/>
          <p:nvPr/>
        </p:nvSpPr>
        <p:spPr>
          <a:xfrm>
            <a:off x="6598768" y="1965960"/>
            <a:ext cx="3489808" cy="365760"/>
          </a:xfrm>
          <a:prstGeom prst="rect">
            <a:avLst/>
          </a:prstGeom>
          <a:noFill/>
          <a:ln/>
        </p:spPr>
        <p:txBody>
          <a:bodyPr wrap="square" lIns="0" tIns="0" rIns="0" bIns="0" rtlCol="0" anchor="ctr"/>
          <a:lstStyle/>
          <a:p>
            <a:pPr indent="0" marL="0">
              <a:buNone/>
            </a:pPr>
            <a:r>
              <a:rPr lang="en-US" sz="1800" b="1" dirty="0">
                <a:solidFill>
                  <a:srgbClr val="0B5550"/>
                </a:solidFill>
                <a:latin typeface="Calibri" pitchFamily="34" charset="0"/>
                <a:ea typeface="Calibri" pitchFamily="34" charset="-122"/>
                <a:cs typeface="Calibri" pitchFamily="34" charset="-120"/>
              </a:rPr>
              <a:t>Pilihan B — pasang “penjaga” data</a:t>
            </a:r>
            <a:endParaRPr lang="en-US" sz="1800" dirty="0"/>
          </a:p>
        </p:txBody>
      </p:sp>
      <p:sp>
        <p:nvSpPr>
          <p:cNvPr id="12" name="Shape 10"/>
          <p:cNvSpPr/>
          <p:nvPr/>
        </p:nvSpPr>
        <p:spPr>
          <a:xfrm>
            <a:off x="10271455" y="1984248"/>
            <a:ext cx="1005840" cy="329184"/>
          </a:xfrm>
          <a:prstGeom prst="roundRect">
            <a:avLst>
              <a:gd name="adj" fmla="val 22222"/>
            </a:avLst>
          </a:prstGeom>
          <a:solidFill>
            <a:srgbClr val="0F766E"/>
          </a:solidFill>
          <a:ln w="12700">
            <a:solidFill>
              <a:srgbClr val="0F766E"/>
            </a:solidFill>
            <a:prstDash val="solid"/>
          </a:ln>
        </p:spPr>
      </p:sp>
      <p:sp>
        <p:nvSpPr>
          <p:cNvPr id="13" name="Text 11"/>
          <p:cNvSpPr txBox="1"/>
          <p:nvPr/>
        </p:nvSpPr>
        <p:spPr>
          <a:xfrm>
            <a:off x="10271455" y="1984248"/>
            <a:ext cx="100584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Dipilih</a:t>
            </a:r>
            <a:endParaRPr lang="en-US" sz="1200" dirty="0"/>
          </a:p>
        </p:txBody>
      </p:sp>
      <p:sp>
        <p:nvSpPr>
          <p:cNvPr id="14" name="Text 12"/>
          <p:cNvSpPr txBox="1"/>
          <p:nvPr/>
        </p:nvSpPr>
        <p:spPr>
          <a:xfrm>
            <a:off x="6598768" y="2377440"/>
            <a:ext cx="4678528" cy="292608"/>
          </a:xfrm>
          <a:prstGeom prst="rect">
            <a:avLst/>
          </a:prstGeom>
          <a:noFill/>
          <a:ln/>
        </p:spPr>
        <p:txBody>
          <a:bodyPr wrap="square" lIns="0" tIns="0" rIns="0" bIns="0" rtlCol="0" anchor="ctr"/>
          <a:lstStyle/>
          <a:p>
            <a:pPr indent="0" marL="0">
              <a:buNone/>
            </a:pPr>
            <a:r>
              <a:rPr lang="en-US" sz="1300" dirty="0">
                <a:solidFill>
                  <a:srgbClr val="5F6B76"/>
                </a:solidFill>
                <a:latin typeface="Calibri" pitchFamily="34" charset="0"/>
                <a:ea typeface="Calibri" pitchFamily="34" charset="-122"/>
                <a:cs typeface="Calibri" pitchFamily="34" charset="-120"/>
              </a:rPr>
              <a:t>± 1,5 hari</a:t>
            </a:r>
            <a:endParaRPr lang="en-US" sz="1300" dirty="0"/>
          </a:p>
        </p:txBody>
      </p:sp>
      <p:sp>
        <p:nvSpPr>
          <p:cNvPr id="15" name="Text 13"/>
          <p:cNvSpPr txBox="1"/>
          <p:nvPr/>
        </p:nvSpPr>
        <p:spPr>
          <a:xfrm>
            <a:off x="6598768" y="2788920"/>
            <a:ext cx="4678528" cy="2103120"/>
          </a:xfrm>
          <a:prstGeom prst="rect">
            <a:avLst/>
          </a:prstGeom>
          <a:noFill/>
          <a:ln/>
        </p:spPr>
        <p:txBody>
          <a:bodyPr wrap="square" lIns="0" tIns="0" rIns="0" bIns="0" rtlCol="0" anchor="t"/>
          <a:lstStyle/>
          <a:p>
            <a:pPr marL="342900" indent="-342900">
              <a:lnSpc>
                <a:spcPts val="1900"/>
              </a:lnSpc>
              <a:spcAft>
                <a:spcPts val="800"/>
              </a:spcAft>
              <a:buSzPct val="100000"/>
              <a:buChar char="•"/>
            </a:pPr>
            <a:r>
              <a:rPr lang="en-US" sz="1400" dirty="0">
                <a:solidFill>
                  <a:srgbClr val="1F2933"/>
                </a:solidFill>
                <a:latin typeface="Calibri" pitchFamily="34" charset="0"/>
                <a:ea typeface="Calibri" pitchFamily="34" charset="-122"/>
                <a:cs typeface="Calibri" pitchFamily="34" charset="-120"/>
              </a:rPr>
              <a:t>Validasi data dari API pakai Zod sebelum masuk ke tampilan.</a:t>
            </a:r>
            <a:endParaRPr lang="en-US" sz="1400" dirty="0"/>
          </a:p>
          <a:p>
            <a:pPr marL="342900" indent="-342900">
              <a:lnSpc>
                <a:spcPts val="1900"/>
              </a:lnSpc>
              <a:spcAft>
                <a:spcPts val="800"/>
              </a:spcAft>
              <a:buSzPct val="100000"/>
              <a:buChar char="•"/>
            </a:pPr>
            <a:r>
              <a:rPr lang="en-US" sz="1400" dirty="0">
                <a:solidFill>
                  <a:srgbClr val="1F2933"/>
                </a:solidFill>
                <a:latin typeface="Calibri" pitchFamily="34" charset="0"/>
                <a:ea typeface="Calibri" pitchFamily="34" charset="-122"/>
                <a:cs typeface="Calibri" pitchFamily="34" charset="-120"/>
              </a:rPr>
              <a:t>Kalau ada field yang hilang, layar bilang “data tidak lengkap” — bukan kolom kosong.</a:t>
            </a:r>
            <a:endParaRPr lang="en-US" sz="1400" dirty="0"/>
          </a:p>
          <a:p>
            <a:pPr marL="342900" indent="-342900">
              <a:lnSpc>
                <a:spcPts val="1900"/>
              </a:lnSpc>
              <a:spcAft>
                <a:spcPts val="800"/>
              </a:spcAft>
              <a:buSzPct val="100000"/>
              <a:buChar char="•"/>
            </a:pPr>
            <a:r>
              <a:rPr lang="en-US" sz="1400" dirty="0">
                <a:solidFill>
                  <a:srgbClr val="1F2933"/>
                </a:solidFill>
                <a:latin typeface="Calibri" pitchFamily="34" charset="0"/>
                <a:ea typeface="Calibri" pitchFamily="34" charset="-122"/>
                <a:cs typeface="Calibri" pitchFamily="34" charset="-120"/>
              </a:rPr>
              <a:t>Zod sudah terpasang di project, tinggal dipakai.</a:t>
            </a:r>
            <a:endParaRPr lang="en-US" sz="1400" dirty="0"/>
          </a:p>
        </p:txBody>
      </p:sp>
      <p:sp>
        <p:nvSpPr>
          <p:cNvPr id="16" name="Text 14"/>
          <p:cNvSpPr txBox="1"/>
          <p:nvPr/>
        </p:nvSpPr>
        <p:spPr>
          <a:xfrm>
            <a:off x="594360" y="5303520"/>
            <a:ext cx="11002975" cy="731520"/>
          </a:xfrm>
          <a:prstGeom prst="rect">
            <a:avLst/>
          </a:prstGeom>
          <a:noFill/>
          <a:ln/>
        </p:spPr>
        <p:txBody>
          <a:bodyPr wrap="square" lIns="0" tIns="0" rIns="0" bIns="0" rtlCol="0" anchor="t"/>
          <a:lstStyle/>
          <a:p>
            <a:pPr indent="0" marL="0">
              <a:lnSpc>
                <a:spcPts val="1900"/>
              </a:lnSpc>
              <a:buNone/>
            </a:pPr>
            <a:r>
              <a:rPr lang="en-US" sz="1350" b="1" dirty="0">
                <a:solidFill>
                  <a:srgbClr val="1F2933"/>
                </a:solidFill>
                <a:latin typeface="Calibri" pitchFamily="34" charset="0"/>
                <a:ea typeface="Calibri" pitchFamily="34" charset="-122"/>
                <a:cs typeface="Calibri" pitchFamily="34" charset="-120"/>
              </a:rPr>
              <a:t>Yang saya tolak: </a:t>
            </a:r>
            <a:pPr indent="0" marL="0">
              <a:lnSpc>
                <a:spcPts val="1900"/>
              </a:lnSpc>
              <a:buNone/>
            </a:pPr>
            <a:r>
              <a:rPr lang="en-US" sz="1350" dirty="0">
                <a:solidFill>
                  <a:srgbClr val="5F6B76"/>
                </a:solidFill>
                <a:latin typeface="Calibri" pitchFamily="34" charset="0"/>
                <a:ea typeface="Calibri" pitchFamily="34" charset="-122"/>
                <a:cs typeface="Calibri" pitchFamily="34" charset="-120"/>
              </a:rPr>
              <a:t>generate type otomatis dari OpenAPI. Secara jangka panjang ini paling rapi, tapi API-nya belum punya spec sama sekali — waktunya akan habis untuk menulis spec, bukan memperbaiki masalah.</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00800"/>
            <a:ext cx="457200" cy="274320"/>
          </a:xfrm>
          <a:prstGeom prst="rect">
            <a:avLst/>
          </a:prstGeom>
          <a:noFill/>
          <a:ln/>
        </p:spPr>
        <p:txBody>
          <a:bodyPr wrap="square" lIns="0" tIns="0" rIns="0" bIns="0" rtlCol="0" anchor="ctr"/>
          <a:lstStyle/>
          <a:p>
            <a:pPr algn="r" indent="0" marL="0">
              <a:buNone/>
            </a:pPr>
            <a:r>
              <a:rPr lang="en-US" sz="1000" dirty="0">
                <a:solidFill>
                  <a:srgbClr val="8B96A0"/>
                </a:solidFill>
                <a:latin typeface="Calibri" pitchFamily="34" charset="0"/>
                <a:ea typeface="Calibri" pitchFamily="34" charset="-122"/>
                <a:cs typeface="Calibri" pitchFamily="34" charset="-120"/>
              </a:rPr>
              <a:t>9</a:t>
            </a:r>
            <a:endParaRPr lang="en-US" sz="1000" dirty="0"/>
          </a:p>
        </p:txBody>
      </p:sp>
      <p:sp>
        <p:nvSpPr>
          <p:cNvPr id="3" name="Text 1"/>
          <p:cNvSpPr txBox="1"/>
          <p:nvPr/>
        </p:nvSpPr>
        <p:spPr>
          <a:xfrm>
            <a:off x="594360" y="6400800"/>
            <a:ext cx="4572000" cy="274320"/>
          </a:xfrm>
          <a:prstGeom prst="rect">
            <a:avLst/>
          </a:prstGeom>
          <a:noFill/>
          <a:ln/>
        </p:spPr>
        <p:txBody>
          <a:bodyPr wrap="square" lIns="0" tIns="0" rIns="0" bIns="0" rtlCol="0" anchor="ctr"/>
          <a:lstStyle/>
          <a:p>
            <a:pPr indent="0" marL="0">
              <a:buNone/>
            </a:pPr>
            <a:r>
              <a:rPr lang="en-US" sz="1000" dirty="0">
                <a:solidFill>
                  <a:srgbClr val="8B96A0"/>
                </a:solidFill>
                <a:latin typeface="Calibri" pitchFamily="34" charset="0"/>
                <a:ea typeface="Calibri" pitchFamily="34" charset="-122"/>
                <a:cs typeface="Calibri" pitchFamily="34" charset="-120"/>
              </a:rPr>
              <a:t>Aulia Afriza  ·  Case Study Fullstack</a:t>
            </a:r>
            <a:endParaRPr lang="en-US" sz="1000" dirty="0"/>
          </a:p>
        </p:txBody>
      </p:sp>
      <p:sp>
        <p:nvSpPr>
          <p:cNvPr id="4" name="Text 2"/>
          <p:cNvSpPr txBox="1"/>
          <p:nvPr/>
        </p:nvSpPr>
        <p:spPr>
          <a:xfrm>
            <a:off x="594360" y="457200"/>
            <a:ext cx="11002975" cy="594360"/>
          </a:xfrm>
          <a:prstGeom prst="rect">
            <a:avLst/>
          </a:prstGeom>
          <a:noFill/>
          <a:ln/>
        </p:spPr>
        <p:txBody>
          <a:bodyPr wrap="square" lIns="0" tIns="0" rIns="0" bIns="0" rtlCol="0" anchor="t"/>
          <a:lstStyle/>
          <a:p>
            <a:pPr indent="0" marL="0">
              <a:buNone/>
            </a:pPr>
            <a:r>
              <a:rPr lang="en-US" sz="3000" b="1" dirty="0">
                <a:solidFill>
                  <a:srgbClr val="1F2933"/>
                </a:solidFill>
                <a:latin typeface="Calibri" pitchFamily="34" charset="0"/>
                <a:ea typeface="Calibri" pitchFamily="34" charset="-122"/>
                <a:cs typeface="Calibri" pitchFamily="34" charset="-120"/>
              </a:rPr>
              <a:t>Hasilnya: tabel Fit/Gap</a:t>
            </a:r>
            <a:endParaRPr lang="en-US" sz="3000" dirty="0"/>
          </a:p>
        </p:txBody>
      </p:sp>
      <p:sp>
        <p:nvSpPr>
          <p:cNvPr id="5" name="Text 3"/>
          <p:cNvSpPr txBox="1"/>
          <p:nvPr/>
        </p:nvSpPr>
        <p:spPr>
          <a:xfrm>
            <a:off x="594360" y="1051560"/>
            <a:ext cx="11002975" cy="411480"/>
          </a:xfrm>
          <a:prstGeom prst="rect">
            <a:avLst/>
          </a:prstGeom>
          <a:noFill/>
          <a:ln/>
        </p:spPr>
        <p:txBody>
          <a:bodyPr wrap="square" lIns="0" tIns="0" rIns="0" bIns="0" rtlCol="0" anchor="t"/>
          <a:lstStyle/>
          <a:p>
            <a:pPr indent="0" marL="0">
              <a:buNone/>
            </a:pPr>
            <a:r>
              <a:rPr lang="en-US" sz="1600" dirty="0">
                <a:solidFill>
                  <a:srgbClr val="5F6B76"/>
                </a:solidFill>
                <a:latin typeface="Calibri" pitchFamily="34" charset="0"/>
                <a:ea typeface="Calibri" pitchFamily="34" charset="-122"/>
                <a:cs typeface="Calibri" pitchFamily="34" charset="-120"/>
              </a:rPr>
              <a:t>Sebelum dan sesudah, dengan data yang sama.</a:t>
            </a:r>
            <a:endParaRPr lang="en-US" sz="1600" dirty="0"/>
          </a:p>
        </p:txBody>
      </p:sp>
      <p:sp>
        <p:nvSpPr>
          <p:cNvPr id="6" name="Text 4"/>
          <p:cNvSpPr txBox="1"/>
          <p:nvPr/>
        </p:nvSpPr>
        <p:spPr>
          <a:xfrm>
            <a:off x="594360" y="1645920"/>
            <a:ext cx="2743200" cy="274320"/>
          </a:xfrm>
          <a:prstGeom prst="rect">
            <a:avLst/>
          </a:prstGeom>
          <a:noFill/>
          <a:ln/>
        </p:spPr>
        <p:txBody>
          <a:bodyPr wrap="square" lIns="0" tIns="0" rIns="0" bIns="0" rtlCol="0" anchor="ctr"/>
          <a:lstStyle/>
          <a:p>
            <a:pPr indent="0" marL="0">
              <a:buNone/>
            </a:pPr>
            <a:r>
              <a:rPr lang="en-US" sz="1200" b="1" dirty="0">
                <a:solidFill>
                  <a:srgbClr val="C8553D"/>
                </a:solidFill>
                <a:latin typeface="Calibri" pitchFamily="34" charset="0"/>
                <a:ea typeface="Calibri" pitchFamily="34" charset="-122"/>
                <a:cs typeface="Calibri" pitchFamily="34" charset="-120"/>
              </a:rPr>
              <a:t>Sebelum</a:t>
            </a:r>
            <a:endParaRPr lang="en-US" sz="1200" dirty="0"/>
          </a:p>
        </p:txBody>
      </p:sp>
      <p:pic>
        <p:nvPicPr>
          <p:cNvPr id="7" name="Image 0" descr="img/p01_before.png">    </p:cNvPr>
          <p:cNvPicPr>
            <a:picLocks noChangeAspect="1"/>
          </p:cNvPicPr>
          <p:nvPr/>
        </p:nvPicPr>
        <p:blipFill>
          <a:blip r:embed="rId1"/>
          <a:stretch>
            <a:fillRect/>
          </a:stretch>
        </p:blipFill>
        <p:spPr>
          <a:xfrm>
            <a:off x="594360" y="1938528"/>
            <a:ext cx="6035040" cy="1567543"/>
          </a:xfrm>
          <a:prstGeom prst="rect">
            <a:avLst/>
          </a:prstGeom>
        </p:spPr>
      </p:pic>
      <p:sp>
        <p:nvSpPr>
          <p:cNvPr id="8" name="Shape 5"/>
          <p:cNvSpPr/>
          <p:nvPr/>
        </p:nvSpPr>
        <p:spPr>
          <a:xfrm>
            <a:off x="594360" y="1938528"/>
            <a:ext cx="6035040" cy="1567543"/>
          </a:xfrm>
          <a:prstGeom prst="rect">
            <a:avLst/>
          </a:prstGeom>
          <a:ln w="9525">
            <a:solidFill>
              <a:srgbClr val="E2E7EB"/>
            </a:solidFill>
            <a:prstDash val="solid"/>
          </a:ln>
        </p:spPr>
      </p:sp>
      <p:sp>
        <p:nvSpPr>
          <p:cNvPr id="9" name="Text 6"/>
          <p:cNvSpPr txBox="1"/>
          <p:nvPr/>
        </p:nvSpPr>
        <p:spPr>
          <a:xfrm>
            <a:off x="594360" y="3780391"/>
            <a:ext cx="2743200" cy="274320"/>
          </a:xfrm>
          <a:prstGeom prst="rect">
            <a:avLst/>
          </a:prstGeom>
          <a:noFill/>
          <a:ln/>
        </p:spPr>
        <p:txBody>
          <a:bodyPr wrap="square" lIns="0" tIns="0" rIns="0" bIns="0" rtlCol="0" anchor="ctr"/>
          <a:lstStyle/>
          <a:p>
            <a:pPr indent="0" marL="0">
              <a:buNone/>
            </a:pPr>
            <a:r>
              <a:rPr lang="en-US" sz="1200" b="1" dirty="0">
                <a:solidFill>
                  <a:srgbClr val="0F766E"/>
                </a:solidFill>
                <a:latin typeface="Calibri" pitchFamily="34" charset="0"/>
                <a:ea typeface="Calibri" pitchFamily="34" charset="-122"/>
                <a:cs typeface="Calibri" pitchFamily="34" charset="-120"/>
              </a:rPr>
              <a:t>Sesudah</a:t>
            </a:r>
            <a:endParaRPr lang="en-US" sz="1200" dirty="0"/>
          </a:p>
        </p:txBody>
      </p:sp>
      <p:pic>
        <p:nvPicPr>
          <p:cNvPr id="10" name="Image 1" descr="img/p01_after.png">    </p:cNvPr>
          <p:cNvPicPr>
            <a:picLocks noChangeAspect="1"/>
          </p:cNvPicPr>
          <p:nvPr/>
        </p:nvPicPr>
        <p:blipFill>
          <a:blip r:embed="rId2"/>
          <a:stretch>
            <a:fillRect/>
          </a:stretch>
        </p:blipFill>
        <p:spPr>
          <a:xfrm>
            <a:off x="594360" y="4072999"/>
            <a:ext cx="6035040" cy="2095500"/>
          </a:xfrm>
          <a:prstGeom prst="rect">
            <a:avLst/>
          </a:prstGeom>
        </p:spPr>
      </p:pic>
      <p:sp>
        <p:nvSpPr>
          <p:cNvPr id="11" name="Shape 7"/>
          <p:cNvSpPr/>
          <p:nvPr/>
        </p:nvSpPr>
        <p:spPr>
          <a:xfrm>
            <a:off x="594360" y="4072999"/>
            <a:ext cx="6035040" cy="2095500"/>
          </a:xfrm>
          <a:prstGeom prst="rect">
            <a:avLst/>
          </a:prstGeom>
          <a:ln w="9525">
            <a:solidFill>
              <a:srgbClr val="E2E7EB"/>
            </a:solidFill>
            <a:prstDash val="solid"/>
          </a:ln>
        </p:spPr>
      </p:sp>
      <p:sp>
        <p:nvSpPr>
          <p:cNvPr id="12" name="Shape 8"/>
          <p:cNvSpPr/>
          <p:nvPr/>
        </p:nvSpPr>
        <p:spPr>
          <a:xfrm>
            <a:off x="7086600" y="1645920"/>
            <a:ext cx="4510735" cy="4480560"/>
          </a:xfrm>
          <a:prstGeom prst="roundRect">
            <a:avLst>
              <a:gd name="adj" fmla="val 1633"/>
            </a:avLst>
          </a:prstGeom>
          <a:solidFill>
            <a:srgbClr val="E6F3F1"/>
          </a:solidFill>
          <a:ln w="9525">
            <a:solidFill>
              <a:srgbClr val="E6F3F1"/>
            </a:solidFill>
            <a:prstDash val="solid"/>
          </a:ln>
        </p:spPr>
      </p:sp>
      <p:sp>
        <p:nvSpPr>
          <p:cNvPr id="13" name="Text 9"/>
          <p:cNvSpPr txBox="1"/>
          <p:nvPr/>
        </p:nvSpPr>
        <p:spPr>
          <a:xfrm>
            <a:off x="7360920" y="1828800"/>
            <a:ext cx="3962095" cy="320040"/>
          </a:xfrm>
          <a:prstGeom prst="rect">
            <a:avLst/>
          </a:prstGeom>
          <a:noFill/>
          <a:ln/>
        </p:spPr>
        <p:txBody>
          <a:bodyPr wrap="square" lIns="0" tIns="0" rIns="0" bIns="0" rtlCol="0" anchor="ctr"/>
          <a:lstStyle/>
          <a:p>
            <a:pPr indent="0" marL="0">
              <a:buNone/>
            </a:pPr>
            <a:r>
              <a:rPr lang="en-US" sz="1600" b="1" dirty="0">
                <a:solidFill>
                  <a:srgbClr val="0B5550"/>
                </a:solidFill>
                <a:latin typeface="Calibri" pitchFamily="34" charset="0"/>
                <a:ea typeface="Calibri" pitchFamily="34" charset="-122"/>
                <a:cs typeface="Calibri" pitchFamily="34" charset="-120"/>
              </a:rPr>
              <a:t>Yang berubah</a:t>
            </a:r>
            <a:endParaRPr lang="en-US" sz="1600" dirty="0"/>
          </a:p>
        </p:txBody>
      </p:sp>
      <p:sp>
        <p:nvSpPr>
          <p:cNvPr id="14" name="Text 10"/>
          <p:cNvSpPr txBox="1"/>
          <p:nvPr/>
        </p:nvSpPr>
        <p:spPr>
          <a:xfrm>
            <a:off x="7360920" y="2286000"/>
            <a:ext cx="3962095" cy="3657600"/>
          </a:xfrm>
          <a:prstGeom prst="rect">
            <a:avLst/>
          </a:prstGeom>
          <a:noFill/>
          <a:ln/>
        </p:spPr>
        <p:txBody>
          <a:bodyPr wrap="square" lIns="0" tIns="0" rIns="0" bIns="0" rtlCol="0" anchor="t"/>
          <a:lstStyle/>
          <a:p>
            <a:pPr marL="342900" indent="-342900">
              <a:lnSpc>
                <a:spcPts val="1800"/>
              </a:lnSpc>
              <a:spcAft>
                <a:spcPts val="900"/>
              </a:spcAft>
              <a:buSzPct val="100000"/>
              <a:buChar char="•"/>
            </a:pPr>
            <a:r>
              <a:rPr lang="en-US" sz="1350" dirty="0">
                <a:solidFill>
                  <a:srgbClr val="1F2933"/>
                </a:solidFill>
                <a:latin typeface="Calibri" pitchFamily="34" charset="0"/>
                <a:ea typeface="Calibri" pitchFamily="34" charset="-122"/>
                <a:cs typeface="Calibri" pitchFamily="34" charset="-120"/>
              </a:rPr>
              <a:t>Kolom Required sekarang terisi (L4, L3).</a:t>
            </a:r>
            <a:endParaRPr lang="en-US" sz="1350" dirty="0"/>
          </a:p>
          <a:p>
            <a:pPr marL="342900" indent="-342900">
              <a:lnSpc>
                <a:spcPts val="1800"/>
              </a:lnSpc>
              <a:spcAft>
                <a:spcPts val="900"/>
              </a:spcAft>
              <a:buSzPct val="100000"/>
              <a:buChar char="•"/>
            </a:pPr>
            <a:r>
              <a:rPr lang="en-US" sz="1350" dirty="0">
                <a:solidFill>
                  <a:srgbClr val="1F2933"/>
                </a:solidFill>
                <a:latin typeface="Calibri" pitchFamily="34" charset="0"/>
                <a:ea typeface="Calibri" pitchFamily="34" charset="-122"/>
                <a:cs typeface="Calibri" pitchFamily="34" charset="-120"/>
              </a:rPr>
              <a:t>Ada kolom tingkat keyakinan, lengkap dengan jumlah pertanyaan.</a:t>
            </a:r>
            <a:endParaRPr lang="en-US" sz="1350" dirty="0"/>
          </a:p>
          <a:p>
            <a:pPr marL="342900" indent="-342900">
              <a:lnSpc>
                <a:spcPts val="1800"/>
              </a:lnSpc>
              <a:spcAft>
                <a:spcPts val="900"/>
              </a:spcAft>
              <a:buSzPct val="100000"/>
              <a:buChar char="•"/>
            </a:pPr>
            <a:r>
              <a:rPr lang="en-US" sz="1350" dirty="0">
                <a:solidFill>
                  <a:srgbClr val="1F2933"/>
                </a:solidFill>
                <a:latin typeface="Calibri" pitchFamily="34" charset="0"/>
                <a:ea typeface="Calibri" pitchFamily="34" charset="-122"/>
                <a:cs typeface="Calibri" pitchFamily="34" charset="-120"/>
              </a:rPr>
              <a:t>Kalau sebuah gap hanya didukung satu pertanyaan, muncul peringatan untuk menjadwalkan sesi lanjutan sebelum menolak kandidat.</a:t>
            </a:r>
            <a:endParaRPr lang="en-US" sz="1350" dirty="0"/>
          </a:p>
          <a:p>
            <a:pPr marL="342900" indent="-342900">
              <a:lnSpc>
                <a:spcPts val="1800"/>
              </a:lnSpc>
              <a:spcAft>
                <a:spcPts val="900"/>
              </a:spcAft>
              <a:buSzPct val="100000"/>
              <a:buChar char="•"/>
            </a:pPr>
            <a:r>
              <a:rPr lang="en-US" sz="1350" dirty="0">
                <a:solidFill>
                  <a:srgbClr val="1F2933"/>
                </a:solidFill>
                <a:latin typeface="Calibri" pitchFamily="34" charset="0"/>
                <a:ea typeface="Calibri" pitchFamily="34" charset="-122"/>
                <a:cs typeface="Calibri" pitchFamily="34" charset="-120"/>
              </a:rPr>
              <a:t>Skill yang belum ditanyakan ditulis “Belum dinilai”, bukan dianggap L1.</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00800"/>
            <a:ext cx="457200" cy="274320"/>
          </a:xfrm>
          <a:prstGeom prst="rect">
            <a:avLst/>
          </a:prstGeom>
          <a:noFill/>
          <a:ln/>
        </p:spPr>
        <p:txBody>
          <a:bodyPr wrap="square" lIns="0" tIns="0" rIns="0" bIns="0" rtlCol="0" anchor="ctr"/>
          <a:lstStyle/>
          <a:p>
            <a:pPr algn="r" indent="0" marL="0">
              <a:buNone/>
            </a:pPr>
            <a:r>
              <a:rPr lang="en-US" sz="1000" dirty="0">
                <a:solidFill>
                  <a:srgbClr val="8B96A0"/>
                </a:solidFill>
                <a:latin typeface="Calibri" pitchFamily="34" charset="0"/>
                <a:ea typeface="Calibri" pitchFamily="34" charset="-122"/>
                <a:cs typeface="Calibri" pitchFamily="34" charset="-120"/>
              </a:rPr>
              <a:t>10</a:t>
            </a:r>
            <a:endParaRPr lang="en-US" sz="1000" dirty="0"/>
          </a:p>
        </p:txBody>
      </p:sp>
      <p:sp>
        <p:nvSpPr>
          <p:cNvPr id="3" name="Text 1"/>
          <p:cNvSpPr txBox="1"/>
          <p:nvPr/>
        </p:nvSpPr>
        <p:spPr>
          <a:xfrm>
            <a:off x="594360" y="6400800"/>
            <a:ext cx="4572000" cy="274320"/>
          </a:xfrm>
          <a:prstGeom prst="rect">
            <a:avLst/>
          </a:prstGeom>
          <a:noFill/>
          <a:ln/>
        </p:spPr>
        <p:txBody>
          <a:bodyPr wrap="square" lIns="0" tIns="0" rIns="0" bIns="0" rtlCol="0" anchor="ctr"/>
          <a:lstStyle/>
          <a:p>
            <a:pPr indent="0" marL="0">
              <a:buNone/>
            </a:pPr>
            <a:r>
              <a:rPr lang="en-US" sz="1000" dirty="0">
                <a:solidFill>
                  <a:srgbClr val="8B96A0"/>
                </a:solidFill>
                <a:latin typeface="Calibri" pitchFamily="34" charset="0"/>
                <a:ea typeface="Calibri" pitchFamily="34" charset="-122"/>
                <a:cs typeface="Calibri" pitchFamily="34" charset="-120"/>
              </a:rPr>
              <a:t>Aulia Afriza  ·  Case Study Fullstack</a:t>
            </a:r>
            <a:endParaRPr lang="en-US" sz="1000" dirty="0"/>
          </a:p>
        </p:txBody>
      </p:sp>
      <p:sp>
        <p:nvSpPr>
          <p:cNvPr id="4" name="Text 2"/>
          <p:cNvSpPr txBox="1"/>
          <p:nvPr/>
        </p:nvSpPr>
        <p:spPr>
          <a:xfrm>
            <a:off x="594360" y="457200"/>
            <a:ext cx="11002975" cy="594360"/>
          </a:xfrm>
          <a:prstGeom prst="rect">
            <a:avLst/>
          </a:prstGeom>
          <a:noFill/>
          <a:ln/>
        </p:spPr>
        <p:txBody>
          <a:bodyPr wrap="square" lIns="0" tIns="0" rIns="0" bIns="0" rtlCol="0" anchor="t"/>
          <a:lstStyle/>
          <a:p>
            <a:pPr indent="0" marL="0">
              <a:buNone/>
            </a:pPr>
            <a:r>
              <a:rPr lang="en-US" sz="3000" b="1" dirty="0">
                <a:solidFill>
                  <a:srgbClr val="1F2933"/>
                </a:solidFill>
                <a:latin typeface="Calibri" pitchFamily="34" charset="0"/>
                <a:ea typeface="Calibri" pitchFamily="34" charset="-122"/>
                <a:cs typeface="Calibri" pitchFamily="34" charset="-120"/>
              </a:rPr>
              <a:t>Hasilnya: siapa yang menilai, dan seberapa yakin</a:t>
            </a:r>
            <a:endParaRPr lang="en-US" sz="3000" dirty="0"/>
          </a:p>
        </p:txBody>
      </p:sp>
      <p:sp>
        <p:nvSpPr>
          <p:cNvPr id="5" name="Text 3"/>
          <p:cNvSpPr txBox="1"/>
          <p:nvPr/>
        </p:nvSpPr>
        <p:spPr>
          <a:xfrm>
            <a:off x="594360" y="1051560"/>
            <a:ext cx="11002975" cy="411480"/>
          </a:xfrm>
          <a:prstGeom prst="rect">
            <a:avLst/>
          </a:prstGeom>
          <a:noFill/>
          <a:ln/>
        </p:spPr>
        <p:txBody>
          <a:bodyPr wrap="square" lIns="0" tIns="0" rIns="0" bIns="0" rtlCol="0" anchor="t"/>
          <a:lstStyle/>
          <a:p>
            <a:pPr indent="0" marL="0">
              <a:buNone/>
            </a:pPr>
            <a:r>
              <a:rPr lang="en-US" sz="1600" dirty="0">
                <a:solidFill>
                  <a:srgbClr val="5F6B76"/>
                </a:solidFill>
                <a:latin typeface="Calibri" pitchFamily="34" charset="0"/>
                <a:ea typeface="Calibri" pitchFamily="34" charset="-122"/>
                <a:cs typeface="Calibri" pitchFamily="34" charset="-120"/>
              </a:rPr>
              <a:t>Dua informasi yang sebelumnya ada di database tapi tidak pernah tampil.</a:t>
            </a:r>
            <a:endParaRPr lang="en-US" sz="1600" dirty="0"/>
          </a:p>
        </p:txBody>
      </p:sp>
      <p:sp>
        <p:nvSpPr>
          <p:cNvPr id="6" name="Text 4"/>
          <p:cNvSpPr txBox="1"/>
          <p:nvPr/>
        </p:nvSpPr>
        <p:spPr>
          <a:xfrm>
            <a:off x="594360" y="1645920"/>
            <a:ext cx="2743200" cy="274320"/>
          </a:xfrm>
          <a:prstGeom prst="rect">
            <a:avLst/>
          </a:prstGeom>
          <a:noFill/>
          <a:ln/>
        </p:spPr>
        <p:txBody>
          <a:bodyPr wrap="square" lIns="0" tIns="0" rIns="0" bIns="0" rtlCol="0" anchor="ctr"/>
          <a:lstStyle/>
          <a:p>
            <a:pPr indent="0" marL="0">
              <a:buNone/>
            </a:pPr>
            <a:r>
              <a:rPr lang="en-US" sz="1200" b="1" dirty="0">
                <a:solidFill>
                  <a:srgbClr val="0F766E"/>
                </a:solidFill>
                <a:latin typeface="Calibri" pitchFamily="34" charset="0"/>
                <a:ea typeface="Calibri" pitchFamily="34" charset="-122"/>
                <a:cs typeface="Calibri" pitchFamily="34" charset="-120"/>
              </a:rPr>
              <a:t>Koreksi assessor terlihat</a:t>
            </a:r>
            <a:endParaRPr lang="en-US" sz="1200" dirty="0"/>
          </a:p>
        </p:txBody>
      </p:sp>
      <p:pic>
        <p:nvPicPr>
          <p:cNvPr id="7" name="Image 0" descr="img/p02_after.png">    </p:cNvPr>
          <p:cNvPicPr>
            <a:picLocks noChangeAspect="1"/>
          </p:cNvPicPr>
          <p:nvPr/>
        </p:nvPicPr>
        <p:blipFill>
          <a:blip r:embed="rId1"/>
          <a:stretch>
            <a:fillRect/>
          </a:stretch>
        </p:blipFill>
        <p:spPr>
          <a:xfrm>
            <a:off x="594360" y="1938528"/>
            <a:ext cx="7223760" cy="1728172"/>
          </a:xfrm>
          <a:prstGeom prst="rect">
            <a:avLst/>
          </a:prstGeom>
        </p:spPr>
      </p:pic>
      <p:sp>
        <p:nvSpPr>
          <p:cNvPr id="8" name="Shape 5"/>
          <p:cNvSpPr/>
          <p:nvPr/>
        </p:nvSpPr>
        <p:spPr>
          <a:xfrm>
            <a:off x="594360" y="1938528"/>
            <a:ext cx="7223760" cy="1728172"/>
          </a:xfrm>
          <a:prstGeom prst="rect">
            <a:avLst/>
          </a:prstGeom>
          <a:ln w="9525">
            <a:solidFill>
              <a:srgbClr val="E2E7EB"/>
            </a:solidFill>
            <a:prstDash val="solid"/>
          </a:ln>
        </p:spPr>
      </p:sp>
      <p:sp>
        <p:nvSpPr>
          <p:cNvPr id="9" name="Text 6"/>
          <p:cNvSpPr txBox="1"/>
          <p:nvPr/>
        </p:nvSpPr>
        <p:spPr>
          <a:xfrm>
            <a:off x="594360" y="3986740"/>
            <a:ext cx="2743200" cy="274320"/>
          </a:xfrm>
          <a:prstGeom prst="rect">
            <a:avLst/>
          </a:prstGeom>
          <a:noFill/>
          <a:ln/>
        </p:spPr>
        <p:txBody>
          <a:bodyPr wrap="square" lIns="0" tIns="0" rIns="0" bIns="0" rtlCol="0" anchor="ctr"/>
          <a:lstStyle/>
          <a:p>
            <a:pPr indent="0" marL="0">
              <a:buNone/>
            </a:pPr>
            <a:r>
              <a:rPr lang="en-US" sz="1200" b="1" dirty="0">
                <a:solidFill>
                  <a:srgbClr val="0F766E"/>
                </a:solidFill>
                <a:latin typeface="Calibri" pitchFamily="34" charset="0"/>
                <a:ea typeface="Calibri" pitchFamily="34" charset="-122"/>
                <a:cs typeface="Calibri" pitchFamily="34" charset="-120"/>
              </a:rPr>
              <a:t>Tingkat keyakinan ikut tampil</a:t>
            </a:r>
            <a:endParaRPr lang="en-US" sz="1200" dirty="0"/>
          </a:p>
        </p:txBody>
      </p:sp>
      <p:pic>
        <p:nvPicPr>
          <p:cNvPr id="10" name="Image 1" descr="img/p03_after.png">    </p:cNvPr>
          <p:cNvPicPr>
            <a:picLocks noChangeAspect="1"/>
          </p:cNvPicPr>
          <p:nvPr/>
        </p:nvPicPr>
        <p:blipFill>
          <a:blip r:embed="rId2"/>
          <a:stretch>
            <a:fillRect/>
          </a:stretch>
        </p:blipFill>
        <p:spPr>
          <a:xfrm>
            <a:off x="594360" y="4279348"/>
            <a:ext cx="7223760" cy="2106052"/>
          </a:xfrm>
          <a:prstGeom prst="rect">
            <a:avLst/>
          </a:prstGeom>
        </p:spPr>
      </p:pic>
      <p:sp>
        <p:nvSpPr>
          <p:cNvPr id="11" name="Shape 7"/>
          <p:cNvSpPr/>
          <p:nvPr/>
        </p:nvSpPr>
        <p:spPr>
          <a:xfrm>
            <a:off x="594360" y="4279348"/>
            <a:ext cx="7223760" cy="2106052"/>
          </a:xfrm>
          <a:prstGeom prst="rect">
            <a:avLst/>
          </a:prstGeom>
          <a:ln w="9525">
            <a:solidFill>
              <a:srgbClr val="E2E7EB"/>
            </a:solidFill>
            <a:prstDash val="solid"/>
          </a:ln>
        </p:spPr>
      </p:sp>
      <p:sp>
        <p:nvSpPr>
          <p:cNvPr id="12" name="Text 8"/>
          <p:cNvSpPr txBox="1"/>
          <p:nvPr/>
        </p:nvSpPr>
        <p:spPr>
          <a:xfrm>
            <a:off x="8229600" y="1691640"/>
            <a:ext cx="3367735" cy="320040"/>
          </a:xfrm>
          <a:prstGeom prst="rect">
            <a:avLst/>
          </a:prstGeom>
          <a:noFill/>
          <a:ln/>
        </p:spPr>
        <p:txBody>
          <a:bodyPr wrap="square" lIns="0" tIns="0" rIns="0" bIns="0" rtlCol="0" anchor="ctr"/>
          <a:lstStyle/>
          <a:p>
            <a:pPr indent="0" marL="0">
              <a:buNone/>
            </a:pPr>
            <a:r>
              <a:rPr lang="en-US" sz="1500" b="1" dirty="0">
                <a:solidFill>
                  <a:srgbClr val="C8553D"/>
                </a:solidFill>
                <a:latin typeface="Calibri" pitchFamily="34" charset="0"/>
                <a:ea typeface="Calibri" pitchFamily="34" charset="-122"/>
                <a:cs typeface="Calibri" pitchFamily="34" charset="-120"/>
              </a:rPr>
              <a:t>Sebelumnya</a:t>
            </a:r>
            <a:endParaRPr lang="en-US" sz="1500" dirty="0"/>
          </a:p>
        </p:txBody>
      </p:sp>
      <p:sp>
        <p:nvSpPr>
          <p:cNvPr id="13" name="Text 9"/>
          <p:cNvSpPr txBox="1"/>
          <p:nvPr/>
        </p:nvSpPr>
        <p:spPr>
          <a:xfrm>
            <a:off x="8229600" y="2057400"/>
            <a:ext cx="3367735" cy="1371600"/>
          </a:xfrm>
          <a:prstGeom prst="rect">
            <a:avLst/>
          </a:prstGeom>
          <a:noFill/>
          <a:ln/>
        </p:spPr>
        <p:txBody>
          <a:bodyPr wrap="square" lIns="0" tIns="0" rIns="0" bIns="0" rtlCol="0" anchor="t"/>
          <a:lstStyle/>
          <a:p>
            <a:pPr indent="0" marL="0">
              <a:lnSpc>
                <a:spcPts val="1900"/>
              </a:lnSpc>
              <a:buNone/>
            </a:pPr>
            <a:r>
              <a:rPr lang="en-US" sz="1350" dirty="0">
                <a:solidFill>
                  <a:srgbClr val="1F2933"/>
                </a:solidFill>
                <a:latin typeface="Calibri" pitchFamily="34" charset="0"/>
                <a:ea typeface="Calibri" pitchFamily="34" charset="-122"/>
                <a:cs typeface="Calibri" pitchFamily="34" charset="-120"/>
              </a:rPr>
              <a:t>Rating yang dinaikkan assessor dari L2 ke L4 terlihat persis seperti rating AI. Legend di bawah tabel menjanjikan tanda yang tidak pernah muncul.</a:t>
            </a:r>
            <a:endParaRPr lang="en-US" sz="1350" dirty="0"/>
          </a:p>
        </p:txBody>
      </p:sp>
      <p:sp>
        <p:nvSpPr>
          <p:cNvPr id="14" name="Text 10"/>
          <p:cNvSpPr txBox="1"/>
          <p:nvPr/>
        </p:nvSpPr>
        <p:spPr>
          <a:xfrm>
            <a:off x="8229600" y="3566160"/>
            <a:ext cx="3367735" cy="320040"/>
          </a:xfrm>
          <a:prstGeom prst="rect">
            <a:avLst/>
          </a:prstGeom>
          <a:noFill/>
          <a:ln/>
        </p:spPr>
        <p:txBody>
          <a:bodyPr wrap="square" lIns="0" tIns="0" rIns="0" bIns="0" rtlCol="0" anchor="ctr"/>
          <a:lstStyle/>
          <a:p>
            <a:pPr indent="0" marL="0">
              <a:buNone/>
            </a:pPr>
            <a:r>
              <a:rPr lang="en-US" sz="1500" b="1" dirty="0">
                <a:solidFill>
                  <a:srgbClr val="0F766E"/>
                </a:solidFill>
                <a:latin typeface="Calibri" pitchFamily="34" charset="0"/>
                <a:ea typeface="Calibri" pitchFamily="34" charset="-122"/>
                <a:cs typeface="Calibri" pitchFamily="34" charset="-120"/>
              </a:rPr>
              <a:t>Sekarang</a:t>
            </a:r>
            <a:endParaRPr lang="en-US" sz="1500" dirty="0"/>
          </a:p>
        </p:txBody>
      </p:sp>
      <p:sp>
        <p:nvSpPr>
          <p:cNvPr id="15" name="Text 11"/>
          <p:cNvSpPr txBox="1"/>
          <p:nvPr/>
        </p:nvSpPr>
        <p:spPr>
          <a:xfrm>
            <a:off x="8229600" y="3931920"/>
            <a:ext cx="3367735" cy="1371600"/>
          </a:xfrm>
          <a:prstGeom prst="rect">
            <a:avLst/>
          </a:prstGeom>
          <a:noFill/>
          <a:ln/>
        </p:spPr>
        <p:txBody>
          <a:bodyPr wrap="square" lIns="0" tIns="0" rIns="0" bIns="0" rtlCol="0" anchor="t"/>
          <a:lstStyle/>
          <a:p>
            <a:pPr indent="0" marL="0">
              <a:lnSpc>
                <a:spcPts val="1900"/>
              </a:lnSpc>
              <a:buNone/>
            </a:pPr>
            <a:r>
              <a:rPr lang="en-US" sz="1350" dirty="0">
                <a:solidFill>
                  <a:srgbClr val="1F2933"/>
                </a:solidFill>
                <a:latin typeface="Calibri" pitchFamily="34" charset="0"/>
                <a:ea typeface="Calibri" pitchFamily="34" charset="-122"/>
                <a:cs typeface="Calibri" pitchFamily="34" charset="-120"/>
              </a:rPr>
              <a:t>Tertulis “AI L2 → L4”, siapa assessor yang mengubah, dan kapan. Hasil dari 1 pertanyaan dan 4 pertanyaan tidak lagi terlihat sama.</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00800"/>
            <a:ext cx="457200" cy="274320"/>
          </a:xfrm>
          <a:prstGeom prst="rect">
            <a:avLst/>
          </a:prstGeom>
          <a:noFill/>
          <a:ln/>
        </p:spPr>
        <p:txBody>
          <a:bodyPr wrap="square" lIns="0" tIns="0" rIns="0" bIns="0" rtlCol="0" anchor="ctr"/>
          <a:lstStyle/>
          <a:p>
            <a:pPr algn="r" indent="0" marL="0">
              <a:buNone/>
            </a:pPr>
            <a:r>
              <a:rPr lang="en-US" sz="1000" dirty="0">
                <a:solidFill>
                  <a:srgbClr val="8B96A0"/>
                </a:solidFill>
                <a:latin typeface="Calibri" pitchFamily="34" charset="0"/>
                <a:ea typeface="Calibri" pitchFamily="34" charset="-122"/>
                <a:cs typeface="Calibri" pitchFamily="34" charset="-120"/>
              </a:rPr>
              <a:t>11</a:t>
            </a:r>
            <a:endParaRPr lang="en-US" sz="1000" dirty="0"/>
          </a:p>
        </p:txBody>
      </p:sp>
      <p:sp>
        <p:nvSpPr>
          <p:cNvPr id="3" name="Text 1"/>
          <p:cNvSpPr txBox="1"/>
          <p:nvPr/>
        </p:nvSpPr>
        <p:spPr>
          <a:xfrm>
            <a:off x="594360" y="6400800"/>
            <a:ext cx="4572000" cy="274320"/>
          </a:xfrm>
          <a:prstGeom prst="rect">
            <a:avLst/>
          </a:prstGeom>
          <a:noFill/>
          <a:ln/>
        </p:spPr>
        <p:txBody>
          <a:bodyPr wrap="square" lIns="0" tIns="0" rIns="0" bIns="0" rtlCol="0" anchor="ctr"/>
          <a:lstStyle/>
          <a:p>
            <a:pPr indent="0" marL="0">
              <a:buNone/>
            </a:pPr>
            <a:r>
              <a:rPr lang="en-US" sz="1000" dirty="0">
                <a:solidFill>
                  <a:srgbClr val="8B96A0"/>
                </a:solidFill>
                <a:latin typeface="Calibri" pitchFamily="34" charset="0"/>
                <a:ea typeface="Calibri" pitchFamily="34" charset="-122"/>
                <a:cs typeface="Calibri" pitchFamily="34" charset="-120"/>
              </a:rPr>
              <a:t>Aulia Afriza  ·  Case Study Fullstack</a:t>
            </a:r>
            <a:endParaRPr lang="en-US" sz="1000" dirty="0"/>
          </a:p>
        </p:txBody>
      </p:sp>
      <p:sp>
        <p:nvSpPr>
          <p:cNvPr id="4" name="Text 2"/>
          <p:cNvSpPr txBox="1"/>
          <p:nvPr/>
        </p:nvSpPr>
        <p:spPr>
          <a:xfrm>
            <a:off x="594360" y="457200"/>
            <a:ext cx="11002975" cy="594360"/>
          </a:xfrm>
          <a:prstGeom prst="rect">
            <a:avLst/>
          </a:prstGeom>
          <a:noFill/>
          <a:ln/>
        </p:spPr>
        <p:txBody>
          <a:bodyPr wrap="square" lIns="0" tIns="0" rIns="0" bIns="0" rtlCol="0" anchor="t"/>
          <a:lstStyle/>
          <a:p>
            <a:pPr indent="0" marL="0">
              <a:buNone/>
            </a:pPr>
            <a:r>
              <a:rPr lang="en-US" sz="3000" b="1" dirty="0">
                <a:solidFill>
                  <a:srgbClr val="1F2933"/>
                </a:solidFill>
                <a:latin typeface="Calibri" pitchFamily="34" charset="0"/>
                <a:ea typeface="Calibri" pitchFamily="34" charset="-122"/>
                <a:cs typeface="Calibri" pitchFamily="34" charset="-120"/>
              </a:rPr>
              <a:t>Saya juga menemukan celah keamanan</a:t>
            </a:r>
            <a:endParaRPr lang="en-US" sz="3000" dirty="0"/>
          </a:p>
        </p:txBody>
      </p:sp>
      <p:sp>
        <p:nvSpPr>
          <p:cNvPr id="5" name="Text 3"/>
          <p:cNvSpPr txBox="1"/>
          <p:nvPr/>
        </p:nvSpPr>
        <p:spPr>
          <a:xfrm>
            <a:off x="594360" y="1051560"/>
            <a:ext cx="11002975" cy="411480"/>
          </a:xfrm>
          <a:prstGeom prst="rect">
            <a:avLst/>
          </a:prstGeom>
          <a:noFill/>
          <a:ln/>
        </p:spPr>
        <p:txBody>
          <a:bodyPr wrap="square" lIns="0" tIns="0" rIns="0" bIns="0" rtlCol="0" anchor="t"/>
          <a:lstStyle/>
          <a:p>
            <a:pPr indent="0" marL="0">
              <a:buNone/>
            </a:pPr>
            <a:r>
              <a:rPr lang="en-US" sz="1600" dirty="0">
                <a:solidFill>
                  <a:srgbClr val="5F6B76"/>
                </a:solidFill>
                <a:latin typeface="Calibri" pitchFamily="34" charset="0"/>
                <a:ea typeface="Calibri" pitchFamily="34" charset="-122"/>
                <a:cs typeface="Calibri" pitchFamily="34" charset="-120"/>
              </a:rPr>
              <a:t>Di luar fokus frontend, tapi menurut saya tidak bisa dibiarkan.</a:t>
            </a:r>
            <a:endParaRPr lang="en-US" sz="1600" dirty="0"/>
          </a:p>
        </p:txBody>
      </p:sp>
      <p:pic>
        <p:nvPicPr>
          <p:cNvPr id="6" name="Image 0" descr="img/idor.png">    </p:cNvPr>
          <p:cNvPicPr>
            <a:picLocks noChangeAspect="1"/>
          </p:cNvPicPr>
          <p:nvPr/>
        </p:nvPicPr>
        <p:blipFill>
          <a:blip r:embed="rId1"/>
          <a:stretch>
            <a:fillRect/>
          </a:stretch>
        </p:blipFill>
        <p:spPr>
          <a:xfrm>
            <a:off x="594360" y="1691640"/>
            <a:ext cx="6766560" cy="2451652"/>
          </a:xfrm>
          <a:prstGeom prst="rect">
            <a:avLst/>
          </a:prstGeom>
        </p:spPr>
      </p:pic>
      <p:sp>
        <p:nvSpPr>
          <p:cNvPr id="7" name="Shape 4"/>
          <p:cNvSpPr/>
          <p:nvPr/>
        </p:nvSpPr>
        <p:spPr>
          <a:xfrm>
            <a:off x="594360" y="1691640"/>
            <a:ext cx="6766560" cy="2451652"/>
          </a:xfrm>
          <a:prstGeom prst="rect">
            <a:avLst/>
          </a:prstGeom>
          <a:ln w="9525">
            <a:solidFill>
              <a:srgbClr val="E2E7EB"/>
            </a:solidFill>
            <a:prstDash val="solid"/>
          </a:ln>
        </p:spPr>
      </p:sp>
      <p:sp>
        <p:nvSpPr>
          <p:cNvPr id="8" name="Text 5"/>
          <p:cNvSpPr txBox="1"/>
          <p:nvPr/>
        </p:nvSpPr>
        <p:spPr>
          <a:xfrm>
            <a:off x="594360" y="4253020"/>
            <a:ext cx="6766560" cy="502920"/>
          </a:xfrm>
          <a:prstGeom prst="rect">
            <a:avLst/>
          </a:prstGeom>
          <a:noFill/>
          <a:ln/>
        </p:spPr>
        <p:txBody>
          <a:bodyPr wrap="square" lIns="0" tIns="0" rIns="0" bIns="0" rtlCol="0" anchor="ctr"/>
          <a:lstStyle/>
          <a:p>
            <a:pPr indent="0" marL="0">
              <a:lnSpc>
                <a:spcPts val="1600"/>
              </a:lnSpc>
              <a:buNone/>
            </a:pPr>
            <a:r>
              <a:rPr lang="en-US" sz="1200" i="1" dirty="0">
                <a:solidFill>
                  <a:srgbClr val="5F6B76"/>
                </a:solidFill>
                <a:latin typeface="Calibri" pitchFamily="34" charset="0"/>
                <a:ea typeface="Calibri" pitchFamily="34" charset="-122"/>
                <a:cs typeface="Calibri" pitchFamily="34" charset="-120"/>
              </a:rPr>
              <a:t>Kiri: kode lama mencari portfolio hanya dari id. Kanan: sekarang lewat session yang sudah dibatasi per organisasi.</a:t>
            </a:r>
            <a:endParaRPr lang="en-US" sz="1200" dirty="0"/>
          </a:p>
        </p:txBody>
      </p:sp>
      <p:sp>
        <p:nvSpPr>
          <p:cNvPr id="9" name="Shape 6"/>
          <p:cNvSpPr/>
          <p:nvPr/>
        </p:nvSpPr>
        <p:spPr>
          <a:xfrm>
            <a:off x="7726680" y="1691640"/>
            <a:ext cx="3870655" cy="1920240"/>
          </a:xfrm>
          <a:prstGeom prst="roundRect">
            <a:avLst>
              <a:gd name="adj" fmla="val 3810"/>
            </a:avLst>
          </a:prstGeom>
          <a:solidFill>
            <a:srgbClr val="FCEDE8"/>
          </a:solidFill>
          <a:ln w="9525">
            <a:solidFill>
              <a:srgbClr val="FCEDE8"/>
            </a:solidFill>
            <a:prstDash val="solid"/>
          </a:ln>
        </p:spPr>
      </p:sp>
      <p:sp>
        <p:nvSpPr>
          <p:cNvPr id="10" name="Text 7"/>
          <p:cNvSpPr txBox="1"/>
          <p:nvPr/>
        </p:nvSpPr>
        <p:spPr>
          <a:xfrm>
            <a:off x="8001000" y="1847088"/>
            <a:ext cx="3322015" cy="320040"/>
          </a:xfrm>
          <a:prstGeom prst="rect">
            <a:avLst/>
          </a:prstGeom>
          <a:noFill/>
          <a:ln/>
        </p:spPr>
        <p:txBody>
          <a:bodyPr wrap="square" lIns="0" tIns="0" rIns="0" bIns="0" rtlCol="0" anchor="ctr"/>
          <a:lstStyle/>
          <a:p>
            <a:pPr indent="0" marL="0">
              <a:buNone/>
            </a:pPr>
            <a:r>
              <a:rPr lang="en-US" sz="1500" b="1" dirty="0">
                <a:solidFill>
                  <a:srgbClr val="C8553D"/>
                </a:solidFill>
                <a:latin typeface="Calibri" pitchFamily="34" charset="0"/>
                <a:ea typeface="Calibri" pitchFamily="34" charset="-122"/>
                <a:cs typeface="Calibri" pitchFamily="34" charset="-120"/>
              </a:rPr>
              <a:t>Masalahnya</a:t>
            </a:r>
            <a:endParaRPr lang="en-US" sz="1500" dirty="0"/>
          </a:p>
        </p:txBody>
      </p:sp>
      <p:sp>
        <p:nvSpPr>
          <p:cNvPr id="11" name="Text 8"/>
          <p:cNvSpPr txBox="1"/>
          <p:nvPr/>
        </p:nvSpPr>
        <p:spPr>
          <a:xfrm>
            <a:off x="8001000" y="2212848"/>
            <a:ext cx="3322015" cy="1280160"/>
          </a:xfrm>
          <a:prstGeom prst="rect">
            <a:avLst/>
          </a:prstGeom>
          <a:noFill/>
          <a:ln/>
        </p:spPr>
        <p:txBody>
          <a:bodyPr wrap="square" lIns="0" tIns="0" rIns="0" bIns="0" rtlCol="0" anchor="t"/>
          <a:lstStyle/>
          <a:p>
            <a:pPr indent="0" marL="0">
              <a:lnSpc>
                <a:spcPts val="1900"/>
              </a:lnSpc>
              <a:buNone/>
            </a:pPr>
            <a:r>
              <a:rPr lang="en-US" sz="1350" dirty="0">
                <a:solidFill>
                  <a:srgbClr val="1F2933"/>
                </a:solidFill>
                <a:latin typeface="Calibri" pitchFamily="34" charset="0"/>
                <a:ea typeface="Calibri" pitchFamily="34" charset="-122"/>
                <a:cs typeface="Calibri" pitchFamily="34" charset="-120"/>
              </a:rPr>
              <a:t>Assessor dari organisasi lain bisa mengunduh kutipan wawancara kandidat milik organisasi lain, dan mengubah rating-nya.</a:t>
            </a:r>
            <a:endParaRPr lang="en-US" sz="1350" dirty="0"/>
          </a:p>
        </p:txBody>
      </p:sp>
      <p:sp>
        <p:nvSpPr>
          <p:cNvPr id="12" name="Shape 9"/>
          <p:cNvSpPr/>
          <p:nvPr/>
        </p:nvSpPr>
        <p:spPr>
          <a:xfrm>
            <a:off x="7726680" y="3794760"/>
            <a:ext cx="3870655" cy="2103120"/>
          </a:xfrm>
          <a:prstGeom prst="roundRect">
            <a:avLst>
              <a:gd name="adj" fmla="val 3478"/>
            </a:avLst>
          </a:prstGeom>
          <a:solidFill>
            <a:srgbClr val="E6F3F1"/>
          </a:solidFill>
          <a:ln w="9525">
            <a:solidFill>
              <a:srgbClr val="E6F3F1"/>
            </a:solidFill>
            <a:prstDash val="solid"/>
          </a:ln>
        </p:spPr>
      </p:sp>
      <p:sp>
        <p:nvSpPr>
          <p:cNvPr id="13" name="Text 10"/>
          <p:cNvSpPr txBox="1"/>
          <p:nvPr/>
        </p:nvSpPr>
        <p:spPr>
          <a:xfrm>
            <a:off x="8001000" y="3950208"/>
            <a:ext cx="3322015" cy="320040"/>
          </a:xfrm>
          <a:prstGeom prst="rect">
            <a:avLst/>
          </a:prstGeom>
          <a:noFill/>
          <a:ln/>
        </p:spPr>
        <p:txBody>
          <a:bodyPr wrap="square" lIns="0" tIns="0" rIns="0" bIns="0" rtlCol="0" anchor="ctr"/>
          <a:lstStyle/>
          <a:p>
            <a:pPr indent="0" marL="0">
              <a:buNone/>
            </a:pPr>
            <a:r>
              <a:rPr lang="en-US" sz="1500" b="1" dirty="0">
                <a:solidFill>
                  <a:srgbClr val="0B5550"/>
                </a:solidFill>
                <a:latin typeface="Calibri" pitchFamily="34" charset="0"/>
                <a:ea typeface="Calibri" pitchFamily="34" charset="-122"/>
                <a:cs typeface="Calibri" pitchFamily="34" charset="-120"/>
              </a:rPr>
              <a:t>Perbaikannya</a:t>
            </a:r>
            <a:endParaRPr lang="en-US" sz="1500" dirty="0"/>
          </a:p>
        </p:txBody>
      </p:sp>
      <p:sp>
        <p:nvSpPr>
          <p:cNvPr id="14" name="Text 11"/>
          <p:cNvSpPr txBox="1"/>
          <p:nvPr/>
        </p:nvSpPr>
        <p:spPr>
          <a:xfrm>
            <a:off x="8001000" y="4315968"/>
            <a:ext cx="3322015" cy="1463040"/>
          </a:xfrm>
          <a:prstGeom prst="rect">
            <a:avLst/>
          </a:prstGeom>
          <a:noFill/>
          <a:ln/>
        </p:spPr>
        <p:txBody>
          <a:bodyPr wrap="square" lIns="0" tIns="0" rIns="0" bIns="0" rtlCol="0" anchor="t"/>
          <a:lstStyle/>
          <a:p>
            <a:pPr indent="0" marL="0">
              <a:lnSpc>
                <a:spcPts val="1900"/>
              </a:lnSpc>
              <a:buNone/>
            </a:pPr>
            <a:r>
              <a:rPr lang="en-US" sz="1350" dirty="0">
                <a:solidFill>
                  <a:srgbClr val="1F2933"/>
                </a:solidFill>
                <a:latin typeface="Calibri" pitchFamily="34" charset="0"/>
                <a:ea typeface="Calibri" pitchFamily="34" charset="-122"/>
                <a:cs typeface="Calibri" pitchFamily="34" charset="-120"/>
              </a:rPr>
              <a:t>Empat endpoint sekarang dibatasi per organisasi. Akses dari organisasi lain dapat 404 — bukan 403, supaya tidak membocorkan bahwa datanya ada.</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00800"/>
            <a:ext cx="457200" cy="274320"/>
          </a:xfrm>
          <a:prstGeom prst="rect">
            <a:avLst/>
          </a:prstGeom>
          <a:noFill/>
          <a:ln/>
        </p:spPr>
        <p:txBody>
          <a:bodyPr wrap="square" lIns="0" tIns="0" rIns="0" bIns="0" rtlCol="0" anchor="ctr"/>
          <a:lstStyle/>
          <a:p>
            <a:pPr algn="r" indent="0" marL="0">
              <a:buNone/>
            </a:pPr>
            <a:r>
              <a:rPr lang="en-US" sz="1000" dirty="0">
                <a:solidFill>
                  <a:srgbClr val="8B96A0"/>
                </a:solidFill>
                <a:latin typeface="Calibri" pitchFamily="34" charset="0"/>
                <a:ea typeface="Calibri" pitchFamily="34" charset="-122"/>
                <a:cs typeface="Calibri" pitchFamily="34" charset="-120"/>
              </a:rPr>
              <a:t>12</a:t>
            </a:r>
            <a:endParaRPr lang="en-US" sz="1000" dirty="0"/>
          </a:p>
        </p:txBody>
      </p:sp>
      <p:sp>
        <p:nvSpPr>
          <p:cNvPr id="3" name="Text 1"/>
          <p:cNvSpPr txBox="1"/>
          <p:nvPr/>
        </p:nvSpPr>
        <p:spPr>
          <a:xfrm>
            <a:off x="594360" y="6400800"/>
            <a:ext cx="4572000" cy="274320"/>
          </a:xfrm>
          <a:prstGeom prst="rect">
            <a:avLst/>
          </a:prstGeom>
          <a:noFill/>
          <a:ln/>
        </p:spPr>
        <p:txBody>
          <a:bodyPr wrap="square" lIns="0" tIns="0" rIns="0" bIns="0" rtlCol="0" anchor="ctr"/>
          <a:lstStyle/>
          <a:p>
            <a:pPr indent="0" marL="0">
              <a:buNone/>
            </a:pPr>
            <a:r>
              <a:rPr lang="en-US" sz="1000" dirty="0">
                <a:solidFill>
                  <a:srgbClr val="8B96A0"/>
                </a:solidFill>
                <a:latin typeface="Calibri" pitchFamily="34" charset="0"/>
                <a:ea typeface="Calibri" pitchFamily="34" charset="-122"/>
                <a:cs typeface="Calibri" pitchFamily="34" charset="-120"/>
              </a:rPr>
              <a:t>Aulia Afriza  ·  Case Study Fullstack</a:t>
            </a:r>
            <a:endParaRPr lang="en-US" sz="1000" dirty="0"/>
          </a:p>
        </p:txBody>
      </p:sp>
      <p:sp>
        <p:nvSpPr>
          <p:cNvPr id="4" name="Text 2"/>
          <p:cNvSpPr txBox="1"/>
          <p:nvPr/>
        </p:nvSpPr>
        <p:spPr>
          <a:xfrm>
            <a:off x="594360" y="457200"/>
            <a:ext cx="11002975" cy="594360"/>
          </a:xfrm>
          <a:prstGeom prst="rect">
            <a:avLst/>
          </a:prstGeom>
          <a:noFill/>
          <a:ln/>
        </p:spPr>
        <p:txBody>
          <a:bodyPr wrap="square" lIns="0" tIns="0" rIns="0" bIns="0" rtlCol="0" anchor="t"/>
          <a:lstStyle/>
          <a:p>
            <a:pPr indent="0" marL="0">
              <a:buNone/>
            </a:pPr>
            <a:r>
              <a:rPr lang="en-US" sz="3000" b="1" dirty="0">
                <a:solidFill>
                  <a:srgbClr val="1F2933"/>
                </a:solidFill>
                <a:latin typeface="Calibri" pitchFamily="34" charset="0"/>
                <a:ea typeface="Calibri" pitchFamily="34" charset="-122"/>
                <a:cs typeface="Calibri" pitchFamily="34" charset="-120"/>
              </a:rPr>
              <a:t>Bagaimana saya memastikan hasilnya benar</a:t>
            </a:r>
            <a:endParaRPr lang="en-US" sz="3000" dirty="0"/>
          </a:p>
        </p:txBody>
      </p:sp>
      <p:sp>
        <p:nvSpPr>
          <p:cNvPr id="5" name="Text 3"/>
          <p:cNvSpPr txBox="1"/>
          <p:nvPr/>
        </p:nvSpPr>
        <p:spPr>
          <a:xfrm>
            <a:off x="594360" y="1051560"/>
            <a:ext cx="11002975" cy="411480"/>
          </a:xfrm>
          <a:prstGeom prst="rect">
            <a:avLst/>
          </a:prstGeom>
          <a:noFill/>
          <a:ln/>
        </p:spPr>
        <p:txBody>
          <a:bodyPr wrap="square" lIns="0" tIns="0" rIns="0" bIns="0" rtlCol="0" anchor="t"/>
          <a:lstStyle/>
          <a:p>
            <a:pPr indent="0" marL="0">
              <a:buNone/>
            </a:pPr>
            <a:r>
              <a:rPr lang="en-US" sz="1600" dirty="0">
                <a:solidFill>
                  <a:srgbClr val="5F6B76"/>
                </a:solidFill>
                <a:latin typeface="Calibri" pitchFamily="34" charset="0"/>
                <a:ea typeface="Calibri" pitchFamily="34" charset="-122"/>
                <a:cs typeface="Calibri" pitchFamily="34" charset="-120"/>
              </a:rPr>
              <a:t>Test saya tulis dulu, lalu saya jalankan ke kode lama untuk melihat test-nya gagal.</a:t>
            </a:r>
            <a:endParaRPr lang="en-US" sz="1600" dirty="0"/>
          </a:p>
        </p:txBody>
      </p:sp>
      <p:sp>
        <p:nvSpPr>
          <p:cNvPr id="6" name="Shape 4"/>
          <p:cNvSpPr/>
          <p:nvPr/>
        </p:nvSpPr>
        <p:spPr>
          <a:xfrm>
            <a:off x="594360" y="1783080"/>
            <a:ext cx="3484778" cy="1783080"/>
          </a:xfrm>
          <a:prstGeom prst="roundRect">
            <a:avLst>
              <a:gd name="adj" fmla="val 4103"/>
            </a:avLst>
          </a:prstGeom>
          <a:solidFill>
            <a:srgbClr val="F5F7F8"/>
          </a:solidFill>
          <a:ln w="9525">
            <a:solidFill>
              <a:srgbClr val="E2E7EB"/>
            </a:solidFill>
            <a:prstDash val="solid"/>
          </a:ln>
        </p:spPr>
      </p:sp>
      <p:sp>
        <p:nvSpPr>
          <p:cNvPr id="7" name="Text 5"/>
          <p:cNvSpPr txBox="1"/>
          <p:nvPr/>
        </p:nvSpPr>
        <p:spPr>
          <a:xfrm>
            <a:off x="868680" y="1901952"/>
            <a:ext cx="2936138" cy="594360"/>
          </a:xfrm>
          <a:prstGeom prst="rect">
            <a:avLst/>
          </a:prstGeom>
          <a:noFill/>
          <a:ln/>
        </p:spPr>
        <p:txBody>
          <a:bodyPr wrap="square" lIns="0" tIns="0" rIns="0" bIns="0" rtlCol="0" anchor="ctr"/>
          <a:lstStyle/>
          <a:p>
            <a:pPr indent="0" marL="0">
              <a:buNone/>
            </a:pPr>
            <a:r>
              <a:rPr lang="en-US" sz="3200" b="1" dirty="0">
                <a:solidFill>
                  <a:srgbClr val="0B5550"/>
                </a:solidFill>
                <a:latin typeface="Calibri" pitchFamily="34" charset="0"/>
                <a:ea typeface="Calibri" pitchFamily="34" charset="-122"/>
                <a:cs typeface="Calibri" pitchFamily="34" charset="-120"/>
              </a:rPr>
              <a:t>0 → 34</a:t>
            </a:r>
            <a:endParaRPr lang="en-US" sz="3200" dirty="0"/>
          </a:p>
        </p:txBody>
      </p:sp>
      <p:sp>
        <p:nvSpPr>
          <p:cNvPr id="8" name="Text 6"/>
          <p:cNvSpPr txBox="1"/>
          <p:nvPr/>
        </p:nvSpPr>
        <p:spPr>
          <a:xfrm>
            <a:off x="868680" y="2514600"/>
            <a:ext cx="2936138" cy="320040"/>
          </a:xfrm>
          <a:prstGeom prst="rect">
            <a:avLst/>
          </a:prstGeom>
          <a:noFill/>
          <a:ln/>
        </p:spPr>
        <p:txBody>
          <a:bodyPr wrap="square" lIns="0" tIns="0" rIns="0" bIns="0" rtlCol="0" anchor="ctr"/>
          <a:lstStyle/>
          <a:p>
            <a:pPr indent="0" marL="0">
              <a:buNone/>
            </a:pPr>
            <a:r>
              <a:rPr lang="en-US" sz="1450" b="1" dirty="0">
                <a:solidFill>
                  <a:srgbClr val="1F2933"/>
                </a:solidFill>
                <a:latin typeface="Calibri" pitchFamily="34" charset="0"/>
                <a:ea typeface="Calibri" pitchFamily="34" charset="-122"/>
                <a:cs typeface="Calibri" pitchFamily="34" charset="-120"/>
              </a:rPr>
              <a:t>test frontend</a:t>
            </a:r>
            <a:endParaRPr lang="en-US" sz="1450" dirty="0"/>
          </a:p>
        </p:txBody>
      </p:sp>
      <p:sp>
        <p:nvSpPr>
          <p:cNvPr id="9" name="Text 7"/>
          <p:cNvSpPr txBox="1"/>
          <p:nvPr/>
        </p:nvSpPr>
        <p:spPr>
          <a:xfrm>
            <a:off x="868680" y="2852928"/>
            <a:ext cx="2936138" cy="594360"/>
          </a:xfrm>
          <a:prstGeom prst="rect">
            <a:avLst/>
          </a:prstGeom>
          <a:noFill/>
          <a:ln/>
        </p:spPr>
        <p:txBody>
          <a:bodyPr wrap="square" lIns="0" tIns="0" rIns="0" bIns="0" rtlCol="0" anchor="t"/>
          <a:lstStyle/>
          <a:p>
            <a:pPr indent="0" marL="0">
              <a:lnSpc>
                <a:spcPts val="1600"/>
              </a:lnSpc>
              <a:buNone/>
            </a:pPr>
            <a:r>
              <a:rPr lang="en-US" sz="1250" dirty="0">
                <a:solidFill>
                  <a:srgbClr val="5F6B76"/>
                </a:solidFill>
                <a:latin typeface="Calibri" pitchFamily="34" charset="0"/>
                <a:ea typeface="Calibri" pitchFamily="34" charset="-122"/>
                <a:cs typeface="Calibri" pitchFamily="34" charset="-120"/>
              </a:rPr>
              <a:t>Sebelumnya web/ belum punya test sama sekali</a:t>
            </a:r>
            <a:endParaRPr lang="en-US" sz="1250" dirty="0"/>
          </a:p>
        </p:txBody>
      </p:sp>
      <p:sp>
        <p:nvSpPr>
          <p:cNvPr id="10" name="Shape 8"/>
          <p:cNvSpPr/>
          <p:nvPr/>
        </p:nvSpPr>
        <p:spPr>
          <a:xfrm>
            <a:off x="4353458" y="1783080"/>
            <a:ext cx="3484778" cy="1783080"/>
          </a:xfrm>
          <a:prstGeom prst="roundRect">
            <a:avLst>
              <a:gd name="adj" fmla="val 4103"/>
            </a:avLst>
          </a:prstGeom>
          <a:solidFill>
            <a:srgbClr val="F5F7F8"/>
          </a:solidFill>
          <a:ln w="9525">
            <a:solidFill>
              <a:srgbClr val="E2E7EB"/>
            </a:solidFill>
            <a:prstDash val="solid"/>
          </a:ln>
        </p:spPr>
      </p:sp>
      <p:sp>
        <p:nvSpPr>
          <p:cNvPr id="11" name="Text 9"/>
          <p:cNvSpPr txBox="1"/>
          <p:nvPr/>
        </p:nvSpPr>
        <p:spPr>
          <a:xfrm>
            <a:off x="4627778" y="1901952"/>
            <a:ext cx="2936138" cy="594360"/>
          </a:xfrm>
          <a:prstGeom prst="rect">
            <a:avLst/>
          </a:prstGeom>
          <a:noFill/>
          <a:ln/>
        </p:spPr>
        <p:txBody>
          <a:bodyPr wrap="square" lIns="0" tIns="0" rIns="0" bIns="0" rtlCol="0" anchor="ctr"/>
          <a:lstStyle/>
          <a:p>
            <a:pPr indent="0" marL="0">
              <a:buNone/>
            </a:pPr>
            <a:r>
              <a:rPr lang="en-US" sz="3200" b="1" dirty="0">
                <a:solidFill>
                  <a:srgbClr val="C8553D"/>
                </a:solidFill>
                <a:latin typeface="Calibri" pitchFamily="34" charset="0"/>
                <a:ea typeface="Calibri" pitchFamily="34" charset="-122"/>
                <a:cs typeface="Calibri" pitchFamily="34" charset="-120"/>
              </a:rPr>
              <a:t>8 gagal</a:t>
            </a:r>
            <a:endParaRPr lang="en-US" sz="3200" dirty="0"/>
          </a:p>
        </p:txBody>
      </p:sp>
      <p:sp>
        <p:nvSpPr>
          <p:cNvPr id="12" name="Text 10"/>
          <p:cNvSpPr txBox="1"/>
          <p:nvPr/>
        </p:nvSpPr>
        <p:spPr>
          <a:xfrm>
            <a:off x="4627778" y="2514600"/>
            <a:ext cx="2936138" cy="320040"/>
          </a:xfrm>
          <a:prstGeom prst="rect">
            <a:avLst/>
          </a:prstGeom>
          <a:noFill/>
          <a:ln/>
        </p:spPr>
        <p:txBody>
          <a:bodyPr wrap="square" lIns="0" tIns="0" rIns="0" bIns="0" rtlCol="0" anchor="ctr"/>
          <a:lstStyle/>
          <a:p>
            <a:pPr indent="0" marL="0">
              <a:buNone/>
            </a:pPr>
            <a:r>
              <a:rPr lang="en-US" sz="1450" b="1" dirty="0">
                <a:solidFill>
                  <a:srgbClr val="1F2933"/>
                </a:solidFill>
                <a:latin typeface="Calibri" pitchFamily="34" charset="0"/>
                <a:ea typeface="Calibri" pitchFamily="34" charset="-122"/>
                <a:cs typeface="Calibri" pitchFamily="34" charset="-120"/>
              </a:rPr>
              <a:t>di kode lama</a:t>
            </a:r>
            <a:endParaRPr lang="en-US" sz="1450" dirty="0"/>
          </a:p>
        </p:txBody>
      </p:sp>
      <p:sp>
        <p:nvSpPr>
          <p:cNvPr id="13" name="Text 11"/>
          <p:cNvSpPr txBox="1"/>
          <p:nvPr/>
        </p:nvSpPr>
        <p:spPr>
          <a:xfrm>
            <a:off x="4627778" y="2852928"/>
            <a:ext cx="2936138" cy="594360"/>
          </a:xfrm>
          <a:prstGeom prst="rect">
            <a:avLst/>
          </a:prstGeom>
          <a:noFill/>
          <a:ln/>
        </p:spPr>
        <p:txBody>
          <a:bodyPr wrap="square" lIns="0" tIns="0" rIns="0" bIns="0" rtlCol="0" anchor="t"/>
          <a:lstStyle/>
          <a:p>
            <a:pPr indent="0" marL="0">
              <a:lnSpc>
                <a:spcPts val="1600"/>
              </a:lnSpc>
              <a:buNone/>
            </a:pPr>
            <a:r>
              <a:rPr lang="en-US" sz="1250" dirty="0">
                <a:solidFill>
                  <a:srgbClr val="5F6B76"/>
                </a:solidFill>
                <a:latin typeface="Calibri" pitchFamily="34" charset="0"/>
                <a:ea typeface="Calibri" pitchFamily="34" charset="-122"/>
                <a:cs typeface="Calibri" pitchFamily="34" charset="-120"/>
              </a:rPr>
              <a:t>Bukti bahwa test-nya benar-benar menangkap masalah</a:t>
            </a:r>
            <a:endParaRPr lang="en-US" sz="1250" dirty="0"/>
          </a:p>
        </p:txBody>
      </p:sp>
      <p:sp>
        <p:nvSpPr>
          <p:cNvPr id="14" name="Shape 12"/>
          <p:cNvSpPr/>
          <p:nvPr/>
        </p:nvSpPr>
        <p:spPr>
          <a:xfrm>
            <a:off x="8112557" y="1783080"/>
            <a:ext cx="3484778" cy="1783080"/>
          </a:xfrm>
          <a:prstGeom prst="roundRect">
            <a:avLst>
              <a:gd name="adj" fmla="val 4103"/>
            </a:avLst>
          </a:prstGeom>
          <a:solidFill>
            <a:srgbClr val="F5F7F8"/>
          </a:solidFill>
          <a:ln w="9525">
            <a:solidFill>
              <a:srgbClr val="E2E7EB"/>
            </a:solidFill>
            <a:prstDash val="solid"/>
          </a:ln>
        </p:spPr>
      </p:sp>
      <p:sp>
        <p:nvSpPr>
          <p:cNvPr id="15" name="Text 13"/>
          <p:cNvSpPr txBox="1"/>
          <p:nvPr/>
        </p:nvSpPr>
        <p:spPr>
          <a:xfrm>
            <a:off x="8386877" y="1901952"/>
            <a:ext cx="2936138" cy="594360"/>
          </a:xfrm>
          <a:prstGeom prst="rect">
            <a:avLst/>
          </a:prstGeom>
          <a:noFill/>
          <a:ln/>
        </p:spPr>
        <p:txBody>
          <a:bodyPr wrap="square" lIns="0" tIns="0" rIns="0" bIns="0" rtlCol="0" anchor="ctr"/>
          <a:lstStyle/>
          <a:p>
            <a:pPr indent="0" marL="0">
              <a:buNone/>
            </a:pPr>
            <a:r>
              <a:rPr lang="en-US" sz="3200" b="1" dirty="0">
                <a:solidFill>
                  <a:srgbClr val="0B5550"/>
                </a:solidFill>
                <a:latin typeface="Calibri" pitchFamily="34" charset="0"/>
                <a:ea typeface="Calibri" pitchFamily="34" charset="-122"/>
                <a:cs typeface="Calibri" pitchFamily="34" charset="-120"/>
              </a:rPr>
              <a:t>3</a:t>
            </a:r>
            <a:endParaRPr lang="en-US" sz="3200" dirty="0"/>
          </a:p>
        </p:txBody>
      </p:sp>
      <p:sp>
        <p:nvSpPr>
          <p:cNvPr id="16" name="Text 14"/>
          <p:cNvSpPr txBox="1"/>
          <p:nvPr/>
        </p:nvSpPr>
        <p:spPr>
          <a:xfrm>
            <a:off x="8386877" y="2514600"/>
            <a:ext cx="2936138" cy="320040"/>
          </a:xfrm>
          <a:prstGeom prst="rect">
            <a:avLst/>
          </a:prstGeom>
          <a:noFill/>
          <a:ln/>
        </p:spPr>
        <p:txBody>
          <a:bodyPr wrap="square" lIns="0" tIns="0" rIns="0" bIns="0" rtlCol="0" anchor="ctr"/>
          <a:lstStyle/>
          <a:p>
            <a:pPr indent="0" marL="0">
              <a:buNone/>
            </a:pPr>
            <a:r>
              <a:rPr lang="en-US" sz="1450" b="1" dirty="0">
                <a:solidFill>
                  <a:srgbClr val="1F2933"/>
                </a:solidFill>
                <a:latin typeface="Calibri" pitchFamily="34" charset="0"/>
                <a:ea typeface="Calibri" pitchFamily="34" charset="-122"/>
                <a:cs typeface="Calibri" pitchFamily="34" charset="-120"/>
              </a:rPr>
              <a:t>kesalahan sengaja</a:t>
            </a:r>
            <a:endParaRPr lang="en-US" sz="1450" dirty="0"/>
          </a:p>
        </p:txBody>
      </p:sp>
      <p:sp>
        <p:nvSpPr>
          <p:cNvPr id="17" name="Text 15"/>
          <p:cNvSpPr txBox="1"/>
          <p:nvPr/>
        </p:nvSpPr>
        <p:spPr>
          <a:xfrm>
            <a:off x="8386877" y="2852928"/>
            <a:ext cx="2936138" cy="594360"/>
          </a:xfrm>
          <a:prstGeom prst="rect">
            <a:avLst/>
          </a:prstGeom>
          <a:noFill/>
          <a:ln/>
        </p:spPr>
        <p:txBody>
          <a:bodyPr wrap="square" lIns="0" tIns="0" rIns="0" bIns="0" rtlCol="0" anchor="t"/>
          <a:lstStyle/>
          <a:p>
            <a:pPr indent="0" marL="0">
              <a:lnSpc>
                <a:spcPts val="1600"/>
              </a:lnSpc>
              <a:buNone/>
            </a:pPr>
            <a:r>
              <a:rPr lang="en-US" sz="1250" dirty="0">
                <a:solidFill>
                  <a:srgbClr val="5F6B76"/>
                </a:solidFill>
                <a:latin typeface="Calibri" pitchFamily="34" charset="0"/>
                <a:ea typeface="Calibri" pitchFamily="34" charset="-122"/>
                <a:cs typeface="Calibri" pitchFamily="34" charset="-120"/>
              </a:rPr>
              <a:t>Saya rusak kode sendiri, dan test-nya merah</a:t>
            </a:r>
            <a:endParaRPr lang="en-US" sz="1250" dirty="0"/>
          </a:p>
        </p:txBody>
      </p:sp>
      <p:sp>
        <p:nvSpPr>
          <p:cNvPr id="18" name="Shape 16"/>
          <p:cNvSpPr/>
          <p:nvPr/>
        </p:nvSpPr>
        <p:spPr>
          <a:xfrm>
            <a:off x="594360" y="3840480"/>
            <a:ext cx="11002975" cy="2148840"/>
          </a:xfrm>
          <a:prstGeom prst="roundRect">
            <a:avLst>
              <a:gd name="adj" fmla="val 3404"/>
            </a:avLst>
          </a:prstGeom>
          <a:solidFill>
            <a:srgbClr val="E6F3F1"/>
          </a:solidFill>
          <a:ln w="9525">
            <a:solidFill>
              <a:srgbClr val="E6F3F1"/>
            </a:solidFill>
            <a:prstDash val="solid"/>
          </a:ln>
        </p:spPr>
      </p:sp>
      <p:sp>
        <p:nvSpPr>
          <p:cNvPr id="19" name="Text 17"/>
          <p:cNvSpPr txBox="1"/>
          <p:nvPr/>
        </p:nvSpPr>
        <p:spPr>
          <a:xfrm>
            <a:off x="914400" y="4023360"/>
            <a:ext cx="10362895" cy="347472"/>
          </a:xfrm>
          <a:prstGeom prst="rect">
            <a:avLst/>
          </a:prstGeom>
          <a:noFill/>
          <a:ln/>
        </p:spPr>
        <p:txBody>
          <a:bodyPr wrap="square" lIns="0" tIns="0" rIns="0" bIns="0" rtlCol="0" anchor="ctr"/>
          <a:lstStyle/>
          <a:p>
            <a:pPr indent="0" marL="0">
              <a:buNone/>
            </a:pPr>
            <a:r>
              <a:rPr lang="en-US" sz="1600" b="1" dirty="0">
                <a:solidFill>
                  <a:srgbClr val="0B5550"/>
                </a:solidFill>
                <a:latin typeface="Calibri" pitchFamily="34" charset="0"/>
                <a:ea typeface="Calibri" pitchFamily="34" charset="-122"/>
                <a:cs typeface="Calibri" pitchFamily="34" charset="-120"/>
              </a:rPr>
              <a:t>Satu kali saya sempat salah</a:t>
            </a:r>
            <a:endParaRPr lang="en-US" sz="1600" dirty="0"/>
          </a:p>
        </p:txBody>
      </p:sp>
      <p:sp>
        <p:nvSpPr>
          <p:cNvPr id="20" name="Text 18"/>
          <p:cNvSpPr txBox="1"/>
          <p:nvPr/>
        </p:nvSpPr>
        <p:spPr>
          <a:xfrm>
            <a:off x="914400" y="4434840"/>
            <a:ext cx="10362895" cy="1417320"/>
          </a:xfrm>
          <a:prstGeom prst="rect">
            <a:avLst/>
          </a:prstGeom>
          <a:noFill/>
          <a:ln/>
        </p:spPr>
        <p:txBody>
          <a:bodyPr wrap="square" lIns="0" tIns="0" rIns="0" bIns="0" rtlCol="0" anchor="t"/>
          <a:lstStyle/>
          <a:p>
            <a:pPr indent="0" marL="0">
              <a:lnSpc>
                <a:spcPts val="1900"/>
              </a:lnSpc>
              <a:buNone/>
            </a:pPr>
            <a:r>
              <a:rPr lang="en-US" sz="1350" dirty="0">
                <a:solidFill>
                  <a:srgbClr val="1F2933"/>
                </a:solidFill>
                <a:latin typeface="Calibri" pitchFamily="34" charset="0"/>
                <a:ea typeface="Calibri" pitchFamily="34" charset="-122"/>
                <a:cs typeface="Calibri" pitchFamily="34" charset="-120"/>
              </a:rPr>
              <a:t>Waktu membaca komponen ConfidenceIndicator, saya yakin ada bug: kalau AI mengirim “High” dengan huruf besar, hasilnya akan jadi LOW. Saya tulis test untuk membuktikannya — ternyata test-nya lulus. Kodenya sudah mengubah ke huruf kecil di baris 6, saya yang kurang teliti. Temuannya saya hapus dari laporan, tapi test-nya saya simpan supaya perilaku itu tetap terjaga.</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00800"/>
            <a:ext cx="457200" cy="274320"/>
          </a:xfrm>
          <a:prstGeom prst="rect">
            <a:avLst/>
          </a:prstGeom>
          <a:noFill/>
          <a:ln/>
        </p:spPr>
        <p:txBody>
          <a:bodyPr wrap="square" lIns="0" tIns="0" rIns="0" bIns="0" rtlCol="0" anchor="ctr"/>
          <a:lstStyle/>
          <a:p>
            <a:pPr algn="r" indent="0" marL="0">
              <a:buNone/>
            </a:pPr>
            <a:r>
              <a:rPr lang="en-US" sz="1000" dirty="0">
                <a:solidFill>
                  <a:srgbClr val="8B96A0"/>
                </a:solidFill>
                <a:latin typeface="Calibri" pitchFamily="34" charset="0"/>
                <a:ea typeface="Calibri" pitchFamily="34" charset="-122"/>
                <a:cs typeface="Calibri" pitchFamily="34" charset="-120"/>
              </a:rPr>
              <a:t>13</a:t>
            </a:r>
            <a:endParaRPr lang="en-US" sz="1000" dirty="0"/>
          </a:p>
        </p:txBody>
      </p:sp>
      <p:sp>
        <p:nvSpPr>
          <p:cNvPr id="3" name="Text 1"/>
          <p:cNvSpPr txBox="1"/>
          <p:nvPr/>
        </p:nvSpPr>
        <p:spPr>
          <a:xfrm>
            <a:off x="594360" y="6400800"/>
            <a:ext cx="4572000" cy="274320"/>
          </a:xfrm>
          <a:prstGeom prst="rect">
            <a:avLst/>
          </a:prstGeom>
          <a:noFill/>
          <a:ln/>
        </p:spPr>
        <p:txBody>
          <a:bodyPr wrap="square" lIns="0" tIns="0" rIns="0" bIns="0" rtlCol="0" anchor="ctr"/>
          <a:lstStyle/>
          <a:p>
            <a:pPr indent="0" marL="0">
              <a:buNone/>
            </a:pPr>
            <a:r>
              <a:rPr lang="en-US" sz="1000" dirty="0">
                <a:solidFill>
                  <a:srgbClr val="8B96A0"/>
                </a:solidFill>
                <a:latin typeface="Calibri" pitchFamily="34" charset="0"/>
                <a:ea typeface="Calibri" pitchFamily="34" charset="-122"/>
                <a:cs typeface="Calibri" pitchFamily="34" charset="-120"/>
              </a:rPr>
              <a:t>Aulia Afriza  ·  Case Study Fullstack</a:t>
            </a:r>
            <a:endParaRPr lang="en-US" sz="1000" dirty="0"/>
          </a:p>
        </p:txBody>
      </p:sp>
      <p:sp>
        <p:nvSpPr>
          <p:cNvPr id="4" name="Text 2"/>
          <p:cNvSpPr txBox="1"/>
          <p:nvPr/>
        </p:nvSpPr>
        <p:spPr>
          <a:xfrm>
            <a:off x="594360" y="457200"/>
            <a:ext cx="11002975" cy="594360"/>
          </a:xfrm>
          <a:prstGeom prst="rect">
            <a:avLst/>
          </a:prstGeom>
          <a:noFill/>
          <a:ln/>
        </p:spPr>
        <p:txBody>
          <a:bodyPr wrap="square" lIns="0" tIns="0" rIns="0" bIns="0" rtlCol="0" anchor="t"/>
          <a:lstStyle/>
          <a:p>
            <a:pPr indent="0" marL="0">
              <a:buNone/>
            </a:pPr>
            <a:r>
              <a:rPr lang="en-US" sz="3000" b="1" dirty="0">
                <a:solidFill>
                  <a:srgbClr val="1F2933"/>
                </a:solidFill>
                <a:latin typeface="Calibri" pitchFamily="34" charset="0"/>
                <a:ea typeface="Calibri" pitchFamily="34" charset="-122"/>
                <a:cs typeface="Calibri" pitchFamily="34" charset="-120"/>
              </a:rPr>
              <a:t>Yang belum selesai</a:t>
            </a:r>
            <a:endParaRPr lang="en-US" sz="3000" dirty="0"/>
          </a:p>
        </p:txBody>
      </p:sp>
      <p:sp>
        <p:nvSpPr>
          <p:cNvPr id="5" name="Text 3"/>
          <p:cNvSpPr txBox="1"/>
          <p:nvPr/>
        </p:nvSpPr>
        <p:spPr>
          <a:xfrm>
            <a:off x="594360" y="1051560"/>
            <a:ext cx="11002975" cy="411480"/>
          </a:xfrm>
          <a:prstGeom prst="rect">
            <a:avLst/>
          </a:prstGeom>
          <a:noFill/>
          <a:ln/>
        </p:spPr>
        <p:txBody>
          <a:bodyPr wrap="square" lIns="0" tIns="0" rIns="0" bIns="0" rtlCol="0" anchor="t"/>
          <a:lstStyle/>
          <a:p>
            <a:pPr indent="0" marL="0">
              <a:buNone/>
            </a:pPr>
            <a:r>
              <a:rPr lang="en-US" sz="1600" dirty="0">
                <a:solidFill>
                  <a:srgbClr val="5F6B76"/>
                </a:solidFill>
                <a:latin typeface="Calibri" pitchFamily="34" charset="0"/>
                <a:ea typeface="Calibri" pitchFamily="34" charset="-122"/>
                <a:cs typeface="Calibri" pitchFamily="34" charset="-120"/>
              </a:rPr>
              <a:t>Semua sudah saya catat lengkap dengan file dan barisnya, jadi bisa langsung dijadwalkan.</a:t>
            </a:r>
            <a:endParaRPr lang="en-US" sz="1600" dirty="0"/>
          </a:p>
        </p:txBody>
      </p:sp>
      <p:sp>
        <p:nvSpPr>
          <p:cNvPr id="6" name="Text 4"/>
          <p:cNvSpPr txBox="1"/>
          <p:nvPr/>
        </p:nvSpPr>
        <p:spPr>
          <a:xfrm>
            <a:off x="594360" y="1691640"/>
            <a:ext cx="5318608" cy="347472"/>
          </a:xfrm>
          <a:prstGeom prst="rect">
            <a:avLst/>
          </a:prstGeom>
          <a:noFill/>
          <a:ln/>
        </p:spPr>
        <p:txBody>
          <a:bodyPr wrap="square" lIns="0" tIns="0" rIns="0" bIns="0" rtlCol="0" anchor="ctr"/>
          <a:lstStyle/>
          <a:p>
            <a:pPr indent="0" marL="0">
              <a:buNone/>
            </a:pPr>
            <a:r>
              <a:rPr lang="en-US" sz="1700" b="1" dirty="0">
                <a:solidFill>
                  <a:srgbClr val="C8553D"/>
                </a:solidFill>
                <a:latin typeface="Calibri" pitchFamily="34" charset="0"/>
                <a:ea typeface="Calibri" pitchFamily="34" charset="-122"/>
                <a:cs typeface="Calibri" pitchFamily="34" charset="-120"/>
              </a:rPr>
              <a:t>Masalah berat yang masih ada</a:t>
            </a:r>
            <a:endParaRPr lang="en-US" sz="1700" dirty="0"/>
          </a:p>
        </p:txBody>
      </p:sp>
      <p:sp>
        <p:nvSpPr>
          <p:cNvPr id="7" name="Shape 5"/>
          <p:cNvSpPr/>
          <p:nvPr/>
        </p:nvSpPr>
        <p:spPr>
          <a:xfrm>
            <a:off x="594360" y="2148840"/>
            <a:ext cx="5318608" cy="1115568"/>
          </a:xfrm>
          <a:prstGeom prst="roundRect">
            <a:avLst>
              <a:gd name="adj" fmla="val 6557"/>
            </a:avLst>
          </a:prstGeom>
          <a:solidFill>
            <a:srgbClr val="FCEDE8"/>
          </a:solidFill>
          <a:ln w="9525">
            <a:solidFill>
              <a:srgbClr val="FCEDE8"/>
            </a:solidFill>
            <a:prstDash val="solid"/>
          </a:ln>
        </p:spPr>
      </p:sp>
      <p:sp>
        <p:nvSpPr>
          <p:cNvPr id="8" name="Text 6"/>
          <p:cNvSpPr txBox="1"/>
          <p:nvPr/>
        </p:nvSpPr>
        <p:spPr>
          <a:xfrm>
            <a:off x="868680" y="2276856"/>
            <a:ext cx="4769968" cy="329184"/>
          </a:xfrm>
          <a:prstGeom prst="rect">
            <a:avLst/>
          </a:prstGeom>
          <a:noFill/>
          <a:ln/>
        </p:spPr>
        <p:txBody>
          <a:bodyPr wrap="square" lIns="0" tIns="0" rIns="0" bIns="0"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Organisasi dipilih dari header request</a:t>
            </a:r>
            <a:endParaRPr lang="en-US" sz="1400" dirty="0"/>
          </a:p>
        </p:txBody>
      </p:sp>
      <p:sp>
        <p:nvSpPr>
          <p:cNvPr id="9" name="Text 7"/>
          <p:cNvSpPr txBox="1"/>
          <p:nvPr/>
        </p:nvSpPr>
        <p:spPr>
          <a:xfrm>
            <a:off x="868680" y="2624328"/>
            <a:ext cx="4769968" cy="548640"/>
          </a:xfrm>
          <a:prstGeom prst="rect">
            <a:avLst/>
          </a:prstGeom>
          <a:noFill/>
          <a:ln/>
        </p:spPr>
        <p:txBody>
          <a:bodyPr wrap="square" lIns="0" tIns="0" rIns="0" bIns="0" rtlCol="0" anchor="t"/>
          <a:lstStyle/>
          <a:p>
            <a:pPr indent="0" marL="0">
              <a:lnSpc>
                <a:spcPts val="1600"/>
              </a:lnSpc>
              <a:buNone/>
            </a:pPr>
            <a:r>
              <a:rPr lang="en-US" sz="1250" dirty="0">
                <a:solidFill>
                  <a:srgbClr val="5F6B76"/>
                </a:solidFill>
                <a:latin typeface="Calibri" pitchFamily="34" charset="0"/>
                <a:ea typeface="Calibri" pitchFamily="34" charset="-122"/>
                <a:cs typeface="Calibri" pitchFamily="34" charset="-120"/>
              </a:rPr>
              <a:t>Satu akun admin bisa membaca data organisasi lain.</a:t>
            </a:r>
            <a:endParaRPr lang="en-US" sz="1250" dirty="0"/>
          </a:p>
        </p:txBody>
      </p:sp>
      <p:sp>
        <p:nvSpPr>
          <p:cNvPr id="10" name="Shape 8"/>
          <p:cNvSpPr/>
          <p:nvPr/>
        </p:nvSpPr>
        <p:spPr>
          <a:xfrm>
            <a:off x="594360" y="3392424"/>
            <a:ext cx="5318608" cy="1115568"/>
          </a:xfrm>
          <a:prstGeom prst="roundRect">
            <a:avLst>
              <a:gd name="adj" fmla="val 6557"/>
            </a:avLst>
          </a:prstGeom>
          <a:solidFill>
            <a:srgbClr val="FCEDE8"/>
          </a:solidFill>
          <a:ln w="9525">
            <a:solidFill>
              <a:srgbClr val="FCEDE8"/>
            </a:solidFill>
            <a:prstDash val="solid"/>
          </a:ln>
        </p:spPr>
      </p:sp>
      <p:sp>
        <p:nvSpPr>
          <p:cNvPr id="11" name="Text 9"/>
          <p:cNvSpPr txBox="1"/>
          <p:nvPr/>
        </p:nvSpPr>
        <p:spPr>
          <a:xfrm>
            <a:off x="868680" y="3520440"/>
            <a:ext cx="4769968" cy="329184"/>
          </a:xfrm>
          <a:prstGeom prst="rect">
            <a:avLst/>
          </a:prstGeom>
          <a:noFill/>
          <a:ln/>
        </p:spPr>
        <p:txBody>
          <a:bodyPr wrap="square" lIns="0" tIns="0" rIns="0" bIns="0"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Koneksi putus 7 detik dianggap wawancara selesai</a:t>
            </a:r>
            <a:endParaRPr lang="en-US" sz="1400" dirty="0"/>
          </a:p>
        </p:txBody>
      </p:sp>
      <p:sp>
        <p:nvSpPr>
          <p:cNvPr id="12" name="Text 10"/>
          <p:cNvSpPr txBox="1"/>
          <p:nvPr/>
        </p:nvSpPr>
        <p:spPr>
          <a:xfrm>
            <a:off x="868680" y="3867912"/>
            <a:ext cx="4769968" cy="548640"/>
          </a:xfrm>
          <a:prstGeom prst="rect">
            <a:avLst/>
          </a:prstGeom>
          <a:noFill/>
          <a:ln/>
        </p:spPr>
        <p:txBody>
          <a:bodyPr wrap="square" lIns="0" tIns="0" rIns="0" bIns="0" rtlCol="0" anchor="t"/>
          <a:lstStyle/>
          <a:p>
            <a:pPr indent="0" marL="0">
              <a:lnSpc>
                <a:spcPts val="1600"/>
              </a:lnSpc>
              <a:buNone/>
            </a:pPr>
            <a:r>
              <a:rPr lang="en-US" sz="1250" dirty="0">
                <a:solidFill>
                  <a:srgbClr val="5F6B76"/>
                </a:solidFill>
                <a:latin typeface="Calibri" pitchFamily="34" charset="0"/>
                <a:ea typeface="Calibri" pitchFamily="34" charset="-122"/>
                <a:cs typeface="Calibri" pitchFamily="34" charset="-120"/>
              </a:rPr>
              <a:t>Kandidat mendapat layar “Interview Complete” padahal wawancaranya terpotong.</a:t>
            </a:r>
            <a:endParaRPr lang="en-US" sz="1250" dirty="0"/>
          </a:p>
        </p:txBody>
      </p:sp>
      <p:sp>
        <p:nvSpPr>
          <p:cNvPr id="13" name="Shape 11"/>
          <p:cNvSpPr/>
          <p:nvPr/>
        </p:nvSpPr>
        <p:spPr>
          <a:xfrm>
            <a:off x="594360" y="4636008"/>
            <a:ext cx="5318608" cy="1115568"/>
          </a:xfrm>
          <a:prstGeom prst="roundRect">
            <a:avLst>
              <a:gd name="adj" fmla="val 6557"/>
            </a:avLst>
          </a:prstGeom>
          <a:solidFill>
            <a:srgbClr val="FCEDE8"/>
          </a:solidFill>
          <a:ln w="9525">
            <a:solidFill>
              <a:srgbClr val="FCEDE8"/>
            </a:solidFill>
            <a:prstDash val="solid"/>
          </a:ln>
        </p:spPr>
      </p:sp>
      <p:sp>
        <p:nvSpPr>
          <p:cNvPr id="14" name="Text 12"/>
          <p:cNvSpPr txBox="1"/>
          <p:nvPr/>
        </p:nvSpPr>
        <p:spPr>
          <a:xfrm>
            <a:off x="868680" y="4764024"/>
            <a:ext cx="4769968" cy="329184"/>
          </a:xfrm>
          <a:prstGeom prst="rect">
            <a:avLst/>
          </a:prstGeom>
          <a:noFill/>
          <a:ln/>
        </p:spPr>
        <p:txBody>
          <a:bodyPr wrap="square" lIns="0" tIns="0" rIns="0" bIns="0"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Generate ulang menghapus koreksi assessor</a:t>
            </a:r>
            <a:endParaRPr lang="en-US" sz="1400" dirty="0"/>
          </a:p>
        </p:txBody>
      </p:sp>
      <p:sp>
        <p:nvSpPr>
          <p:cNvPr id="15" name="Text 13"/>
          <p:cNvSpPr txBox="1"/>
          <p:nvPr/>
        </p:nvSpPr>
        <p:spPr>
          <a:xfrm>
            <a:off x="868680" y="5111496"/>
            <a:ext cx="4769968" cy="548640"/>
          </a:xfrm>
          <a:prstGeom prst="rect">
            <a:avLst/>
          </a:prstGeom>
          <a:noFill/>
          <a:ln/>
        </p:spPr>
        <p:txBody>
          <a:bodyPr wrap="square" lIns="0" tIns="0" rIns="0" bIns="0" rtlCol="0" anchor="t"/>
          <a:lstStyle/>
          <a:p>
            <a:pPr indent="0" marL="0">
              <a:lnSpc>
                <a:spcPts val="1600"/>
              </a:lnSpc>
              <a:buNone/>
            </a:pPr>
            <a:r>
              <a:rPr lang="en-US" sz="1250" dirty="0">
                <a:solidFill>
                  <a:srgbClr val="5F6B76"/>
                </a:solidFill>
                <a:latin typeface="Calibri" pitchFamily="34" charset="0"/>
                <a:ea typeface="Calibri" pitchFamily="34" charset="-122"/>
                <a:cs typeface="Calibri" pitchFamily="34" charset="-120"/>
              </a:rPr>
              <a:t>Catatan assessor ikut hilang.</a:t>
            </a:r>
            <a:endParaRPr lang="en-US" sz="1250" dirty="0"/>
          </a:p>
        </p:txBody>
      </p:sp>
      <p:sp>
        <p:nvSpPr>
          <p:cNvPr id="16" name="Text 14"/>
          <p:cNvSpPr txBox="1"/>
          <p:nvPr/>
        </p:nvSpPr>
        <p:spPr>
          <a:xfrm>
            <a:off x="6278728" y="1691640"/>
            <a:ext cx="5318608" cy="347472"/>
          </a:xfrm>
          <a:prstGeom prst="rect">
            <a:avLst/>
          </a:prstGeom>
          <a:noFill/>
          <a:ln/>
        </p:spPr>
        <p:txBody>
          <a:bodyPr wrap="square" lIns="0" tIns="0" rIns="0" bIns="0" rtlCol="0" anchor="ctr"/>
          <a:lstStyle/>
          <a:p>
            <a:pPr indent="0" marL="0">
              <a:buNone/>
            </a:pPr>
            <a:r>
              <a:rPr lang="en-US" sz="1700" b="1" dirty="0">
                <a:solidFill>
                  <a:srgbClr val="0B5550"/>
                </a:solidFill>
                <a:latin typeface="Calibri" pitchFamily="34" charset="0"/>
                <a:ea typeface="Calibri" pitchFamily="34" charset="-122"/>
                <a:cs typeface="Calibri" pitchFamily="34" charset="-120"/>
              </a:rPr>
              <a:t>Yang akan saya kerjakan berikutnya</a:t>
            </a:r>
            <a:endParaRPr lang="en-US" sz="1700" dirty="0"/>
          </a:p>
        </p:txBody>
      </p:sp>
      <p:sp>
        <p:nvSpPr>
          <p:cNvPr id="17" name="Shape 15"/>
          <p:cNvSpPr/>
          <p:nvPr/>
        </p:nvSpPr>
        <p:spPr>
          <a:xfrm>
            <a:off x="6278728" y="2194560"/>
            <a:ext cx="420624" cy="420624"/>
          </a:xfrm>
          <a:prstGeom prst="ellipse">
            <a:avLst/>
          </a:prstGeom>
          <a:solidFill>
            <a:srgbClr val="0F766E"/>
          </a:solidFill>
          <a:ln w="12700">
            <a:solidFill>
              <a:srgbClr val="0F766E"/>
            </a:solidFill>
            <a:prstDash val="solid"/>
          </a:ln>
        </p:spPr>
      </p:sp>
      <p:sp>
        <p:nvSpPr>
          <p:cNvPr id="18" name="Text 16"/>
          <p:cNvSpPr txBox="1"/>
          <p:nvPr/>
        </p:nvSpPr>
        <p:spPr>
          <a:xfrm>
            <a:off x="6278728" y="219456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9" name="Text 17"/>
          <p:cNvSpPr txBox="1"/>
          <p:nvPr/>
        </p:nvSpPr>
        <p:spPr>
          <a:xfrm>
            <a:off x="6900520" y="2148840"/>
            <a:ext cx="4678528" cy="731520"/>
          </a:xfrm>
          <a:prstGeom prst="rect">
            <a:avLst/>
          </a:prstGeom>
          <a:noFill/>
          <a:ln/>
        </p:spPr>
        <p:txBody>
          <a:bodyPr wrap="square" lIns="0" tIns="0" rIns="0" bIns="0" rtlCol="0" anchor="t"/>
          <a:lstStyle/>
          <a:p>
            <a:pPr indent="0" marL="0">
              <a:lnSpc>
                <a:spcPts val="1900"/>
              </a:lnSpc>
              <a:buNone/>
            </a:pPr>
            <a:r>
              <a:rPr lang="en-US" sz="1400" dirty="0">
                <a:solidFill>
                  <a:srgbClr val="1F2933"/>
                </a:solidFill>
                <a:latin typeface="Calibri" pitchFamily="34" charset="0"/>
                <a:ea typeface="Calibri" pitchFamily="34" charset="-122"/>
                <a:cs typeface="Calibri" pitchFamily="34" charset="-120"/>
              </a:rPr>
              <a:t>Pindahkan organisasi dari header ke data user</a:t>
            </a:r>
            <a:endParaRPr lang="en-US" sz="1400" dirty="0"/>
          </a:p>
        </p:txBody>
      </p:sp>
      <p:sp>
        <p:nvSpPr>
          <p:cNvPr id="20" name="Shape 18"/>
          <p:cNvSpPr/>
          <p:nvPr/>
        </p:nvSpPr>
        <p:spPr>
          <a:xfrm>
            <a:off x="6278728" y="3108960"/>
            <a:ext cx="420624" cy="420624"/>
          </a:xfrm>
          <a:prstGeom prst="ellipse">
            <a:avLst/>
          </a:prstGeom>
          <a:solidFill>
            <a:srgbClr val="0F766E"/>
          </a:solidFill>
          <a:ln w="12700">
            <a:solidFill>
              <a:srgbClr val="0F766E"/>
            </a:solidFill>
            <a:prstDash val="solid"/>
          </a:ln>
        </p:spPr>
      </p:sp>
      <p:sp>
        <p:nvSpPr>
          <p:cNvPr id="21" name="Text 19"/>
          <p:cNvSpPr txBox="1"/>
          <p:nvPr/>
        </p:nvSpPr>
        <p:spPr>
          <a:xfrm>
            <a:off x="6278728" y="310896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2" name="Text 20"/>
          <p:cNvSpPr txBox="1"/>
          <p:nvPr/>
        </p:nvSpPr>
        <p:spPr>
          <a:xfrm>
            <a:off x="6900520" y="3063240"/>
            <a:ext cx="4678528" cy="731520"/>
          </a:xfrm>
          <a:prstGeom prst="rect">
            <a:avLst/>
          </a:prstGeom>
          <a:noFill/>
          <a:ln/>
        </p:spPr>
        <p:txBody>
          <a:bodyPr wrap="square" lIns="0" tIns="0" rIns="0" bIns="0" rtlCol="0" anchor="t"/>
          <a:lstStyle/>
          <a:p>
            <a:pPr indent="0" marL="0">
              <a:lnSpc>
                <a:spcPts val="1900"/>
              </a:lnSpc>
              <a:buNone/>
            </a:pPr>
            <a:r>
              <a:rPr lang="en-US" sz="1400" dirty="0">
                <a:solidFill>
                  <a:srgbClr val="1F2933"/>
                </a:solidFill>
                <a:latin typeface="Calibri" pitchFamily="34" charset="0"/>
                <a:ea typeface="Calibri" pitchFamily="34" charset="-122"/>
                <a:cs typeface="Calibri" pitchFamily="34" charset="-120"/>
              </a:rPr>
              <a:t>Satu sumber untuk definisi level L1–L5 (sekarang tersebar di empat tempat)</a:t>
            </a:r>
            <a:endParaRPr lang="en-US" sz="1400" dirty="0"/>
          </a:p>
        </p:txBody>
      </p:sp>
      <p:sp>
        <p:nvSpPr>
          <p:cNvPr id="23" name="Shape 21"/>
          <p:cNvSpPr/>
          <p:nvPr/>
        </p:nvSpPr>
        <p:spPr>
          <a:xfrm>
            <a:off x="6278728" y="4023360"/>
            <a:ext cx="420624" cy="420624"/>
          </a:xfrm>
          <a:prstGeom prst="ellipse">
            <a:avLst/>
          </a:prstGeom>
          <a:solidFill>
            <a:srgbClr val="0F766E"/>
          </a:solidFill>
          <a:ln w="12700">
            <a:solidFill>
              <a:srgbClr val="0F766E"/>
            </a:solidFill>
            <a:prstDash val="solid"/>
          </a:ln>
        </p:spPr>
      </p:sp>
      <p:sp>
        <p:nvSpPr>
          <p:cNvPr id="24" name="Text 22"/>
          <p:cNvSpPr txBox="1"/>
          <p:nvPr/>
        </p:nvSpPr>
        <p:spPr>
          <a:xfrm>
            <a:off x="6278728" y="402336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3"/>
          <p:cNvSpPr txBox="1"/>
          <p:nvPr/>
        </p:nvSpPr>
        <p:spPr>
          <a:xfrm>
            <a:off x="6900520" y="3977640"/>
            <a:ext cx="4678528" cy="731520"/>
          </a:xfrm>
          <a:prstGeom prst="rect">
            <a:avLst/>
          </a:prstGeom>
          <a:noFill/>
          <a:ln/>
        </p:spPr>
        <p:txBody>
          <a:bodyPr wrap="square" lIns="0" tIns="0" rIns="0" bIns="0" rtlCol="0" anchor="t"/>
          <a:lstStyle/>
          <a:p>
            <a:pPr indent="0" marL="0">
              <a:lnSpc>
                <a:spcPts val="1900"/>
              </a:lnSpc>
              <a:buNone/>
            </a:pPr>
            <a:r>
              <a:rPr lang="en-US" sz="1400" dirty="0">
                <a:solidFill>
                  <a:srgbClr val="1F2933"/>
                </a:solidFill>
                <a:latin typeface="Calibri" pitchFamily="34" charset="0"/>
                <a:ea typeface="Calibri" pitchFamily="34" charset="-122"/>
                <a:cs typeface="Calibri" pitchFamily="34" charset="-120"/>
              </a:rPr>
              <a:t>Kontrak API formal antara backend dan frontend</a:t>
            </a:r>
            <a:endParaRPr lang="en-US" sz="1400" dirty="0"/>
          </a:p>
        </p:txBody>
      </p:sp>
      <p:sp>
        <p:nvSpPr>
          <p:cNvPr id="26" name="Shape 24"/>
          <p:cNvSpPr/>
          <p:nvPr/>
        </p:nvSpPr>
        <p:spPr>
          <a:xfrm>
            <a:off x="6278728" y="4937760"/>
            <a:ext cx="420624" cy="420624"/>
          </a:xfrm>
          <a:prstGeom prst="ellipse">
            <a:avLst/>
          </a:prstGeom>
          <a:solidFill>
            <a:srgbClr val="0F766E"/>
          </a:solidFill>
          <a:ln w="12700">
            <a:solidFill>
              <a:srgbClr val="0F766E"/>
            </a:solidFill>
            <a:prstDash val="solid"/>
          </a:ln>
        </p:spPr>
      </p:sp>
      <p:sp>
        <p:nvSpPr>
          <p:cNvPr id="27" name="Text 25"/>
          <p:cNvSpPr txBox="1"/>
          <p:nvPr/>
        </p:nvSpPr>
        <p:spPr>
          <a:xfrm>
            <a:off x="6278728" y="493776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8" name="Text 26"/>
          <p:cNvSpPr txBox="1"/>
          <p:nvPr/>
        </p:nvSpPr>
        <p:spPr>
          <a:xfrm>
            <a:off x="6900520" y="4892040"/>
            <a:ext cx="4678528" cy="731520"/>
          </a:xfrm>
          <a:prstGeom prst="rect">
            <a:avLst/>
          </a:prstGeom>
          <a:noFill/>
          <a:ln/>
        </p:spPr>
        <p:txBody>
          <a:bodyPr wrap="square" lIns="0" tIns="0" rIns="0" bIns="0" rtlCol="0" anchor="t"/>
          <a:lstStyle/>
          <a:p>
            <a:pPr indent="0" marL="0">
              <a:lnSpc>
                <a:spcPts val="1900"/>
              </a:lnSpc>
              <a:buNone/>
            </a:pPr>
            <a:r>
              <a:rPr lang="en-US" sz="1400" dirty="0">
                <a:solidFill>
                  <a:srgbClr val="1F2933"/>
                </a:solidFill>
                <a:latin typeface="Calibri" pitchFamily="34" charset="0"/>
                <a:ea typeface="Calibri" pitchFamily="34" charset="-122"/>
                <a:cs typeface="Calibri" pitchFamily="34" charset="-120"/>
              </a:rPr>
              <a:t>Diskusikan kebijakan penyimpanan data kandidat dengan tim produk dan legal</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766E"/>
        </a:solidFill>
      </p:bgPr>
    </p:bg>
    <p:spTree>
      <p:nvGrpSpPr>
        <p:cNvPr id="1" name=""/>
        <p:cNvGrpSpPr/>
        <p:nvPr/>
      </p:nvGrpSpPr>
      <p:grpSpPr>
        <a:xfrm>
          <a:off x="0" y="0"/>
          <a:ext cx="0" cy="0"/>
          <a:chOff x="0" y="0"/>
          <a:chExt cx="0" cy="0"/>
        </a:xfrm>
      </p:grpSpPr>
      <p:sp>
        <p:nvSpPr>
          <p:cNvPr id="2" name="Text 0"/>
          <p:cNvSpPr txBox="1"/>
          <p:nvPr/>
        </p:nvSpPr>
        <p:spPr>
          <a:xfrm>
            <a:off x="594360" y="2103120"/>
            <a:ext cx="11002975" cy="91440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Terima kasih</a:t>
            </a:r>
            <a:endParaRPr lang="en-US" sz="4800" dirty="0"/>
          </a:p>
        </p:txBody>
      </p:sp>
      <p:sp>
        <p:nvSpPr>
          <p:cNvPr id="3" name="Text 1"/>
          <p:cNvSpPr txBox="1"/>
          <p:nvPr/>
        </p:nvSpPr>
        <p:spPr>
          <a:xfrm>
            <a:off x="594360" y="3063240"/>
            <a:ext cx="11002975" cy="457200"/>
          </a:xfrm>
          <a:prstGeom prst="rect">
            <a:avLst/>
          </a:prstGeom>
          <a:noFill/>
          <a:ln/>
        </p:spPr>
        <p:txBody>
          <a:bodyPr wrap="square" lIns="0" tIns="0" rIns="0" bIns="0" rtlCol="0" anchor="ctr"/>
          <a:lstStyle/>
          <a:p>
            <a:pPr indent="0" marL="0">
              <a:buNone/>
            </a:pPr>
            <a:r>
              <a:rPr lang="en-US" sz="2000" dirty="0">
                <a:solidFill>
                  <a:srgbClr val="D8EFEC"/>
                </a:solidFill>
                <a:latin typeface="Calibri" pitchFamily="34" charset="0"/>
                <a:ea typeface="Calibri" pitchFamily="34" charset="-122"/>
                <a:cs typeface="Calibri" pitchFamily="34" charset="-120"/>
              </a:rPr>
              <a:t>Saya senang kalau ada pertanyaan atau masukan.</a:t>
            </a:r>
            <a:endParaRPr lang="en-US" sz="2000" dirty="0"/>
          </a:p>
        </p:txBody>
      </p:sp>
      <p:sp>
        <p:nvSpPr>
          <p:cNvPr id="4" name="Text 2"/>
          <p:cNvSpPr txBox="1"/>
          <p:nvPr/>
        </p:nvSpPr>
        <p:spPr>
          <a:xfrm>
            <a:off x="594360" y="4754880"/>
            <a:ext cx="11002975" cy="822960"/>
          </a:xfrm>
          <a:prstGeom prst="rect">
            <a:avLst/>
          </a:prstGeom>
          <a:noFill/>
          <a:ln/>
        </p:spPr>
        <p:txBody>
          <a:bodyPr wrap="square" lIns="0" tIns="0" rIns="0" bIns="0" rtlCol="0" anchor="ctr"/>
          <a:lstStyle/>
          <a:p>
            <a:pPr indent="0" marL="0">
              <a:lnSpc>
                <a:spcPts val="2400"/>
              </a:lnSpc>
              <a:buNone/>
            </a:pPr>
            <a:r>
              <a:rPr lang="en-US" sz="1600" b="1" dirty="0">
                <a:solidFill>
                  <a:srgbClr val="FFFFFF"/>
                </a:solidFill>
                <a:latin typeface="Calibri" pitchFamily="34" charset="0"/>
                <a:ea typeface="Calibri" pitchFamily="34" charset="-122"/>
                <a:cs typeface="Calibri" pitchFamily="34" charset="-120"/>
              </a:rPr>
              <a:t>Aulia Afriza</a:t>
            </a:r>
            <a:endParaRPr lang="en-US" sz="1600" dirty="0"/>
          </a:p>
          <a:p>
            <a:pPr indent="0" marL="0">
              <a:lnSpc>
                <a:spcPts val="2400"/>
              </a:lnSpc>
              <a:buNone/>
            </a:pPr>
            <a:r>
              <a:rPr lang="en-US" sz="1600" dirty="0">
                <a:solidFill>
                  <a:srgbClr val="FFFFFF"/>
                </a:solidFill>
                <a:latin typeface="Calibri" pitchFamily="34" charset="0"/>
                <a:ea typeface="Calibri" pitchFamily="34" charset="-122"/>
                <a:cs typeface="Calibri" pitchFamily="34" charset="-120"/>
              </a:rPr>
              <a:t>github.com/auliaafriza/code-challenge-rakamin</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Case Study AI Interview Platform</dc:title>
  <dc:subject>PptxGenJS Presentation</dc:subject>
  <dc:creator>Aulia Afriza</dc:creator>
  <cp:lastModifiedBy>Aulia Afriza</cp:lastModifiedBy>
  <cp:revision>1</cp:revision>
  <dcterms:created xsi:type="dcterms:W3CDTF">2026-09-21T06:47:24Z</dcterms:created>
  <dcterms:modified xsi:type="dcterms:W3CDTF">2026-09-21T06:47:24Z</dcterms:modified>
</cp:coreProperties>
</file>